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970" r:id="rId2"/>
    <p:sldId id="1039" r:id="rId3"/>
    <p:sldId id="1052" r:id="rId4"/>
    <p:sldId id="1053" r:id="rId5"/>
    <p:sldId id="1054" r:id="rId6"/>
    <p:sldId id="1055" r:id="rId7"/>
    <p:sldId id="1056" r:id="rId8"/>
    <p:sldId id="1057" r:id="rId9"/>
    <p:sldId id="271" r:id="rId10"/>
    <p:sldId id="272" r:id="rId11"/>
    <p:sldId id="273" r:id="rId12"/>
    <p:sldId id="274" r:id="rId13"/>
    <p:sldId id="275" r:id="rId14"/>
    <p:sldId id="258" r:id="rId15"/>
    <p:sldId id="259" r:id="rId16"/>
    <p:sldId id="260" r:id="rId17"/>
    <p:sldId id="261" r:id="rId18"/>
    <p:sldId id="297" r:id="rId19"/>
    <p:sldId id="298" r:id="rId20"/>
    <p:sldId id="299" r:id="rId21"/>
    <p:sldId id="300" r:id="rId22"/>
    <p:sldId id="1048" r:id="rId23"/>
    <p:sldId id="1078" r:id="rId24"/>
    <p:sldId id="1079" r:id="rId25"/>
    <p:sldId id="1080" r:id="rId26"/>
    <p:sldId id="262" r:id="rId27"/>
    <p:sldId id="263" r:id="rId28"/>
    <p:sldId id="287" r:id="rId29"/>
    <p:sldId id="1049" r:id="rId30"/>
    <p:sldId id="266" r:id="rId31"/>
    <p:sldId id="267" r:id="rId32"/>
    <p:sldId id="268" r:id="rId33"/>
    <p:sldId id="264" r:id="rId34"/>
    <p:sldId id="277" r:id="rId35"/>
    <p:sldId id="278" r:id="rId36"/>
    <p:sldId id="265" r:id="rId37"/>
    <p:sldId id="293" r:id="rId38"/>
    <p:sldId id="294" r:id="rId39"/>
    <p:sldId id="295" r:id="rId40"/>
    <p:sldId id="296" r:id="rId41"/>
    <p:sldId id="279" r:id="rId42"/>
    <p:sldId id="281" r:id="rId43"/>
    <p:sldId id="282" r:id="rId44"/>
    <p:sldId id="1040" r:id="rId45"/>
    <p:sldId id="1081" r:id="rId46"/>
    <p:sldId id="1082" r:id="rId47"/>
    <p:sldId id="1050" r:id="rId48"/>
    <p:sldId id="1051" r:id="rId49"/>
    <p:sldId id="1063" r:id="rId50"/>
    <p:sldId id="1058" r:id="rId51"/>
    <p:sldId id="1059" r:id="rId52"/>
    <p:sldId id="1085" r:id="rId53"/>
    <p:sldId id="280" r:id="rId54"/>
    <p:sldId id="283" r:id="rId55"/>
    <p:sldId id="284" r:id="rId56"/>
    <p:sldId id="962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49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06AB5C-37C5-4C41-95DA-5EDE9DF4466F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3573E17-A33E-44D7-BD9B-97BF34BC1CEC}">
      <dgm:prSet phldrT="[Text]" custT="1"/>
      <dgm:spPr/>
      <dgm:t>
        <a:bodyPr/>
        <a:lstStyle/>
        <a:p>
          <a:r>
            <a:rPr lang="en-IN" sz="2000" dirty="0"/>
            <a:t>Architecture Design</a:t>
          </a:r>
        </a:p>
      </dgm:t>
    </dgm:pt>
    <dgm:pt modelId="{ECFD5FBF-4D76-437D-BCF4-FFFD62EFD654}" type="parTrans" cxnId="{D5D3A074-1067-4FD8-B9BA-697AFAE9F3EA}">
      <dgm:prSet/>
      <dgm:spPr/>
      <dgm:t>
        <a:bodyPr/>
        <a:lstStyle/>
        <a:p>
          <a:endParaRPr lang="en-IN" sz="2000"/>
        </a:p>
      </dgm:t>
    </dgm:pt>
    <dgm:pt modelId="{01A1FD8F-CAFC-41B3-9C5A-474A5F48BD7A}" type="sibTrans" cxnId="{D5D3A074-1067-4FD8-B9BA-697AFAE9F3EA}">
      <dgm:prSet custT="1"/>
      <dgm:spPr/>
      <dgm:t>
        <a:bodyPr/>
        <a:lstStyle/>
        <a:p>
          <a:endParaRPr lang="en-IN" sz="1200"/>
        </a:p>
      </dgm:t>
    </dgm:pt>
    <dgm:pt modelId="{D1AE61F7-5BFE-4AC4-B2E4-58273BB47D8B}">
      <dgm:prSet phldrT="[Text]" custT="1"/>
      <dgm:spPr/>
      <dgm:t>
        <a:bodyPr/>
        <a:lstStyle/>
        <a:p>
          <a:r>
            <a:rPr lang="en-IN" sz="2000" dirty="0"/>
            <a:t>Hardware Description</a:t>
          </a:r>
        </a:p>
      </dgm:t>
    </dgm:pt>
    <dgm:pt modelId="{1D53CCC3-F1AE-49F7-A8FE-ECDD84A8D002}" type="parTrans" cxnId="{A57B134E-FEE6-49F8-AF1C-5DF2C4F2230A}">
      <dgm:prSet/>
      <dgm:spPr/>
      <dgm:t>
        <a:bodyPr/>
        <a:lstStyle/>
        <a:p>
          <a:endParaRPr lang="en-IN" sz="2000"/>
        </a:p>
      </dgm:t>
    </dgm:pt>
    <dgm:pt modelId="{D686AAFC-4C0D-459A-B1BB-9DEB05BA603F}" type="sibTrans" cxnId="{A57B134E-FEE6-49F8-AF1C-5DF2C4F2230A}">
      <dgm:prSet custT="1"/>
      <dgm:spPr/>
      <dgm:t>
        <a:bodyPr/>
        <a:lstStyle/>
        <a:p>
          <a:endParaRPr lang="en-IN" sz="1200"/>
        </a:p>
      </dgm:t>
    </dgm:pt>
    <dgm:pt modelId="{9B2C3D82-D0FC-4C61-A393-AF50250108B4}">
      <dgm:prSet phldrT="[Text]" custT="1"/>
      <dgm:spPr/>
      <dgm:t>
        <a:bodyPr/>
        <a:lstStyle/>
        <a:p>
          <a:r>
            <a:rPr lang="en-IN" sz="2000" dirty="0" err="1"/>
            <a:t>Behavioral</a:t>
          </a:r>
          <a:r>
            <a:rPr lang="en-IN" sz="2000" dirty="0"/>
            <a:t> Simulation</a:t>
          </a:r>
        </a:p>
      </dgm:t>
    </dgm:pt>
    <dgm:pt modelId="{A6D5F302-513A-4B58-BC95-1340E508C883}" type="parTrans" cxnId="{E6EA1EE3-AE69-4657-BC29-773AA66C3863}">
      <dgm:prSet/>
      <dgm:spPr/>
      <dgm:t>
        <a:bodyPr/>
        <a:lstStyle/>
        <a:p>
          <a:endParaRPr lang="en-IN" sz="2000"/>
        </a:p>
      </dgm:t>
    </dgm:pt>
    <dgm:pt modelId="{51BA111A-B5D9-49E2-A884-76BA16708284}" type="sibTrans" cxnId="{E6EA1EE3-AE69-4657-BC29-773AA66C3863}">
      <dgm:prSet custT="1"/>
      <dgm:spPr/>
      <dgm:t>
        <a:bodyPr/>
        <a:lstStyle/>
        <a:p>
          <a:endParaRPr lang="en-IN" sz="1200"/>
        </a:p>
      </dgm:t>
    </dgm:pt>
    <dgm:pt modelId="{FBD2FCA8-78B3-403D-8A0F-F26905165701}">
      <dgm:prSet phldrT="[Text]" custT="1"/>
      <dgm:spPr/>
      <dgm:t>
        <a:bodyPr/>
        <a:lstStyle/>
        <a:p>
          <a:r>
            <a:rPr lang="en-IN" sz="2000" dirty="0"/>
            <a:t>Synthesis</a:t>
          </a:r>
        </a:p>
      </dgm:t>
    </dgm:pt>
    <dgm:pt modelId="{1C389E56-83F7-4952-A343-884FDAF24D91}" type="parTrans" cxnId="{5F2601B5-E7E4-4CCA-8F0E-3EBA1F5276C2}">
      <dgm:prSet/>
      <dgm:spPr/>
      <dgm:t>
        <a:bodyPr/>
        <a:lstStyle/>
        <a:p>
          <a:endParaRPr lang="en-IN" sz="2000"/>
        </a:p>
      </dgm:t>
    </dgm:pt>
    <dgm:pt modelId="{27E8B15C-7057-43A9-8028-BD02A4E816CD}" type="sibTrans" cxnId="{5F2601B5-E7E4-4CCA-8F0E-3EBA1F5276C2}">
      <dgm:prSet custT="1"/>
      <dgm:spPr/>
      <dgm:t>
        <a:bodyPr/>
        <a:lstStyle/>
        <a:p>
          <a:endParaRPr lang="en-IN" sz="1200"/>
        </a:p>
      </dgm:t>
    </dgm:pt>
    <dgm:pt modelId="{FDF044B2-BFB3-4393-82DF-5F1472B2945F}">
      <dgm:prSet phldrT="[Text]" custT="1"/>
      <dgm:spPr/>
      <dgm:t>
        <a:bodyPr/>
        <a:lstStyle/>
        <a:p>
          <a:r>
            <a:rPr lang="en-IN" sz="2000" dirty="0"/>
            <a:t>Implementation</a:t>
          </a:r>
        </a:p>
      </dgm:t>
    </dgm:pt>
    <dgm:pt modelId="{0CCB089A-2B53-4F50-A122-E93F2BCBCAB4}" type="parTrans" cxnId="{0AEA14B8-176B-4D7A-BF6F-164A581F4505}">
      <dgm:prSet/>
      <dgm:spPr/>
      <dgm:t>
        <a:bodyPr/>
        <a:lstStyle/>
        <a:p>
          <a:endParaRPr lang="en-IN" sz="2000"/>
        </a:p>
      </dgm:t>
    </dgm:pt>
    <dgm:pt modelId="{788BFCCB-6053-403B-9D5A-CDC893AC524E}" type="sibTrans" cxnId="{0AEA14B8-176B-4D7A-BF6F-164A581F4505}">
      <dgm:prSet custT="1"/>
      <dgm:spPr/>
      <dgm:t>
        <a:bodyPr/>
        <a:lstStyle/>
        <a:p>
          <a:endParaRPr lang="en-IN" sz="1200"/>
        </a:p>
      </dgm:t>
    </dgm:pt>
    <dgm:pt modelId="{AFBFDD25-FF22-4520-95FC-8EE4FC56CE0A}">
      <dgm:prSet phldrT="[Text]" custT="1"/>
      <dgm:spPr/>
      <dgm:t>
        <a:bodyPr/>
        <a:lstStyle/>
        <a:p>
          <a:r>
            <a:rPr lang="en-IN" sz="2000" dirty="0" err="1"/>
            <a:t>Bitfile</a:t>
          </a:r>
          <a:endParaRPr lang="en-IN" sz="2000" dirty="0"/>
        </a:p>
      </dgm:t>
    </dgm:pt>
    <dgm:pt modelId="{5DA770A7-2C41-47FA-8063-969E5799AFB8}" type="parTrans" cxnId="{7270404E-F9EE-4965-AD98-B2494FEB7AC6}">
      <dgm:prSet/>
      <dgm:spPr/>
      <dgm:t>
        <a:bodyPr/>
        <a:lstStyle/>
        <a:p>
          <a:endParaRPr lang="en-IN" sz="2000"/>
        </a:p>
      </dgm:t>
    </dgm:pt>
    <dgm:pt modelId="{A868F734-2A0B-4ED5-9F86-FF9975ADA897}" type="sibTrans" cxnId="{7270404E-F9EE-4965-AD98-B2494FEB7AC6}">
      <dgm:prSet/>
      <dgm:spPr/>
      <dgm:t>
        <a:bodyPr/>
        <a:lstStyle/>
        <a:p>
          <a:endParaRPr lang="en-IN" sz="2000"/>
        </a:p>
      </dgm:t>
    </dgm:pt>
    <dgm:pt modelId="{F25BCDC5-AACA-4C37-A824-1227543E350C}" type="pres">
      <dgm:prSet presAssocID="{AE06AB5C-37C5-4C41-95DA-5EDE9DF4466F}" presName="CompostProcess" presStyleCnt="0">
        <dgm:presLayoutVars>
          <dgm:dir/>
          <dgm:resizeHandles val="exact"/>
        </dgm:presLayoutVars>
      </dgm:prSet>
      <dgm:spPr/>
    </dgm:pt>
    <dgm:pt modelId="{954847B2-3619-4E8E-9F9C-94F6D204A116}" type="pres">
      <dgm:prSet presAssocID="{AE06AB5C-37C5-4C41-95DA-5EDE9DF4466F}" presName="arrow" presStyleLbl="bgShp" presStyleIdx="0" presStyleCnt="1"/>
      <dgm:spPr/>
    </dgm:pt>
    <dgm:pt modelId="{1E50D25E-DE3B-44EA-B9DB-C79103F2E47B}" type="pres">
      <dgm:prSet presAssocID="{AE06AB5C-37C5-4C41-95DA-5EDE9DF4466F}" presName="linearProcess" presStyleCnt="0"/>
      <dgm:spPr/>
    </dgm:pt>
    <dgm:pt modelId="{7BB5F6F0-D7EE-4F42-A612-E6C235CAEB9A}" type="pres">
      <dgm:prSet presAssocID="{93573E17-A33E-44D7-BD9B-97BF34BC1CEC}" presName="textNode" presStyleLbl="node1" presStyleIdx="0" presStyleCnt="6" custScaleX="123320">
        <dgm:presLayoutVars>
          <dgm:bulletEnabled val="1"/>
        </dgm:presLayoutVars>
      </dgm:prSet>
      <dgm:spPr/>
    </dgm:pt>
    <dgm:pt modelId="{D1CD76D4-0F02-4211-B70F-BDB8FE0BB3FB}" type="pres">
      <dgm:prSet presAssocID="{01A1FD8F-CAFC-41B3-9C5A-474A5F48BD7A}" presName="sibTrans" presStyleCnt="0"/>
      <dgm:spPr/>
    </dgm:pt>
    <dgm:pt modelId="{A6133C34-CCFC-4B57-B8C4-8983BC9DD0AE}" type="pres">
      <dgm:prSet presAssocID="{D1AE61F7-5BFE-4AC4-B2E4-58273BB47D8B}" presName="textNode" presStyleLbl="node1" presStyleIdx="1" presStyleCnt="6" custScaleX="126695">
        <dgm:presLayoutVars>
          <dgm:bulletEnabled val="1"/>
        </dgm:presLayoutVars>
      </dgm:prSet>
      <dgm:spPr/>
    </dgm:pt>
    <dgm:pt modelId="{A8725CC7-42EF-4786-BDCB-ED798E9CC5DA}" type="pres">
      <dgm:prSet presAssocID="{D686AAFC-4C0D-459A-B1BB-9DEB05BA603F}" presName="sibTrans" presStyleCnt="0"/>
      <dgm:spPr/>
    </dgm:pt>
    <dgm:pt modelId="{D200665C-B3EB-4DCD-A32F-5698A5F821F9}" type="pres">
      <dgm:prSet presAssocID="{9B2C3D82-D0FC-4C61-A393-AF50250108B4}" presName="textNode" presStyleLbl="node1" presStyleIdx="2" presStyleCnt="6" custScaleX="111806">
        <dgm:presLayoutVars>
          <dgm:bulletEnabled val="1"/>
        </dgm:presLayoutVars>
      </dgm:prSet>
      <dgm:spPr/>
    </dgm:pt>
    <dgm:pt modelId="{B027CE7A-862C-4D7B-A0FA-A8C8B5E620E4}" type="pres">
      <dgm:prSet presAssocID="{51BA111A-B5D9-49E2-A884-76BA16708284}" presName="sibTrans" presStyleCnt="0"/>
      <dgm:spPr/>
    </dgm:pt>
    <dgm:pt modelId="{1C302881-9014-4B25-8D67-FCFEE0BC2998}" type="pres">
      <dgm:prSet presAssocID="{FBD2FCA8-78B3-403D-8A0F-F26905165701}" presName="textNode" presStyleLbl="node1" presStyleIdx="3" presStyleCnt="6" custLinFactNeighborX="-20166">
        <dgm:presLayoutVars>
          <dgm:bulletEnabled val="1"/>
        </dgm:presLayoutVars>
      </dgm:prSet>
      <dgm:spPr/>
    </dgm:pt>
    <dgm:pt modelId="{A7417771-6896-4891-B478-DB3FDDEB4CCF}" type="pres">
      <dgm:prSet presAssocID="{27E8B15C-7057-43A9-8028-BD02A4E816CD}" presName="sibTrans" presStyleCnt="0"/>
      <dgm:spPr/>
    </dgm:pt>
    <dgm:pt modelId="{C9497430-799F-422C-8EF8-57DD9A0BF0F5}" type="pres">
      <dgm:prSet presAssocID="{FDF044B2-BFB3-4393-82DF-5F1472B2945F}" presName="textNode" presStyleLbl="node1" presStyleIdx="4" presStyleCnt="6" custScaleX="155068">
        <dgm:presLayoutVars>
          <dgm:bulletEnabled val="1"/>
        </dgm:presLayoutVars>
      </dgm:prSet>
      <dgm:spPr/>
    </dgm:pt>
    <dgm:pt modelId="{C348EAEE-2FA7-4D5C-A804-859D7A0B8ADC}" type="pres">
      <dgm:prSet presAssocID="{788BFCCB-6053-403B-9D5A-CDC893AC524E}" presName="sibTrans" presStyleCnt="0"/>
      <dgm:spPr/>
    </dgm:pt>
    <dgm:pt modelId="{60F81B29-8765-4529-A99C-418848693002}" type="pres">
      <dgm:prSet presAssocID="{AFBFDD25-FF22-4520-95FC-8EE4FC56CE0A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D2381224-27B0-4BD3-9767-CC0E969D1E0E}" type="presOf" srcId="{FDF044B2-BFB3-4393-82DF-5F1472B2945F}" destId="{C9497430-799F-422C-8EF8-57DD9A0BF0F5}" srcOrd="0" destOrd="0" presId="urn:microsoft.com/office/officeart/2005/8/layout/hProcess9"/>
    <dgm:cxn modelId="{6315FA3B-19EC-4BA8-A466-B4FD9F27132A}" type="presOf" srcId="{AE06AB5C-37C5-4C41-95DA-5EDE9DF4466F}" destId="{F25BCDC5-AACA-4C37-A824-1227543E350C}" srcOrd="0" destOrd="0" presId="urn:microsoft.com/office/officeart/2005/8/layout/hProcess9"/>
    <dgm:cxn modelId="{2BC3EA3E-D18A-4C1B-8C49-755C6170E5AA}" type="presOf" srcId="{D1AE61F7-5BFE-4AC4-B2E4-58273BB47D8B}" destId="{A6133C34-CCFC-4B57-B8C4-8983BC9DD0AE}" srcOrd="0" destOrd="0" presId="urn:microsoft.com/office/officeart/2005/8/layout/hProcess9"/>
    <dgm:cxn modelId="{50235E6A-A801-4645-BC11-61A3A70723A6}" type="presOf" srcId="{9B2C3D82-D0FC-4C61-A393-AF50250108B4}" destId="{D200665C-B3EB-4DCD-A32F-5698A5F821F9}" srcOrd="0" destOrd="0" presId="urn:microsoft.com/office/officeart/2005/8/layout/hProcess9"/>
    <dgm:cxn modelId="{A57B134E-FEE6-49F8-AF1C-5DF2C4F2230A}" srcId="{AE06AB5C-37C5-4C41-95DA-5EDE9DF4466F}" destId="{D1AE61F7-5BFE-4AC4-B2E4-58273BB47D8B}" srcOrd="1" destOrd="0" parTransId="{1D53CCC3-F1AE-49F7-A8FE-ECDD84A8D002}" sibTransId="{D686AAFC-4C0D-459A-B1BB-9DEB05BA603F}"/>
    <dgm:cxn modelId="{7270404E-F9EE-4965-AD98-B2494FEB7AC6}" srcId="{AE06AB5C-37C5-4C41-95DA-5EDE9DF4466F}" destId="{AFBFDD25-FF22-4520-95FC-8EE4FC56CE0A}" srcOrd="5" destOrd="0" parTransId="{5DA770A7-2C41-47FA-8063-969E5799AFB8}" sibTransId="{A868F734-2A0B-4ED5-9F86-FF9975ADA897}"/>
    <dgm:cxn modelId="{D5D3A074-1067-4FD8-B9BA-697AFAE9F3EA}" srcId="{AE06AB5C-37C5-4C41-95DA-5EDE9DF4466F}" destId="{93573E17-A33E-44D7-BD9B-97BF34BC1CEC}" srcOrd="0" destOrd="0" parTransId="{ECFD5FBF-4D76-437D-BCF4-FFFD62EFD654}" sibTransId="{01A1FD8F-CAFC-41B3-9C5A-474A5F48BD7A}"/>
    <dgm:cxn modelId="{5F2601B5-E7E4-4CCA-8F0E-3EBA1F5276C2}" srcId="{AE06AB5C-37C5-4C41-95DA-5EDE9DF4466F}" destId="{FBD2FCA8-78B3-403D-8A0F-F26905165701}" srcOrd="3" destOrd="0" parTransId="{1C389E56-83F7-4952-A343-884FDAF24D91}" sibTransId="{27E8B15C-7057-43A9-8028-BD02A4E816CD}"/>
    <dgm:cxn modelId="{0AEA14B8-176B-4D7A-BF6F-164A581F4505}" srcId="{AE06AB5C-37C5-4C41-95DA-5EDE9DF4466F}" destId="{FDF044B2-BFB3-4393-82DF-5F1472B2945F}" srcOrd="4" destOrd="0" parTransId="{0CCB089A-2B53-4F50-A122-E93F2BCBCAB4}" sibTransId="{788BFCCB-6053-403B-9D5A-CDC893AC524E}"/>
    <dgm:cxn modelId="{85AC76BC-B67D-4B88-BD7B-53A3BB436C99}" type="presOf" srcId="{93573E17-A33E-44D7-BD9B-97BF34BC1CEC}" destId="{7BB5F6F0-D7EE-4F42-A612-E6C235CAEB9A}" srcOrd="0" destOrd="0" presId="urn:microsoft.com/office/officeart/2005/8/layout/hProcess9"/>
    <dgm:cxn modelId="{4F39E6D1-2AEE-4BBC-9FAC-C7B62D1318EA}" type="presOf" srcId="{AFBFDD25-FF22-4520-95FC-8EE4FC56CE0A}" destId="{60F81B29-8765-4529-A99C-418848693002}" srcOrd="0" destOrd="0" presId="urn:microsoft.com/office/officeart/2005/8/layout/hProcess9"/>
    <dgm:cxn modelId="{E6EA1EE3-AE69-4657-BC29-773AA66C3863}" srcId="{AE06AB5C-37C5-4C41-95DA-5EDE9DF4466F}" destId="{9B2C3D82-D0FC-4C61-A393-AF50250108B4}" srcOrd="2" destOrd="0" parTransId="{A6D5F302-513A-4B58-BC95-1340E508C883}" sibTransId="{51BA111A-B5D9-49E2-A884-76BA16708284}"/>
    <dgm:cxn modelId="{64314CFC-354E-4DE7-9F79-4DB0F96A4C15}" type="presOf" srcId="{FBD2FCA8-78B3-403D-8A0F-F26905165701}" destId="{1C302881-9014-4B25-8D67-FCFEE0BC2998}" srcOrd="0" destOrd="0" presId="urn:microsoft.com/office/officeart/2005/8/layout/hProcess9"/>
    <dgm:cxn modelId="{5A16C810-5ABC-4D64-82D5-B537B66BBFB6}" type="presParOf" srcId="{F25BCDC5-AACA-4C37-A824-1227543E350C}" destId="{954847B2-3619-4E8E-9F9C-94F6D204A116}" srcOrd="0" destOrd="0" presId="urn:microsoft.com/office/officeart/2005/8/layout/hProcess9"/>
    <dgm:cxn modelId="{6A129F66-0DE5-4BEF-84F0-A1CAC9D431E4}" type="presParOf" srcId="{F25BCDC5-AACA-4C37-A824-1227543E350C}" destId="{1E50D25E-DE3B-44EA-B9DB-C79103F2E47B}" srcOrd="1" destOrd="0" presId="urn:microsoft.com/office/officeart/2005/8/layout/hProcess9"/>
    <dgm:cxn modelId="{6A88A308-5FA6-4FAE-8B88-37BD2A335088}" type="presParOf" srcId="{1E50D25E-DE3B-44EA-B9DB-C79103F2E47B}" destId="{7BB5F6F0-D7EE-4F42-A612-E6C235CAEB9A}" srcOrd="0" destOrd="0" presId="urn:microsoft.com/office/officeart/2005/8/layout/hProcess9"/>
    <dgm:cxn modelId="{4CF96F88-001A-4D15-B920-F0F4740EA7E0}" type="presParOf" srcId="{1E50D25E-DE3B-44EA-B9DB-C79103F2E47B}" destId="{D1CD76D4-0F02-4211-B70F-BDB8FE0BB3FB}" srcOrd="1" destOrd="0" presId="urn:microsoft.com/office/officeart/2005/8/layout/hProcess9"/>
    <dgm:cxn modelId="{0281C9F5-4687-4263-B7D5-698F350D3CFE}" type="presParOf" srcId="{1E50D25E-DE3B-44EA-B9DB-C79103F2E47B}" destId="{A6133C34-CCFC-4B57-B8C4-8983BC9DD0AE}" srcOrd="2" destOrd="0" presId="urn:microsoft.com/office/officeart/2005/8/layout/hProcess9"/>
    <dgm:cxn modelId="{77BAC795-6325-45AC-BD0D-FE698B093C6F}" type="presParOf" srcId="{1E50D25E-DE3B-44EA-B9DB-C79103F2E47B}" destId="{A8725CC7-42EF-4786-BDCB-ED798E9CC5DA}" srcOrd="3" destOrd="0" presId="urn:microsoft.com/office/officeart/2005/8/layout/hProcess9"/>
    <dgm:cxn modelId="{F0AC942C-0DB0-4287-9D4A-6A074606903D}" type="presParOf" srcId="{1E50D25E-DE3B-44EA-B9DB-C79103F2E47B}" destId="{D200665C-B3EB-4DCD-A32F-5698A5F821F9}" srcOrd="4" destOrd="0" presId="urn:microsoft.com/office/officeart/2005/8/layout/hProcess9"/>
    <dgm:cxn modelId="{D09AEB03-03E2-4E3E-8D95-0023278B8D5D}" type="presParOf" srcId="{1E50D25E-DE3B-44EA-B9DB-C79103F2E47B}" destId="{B027CE7A-862C-4D7B-A0FA-A8C8B5E620E4}" srcOrd="5" destOrd="0" presId="urn:microsoft.com/office/officeart/2005/8/layout/hProcess9"/>
    <dgm:cxn modelId="{493FAC9B-6448-469E-8E01-B2CB7643AE5E}" type="presParOf" srcId="{1E50D25E-DE3B-44EA-B9DB-C79103F2E47B}" destId="{1C302881-9014-4B25-8D67-FCFEE0BC2998}" srcOrd="6" destOrd="0" presId="urn:microsoft.com/office/officeart/2005/8/layout/hProcess9"/>
    <dgm:cxn modelId="{444DB5C8-9C22-4068-94D9-73A0F876953A}" type="presParOf" srcId="{1E50D25E-DE3B-44EA-B9DB-C79103F2E47B}" destId="{A7417771-6896-4891-B478-DB3FDDEB4CCF}" srcOrd="7" destOrd="0" presId="urn:microsoft.com/office/officeart/2005/8/layout/hProcess9"/>
    <dgm:cxn modelId="{E86BE1DB-F8A8-4434-9947-6D6835404B2A}" type="presParOf" srcId="{1E50D25E-DE3B-44EA-B9DB-C79103F2E47B}" destId="{C9497430-799F-422C-8EF8-57DD9A0BF0F5}" srcOrd="8" destOrd="0" presId="urn:microsoft.com/office/officeart/2005/8/layout/hProcess9"/>
    <dgm:cxn modelId="{880A3107-7BEE-4678-B207-5D57F30046AA}" type="presParOf" srcId="{1E50D25E-DE3B-44EA-B9DB-C79103F2E47B}" destId="{C348EAEE-2FA7-4D5C-A804-859D7A0B8ADC}" srcOrd="9" destOrd="0" presId="urn:microsoft.com/office/officeart/2005/8/layout/hProcess9"/>
    <dgm:cxn modelId="{D8437954-34BB-4C7E-811D-CB3804E73462}" type="presParOf" srcId="{1E50D25E-DE3B-44EA-B9DB-C79103F2E47B}" destId="{60F81B29-8765-4529-A99C-418848693002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4847B2-3619-4E8E-9F9C-94F6D204A116}">
      <dsp:nvSpPr>
        <dsp:cNvPr id="0" name=""/>
        <dsp:cNvSpPr/>
      </dsp:nvSpPr>
      <dsp:spPr>
        <a:xfrm>
          <a:off x="862552" y="0"/>
          <a:ext cx="9775595" cy="541866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B5F6F0-D7EE-4F42-A612-E6C235CAEB9A}">
      <dsp:nvSpPr>
        <dsp:cNvPr id="0" name=""/>
        <dsp:cNvSpPr/>
      </dsp:nvSpPr>
      <dsp:spPr>
        <a:xfrm>
          <a:off x="648" y="1625600"/>
          <a:ext cx="1772140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Architecture Design</a:t>
          </a:r>
        </a:p>
      </dsp:txBody>
      <dsp:txXfrm>
        <a:off x="87157" y="1712109"/>
        <a:ext cx="1599122" cy="1994448"/>
      </dsp:txXfrm>
    </dsp:sp>
    <dsp:sp modelId="{A6133C34-CCFC-4B57-B8C4-8983BC9DD0AE}">
      <dsp:nvSpPr>
        <dsp:cNvPr id="0" name=""/>
        <dsp:cNvSpPr/>
      </dsp:nvSpPr>
      <dsp:spPr>
        <a:xfrm>
          <a:off x="2012293" y="1625600"/>
          <a:ext cx="1820640" cy="2167466"/>
        </a:xfrm>
        <a:prstGeom prst="roundRect">
          <a:avLst/>
        </a:prstGeom>
        <a:solidFill>
          <a:schemeClr val="accent3">
            <a:hueOff val="-1787297"/>
            <a:satOff val="10415"/>
            <a:lumOff val="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Hardware Description</a:t>
          </a:r>
        </a:p>
      </dsp:txBody>
      <dsp:txXfrm>
        <a:off x="2101169" y="1714476"/>
        <a:ext cx="1642888" cy="1989714"/>
      </dsp:txXfrm>
    </dsp:sp>
    <dsp:sp modelId="{D200665C-B3EB-4DCD-A32F-5698A5F821F9}">
      <dsp:nvSpPr>
        <dsp:cNvPr id="0" name=""/>
        <dsp:cNvSpPr/>
      </dsp:nvSpPr>
      <dsp:spPr>
        <a:xfrm>
          <a:off x="4072438" y="1625600"/>
          <a:ext cx="1606681" cy="2167466"/>
        </a:xfrm>
        <a:prstGeom prst="roundRect">
          <a:avLst/>
        </a:prstGeom>
        <a:solidFill>
          <a:schemeClr val="accent3">
            <a:hueOff val="-3574595"/>
            <a:satOff val="20829"/>
            <a:lumOff val="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Behavioral</a:t>
          </a:r>
          <a:r>
            <a:rPr lang="en-IN" sz="2000" kern="1200" dirty="0"/>
            <a:t> Simulation</a:t>
          </a:r>
        </a:p>
      </dsp:txBody>
      <dsp:txXfrm>
        <a:off x="4150870" y="1704032"/>
        <a:ext cx="1449817" cy="2010602"/>
      </dsp:txXfrm>
    </dsp:sp>
    <dsp:sp modelId="{1C302881-9014-4B25-8D67-FCFEE0BC2998}">
      <dsp:nvSpPr>
        <dsp:cNvPr id="0" name=""/>
        <dsp:cNvSpPr/>
      </dsp:nvSpPr>
      <dsp:spPr>
        <a:xfrm>
          <a:off x="5870325" y="1625600"/>
          <a:ext cx="1437026" cy="2167466"/>
        </a:xfrm>
        <a:prstGeom prst="roundRect">
          <a:avLst/>
        </a:prstGeom>
        <a:solidFill>
          <a:schemeClr val="accent3">
            <a:hueOff val="-5361892"/>
            <a:satOff val="31244"/>
            <a:lumOff val="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Synthesis</a:t>
          </a:r>
        </a:p>
      </dsp:txBody>
      <dsp:txXfrm>
        <a:off x="5940475" y="1695750"/>
        <a:ext cx="1296726" cy="2027166"/>
      </dsp:txXfrm>
    </dsp:sp>
    <dsp:sp modelId="{C9497430-799F-422C-8EF8-57DD9A0BF0F5}">
      <dsp:nvSpPr>
        <dsp:cNvPr id="0" name=""/>
        <dsp:cNvSpPr/>
      </dsp:nvSpPr>
      <dsp:spPr>
        <a:xfrm>
          <a:off x="7595154" y="1625600"/>
          <a:ext cx="2228367" cy="2167466"/>
        </a:xfrm>
        <a:prstGeom prst="roundRect">
          <a:avLst/>
        </a:prstGeom>
        <a:solidFill>
          <a:schemeClr val="accent3">
            <a:hueOff val="-7149189"/>
            <a:satOff val="41658"/>
            <a:lumOff val="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Implementation</a:t>
          </a:r>
        </a:p>
      </dsp:txBody>
      <dsp:txXfrm>
        <a:off x="7700961" y="1731407"/>
        <a:ext cx="2016753" cy="1955852"/>
      </dsp:txXfrm>
    </dsp:sp>
    <dsp:sp modelId="{60F81B29-8765-4529-A99C-418848693002}">
      <dsp:nvSpPr>
        <dsp:cNvPr id="0" name=""/>
        <dsp:cNvSpPr/>
      </dsp:nvSpPr>
      <dsp:spPr>
        <a:xfrm>
          <a:off x="10063026" y="1625600"/>
          <a:ext cx="1437026" cy="2167466"/>
        </a:xfrm>
        <a:prstGeom prst="roundRect">
          <a:avLst/>
        </a:prstGeom>
        <a:solidFill>
          <a:schemeClr val="accent3">
            <a:hueOff val="-8936486"/>
            <a:satOff val="52073"/>
            <a:lumOff val="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 err="1"/>
            <a:t>Bitfile</a:t>
          </a:r>
          <a:endParaRPr lang="en-IN" sz="2000" kern="1200" dirty="0"/>
        </a:p>
      </dsp:txBody>
      <dsp:txXfrm>
        <a:off x="10133176" y="1695750"/>
        <a:ext cx="1296726" cy="2027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054DB-CAC7-472C-8CD2-76AA62859E49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E4FCB-A464-4289-8180-FBBBFF9A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8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869989-EB00-4EE7-BCB5-25BDC5BB29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291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0392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CB7C54C8-1BFF-52B6-225D-C3141ACD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0F6C11E3-6047-4DCD-AF18-0C657956F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9D94ECDD-6C86-DE2E-490D-6746F01CC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557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6FA7C114-9E54-386B-2805-045EBC7A6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8B6FA945-E8B7-51A4-82C9-7629C8FCE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9706CC72-E888-C800-625D-DE55F7B85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6179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E8BE2B1D-D5A1-5462-F4FB-4D600A10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18D7C6AD-C094-1278-FABE-F3670FCB5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935A47C3-F4DF-6620-EBCC-7499B1858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14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03F3675F-D448-2290-C650-79EA7E67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28212621-5900-2352-8A40-713CD5B9A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96B21EC1-282B-4F3D-B67C-20D827AAC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8720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AF199A04-02C9-ED19-B1D2-45AF61C7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68CEBDD8-81B3-F2F8-E3DC-75317305B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C9E99F13-D33A-623F-675D-6AEBFDD2E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6209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43CE7257-5863-C995-A440-4BD9F0FA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2E1D542F-7395-332C-3E58-35B1F6A167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D887341B-B7F1-BFFF-ABFA-8C9DCA6FC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32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2F1A5AC2-C428-AD1B-FD0D-E9798533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A26E3AE5-D733-D278-B45F-77EAE8494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932D352A-8514-F9F1-800F-0C8F368E5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0809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2F1A5AC2-C428-AD1B-FD0D-E9798533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09:notes">
            <a:extLst>
              <a:ext uri="{FF2B5EF4-FFF2-40B4-BE49-F238E27FC236}">
                <a16:creationId xmlns:a16="http://schemas.microsoft.com/office/drawing/2014/main" id="{A26E3AE5-D733-D278-B45F-77EAE8494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09:notes">
            <a:extLst>
              <a:ext uri="{FF2B5EF4-FFF2-40B4-BE49-F238E27FC236}">
                <a16:creationId xmlns:a16="http://schemas.microsoft.com/office/drawing/2014/main" id="{932D352A-8514-F9F1-800F-0C8F368E5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7834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0" name="Google Shape;1440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1890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16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9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16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8/10/2026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6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8/10/2026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5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9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8/10/2026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8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4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6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4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55" lvl="0" indent="-457165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08" lvl="1" indent="-42330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664" lvl="2" indent="-42330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218" lvl="3" indent="-42330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772" lvl="4" indent="-42330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325" lvl="5" indent="-42330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6880" lvl="6" indent="-42330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435" lvl="7" indent="-42330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5988" lvl="8" indent="-42330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62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8/10/2026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5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8547E8E-BAA9-41F1-A170-507F06DD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53" y="2008079"/>
            <a:ext cx="11516091" cy="11423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400" b="0" dirty="0">
                <a:solidFill>
                  <a:schemeClr val="accent1">
                    <a:lumMod val="75000"/>
                  </a:schemeClr>
                </a:solidFill>
              </a:rPr>
              <a:t>Hardware Design Overview</a:t>
            </a:r>
          </a:p>
        </p:txBody>
      </p:sp>
    </p:spTree>
    <p:extLst>
      <p:ext uri="{BB962C8B-B14F-4D97-AF65-F5344CB8AC3E}">
        <p14:creationId xmlns:p14="http://schemas.microsoft.com/office/powerpoint/2010/main" val="327060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1011A6B7-69C9-4E25-89A2-CD0D14722181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F5521A-8E35-055D-4C24-90D6551A8F85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100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59F7D-2890-FF0C-EDF7-1A618FAC3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8C9DCCEC-D17B-4C81-C7DF-4F7CF3B1A591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723C1A6-6FDB-C52B-0FFA-3B76B8E73907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E70F984-01A3-A6BE-A905-62DCB1DC86F2}"/>
              </a:ext>
            </a:extLst>
          </p:cNvPr>
          <p:cNvSpPr/>
          <p:nvPr/>
        </p:nvSpPr>
        <p:spPr>
          <a:xfrm>
            <a:off x="519953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93F06D-8B96-3D12-B1F5-A75EF278F6FE}"/>
              </a:ext>
            </a:extLst>
          </p:cNvPr>
          <p:cNvCxnSpPr/>
          <p:nvPr/>
        </p:nvCxnSpPr>
        <p:spPr>
          <a:xfrm flipV="1">
            <a:off x="1201271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06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E79B-3BF2-1566-DB97-E79D33F4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96AFF26A-952D-3DD2-1DAE-74D0F35E093C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DD65AD3-A4E4-848F-FBF3-A97EC2DFA90D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E4E444F-0098-2990-DA3B-8BA77F096DFC}"/>
              </a:ext>
            </a:extLst>
          </p:cNvPr>
          <p:cNvSpPr/>
          <p:nvPr/>
        </p:nvSpPr>
        <p:spPr>
          <a:xfrm>
            <a:off x="519953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32E92C-749C-828E-48CD-869672BCF9BB}"/>
              </a:ext>
            </a:extLst>
          </p:cNvPr>
          <p:cNvCxnSpPr/>
          <p:nvPr/>
        </p:nvCxnSpPr>
        <p:spPr>
          <a:xfrm flipV="1">
            <a:off x="1201271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B68E798-25BF-376F-48D9-CA6D185C0DB6}"/>
              </a:ext>
            </a:extLst>
          </p:cNvPr>
          <p:cNvSpPr/>
          <p:nvPr/>
        </p:nvSpPr>
        <p:spPr>
          <a:xfrm>
            <a:off x="2617694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Writing the HDL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79259B-2563-FE4F-AF46-B5748B0FA16B}"/>
              </a:ext>
            </a:extLst>
          </p:cNvPr>
          <p:cNvCxnSpPr/>
          <p:nvPr/>
        </p:nvCxnSpPr>
        <p:spPr>
          <a:xfrm flipV="1">
            <a:off x="3299012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1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130B-DF39-476D-87AE-F7A34449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6DF157FF-18F5-FEAC-5270-C6D1D4D2B505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C9F308D-3AA0-CC7B-8305-E40F8898EE4B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3FF1517-F6B8-A1CA-C6EE-E9E3EDC3A0FB}"/>
              </a:ext>
            </a:extLst>
          </p:cNvPr>
          <p:cNvSpPr/>
          <p:nvPr/>
        </p:nvSpPr>
        <p:spPr>
          <a:xfrm>
            <a:off x="519953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8F1749-28CE-2AC9-A8A8-7461B36FF8B4}"/>
              </a:ext>
            </a:extLst>
          </p:cNvPr>
          <p:cNvCxnSpPr/>
          <p:nvPr/>
        </p:nvCxnSpPr>
        <p:spPr>
          <a:xfrm flipV="1">
            <a:off x="1201271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183CFF9-133A-5963-BD3D-642DB0186252}"/>
              </a:ext>
            </a:extLst>
          </p:cNvPr>
          <p:cNvSpPr/>
          <p:nvPr/>
        </p:nvSpPr>
        <p:spPr>
          <a:xfrm>
            <a:off x="2617694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Writing the HDL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A83E41-387F-75C2-807E-4F8DA2C37A08}"/>
              </a:ext>
            </a:extLst>
          </p:cNvPr>
          <p:cNvCxnSpPr/>
          <p:nvPr/>
        </p:nvCxnSpPr>
        <p:spPr>
          <a:xfrm flipV="1">
            <a:off x="3299012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509A546-218F-ED6E-1E9C-892A1F65E234}"/>
              </a:ext>
            </a:extLst>
          </p:cNvPr>
          <p:cNvSpPr/>
          <p:nvPr/>
        </p:nvSpPr>
        <p:spPr>
          <a:xfrm>
            <a:off x="4554070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Functional Correctness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F81C26-DFA3-DD25-610F-03B3D745EE71}"/>
              </a:ext>
            </a:extLst>
          </p:cNvPr>
          <p:cNvCxnSpPr/>
          <p:nvPr/>
        </p:nvCxnSpPr>
        <p:spPr>
          <a:xfrm flipV="1">
            <a:off x="5235388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49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F700-6553-502A-872F-55B19A83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99C74C88-C616-CFEE-CE8A-0CDF2C2B08CC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318335D-EF57-0F20-1012-AEEA2BB5B27D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31A8B75-7B5F-A544-F55A-C1A70EF2C4E6}"/>
              </a:ext>
            </a:extLst>
          </p:cNvPr>
          <p:cNvSpPr/>
          <p:nvPr/>
        </p:nvSpPr>
        <p:spPr>
          <a:xfrm>
            <a:off x="519953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C8CFDF-A491-62E9-EA04-6E3141034804}"/>
              </a:ext>
            </a:extLst>
          </p:cNvPr>
          <p:cNvCxnSpPr/>
          <p:nvPr/>
        </p:nvCxnSpPr>
        <p:spPr>
          <a:xfrm flipV="1">
            <a:off x="1201271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84A3E17-C37D-5034-21E9-FA7D7B3F3DC8}"/>
              </a:ext>
            </a:extLst>
          </p:cNvPr>
          <p:cNvSpPr/>
          <p:nvPr/>
        </p:nvSpPr>
        <p:spPr>
          <a:xfrm>
            <a:off x="2617694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Writing the HDL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46C8B1-E49B-6744-74C0-A889CCB8B1E0}"/>
              </a:ext>
            </a:extLst>
          </p:cNvPr>
          <p:cNvCxnSpPr/>
          <p:nvPr/>
        </p:nvCxnSpPr>
        <p:spPr>
          <a:xfrm flipV="1">
            <a:off x="3299012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331B2C5-5B23-135D-6B09-7CE940BDAD1E}"/>
              </a:ext>
            </a:extLst>
          </p:cNvPr>
          <p:cNvSpPr/>
          <p:nvPr/>
        </p:nvSpPr>
        <p:spPr>
          <a:xfrm>
            <a:off x="4554070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Functional Correctness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449333-D3B4-4CBB-31A3-49353E0DE2E5}"/>
              </a:ext>
            </a:extLst>
          </p:cNvPr>
          <p:cNvCxnSpPr/>
          <p:nvPr/>
        </p:nvCxnSpPr>
        <p:spPr>
          <a:xfrm flipV="1">
            <a:off x="5235388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F2AE04C-005D-F25C-53D0-6EF8499759DE}"/>
              </a:ext>
            </a:extLst>
          </p:cNvPr>
          <p:cNvSpPr/>
          <p:nvPr/>
        </p:nvSpPr>
        <p:spPr>
          <a:xfrm>
            <a:off x="6275296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Netlist Generation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075714-B7D4-3719-B00E-B1856674C1D7}"/>
              </a:ext>
            </a:extLst>
          </p:cNvPr>
          <p:cNvCxnSpPr/>
          <p:nvPr/>
        </p:nvCxnSpPr>
        <p:spPr>
          <a:xfrm flipV="1">
            <a:off x="6956614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57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0667-2911-8B11-B6ED-3005BE52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B4BB4016-1A68-F17B-C150-ACCA059552F0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9087DD7-88C8-6A16-6320-637B10DCBE3C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D84BDA6-D841-8B3E-C9E3-82E1F773BAE2}"/>
              </a:ext>
            </a:extLst>
          </p:cNvPr>
          <p:cNvSpPr/>
          <p:nvPr/>
        </p:nvSpPr>
        <p:spPr>
          <a:xfrm>
            <a:off x="519953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9D8B84-1601-27FF-3B69-BB3D0A1CD712}"/>
              </a:ext>
            </a:extLst>
          </p:cNvPr>
          <p:cNvCxnSpPr/>
          <p:nvPr/>
        </p:nvCxnSpPr>
        <p:spPr>
          <a:xfrm flipV="1">
            <a:off x="1201271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6A986DA-EAF7-A5D7-4B84-748A7F9FCC2C}"/>
              </a:ext>
            </a:extLst>
          </p:cNvPr>
          <p:cNvSpPr/>
          <p:nvPr/>
        </p:nvSpPr>
        <p:spPr>
          <a:xfrm>
            <a:off x="2617694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Writing the HDL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EB0BBF-AAC3-95C0-7A5E-9AD71E7D5FDC}"/>
              </a:ext>
            </a:extLst>
          </p:cNvPr>
          <p:cNvCxnSpPr/>
          <p:nvPr/>
        </p:nvCxnSpPr>
        <p:spPr>
          <a:xfrm flipV="1">
            <a:off x="3299012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E1C82EE-C01A-2090-4263-0ACD9A52EB46}"/>
              </a:ext>
            </a:extLst>
          </p:cNvPr>
          <p:cNvSpPr/>
          <p:nvPr/>
        </p:nvSpPr>
        <p:spPr>
          <a:xfrm>
            <a:off x="4554070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Functional Correctness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CE6E39-0C1E-D0AA-8023-4F03A79E8580}"/>
              </a:ext>
            </a:extLst>
          </p:cNvPr>
          <p:cNvCxnSpPr/>
          <p:nvPr/>
        </p:nvCxnSpPr>
        <p:spPr>
          <a:xfrm flipV="1">
            <a:off x="5235388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25DA3-1907-1779-2685-70280790DB43}"/>
              </a:ext>
            </a:extLst>
          </p:cNvPr>
          <p:cNvSpPr/>
          <p:nvPr/>
        </p:nvSpPr>
        <p:spPr>
          <a:xfrm>
            <a:off x="6275296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Netlist Generation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BB77DE-2BFB-B623-6D3E-627671038B62}"/>
              </a:ext>
            </a:extLst>
          </p:cNvPr>
          <p:cNvCxnSpPr/>
          <p:nvPr/>
        </p:nvCxnSpPr>
        <p:spPr>
          <a:xfrm flipV="1">
            <a:off x="6956614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C1BC652-97FC-E64F-5145-9DB1FB1CEDE0}"/>
              </a:ext>
            </a:extLst>
          </p:cNvPr>
          <p:cNvSpPr/>
          <p:nvPr/>
        </p:nvSpPr>
        <p:spPr>
          <a:xfrm>
            <a:off x="8370540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Place &amp; Route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F8FA20-0FD7-24E5-DF5F-131372E153B4}"/>
              </a:ext>
            </a:extLst>
          </p:cNvPr>
          <p:cNvCxnSpPr/>
          <p:nvPr/>
        </p:nvCxnSpPr>
        <p:spPr>
          <a:xfrm flipV="1">
            <a:off x="9051858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7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440F7-7954-5878-2CBA-12FF4AF0A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8;p89">
            <a:extLst>
              <a:ext uri="{FF2B5EF4-FFF2-40B4-BE49-F238E27FC236}">
                <a16:creationId xmlns:a16="http://schemas.microsoft.com/office/drawing/2014/main" id="{F99D2244-E4DC-6EDC-9887-1D5325262BED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  <a:sym typeface="Calibri"/>
              </a:rPr>
              <a:t>Digital Design Flow in FPGA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D15A3E">
                  <a:lumMod val="75000"/>
                </a:srgbClr>
              </a:solidFill>
              <a:effectLst/>
              <a:uLnTx/>
              <a:uFillTx/>
              <a:latin typeface="Arial"/>
              <a:ea typeface="+mj-ea"/>
              <a:cs typeface="+mj-cs"/>
              <a:sym typeface="Calibri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0EBE344-B362-423E-62B6-00B68925C128}"/>
              </a:ext>
            </a:extLst>
          </p:cNvPr>
          <p:cNvGraphicFramePr/>
          <p:nvPr/>
        </p:nvGraphicFramePr>
        <p:xfrm>
          <a:off x="345649" y="678730"/>
          <a:ext cx="11500701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7C64CA-D052-23FE-0584-28EE32D5C328}"/>
              </a:ext>
            </a:extLst>
          </p:cNvPr>
          <p:cNvSpPr/>
          <p:nvPr/>
        </p:nvSpPr>
        <p:spPr>
          <a:xfrm>
            <a:off x="519953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Architecture Diagram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23E088-AB93-BB32-DF67-60C452C9E872}"/>
              </a:ext>
            </a:extLst>
          </p:cNvPr>
          <p:cNvCxnSpPr/>
          <p:nvPr/>
        </p:nvCxnSpPr>
        <p:spPr>
          <a:xfrm flipV="1">
            <a:off x="1201271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44D923E-7CD0-B568-4DF9-7E0492D45632}"/>
              </a:ext>
            </a:extLst>
          </p:cNvPr>
          <p:cNvSpPr/>
          <p:nvPr/>
        </p:nvSpPr>
        <p:spPr>
          <a:xfrm>
            <a:off x="2617694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Writing the HDL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7CBDF8-8068-90D3-782C-2F868116A8C2}"/>
              </a:ext>
            </a:extLst>
          </p:cNvPr>
          <p:cNvCxnSpPr/>
          <p:nvPr/>
        </p:nvCxnSpPr>
        <p:spPr>
          <a:xfrm flipV="1">
            <a:off x="3299012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B4632D7-B445-E776-8BE3-881C20AC6838}"/>
              </a:ext>
            </a:extLst>
          </p:cNvPr>
          <p:cNvSpPr/>
          <p:nvPr/>
        </p:nvSpPr>
        <p:spPr>
          <a:xfrm>
            <a:off x="4554070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Functional Correctness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ACFCE2-EA85-1B77-B4C3-CF758A5F976C}"/>
              </a:ext>
            </a:extLst>
          </p:cNvPr>
          <p:cNvCxnSpPr/>
          <p:nvPr/>
        </p:nvCxnSpPr>
        <p:spPr>
          <a:xfrm flipV="1">
            <a:off x="5235388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F536337-0725-F3A5-9C49-BC76B30DD89C}"/>
              </a:ext>
            </a:extLst>
          </p:cNvPr>
          <p:cNvSpPr/>
          <p:nvPr/>
        </p:nvSpPr>
        <p:spPr>
          <a:xfrm>
            <a:off x="6275296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Netlist Generation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C39C1D-6988-94B1-960D-55B7D3A23D70}"/>
              </a:ext>
            </a:extLst>
          </p:cNvPr>
          <p:cNvCxnSpPr/>
          <p:nvPr/>
        </p:nvCxnSpPr>
        <p:spPr>
          <a:xfrm flipV="1">
            <a:off x="6956614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EB7EACD-9B4A-F1A8-DF14-7E4308428599}"/>
              </a:ext>
            </a:extLst>
          </p:cNvPr>
          <p:cNvSpPr/>
          <p:nvPr/>
        </p:nvSpPr>
        <p:spPr>
          <a:xfrm>
            <a:off x="8370540" y="5426836"/>
            <a:ext cx="1380565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Place &amp; Route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DC6CBA-5958-B958-ADF8-212926E956A7}"/>
              </a:ext>
            </a:extLst>
          </p:cNvPr>
          <p:cNvCxnSpPr/>
          <p:nvPr/>
        </p:nvCxnSpPr>
        <p:spPr>
          <a:xfrm flipV="1">
            <a:off x="9051858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365A6-3929-8F42-6695-F0D24B35C5CE}"/>
              </a:ext>
            </a:extLst>
          </p:cNvPr>
          <p:cNvSpPr/>
          <p:nvPr/>
        </p:nvSpPr>
        <p:spPr>
          <a:xfrm>
            <a:off x="10423461" y="5426836"/>
            <a:ext cx="1447282" cy="83630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FPGA Programming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0F53D7-4A8E-29BD-EB26-ED6020B82D83}"/>
              </a:ext>
            </a:extLst>
          </p:cNvPr>
          <p:cNvCxnSpPr/>
          <p:nvPr/>
        </p:nvCxnSpPr>
        <p:spPr>
          <a:xfrm flipV="1">
            <a:off x="11147102" y="4509247"/>
            <a:ext cx="0" cy="878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53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48000"/>
    </mc:Choice>
    <mc:Fallback xmlns="">
      <p:transition advClick="0" advTm="48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55FAF46-87D1-7DC3-B967-0869C329F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9259" y="400890"/>
            <a:ext cx="6096000" cy="5334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/>
              <a:t>Multiplexer Built From Primitives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6BABA11-B4DA-85E2-267F-6682BEDEE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6493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module mux(f, a, b,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output f;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input a, b, </a:t>
            </a:r>
            <a:r>
              <a:rPr lang="en-US" altLang="en-US" dirty="0" err="1"/>
              <a:t>sel</a:t>
            </a:r>
            <a:r>
              <a:rPr lang="en-US" altLang="en-US" dirty="0"/>
              <a:t>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 dirty="0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and	g1(f1, a, </a:t>
            </a:r>
            <a:r>
              <a:rPr lang="en-US" altLang="en-US" dirty="0" err="1"/>
              <a:t>nsel</a:t>
            </a:r>
            <a:r>
              <a:rPr lang="en-US" altLang="en-US" dirty="0"/>
              <a:t>),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		g2(f2, b,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or		g3(f, f1, f2);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not	        g4(</a:t>
            </a:r>
            <a:r>
              <a:rPr lang="en-US" altLang="en-US" dirty="0" err="1"/>
              <a:t>nsel</a:t>
            </a:r>
            <a:r>
              <a:rPr lang="en-US" altLang="en-US" dirty="0"/>
              <a:t>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 dirty="0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 err="1"/>
              <a:t>endmodule</a:t>
            </a:r>
            <a:endParaRPr lang="en-US" altLang="en-US" dirty="0"/>
          </a:p>
        </p:txBody>
      </p:sp>
      <p:sp>
        <p:nvSpPr>
          <p:cNvPr id="12292" name="AutoShape 4">
            <a:extLst>
              <a:ext uri="{FF2B5EF4-FFF2-40B4-BE49-F238E27FC236}">
                <a16:creationId xmlns:a16="http://schemas.microsoft.com/office/drawing/2014/main" id="{F4BC3C48-9AFD-7D77-8539-EAA4DF206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093" y="45005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33FB4690-8869-C40C-DC8B-792DD3397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093" y="46529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4" name="Line 6">
            <a:extLst>
              <a:ext uri="{FF2B5EF4-FFF2-40B4-BE49-F238E27FC236}">
                <a16:creationId xmlns:a16="http://schemas.microsoft.com/office/drawing/2014/main" id="{F52AF686-7D47-33AD-62D2-E75A1B7CE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893" y="48053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5" name="AutoShape 7">
            <a:extLst>
              <a:ext uri="{FF2B5EF4-FFF2-40B4-BE49-F238E27FC236}">
                <a16:creationId xmlns:a16="http://schemas.microsoft.com/office/drawing/2014/main" id="{4F25BD9E-A773-92AD-65F3-6B6A6B65C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093" y="54149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2296" name="Line 8">
            <a:extLst>
              <a:ext uri="{FF2B5EF4-FFF2-40B4-BE49-F238E27FC236}">
                <a16:creationId xmlns:a16="http://schemas.microsoft.com/office/drawing/2014/main" id="{19ACF21E-D71A-8F60-A709-5388EC83C9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093" y="55673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7" name="Line 9">
            <a:extLst>
              <a:ext uri="{FF2B5EF4-FFF2-40B4-BE49-F238E27FC236}">
                <a16:creationId xmlns:a16="http://schemas.microsoft.com/office/drawing/2014/main" id="{4F849ABD-B011-5E5F-2CA7-BA2C446BB1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693" y="5872163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8" name="Line 10">
            <a:extLst>
              <a:ext uri="{FF2B5EF4-FFF2-40B4-BE49-F238E27FC236}">
                <a16:creationId xmlns:a16="http://schemas.microsoft.com/office/drawing/2014/main" id="{D728D3A6-B138-95DC-0305-815D003AC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893" y="5719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2299" name="Group 11">
            <a:extLst>
              <a:ext uri="{FF2B5EF4-FFF2-40B4-BE49-F238E27FC236}">
                <a16:creationId xmlns:a16="http://schemas.microsoft.com/office/drawing/2014/main" id="{751BE48D-3061-AAEC-0330-8894FB801D07}"/>
              </a:ext>
            </a:extLst>
          </p:cNvPr>
          <p:cNvGrpSpPr>
            <a:grpSpLocks/>
          </p:cNvGrpSpPr>
          <p:nvPr/>
        </p:nvGrpSpPr>
        <p:grpSpPr bwMode="auto">
          <a:xfrm>
            <a:off x="6884893" y="4957763"/>
            <a:ext cx="685800" cy="609600"/>
            <a:chOff x="2688" y="1488"/>
            <a:chExt cx="432" cy="384"/>
          </a:xfrm>
        </p:grpSpPr>
        <p:sp>
          <p:nvSpPr>
            <p:cNvPr id="12328" name="Arc 12">
              <a:extLst>
                <a:ext uri="{FF2B5EF4-FFF2-40B4-BE49-F238E27FC236}">
                  <a16:creationId xmlns:a16="http://schemas.microsoft.com/office/drawing/2014/main" id="{4F328287-3016-E534-5AA6-32724757A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5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29" name="Arc 13">
              <a:extLst>
                <a:ext uri="{FF2B5EF4-FFF2-40B4-BE49-F238E27FC236}">
                  <a16:creationId xmlns:a16="http://schemas.microsoft.com/office/drawing/2014/main" id="{21AB267E-99A3-CAD6-A380-EC8D2968E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300" name="Line 14">
            <a:extLst>
              <a:ext uri="{FF2B5EF4-FFF2-40B4-BE49-F238E27FC236}">
                <a16:creationId xmlns:a16="http://schemas.microsoft.com/office/drawing/2014/main" id="{D738D12D-B405-2F3F-007E-33A6CC8368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93" y="51101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1" name="Line 15">
            <a:extLst>
              <a:ext uri="{FF2B5EF4-FFF2-40B4-BE49-F238E27FC236}">
                <a16:creationId xmlns:a16="http://schemas.microsoft.com/office/drawing/2014/main" id="{078AB353-F909-8053-33A9-E7686E842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93" y="54149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2" name="Line 16">
            <a:extLst>
              <a:ext uri="{FF2B5EF4-FFF2-40B4-BE49-F238E27FC236}">
                <a16:creationId xmlns:a16="http://schemas.microsoft.com/office/drawing/2014/main" id="{EBBEB4BE-3B5E-EA4C-BCCC-1AE55690D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693" y="52625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3" name="AutoShape 17">
            <a:extLst>
              <a:ext uri="{FF2B5EF4-FFF2-40B4-BE49-F238E27FC236}">
                <a16:creationId xmlns:a16="http://schemas.microsoft.com/office/drawing/2014/main" id="{A44104DE-0E65-1960-01E9-C286A1B43CA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08393" y="4691063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2304" name="Line 18">
            <a:extLst>
              <a:ext uri="{FF2B5EF4-FFF2-40B4-BE49-F238E27FC236}">
                <a16:creationId xmlns:a16="http://schemas.microsoft.com/office/drawing/2014/main" id="{21A1DF7C-A5C0-0C2C-7CAF-E99B47D1B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693" y="4957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5" name="Line 19">
            <a:extLst>
              <a:ext uri="{FF2B5EF4-FFF2-40B4-BE49-F238E27FC236}">
                <a16:creationId xmlns:a16="http://schemas.microsoft.com/office/drawing/2014/main" id="{3D0ACADE-BF68-7C30-7D6C-605F24677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093" y="4957763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6" name="Oval 20">
            <a:extLst>
              <a:ext uri="{FF2B5EF4-FFF2-40B4-BE49-F238E27FC236}">
                <a16:creationId xmlns:a16="http://schemas.microsoft.com/office/drawing/2014/main" id="{502623DC-27D9-C471-A83D-5EF30FB11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693" y="4881563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2307" name="Line 21">
            <a:extLst>
              <a:ext uri="{FF2B5EF4-FFF2-40B4-BE49-F238E27FC236}">
                <a16:creationId xmlns:a16="http://schemas.microsoft.com/office/drawing/2014/main" id="{01F7E4CB-31F6-5893-1838-7B0917AA12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693" y="4957763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8" name="Line 22">
            <a:extLst>
              <a:ext uri="{FF2B5EF4-FFF2-40B4-BE49-F238E27FC236}">
                <a16:creationId xmlns:a16="http://schemas.microsoft.com/office/drawing/2014/main" id="{EC7322EF-341F-08D0-C873-E8ED79371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93" y="54149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09" name="Line 23">
            <a:extLst>
              <a:ext uri="{FF2B5EF4-FFF2-40B4-BE49-F238E27FC236}">
                <a16:creationId xmlns:a16="http://schemas.microsoft.com/office/drawing/2014/main" id="{FD515327-5D6B-FB0D-9762-23E1688A92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493" y="4805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10" name="Text Box 24">
            <a:extLst>
              <a:ext uri="{FF2B5EF4-FFF2-40B4-BE49-F238E27FC236}">
                <a16:creationId xmlns:a16="http://schemas.microsoft.com/office/drawing/2014/main" id="{A576ADD1-EAB4-085C-4D31-67ABB6678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093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2311" name="Text Box 25">
            <a:extLst>
              <a:ext uri="{FF2B5EF4-FFF2-40B4-BE49-F238E27FC236}">
                <a16:creationId xmlns:a16="http://schemas.microsoft.com/office/drawing/2014/main" id="{BD15E969-9E50-AF35-DA1D-0F186B1C7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093" y="5338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2312" name="Text Box 26">
            <a:extLst>
              <a:ext uri="{FF2B5EF4-FFF2-40B4-BE49-F238E27FC236}">
                <a16:creationId xmlns:a16="http://schemas.microsoft.com/office/drawing/2014/main" id="{04370039-0109-AF81-C130-95134E1D1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693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sel</a:t>
            </a:r>
          </a:p>
        </p:txBody>
      </p:sp>
      <p:sp>
        <p:nvSpPr>
          <p:cNvPr id="12313" name="Text Box 27">
            <a:extLst>
              <a:ext uri="{FF2B5EF4-FFF2-40B4-BE49-F238E27FC236}">
                <a16:creationId xmlns:a16="http://schemas.microsoft.com/office/drawing/2014/main" id="{A4C94E1D-0DFE-FA75-5276-944230413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893" y="5033964"/>
            <a:ext cx="457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</a:t>
            </a:r>
          </a:p>
        </p:txBody>
      </p:sp>
      <p:sp>
        <p:nvSpPr>
          <p:cNvPr id="12314" name="Text Box 28">
            <a:extLst>
              <a:ext uri="{FF2B5EF4-FFF2-40B4-BE49-F238E27FC236}">
                <a16:creationId xmlns:a16="http://schemas.microsoft.com/office/drawing/2014/main" id="{53AF3F35-9190-C7B1-3C44-580B0B92E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093" y="4576764"/>
            <a:ext cx="9144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nsel</a:t>
            </a:r>
          </a:p>
        </p:txBody>
      </p:sp>
      <p:sp>
        <p:nvSpPr>
          <p:cNvPr id="12315" name="Text Box 29">
            <a:extLst>
              <a:ext uri="{FF2B5EF4-FFF2-40B4-BE49-F238E27FC236}">
                <a16:creationId xmlns:a16="http://schemas.microsoft.com/office/drawing/2014/main" id="{172C59AE-B6E6-9122-C199-E01C54E5C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493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f1</a:t>
            </a:r>
          </a:p>
        </p:txBody>
      </p:sp>
      <p:sp>
        <p:nvSpPr>
          <p:cNvPr id="12316" name="Text Box 30">
            <a:extLst>
              <a:ext uri="{FF2B5EF4-FFF2-40B4-BE49-F238E27FC236}">
                <a16:creationId xmlns:a16="http://schemas.microsoft.com/office/drawing/2014/main" id="{79D58E97-D21D-1542-6745-D80679858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693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f2</a:t>
            </a:r>
          </a:p>
        </p:txBody>
      </p:sp>
      <p:sp>
        <p:nvSpPr>
          <p:cNvPr id="12317" name="Text Box 31">
            <a:extLst>
              <a:ext uri="{FF2B5EF4-FFF2-40B4-BE49-F238E27FC236}">
                <a16:creationId xmlns:a16="http://schemas.microsoft.com/office/drawing/2014/main" id="{71B1E5E3-76D9-B01C-38D8-F76B248F3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8093" y="46529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g1</a:t>
            </a:r>
          </a:p>
        </p:txBody>
      </p:sp>
      <p:sp>
        <p:nvSpPr>
          <p:cNvPr id="12318" name="Text Box 32">
            <a:extLst>
              <a:ext uri="{FF2B5EF4-FFF2-40B4-BE49-F238E27FC236}">
                <a16:creationId xmlns:a16="http://schemas.microsoft.com/office/drawing/2014/main" id="{AE7D9281-4633-2F9A-00F0-359AC4750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8093" y="5567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g2</a:t>
            </a:r>
          </a:p>
        </p:txBody>
      </p:sp>
      <p:sp>
        <p:nvSpPr>
          <p:cNvPr id="12319" name="Text Box 33">
            <a:extLst>
              <a:ext uri="{FF2B5EF4-FFF2-40B4-BE49-F238E27FC236}">
                <a16:creationId xmlns:a16="http://schemas.microsoft.com/office/drawing/2014/main" id="{8E6768A1-12AA-2482-7A74-DACF21B86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093" y="51101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g3</a:t>
            </a:r>
          </a:p>
        </p:txBody>
      </p:sp>
      <p:sp>
        <p:nvSpPr>
          <p:cNvPr id="12320" name="Text Box 34">
            <a:extLst>
              <a:ext uri="{FF2B5EF4-FFF2-40B4-BE49-F238E27FC236}">
                <a16:creationId xmlns:a16="http://schemas.microsoft.com/office/drawing/2014/main" id="{6132E276-3F39-106F-1754-327B39AD6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893" y="4805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g4</a:t>
            </a:r>
          </a:p>
        </p:txBody>
      </p:sp>
      <p:sp>
        <p:nvSpPr>
          <p:cNvPr id="12321" name="Oval 35">
            <a:extLst>
              <a:ext uri="{FF2B5EF4-FFF2-40B4-BE49-F238E27FC236}">
                <a16:creationId xmlns:a16="http://schemas.microsoft.com/office/drawing/2014/main" id="{C929A548-E3A8-FFE2-0B1B-B8526A362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493" y="5795963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2322" name="Text Box 36">
            <a:extLst>
              <a:ext uri="{FF2B5EF4-FFF2-40B4-BE49-F238E27FC236}">
                <a16:creationId xmlns:a16="http://schemas.microsoft.com/office/drawing/2014/main" id="{09DEDCE8-622F-6BC1-B9C1-B10C3D778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093" y="1630364"/>
            <a:ext cx="43434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Verilog programs built from modules</a:t>
            </a:r>
          </a:p>
        </p:txBody>
      </p:sp>
      <p:sp>
        <p:nvSpPr>
          <p:cNvPr id="12323" name="Text Box 38">
            <a:extLst>
              <a:ext uri="{FF2B5EF4-FFF2-40B4-BE49-F238E27FC236}">
                <a16:creationId xmlns:a16="http://schemas.microsoft.com/office/drawing/2014/main" id="{F9E7B66A-BBEF-A8F1-2A9E-5D81B770A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293" y="2057400"/>
            <a:ext cx="2209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Each module has an interface</a:t>
            </a:r>
          </a:p>
        </p:txBody>
      </p:sp>
      <p:sp>
        <p:nvSpPr>
          <p:cNvPr id="12324" name="Line 39">
            <a:extLst>
              <a:ext uri="{FF2B5EF4-FFF2-40B4-BE49-F238E27FC236}">
                <a16:creationId xmlns:a16="http://schemas.microsoft.com/office/drawing/2014/main" id="{39148FAC-0971-BBC4-516D-FE0B67F3EF3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46293" y="2209800"/>
            <a:ext cx="3048000" cy="1524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25" name="Text Box 40">
            <a:extLst>
              <a:ext uri="{FF2B5EF4-FFF2-40B4-BE49-F238E27FC236}">
                <a16:creationId xmlns:a16="http://schemas.microsoft.com/office/drawing/2014/main" id="{A63B8FA4-BABA-CBE8-D4BF-AE6D12789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493" y="2911476"/>
            <a:ext cx="26670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Module may contain structure: instances of primitives and other modules</a:t>
            </a:r>
          </a:p>
        </p:txBody>
      </p:sp>
      <p:sp>
        <p:nvSpPr>
          <p:cNvPr id="12326" name="Line 41">
            <a:extLst>
              <a:ext uri="{FF2B5EF4-FFF2-40B4-BE49-F238E27FC236}">
                <a16:creationId xmlns:a16="http://schemas.microsoft.com/office/drawing/2014/main" id="{F4A32A1C-A90F-B9D6-7DE4-BBA1811492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8293" y="1828800"/>
            <a:ext cx="9906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327" name="Line 46">
            <a:extLst>
              <a:ext uri="{FF2B5EF4-FFF2-40B4-BE49-F238E27FC236}">
                <a16:creationId xmlns:a16="http://schemas.microsoft.com/office/drawing/2014/main" id="{DD4C1CF0-5EA7-F174-FDC5-E668DB6E7F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3093" y="3657600"/>
            <a:ext cx="1676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CA65BC91-BACF-9245-9674-88BC3EFB70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6489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module mux(f, a, b,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output f;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input a, b, </a:t>
            </a:r>
            <a:r>
              <a:rPr lang="en-US" altLang="en-US" dirty="0" err="1"/>
              <a:t>sel</a:t>
            </a:r>
            <a:r>
              <a:rPr lang="en-US" altLang="en-US" dirty="0"/>
              <a:t>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 dirty="0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and	g1(f1, a, </a:t>
            </a:r>
            <a:r>
              <a:rPr lang="en-US" altLang="en-US" dirty="0" err="1"/>
              <a:t>nsel</a:t>
            </a:r>
            <a:r>
              <a:rPr lang="en-US" altLang="en-US" dirty="0"/>
              <a:t>),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		g2(f2, b,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or		g3(f, f1, f2);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not	        g4(</a:t>
            </a:r>
            <a:r>
              <a:rPr lang="en-US" altLang="en-US" dirty="0" err="1"/>
              <a:t>nsel</a:t>
            </a:r>
            <a:r>
              <a:rPr lang="en-US" altLang="en-US" dirty="0"/>
              <a:t>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 dirty="0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 err="1"/>
              <a:t>endmodule</a:t>
            </a:r>
            <a:endParaRPr lang="en-US" altLang="en-US" dirty="0"/>
          </a:p>
        </p:txBody>
      </p:sp>
      <p:sp>
        <p:nvSpPr>
          <p:cNvPr id="13316" name="AutoShape 4">
            <a:extLst>
              <a:ext uri="{FF2B5EF4-FFF2-40B4-BE49-F238E27FC236}">
                <a16:creationId xmlns:a16="http://schemas.microsoft.com/office/drawing/2014/main" id="{D58AA28D-035E-A8A9-5ADC-AA35C905D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089" y="45005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D4FB6982-6841-028E-D4E9-59C3F4DA6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089" y="46529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8" name="Line 6">
            <a:extLst>
              <a:ext uri="{FF2B5EF4-FFF2-40B4-BE49-F238E27FC236}">
                <a16:creationId xmlns:a16="http://schemas.microsoft.com/office/drawing/2014/main" id="{2DECF899-C41D-35E1-FC7D-DFC714A54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889" y="48053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9" name="AutoShape 7">
            <a:extLst>
              <a:ext uri="{FF2B5EF4-FFF2-40B4-BE49-F238E27FC236}">
                <a16:creationId xmlns:a16="http://schemas.microsoft.com/office/drawing/2014/main" id="{A1071472-CD19-0176-8ADA-27897A030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089" y="54149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3320" name="Line 8">
            <a:extLst>
              <a:ext uri="{FF2B5EF4-FFF2-40B4-BE49-F238E27FC236}">
                <a16:creationId xmlns:a16="http://schemas.microsoft.com/office/drawing/2014/main" id="{FCDBA625-97B6-302D-03C9-F14A022C16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089" y="55673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1" name="Line 9">
            <a:extLst>
              <a:ext uri="{FF2B5EF4-FFF2-40B4-BE49-F238E27FC236}">
                <a16:creationId xmlns:a16="http://schemas.microsoft.com/office/drawing/2014/main" id="{21F046A3-2EA5-318F-EB90-0770C4576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689" y="5872163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2" name="Line 10">
            <a:extLst>
              <a:ext uri="{FF2B5EF4-FFF2-40B4-BE49-F238E27FC236}">
                <a16:creationId xmlns:a16="http://schemas.microsoft.com/office/drawing/2014/main" id="{C83AB694-FE75-3C9F-C67A-9ED40BC63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889" y="5719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3323" name="Group 11">
            <a:extLst>
              <a:ext uri="{FF2B5EF4-FFF2-40B4-BE49-F238E27FC236}">
                <a16:creationId xmlns:a16="http://schemas.microsoft.com/office/drawing/2014/main" id="{0359F8BF-F837-9F42-8887-412D7C7288FD}"/>
              </a:ext>
            </a:extLst>
          </p:cNvPr>
          <p:cNvGrpSpPr>
            <a:grpSpLocks/>
          </p:cNvGrpSpPr>
          <p:nvPr/>
        </p:nvGrpSpPr>
        <p:grpSpPr bwMode="auto">
          <a:xfrm>
            <a:off x="6884889" y="4957763"/>
            <a:ext cx="685800" cy="609600"/>
            <a:chOff x="2688" y="1488"/>
            <a:chExt cx="432" cy="384"/>
          </a:xfrm>
        </p:grpSpPr>
        <p:sp>
          <p:nvSpPr>
            <p:cNvPr id="13348" name="Arc 12">
              <a:extLst>
                <a:ext uri="{FF2B5EF4-FFF2-40B4-BE49-F238E27FC236}">
                  <a16:creationId xmlns:a16="http://schemas.microsoft.com/office/drawing/2014/main" id="{90F8D333-B675-8B7B-9B83-65E3B3AB0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5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49" name="Arc 13">
              <a:extLst>
                <a:ext uri="{FF2B5EF4-FFF2-40B4-BE49-F238E27FC236}">
                  <a16:creationId xmlns:a16="http://schemas.microsoft.com/office/drawing/2014/main" id="{FC24004E-187C-64C8-1B01-2DADD13FD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3324" name="Line 14">
            <a:extLst>
              <a:ext uri="{FF2B5EF4-FFF2-40B4-BE49-F238E27FC236}">
                <a16:creationId xmlns:a16="http://schemas.microsoft.com/office/drawing/2014/main" id="{733C975A-966B-C6DD-F014-DE7656BBB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89" y="51101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5" name="Line 15">
            <a:extLst>
              <a:ext uri="{FF2B5EF4-FFF2-40B4-BE49-F238E27FC236}">
                <a16:creationId xmlns:a16="http://schemas.microsoft.com/office/drawing/2014/main" id="{67E52D82-F1A8-D782-49C5-FFB99845D9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89" y="54149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6" name="Line 16">
            <a:extLst>
              <a:ext uri="{FF2B5EF4-FFF2-40B4-BE49-F238E27FC236}">
                <a16:creationId xmlns:a16="http://schemas.microsoft.com/office/drawing/2014/main" id="{1615C083-6BF2-B045-225D-7BE0702E7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689" y="52625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7" name="AutoShape 17">
            <a:extLst>
              <a:ext uri="{FF2B5EF4-FFF2-40B4-BE49-F238E27FC236}">
                <a16:creationId xmlns:a16="http://schemas.microsoft.com/office/drawing/2014/main" id="{1D3BB9C6-920B-8E68-327F-3F41BDDC931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08389" y="4691063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3328" name="Line 18">
            <a:extLst>
              <a:ext uri="{FF2B5EF4-FFF2-40B4-BE49-F238E27FC236}">
                <a16:creationId xmlns:a16="http://schemas.microsoft.com/office/drawing/2014/main" id="{20CEB95B-7E8D-435E-91B2-BFFC32900F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689" y="4957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9" name="Line 19">
            <a:extLst>
              <a:ext uri="{FF2B5EF4-FFF2-40B4-BE49-F238E27FC236}">
                <a16:creationId xmlns:a16="http://schemas.microsoft.com/office/drawing/2014/main" id="{1C8B9592-32D8-41F7-6BD1-C5296E5BA4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089" y="4957763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0" name="Oval 20">
            <a:extLst>
              <a:ext uri="{FF2B5EF4-FFF2-40B4-BE49-F238E27FC236}">
                <a16:creationId xmlns:a16="http://schemas.microsoft.com/office/drawing/2014/main" id="{39A65039-0C67-E4FC-803E-1595EE7BB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689" y="4881563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3331" name="Line 21">
            <a:extLst>
              <a:ext uri="{FF2B5EF4-FFF2-40B4-BE49-F238E27FC236}">
                <a16:creationId xmlns:a16="http://schemas.microsoft.com/office/drawing/2014/main" id="{9C944F40-765C-A789-4A57-FF4CA1707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689" y="4957763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2" name="Line 22">
            <a:extLst>
              <a:ext uri="{FF2B5EF4-FFF2-40B4-BE49-F238E27FC236}">
                <a16:creationId xmlns:a16="http://schemas.microsoft.com/office/drawing/2014/main" id="{47859DCA-C9E5-ADAF-5B92-AD28394394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89" y="54149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3" name="Line 23">
            <a:extLst>
              <a:ext uri="{FF2B5EF4-FFF2-40B4-BE49-F238E27FC236}">
                <a16:creationId xmlns:a16="http://schemas.microsoft.com/office/drawing/2014/main" id="{AB0907BE-87D7-7FB8-3BB8-0B30EF55F1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489" y="4805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4" name="Text Box 24">
            <a:extLst>
              <a:ext uri="{FF2B5EF4-FFF2-40B4-BE49-F238E27FC236}">
                <a16:creationId xmlns:a16="http://schemas.microsoft.com/office/drawing/2014/main" id="{070B2955-54B9-89BF-EBB7-5B8D3591C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089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3335" name="Text Box 25">
            <a:extLst>
              <a:ext uri="{FF2B5EF4-FFF2-40B4-BE49-F238E27FC236}">
                <a16:creationId xmlns:a16="http://schemas.microsoft.com/office/drawing/2014/main" id="{D604506D-B7E0-9B5C-BF88-EFF433B3E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089" y="5338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3336" name="Text Box 26">
            <a:extLst>
              <a:ext uri="{FF2B5EF4-FFF2-40B4-BE49-F238E27FC236}">
                <a16:creationId xmlns:a16="http://schemas.microsoft.com/office/drawing/2014/main" id="{5AFDD0E7-E961-6538-C965-FCA2987FD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689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sel</a:t>
            </a:r>
          </a:p>
        </p:txBody>
      </p:sp>
      <p:sp>
        <p:nvSpPr>
          <p:cNvPr id="13337" name="Text Box 27">
            <a:extLst>
              <a:ext uri="{FF2B5EF4-FFF2-40B4-BE49-F238E27FC236}">
                <a16:creationId xmlns:a16="http://schemas.microsoft.com/office/drawing/2014/main" id="{B29E342C-9645-33A0-ED0B-13DBCFABE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889" y="5033964"/>
            <a:ext cx="457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</a:t>
            </a:r>
          </a:p>
        </p:txBody>
      </p:sp>
      <p:sp>
        <p:nvSpPr>
          <p:cNvPr id="13338" name="Text Box 28">
            <a:extLst>
              <a:ext uri="{FF2B5EF4-FFF2-40B4-BE49-F238E27FC236}">
                <a16:creationId xmlns:a16="http://schemas.microsoft.com/office/drawing/2014/main" id="{F9E486B7-C293-F65F-D3F8-8518D6BB0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089" y="4576764"/>
            <a:ext cx="9144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nsel</a:t>
            </a:r>
          </a:p>
        </p:txBody>
      </p:sp>
      <p:sp>
        <p:nvSpPr>
          <p:cNvPr id="13339" name="Text Box 29">
            <a:extLst>
              <a:ext uri="{FF2B5EF4-FFF2-40B4-BE49-F238E27FC236}">
                <a16:creationId xmlns:a16="http://schemas.microsoft.com/office/drawing/2014/main" id="{E9BE53CF-C671-98DD-6FCF-DA0B477CD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489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f1</a:t>
            </a:r>
          </a:p>
        </p:txBody>
      </p:sp>
      <p:sp>
        <p:nvSpPr>
          <p:cNvPr id="13340" name="Text Box 30">
            <a:extLst>
              <a:ext uri="{FF2B5EF4-FFF2-40B4-BE49-F238E27FC236}">
                <a16:creationId xmlns:a16="http://schemas.microsoft.com/office/drawing/2014/main" id="{DF6AFA6D-D5CD-B7E1-B2D3-0D284B218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689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f2</a:t>
            </a:r>
          </a:p>
        </p:txBody>
      </p:sp>
      <p:sp>
        <p:nvSpPr>
          <p:cNvPr id="13341" name="Text Box 31">
            <a:extLst>
              <a:ext uri="{FF2B5EF4-FFF2-40B4-BE49-F238E27FC236}">
                <a16:creationId xmlns:a16="http://schemas.microsoft.com/office/drawing/2014/main" id="{6DD71E7C-BC5D-80AC-6FB4-8315A7B31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8089" y="46529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g1</a:t>
            </a:r>
          </a:p>
        </p:txBody>
      </p:sp>
      <p:sp>
        <p:nvSpPr>
          <p:cNvPr id="13342" name="Text Box 32">
            <a:extLst>
              <a:ext uri="{FF2B5EF4-FFF2-40B4-BE49-F238E27FC236}">
                <a16:creationId xmlns:a16="http://schemas.microsoft.com/office/drawing/2014/main" id="{FC2BE250-6233-D992-F885-B408FF7E9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8089" y="5567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g2</a:t>
            </a:r>
          </a:p>
        </p:txBody>
      </p:sp>
      <p:sp>
        <p:nvSpPr>
          <p:cNvPr id="13343" name="Text Box 33">
            <a:extLst>
              <a:ext uri="{FF2B5EF4-FFF2-40B4-BE49-F238E27FC236}">
                <a16:creationId xmlns:a16="http://schemas.microsoft.com/office/drawing/2014/main" id="{14D74F7F-9AA5-2249-CF00-DADFBD0F9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089" y="51101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g3</a:t>
            </a:r>
          </a:p>
        </p:txBody>
      </p:sp>
      <p:sp>
        <p:nvSpPr>
          <p:cNvPr id="13344" name="Text Box 34">
            <a:extLst>
              <a:ext uri="{FF2B5EF4-FFF2-40B4-BE49-F238E27FC236}">
                <a16:creationId xmlns:a16="http://schemas.microsoft.com/office/drawing/2014/main" id="{95645E8B-7384-09A6-C793-C5C4BAE22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889" y="4805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g4</a:t>
            </a:r>
          </a:p>
        </p:txBody>
      </p:sp>
      <p:sp>
        <p:nvSpPr>
          <p:cNvPr id="13345" name="Oval 35">
            <a:extLst>
              <a:ext uri="{FF2B5EF4-FFF2-40B4-BE49-F238E27FC236}">
                <a16:creationId xmlns:a16="http://schemas.microsoft.com/office/drawing/2014/main" id="{40517536-0568-DBFA-A1A4-4078B3F41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489" y="5795963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3346" name="Text Box 36">
            <a:extLst>
              <a:ext uri="{FF2B5EF4-FFF2-40B4-BE49-F238E27FC236}">
                <a16:creationId xmlns:a16="http://schemas.microsoft.com/office/drawing/2014/main" id="{510F9F7F-86D7-4DDE-8661-80DC46C94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089" y="1798639"/>
            <a:ext cx="2209800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Identifiers not explicitly defined default to wires</a:t>
            </a:r>
          </a:p>
        </p:txBody>
      </p:sp>
      <p:sp>
        <p:nvSpPr>
          <p:cNvPr id="13347" name="Line 37">
            <a:extLst>
              <a:ext uri="{FF2B5EF4-FFF2-40B4-BE49-F238E27FC236}">
                <a16:creationId xmlns:a16="http://schemas.microsoft.com/office/drawing/2014/main" id="{077C8288-6524-8EF5-4EF6-5341AF901A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46289" y="2514600"/>
            <a:ext cx="24384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0D5BD6-78CD-3E8B-CC49-46E86F52E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Multiplexer Built From Primitives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CAEBB569-4C31-36A7-C3EB-E272C3AD8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3743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module mux(f, a, b, sel);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output f;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input a, b, sel;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reg f;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always @(a or b or sel)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  if (sel) f = b;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  else f = a;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endmodule</a:t>
            </a:r>
          </a:p>
        </p:txBody>
      </p:sp>
      <p:sp>
        <p:nvSpPr>
          <p:cNvPr id="14340" name="AutoShape 4">
            <a:extLst>
              <a:ext uri="{FF2B5EF4-FFF2-40B4-BE49-F238E27FC236}">
                <a16:creationId xmlns:a16="http://schemas.microsoft.com/office/drawing/2014/main" id="{72A83EB0-147B-8DEC-2FBB-E84EC3A94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343" y="45005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8852520B-9C72-EF10-1A23-C8E918BA6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0343" y="46529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2" name="Line 6">
            <a:extLst>
              <a:ext uri="{FF2B5EF4-FFF2-40B4-BE49-F238E27FC236}">
                <a16:creationId xmlns:a16="http://schemas.microsoft.com/office/drawing/2014/main" id="{257810B3-1C8E-E22A-6F6E-60331630C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1143" y="48053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3" name="AutoShape 7">
            <a:extLst>
              <a:ext uri="{FF2B5EF4-FFF2-40B4-BE49-F238E27FC236}">
                <a16:creationId xmlns:a16="http://schemas.microsoft.com/office/drawing/2014/main" id="{52D43808-1158-E44B-C633-9377A1D0D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343" y="54149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44" name="Line 8">
            <a:extLst>
              <a:ext uri="{FF2B5EF4-FFF2-40B4-BE49-F238E27FC236}">
                <a16:creationId xmlns:a16="http://schemas.microsoft.com/office/drawing/2014/main" id="{4C48946C-D366-5FF3-2173-7A4FF6976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0343" y="55673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5" name="Line 9">
            <a:extLst>
              <a:ext uri="{FF2B5EF4-FFF2-40B4-BE49-F238E27FC236}">
                <a16:creationId xmlns:a16="http://schemas.microsoft.com/office/drawing/2014/main" id="{F43ADA34-6828-0350-BDC9-5C54364B9E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7943" y="5872163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6" name="Line 10">
            <a:extLst>
              <a:ext uri="{FF2B5EF4-FFF2-40B4-BE49-F238E27FC236}">
                <a16:creationId xmlns:a16="http://schemas.microsoft.com/office/drawing/2014/main" id="{DFA028FA-AD00-7627-D8C1-1EB4AF6B8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1143" y="5719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4347" name="Group 11">
            <a:extLst>
              <a:ext uri="{FF2B5EF4-FFF2-40B4-BE49-F238E27FC236}">
                <a16:creationId xmlns:a16="http://schemas.microsoft.com/office/drawing/2014/main" id="{102580F2-F925-55AD-5C6B-704E8E2B4C47}"/>
              </a:ext>
            </a:extLst>
          </p:cNvPr>
          <p:cNvGrpSpPr>
            <a:grpSpLocks/>
          </p:cNvGrpSpPr>
          <p:nvPr/>
        </p:nvGrpSpPr>
        <p:grpSpPr bwMode="auto">
          <a:xfrm>
            <a:off x="6822143" y="4957763"/>
            <a:ext cx="685800" cy="609600"/>
            <a:chOff x="2688" y="1488"/>
            <a:chExt cx="432" cy="384"/>
          </a:xfrm>
        </p:grpSpPr>
        <p:sp>
          <p:nvSpPr>
            <p:cNvPr id="14367" name="Arc 12">
              <a:extLst>
                <a:ext uri="{FF2B5EF4-FFF2-40B4-BE49-F238E27FC236}">
                  <a16:creationId xmlns:a16="http://schemas.microsoft.com/office/drawing/2014/main" id="{A6C6D716-5DE3-4AD9-9F5B-25D541A8F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5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68" name="Arc 13">
              <a:extLst>
                <a:ext uri="{FF2B5EF4-FFF2-40B4-BE49-F238E27FC236}">
                  <a16:creationId xmlns:a16="http://schemas.microsoft.com/office/drawing/2014/main" id="{BF5694E1-0748-9E28-EF71-150E95FF1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4348" name="Line 14">
            <a:extLst>
              <a:ext uri="{FF2B5EF4-FFF2-40B4-BE49-F238E27FC236}">
                <a16:creationId xmlns:a16="http://schemas.microsoft.com/office/drawing/2014/main" id="{5DE6D7E2-D380-CF1E-26E2-998DDC703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743" y="51101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9" name="Line 15">
            <a:extLst>
              <a:ext uri="{FF2B5EF4-FFF2-40B4-BE49-F238E27FC236}">
                <a16:creationId xmlns:a16="http://schemas.microsoft.com/office/drawing/2014/main" id="{1AE8CD63-B156-FA7A-8332-EE3B8A6B51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743" y="54149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0" name="Line 16">
            <a:extLst>
              <a:ext uri="{FF2B5EF4-FFF2-40B4-BE49-F238E27FC236}">
                <a16:creationId xmlns:a16="http://schemas.microsoft.com/office/drawing/2014/main" id="{E8BD7720-5204-0021-85ED-A1270ED051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7943" y="52625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1" name="AutoShape 17">
            <a:extLst>
              <a:ext uri="{FF2B5EF4-FFF2-40B4-BE49-F238E27FC236}">
                <a16:creationId xmlns:a16="http://schemas.microsoft.com/office/drawing/2014/main" id="{F14B2065-08FB-C2E3-2F12-9E07120BB93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45643" y="4691063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52" name="Line 18">
            <a:extLst>
              <a:ext uri="{FF2B5EF4-FFF2-40B4-BE49-F238E27FC236}">
                <a16:creationId xmlns:a16="http://schemas.microsoft.com/office/drawing/2014/main" id="{096A2A59-ED9B-6DDC-BD0A-32D362DD2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943" y="4957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3" name="Line 19">
            <a:extLst>
              <a:ext uri="{FF2B5EF4-FFF2-40B4-BE49-F238E27FC236}">
                <a16:creationId xmlns:a16="http://schemas.microsoft.com/office/drawing/2014/main" id="{66659672-6911-5C22-AF47-1AF0227BA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3343" y="4957763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4" name="Oval 20">
            <a:extLst>
              <a:ext uri="{FF2B5EF4-FFF2-40B4-BE49-F238E27FC236}">
                <a16:creationId xmlns:a16="http://schemas.microsoft.com/office/drawing/2014/main" id="{0C8E191E-382C-C8AE-3630-1A0526F85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943" y="4881563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55" name="Line 21">
            <a:extLst>
              <a:ext uri="{FF2B5EF4-FFF2-40B4-BE49-F238E27FC236}">
                <a16:creationId xmlns:a16="http://schemas.microsoft.com/office/drawing/2014/main" id="{3D294CAD-1B4C-43A2-77B7-DBF9DE0E0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943" y="4957763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6" name="Line 22">
            <a:extLst>
              <a:ext uri="{FF2B5EF4-FFF2-40B4-BE49-F238E27FC236}">
                <a16:creationId xmlns:a16="http://schemas.microsoft.com/office/drawing/2014/main" id="{63C0C1B6-DD33-1BDE-1D2B-5DDE95D02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9743" y="54149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7" name="Line 23">
            <a:extLst>
              <a:ext uri="{FF2B5EF4-FFF2-40B4-BE49-F238E27FC236}">
                <a16:creationId xmlns:a16="http://schemas.microsoft.com/office/drawing/2014/main" id="{FD0BA3E9-4A8D-ED66-8C49-4B6BD026DA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9743" y="4805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8" name="Text Box 24">
            <a:extLst>
              <a:ext uri="{FF2B5EF4-FFF2-40B4-BE49-F238E27FC236}">
                <a16:creationId xmlns:a16="http://schemas.microsoft.com/office/drawing/2014/main" id="{D9E7D387-748C-979B-FE70-5743F6C8B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343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4359" name="Text Box 25">
            <a:extLst>
              <a:ext uri="{FF2B5EF4-FFF2-40B4-BE49-F238E27FC236}">
                <a16:creationId xmlns:a16="http://schemas.microsoft.com/office/drawing/2014/main" id="{ECEBEFBB-1BBB-61CB-EE40-7BC769A77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8343" y="5338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4360" name="Text Box 26">
            <a:extLst>
              <a:ext uri="{FF2B5EF4-FFF2-40B4-BE49-F238E27FC236}">
                <a16:creationId xmlns:a16="http://schemas.microsoft.com/office/drawing/2014/main" id="{8D546A5F-F8B6-D2C1-6CB2-F8D86722C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943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sel</a:t>
            </a:r>
          </a:p>
        </p:txBody>
      </p:sp>
      <p:sp>
        <p:nvSpPr>
          <p:cNvPr id="14361" name="Text Box 27">
            <a:extLst>
              <a:ext uri="{FF2B5EF4-FFF2-40B4-BE49-F238E27FC236}">
                <a16:creationId xmlns:a16="http://schemas.microsoft.com/office/drawing/2014/main" id="{B99D40E4-34C7-96CD-F142-F3FAF20AF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143" y="5033964"/>
            <a:ext cx="457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</a:t>
            </a:r>
          </a:p>
        </p:txBody>
      </p:sp>
      <p:sp>
        <p:nvSpPr>
          <p:cNvPr id="14362" name="Oval 28">
            <a:extLst>
              <a:ext uri="{FF2B5EF4-FFF2-40B4-BE49-F238E27FC236}">
                <a16:creationId xmlns:a16="http://schemas.microsoft.com/office/drawing/2014/main" id="{C6418A87-3CBB-A5E3-238C-4287D2BF8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743" y="5795963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4363" name="Text Box 29">
            <a:extLst>
              <a:ext uri="{FF2B5EF4-FFF2-40B4-BE49-F238E27FC236}">
                <a16:creationId xmlns:a16="http://schemas.microsoft.com/office/drawing/2014/main" id="{F6C0390B-303A-B34E-C0E6-9E77E233B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543" y="1676400"/>
            <a:ext cx="3124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Modules may contain one or more </a:t>
            </a:r>
            <a:r>
              <a:rPr lang="en-US" altLang="en-US" sz="2000" i="1">
                <a:solidFill>
                  <a:schemeClr val="tx2"/>
                </a:solidFill>
              </a:rPr>
              <a:t>always</a:t>
            </a:r>
            <a:r>
              <a:rPr lang="en-US" altLang="en-US" sz="2000">
                <a:solidFill>
                  <a:schemeClr val="tx2"/>
                </a:solidFill>
              </a:rPr>
              <a:t> blocks</a:t>
            </a:r>
          </a:p>
        </p:txBody>
      </p:sp>
      <p:sp>
        <p:nvSpPr>
          <p:cNvPr id="14364" name="Line 30">
            <a:extLst>
              <a:ext uri="{FF2B5EF4-FFF2-40B4-BE49-F238E27FC236}">
                <a16:creationId xmlns:a16="http://schemas.microsoft.com/office/drawing/2014/main" id="{868120C2-98D5-F4CB-8F74-0BE48D41AF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2743" y="2971800"/>
            <a:ext cx="1828800" cy="2286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65" name="Text Box 31">
            <a:extLst>
              <a:ext uri="{FF2B5EF4-FFF2-40B4-BE49-F238E27FC236}">
                <a16:creationId xmlns:a16="http://schemas.microsoft.com/office/drawing/2014/main" id="{2A06AEC3-13C4-16C9-45AF-E1D426FE1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0143" y="2438401"/>
            <a:ext cx="220980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Sensitivity list contains signals whose change triggers the execution of the block</a:t>
            </a:r>
          </a:p>
        </p:txBody>
      </p:sp>
      <p:sp>
        <p:nvSpPr>
          <p:cNvPr id="14366" name="Line 32">
            <a:extLst>
              <a:ext uri="{FF2B5EF4-FFF2-40B4-BE49-F238E27FC236}">
                <a16:creationId xmlns:a16="http://schemas.microsoft.com/office/drawing/2014/main" id="{311B2590-9695-88E6-8382-08031264EA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9143" y="1905000"/>
            <a:ext cx="3505200" cy="1143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5D0C411-7E07-AFAC-F59B-6E711E691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Multiplexer Built With Always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10A7DDC5-E020-3295-BA25-8E248428B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6492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module mux(f, a, b, sel);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output f;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input a, b, sel;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reg f;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always @(a or b or sel)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  if (sel) f = b;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  else f = a;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/>
              <a:t>endmodule</a:t>
            </a:r>
          </a:p>
        </p:txBody>
      </p:sp>
      <p:sp>
        <p:nvSpPr>
          <p:cNvPr id="15364" name="AutoShape 4">
            <a:extLst>
              <a:ext uri="{FF2B5EF4-FFF2-40B4-BE49-F238E27FC236}">
                <a16:creationId xmlns:a16="http://schemas.microsoft.com/office/drawing/2014/main" id="{94AB8A58-1F2A-A937-D114-6D3B66464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092" y="45005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97543EBE-B8AC-9157-D3B6-ACE8756C24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092" y="46529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E506D384-CF0B-F162-EB4A-DB9540140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892" y="48053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7" name="AutoShape 7">
            <a:extLst>
              <a:ext uri="{FF2B5EF4-FFF2-40B4-BE49-F238E27FC236}">
                <a16:creationId xmlns:a16="http://schemas.microsoft.com/office/drawing/2014/main" id="{067DDE4E-04F7-F583-48EC-E77EE8005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092" y="54149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5368" name="Line 8">
            <a:extLst>
              <a:ext uri="{FF2B5EF4-FFF2-40B4-BE49-F238E27FC236}">
                <a16:creationId xmlns:a16="http://schemas.microsoft.com/office/drawing/2014/main" id="{F46DBD5C-046A-E34B-23AA-C53C07C01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3092" y="55673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9" name="Line 9">
            <a:extLst>
              <a:ext uri="{FF2B5EF4-FFF2-40B4-BE49-F238E27FC236}">
                <a16:creationId xmlns:a16="http://schemas.microsoft.com/office/drawing/2014/main" id="{346FADAE-D4B8-099A-34E5-034B71495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692" y="5872163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0" name="Line 10">
            <a:extLst>
              <a:ext uri="{FF2B5EF4-FFF2-40B4-BE49-F238E27FC236}">
                <a16:creationId xmlns:a16="http://schemas.microsoft.com/office/drawing/2014/main" id="{57A83F3E-D914-1D7C-B3F9-3C2913870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3892" y="5719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5371" name="Group 11">
            <a:extLst>
              <a:ext uri="{FF2B5EF4-FFF2-40B4-BE49-F238E27FC236}">
                <a16:creationId xmlns:a16="http://schemas.microsoft.com/office/drawing/2014/main" id="{A3E2981F-0A07-A04F-82A6-D6777352D6BB}"/>
              </a:ext>
            </a:extLst>
          </p:cNvPr>
          <p:cNvGrpSpPr>
            <a:grpSpLocks/>
          </p:cNvGrpSpPr>
          <p:nvPr/>
        </p:nvGrpSpPr>
        <p:grpSpPr bwMode="auto">
          <a:xfrm>
            <a:off x="6884892" y="4957763"/>
            <a:ext cx="685800" cy="609600"/>
            <a:chOff x="2688" y="1488"/>
            <a:chExt cx="432" cy="384"/>
          </a:xfrm>
        </p:grpSpPr>
        <p:sp>
          <p:nvSpPr>
            <p:cNvPr id="15391" name="Arc 12">
              <a:extLst>
                <a:ext uri="{FF2B5EF4-FFF2-40B4-BE49-F238E27FC236}">
                  <a16:creationId xmlns:a16="http://schemas.microsoft.com/office/drawing/2014/main" id="{306E947A-1A4B-13D0-0E8A-4A68ADE43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5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92" name="Arc 13">
              <a:extLst>
                <a:ext uri="{FF2B5EF4-FFF2-40B4-BE49-F238E27FC236}">
                  <a16:creationId xmlns:a16="http://schemas.microsoft.com/office/drawing/2014/main" id="{8550834B-B038-6E9D-C79D-A8937E006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5372" name="Line 14">
            <a:extLst>
              <a:ext uri="{FF2B5EF4-FFF2-40B4-BE49-F238E27FC236}">
                <a16:creationId xmlns:a16="http://schemas.microsoft.com/office/drawing/2014/main" id="{C2D082A1-CA94-9598-ECB7-8CA880C5A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92" y="51101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3" name="Line 15">
            <a:extLst>
              <a:ext uri="{FF2B5EF4-FFF2-40B4-BE49-F238E27FC236}">
                <a16:creationId xmlns:a16="http://schemas.microsoft.com/office/drawing/2014/main" id="{E8E9EAC9-9C64-7EE2-9725-7AC0EBE33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92" y="54149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4" name="Line 16">
            <a:extLst>
              <a:ext uri="{FF2B5EF4-FFF2-40B4-BE49-F238E27FC236}">
                <a16:creationId xmlns:a16="http://schemas.microsoft.com/office/drawing/2014/main" id="{DED954DB-7CB3-12D5-2F16-DD305AAF9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0692" y="52625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5" name="AutoShape 17">
            <a:extLst>
              <a:ext uri="{FF2B5EF4-FFF2-40B4-BE49-F238E27FC236}">
                <a16:creationId xmlns:a16="http://schemas.microsoft.com/office/drawing/2014/main" id="{711D9908-3ED2-1DB3-CEE7-4414B2FDCC0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08392" y="4691063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5376" name="Line 18">
            <a:extLst>
              <a:ext uri="{FF2B5EF4-FFF2-40B4-BE49-F238E27FC236}">
                <a16:creationId xmlns:a16="http://schemas.microsoft.com/office/drawing/2014/main" id="{314888D8-C0C7-2238-894D-F9CE01EC2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692" y="4957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7" name="Line 19">
            <a:extLst>
              <a:ext uri="{FF2B5EF4-FFF2-40B4-BE49-F238E27FC236}">
                <a16:creationId xmlns:a16="http://schemas.microsoft.com/office/drawing/2014/main" id="{734D7990-914A-5B76-D0BF-BD6F96BD3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6092" y="4957763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8" name="Oval 20">
            <a:extLst>
              <a:ext uri="{FF2B5EF4-FFF2-40B4-BE49-F238E27FC236}">
                <a16:creationId xmlns:a16="http://schemas.microsoft.com/office/drawing/2014/main" id="{3EDAEDBB-74AA-416C-9E4A-7C0C381D2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692" y="4881563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5379" name="Line 21">
            <a:extLst>
              <a:ext uri="{FF2B5EF4-FFF2-40B4-BE49-F238E27FC236}">
                <a16:creationId xmlns:a16="http://schemas.microsoft.com/office/drawing/2014/main" id="{0EB9A344-0E14-2005-9A87-01D1A286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1692" y="4957763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0" name="Line 22">
            <a:extLst>
              <a:ext uri="{FF2B5EF4-FFF2-40B4-BE49-F238E27FC236}">
                <a16:creationId xmlns:a16="http://schemas.microsoft.com/office/drawing/2014/main" id="{3B9C1EBE-17EF-8A11-88CE-692A387E1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492" y="54149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1" name="Line 23">
            <a:extLst>
              <a:ext uri="{FF2B5EF4-FFF2-40B4-BE49-F238E27FC236}">
                <a16:creationId xmlns:a16="http://schemas.microsoft.com/office/drawing/2014/main" id="{710F36DD-6DA1-925E-B444-41949D710D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2492" y="4805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2" name="Text Box 24">
            <a:extLst>
              <a:ext uri="{FF2B5EF4-FFF2-40B4-BE49-F238E27FC236}">
                <a16:creationId xmlns:a16="http://schemas.microsoft.com/office/drawing/2014/main" id="{0AC16EF4-6FCD-EF09-0798-0B320EB27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092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5383" name="Text Box 25">
            <a:extLst>
              <a:ext uri="{FF2B5EF4-FFF2-40B4-BE49-F238E27FC236}">
                <a16:creationId xmlns:a16="http://schemas.microsoft.com/office/drawing/2014/main" id="{9A09E910-9339-9F06-AE4C-7ACD29334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1092" y="5338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5384" name="Text Box 26">
            <a:extLst>
              <a:ext uri="{FF2B5EF4-FFF2-40B4-BE49-F238E27FC236}">
                <a16:creationId xmlns:a16="http://schemas.microsoft.com/office/drawing/2014/main" id="{8C62E2B5-3B9B-1EDD-CAE2-EB770A0BF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692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sel</a:t>
            </a:r>
          </a:p>
        </p:txBody>
      </p:sp>
      <p:sp>
        <p:nvSpPr>
          <p:cNvPr id="15385" name="Text Box 27">
            <a:extLst>
              <a:ext uri="{FF2B5EF4-FFF2-40B4-BE49-F238E27FC236}">
                <a16:creationId xmlns:a16="http://schemas.microsoft.com/office/drawing/2014/main" id="{AD541032-4EAF-3467-A806-46620205F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892" y="5033964"/>
            <a:ext cx="457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</a:t>
            </a:r>
          </a:p>
        </p:txBody>
      </p:sp>
      <p:sp>
        <p:nvSpPr>
          <p:cNvPr id="15386" name="Oval 28">
            <a:extLst>
              <a:ext uri="{FF2B5EF4-FFF2-40B4-BE49-F238E27FC236}">
                <a16:creationId xmlns:a16="http://schemas.microsoft.com/office/drawing/2014/main" id="{C5ED90BB-AA31-AD86-0B4D-4FF57FFA2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5492" y="5795963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5387" name="Text Box 29">
            <a:extLst>
              <a:ext uri="{FF2B5EF4-FFF2-40B4-BE49-F238E27FC236}">
                <a16:creationId xmlns:a16="http://schemas.microsoft.com/office/drawing/2014/main" id="{05496381-F9A7-968F-3062-BD1AA7792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892" y="1676401"/>
            <a:ext cx="33528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A </a:t>
            </a:r>
            <a:r>
              <a:rPr lang="en-US" altLang="en-US" sz="2000" i="1">
                <a:solidFill>
                  <a:schemeClr val="tx2"/>
                </a:solidFill>
              </a:rPr>
              <a:t>reg</a:t>
            </a:r>
            <a:r>
              <a:rPr lang="en-US" altLang="en-US" sz="2000">
                <a:solidFill>
                  <a:schemeClr val="tx2"/>
                </a:solidFill>
              </a:rPr>
              <a:t> behaves like memory: holds its value until imperatively assigned otherwise</a:t>
            </a:r>
          </a:p>
        </p:txBody>
      </p:sp>
      <p:sp>
        <p:nvSpPr>
          <p:cNvPr id="15388" name="Line 30">
            <a:extLst>
              <a:ext uri="{FF2B5EF4-FFF2-40B4-BE49-F238E27FC236}">
                <a16:creationId xmlns:a16="http://schemas.microsoft.com/office/drawing/2014/main" id="{298A7B64-633A-9716-8FAB-E8F2535747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0092" y="3276600"/>
            <a:ext cx="2590800" cy="457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9" name="Text Box 31">
            <a:extLst>
              <a:ext uri="{FF2B5EF4-FFF2-40B4-BE49-F238E27FC236}">
                <a16:creationId xmlns:a16="http://schemas.microsoft.com/office/drawing/2014/main" id="{B9BDBDD3-94EA-A99D-1545-1A3DE615C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9492" y="2895601"/>
            <a:ext cx="28956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</a:rPr>
              <a:t>Body of an </a:t>
            </a:r>
            <a:r>
              <a:rPr lang="en-US" altLang="en-US" sz="2000" i="1">
                <a:solidFill>
                  <a:schemeClr val="tx2"/>
                </a:solidFill>
              </a:rPr>
              <a:t>always</a:t>
            </a:r>
            <a:r>
              <a:rPr lang="en-US" altLang="en-US" sz="2000">
                <a:solidFill>
                  <a:schemeClr val="tx2"/>
                </a:solidFill>
              </a:rPr>
              <a:t> block contains traditional imperative code</a:t>
            </a:r>
          </a:p>
        </p:txBody>
      </p:sp>
      <p:sp>
        <p:nvSpPr>
          <p:cNvPr id="15390" name="Line 32">
            <a:extLst>
              <a:ext uri="{FF2B5EF4-FFF2-40B4-BE49-F238E27FC236}">
                <a16:creationId xmlns:a16="http://schemas.microsoft.com/office/drawing/2014/main" id="{9C211178-DA7B-0F25-B2EB-1769EFAF8A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03292" y="2362200"/>
            <a:ext cx="3429000" cy="3810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C495D8C-DB61-67A7-CE1F-C12CFE0C5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Multiplexer Built With Always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13EEFD0C-95A8-7F6D-D1A4-620550895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7525" y="1219201"/>
            <a:ext cx="8229600" cy="4906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module mux(f, a, b, </a:t>
            </a:r>
            <a:r>
              <a:rPr lang="en-US" altLang="en-US" dirty="0" err="1"/>
              <a:t>sel</a:t>
            </a:r>
            <a:r>
              <a:rPr lang="en-US" altLang="en-US" dirty="0"/>
              <a:t>);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output f;</a:t>
            </a:r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input a, b, </a:t>
            </a:r>
            <a:r>
              <a:rPr lang="en-US" altLang="en-US" dirty="0" err="1"/>
              <a:t>sel</a:t>
            </a:r>
            <a:r>
              <a:rPr lang="en-US" altLang="en-US" dirty="0"/>
              <a:t>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 dirty="0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/>
              <a:t>assign f = </a:t>
            </a:r>
            <a:r>
              <a:rPr lang="en-US" altLang="en-US" dirty="0" err="1"/>
              <a:t>sel</a:t>
            </a:r>
            <a:r>
              <a:rPr lang="en-US" altLang="en-US" dirty="0"/>
              <a:t> ? b : a;</a:t>
            </a:r>
          </a:p>
          <a:p>
            <a:pPr marL="385763" indent="-385763">
              <a:spcBef>
                <a:spcPct val="0"/>
              </a:spcBef>
              <a:buNone/>
            </a:pPr>
            <a:endParaRPr lang="en-US" altLang="en-US" dirty="0"/>
          </a:p>
          <a:p>
            <a:pPr marL="385763" indent="-385763">
              <a:spcBef>
                <a:spcPct val="0"/>
              </a:spcBef>
              <a:buNone/>
            </a:pPr>
            <a:r>
              <a:rPr lang="en-US" altLang="en-US" dirty="0" err="1"/>
              <a:t>endmodule</a:t>
            </a:r>
            <a:endParaRPr lang="en-US" altLang="en-US" dirty="0"/>
          </a:p>
        </p:txBody>
      </p:sp>
      <p:sp>
        <p:nvSpPr>
          <p:cNvPr id="16388" name="AutoShape 4">
            <a:extLst>
              <a:ext uri="{FF2B5EF4-FFF2-40B4-BE49-F238E27FC236}">
                <a16:creationId xmlns:a16="http://schemas.microsoft.com/office/drawing/2014/main" id="{4A262D66-2A72-8AE9-ED5B-3471B4AC0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9125" y="45005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210C8D57-E5BC-A062-4541-5BB71F628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125" y="46529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0" name="Line 6">
            <a:extLst>
              <a:ext uri="{FF2B5EF4-FFF2-40B4-BE49-F238E27FC236}">
                <a16:creationId xmlns:a16="http://schemas.microsoft.com/office/drawing/2014/main" id="{A3BE3DFF-F270-56AA-D55C-36B94AB76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4925" y="48053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1" name="AutoShape 7">
            <a:extLst>
              <a:ext uri="{FF2B5EF4-FFF2-40B4-BE49-F238E27FC236}">
                <a16:creationId xmlns:a16="http://schemas.microsoft.com/office/drawing/2014/main" id="{7758153B-AFE9-3355-17AD-883930E48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9125" y="5414963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6392" name="Line 8">
            <a:extLst>
              <a:ext uri="{FF2B5EF4-FFF2-40B4-BE49-F238E27FC236}">
                <a16:creationId xmlns:a16="http://schemas.microsoft.com/office/drawing/2014/main" id="{4ABDE14B-3F88-72AE-4205-D6BC5426D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4125" y="5567363"/>
            <a:ext cx="1905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3" name="Line 9">
            <a:extLst>
              <a:ext uri="{FF2B5EF4-FFF2-40B4-BE49-F238E27FC236}">
                <a16:creationId xmlns:a16="http://schemas.microsoft.com/office/drawing/2014/main" id="{98D0D709-D0D1-8B14-B486-094BCD919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1725" y="5872163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4" name="Line 10">
            <a:extLst>
              <a:ext uri="{FF2B5EF4-FFF2-40B4-BE49-F238E27FC236}">
                <a16:creationId xmlns:a16="http://schemas.microsoft.com/office/drawing/2014/main" id="{37D3362B-2730-E181-4D91-6B5B5D260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4925" y="5719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6395" name="Group 11">
            <a:extLst>
              <a:ext uri="{FF2B5EF4-FFF2-40B4-BE49-F238E27FC236}">
                <a16:creationId xmlns:a16="http://schemas.microsoft.com/office/drawing/2014/main" id="{9BE2826F-42ED-311F-8FC0-9C2378EF2E1A}"/>
              </a:ext>
            </a:extLst>
          </p:cNvPr>
          <p:cNvGrpSpPr>
            <a:grpSpLocks/>
          </p:cNvGrpSpPr>
          <p:nvPr/>
        </p:nvGrpSpPr>
        <p:grpSpPr bwMode="auto">
          <a:xfrm>
            <a:off x="6875925" y="4957763"/>
            <a:ext cx="685800" cy="609600"/>
            <a:chOff x="2688" y="1488"/>
            <a:chExt cx="432" cy="384"/>
          </a:xfrm>
        </p:grpSpPr>
        <p:sp>
          <p:nvSpPr>
            <p:cNvPr id="16413" name="Arc 12">
              <a:extLst>
                <a:ext uri="{FF2B5EF4-FFF2-40B4-BE49-F238E27FC236}">
                  <a16:creationId xmlns:a16="http://schemas.microsoft.com/office/drawing/2014/main" id="{E3A34ADC-461A-438D-C89E-4E25B0716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5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414" name="Arc 13">
              <a:extLst>
                <a:ext uri="{FF2B5EF4-FFF2-40B4-BE49-F238E27FC236}">
                  <a16:creationId xmlns:a16="http://schemas.microsoft.com/office/drawing/2014/main" id="{F80827F4-B2A3-EBB2-51B1-BF922552C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9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6396" name="Line 14">
            <a:extLst>
              <a:ext uri="{FF2B5EF4-FFF2-40B4-BE49-F238E27FC236}">
                <a16:creationId xmlns:a16="http://schemas.microsoft.com/office/drawing/2014/main" id="{9C7F21B9-7F01-14A5-D848-F98FB379B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525" y="51101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7" name="Line 15">
            <a:extLst>
              <a:ext uri="{FF2B5EF4-FFF2-40B4-BE49-F238E27FC236}">
                <a16:creationId xmlns:a16="http://schemas.microsoft.com/office/drawing/2014/main" id="{26CB92C2-3336-F9F4-AB85-AA703FAA5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525" y="54149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8" name="Line 16">
            <a:extLst>
              <a:ext uri="{FF2B5EF4-FFF2-40B4-BE49-F238E27FC236}">
                <a16:creationId xmlns:a16="http://schemas.microsoft.com/office/drawing/2014/main" id="{090C9762-50EC-3FF8-DC46-F6FCBFF86AB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1725" y="5262563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399" name="AutoShape 17">
            <a:extLst>
              <a:ext uri="{FF2B5EF4-FFF2-40B4-BE49-F238E27FC236}">
                <a16:creationId xmlns:a16="http://schemas.microsoft.com/office/drawing/2014/main" id="{D8CAA3A0-D47B-2FF5-A711-3795B04F7C1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99425" y="4691063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6400" name="Line 18">
            <a:extLst>
              <a:ext uri="{FF2B5EF4-FFF2-40B4-BE49-F238E27FC236}">
                <a16:creationId xmlns:a16="http://schemas.microsoft.com/office/drawing/2014/main" id="{7F8961B3-8FD1-29F8-0020-EC66DE844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725" y="4957763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01" name="Line 19">
            <a:extLst>
              <a:ext uri="{FF2B5EF4-FFF2-40B4-BE49-F238E27FC236}">
                <a16:creationId xmlns:a16="http://schemas.microsoft.com/office/drawing/2014/main" id="{DA5FBBD3-D663-8B86-C7BD-A61498F37C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7125" y="4957763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02" name="Oval 20">
            <a:extLst>
              <a:ext uri="{FF2B5EF4-FFF2-40B4-BE49-F238E27FC236}">
                <a16:creationId xmlns:a16="http://schemas.microsoft.com/office/drawing/2014/main" id="{F90F0C0B-9B5D-A8D9-C812-909EA0339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5" y="4881563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6403" name="Line 21">
            <a:extLst>
              <a:ext uri="{FF2B5EF4-FFF2-40B4-BE49-F238E27FC236}">
                <a16:creationId xmlns:a16="http://schemas.microsoft.com/office/drawing/2014/main" id="{C6990AB6-4C3B-AC16-6C3D-CA20B9A6B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725" y="4957763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04" name="Line 22">
            <a:extLst>
              <a:ext uri="{FF2B5EF4-FFF2-40B4-BE49-F238E27FC236}">
                <a16:creationId xmlns:a16="http://schemas.microsoft.com/office/drawing/2014/main" id="{8824AEF2-7222-E28F-13C8-7070A4049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525" y="54149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05" name="Line 23">
            <a:extLst>
              <a:ext uri="{FF2B5EF4-FFF2-40B4-BE49-F238E27FC236}">
                <a16:creationId xmlns:a16="http://schemas.microsoft.com/office/drawing/2014/main" id="{05282A93-8158-FF6F-BFCE-2CFC28AE00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23525" y="480536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06" name="Text Box 24">
            <a:extLst>
              <a:ext uri="{FF2B5EF4-FFF2-40B4-BE49-F238E27FC236}">
                <a16:creationId xmlns:a16="http://schemas.microsoft.com/office/drawing/2014/main" id="{8C455537-1502-BF87-301D-565FC29A1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125" y="44243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6407" name="Text Box 25">
            <a:extLst>
              <a:ext uri="{FF2B5EF4-FFF2-40B4-BE49-F238E27FC236}">
                <a16:creationId xmlns:a16="http://schemas.microsoft.com/office/drawing/2014/main" id="{38B7EB1A-50B3-FBE9-C0D4-9055E1AB2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125" y="5338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6408" name="Text Box 26">
            <a:extLst>
              <a:ext uri="{FF2B5EF4-FFF2-40B4-BE49-F238E27FC236}">
                <a16:creationId xmlns:a16="http://schemas.microsoft.com/office/drawing/2014/main" id="{5EDF313F-0BF7-4574-3CC7-2B32B80EF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725" y="5719764"/>
            <a:ext cx="685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sel</a:t>
            </a:r>
          </a:p>
        </p:txBody>
      </p:sp>
      <p:sp>
        <p:nvSpPr>
          <p:cNvPr id="16409" name="Text Box 27">
            <a:extLst>
              <a:ext uri="{FF2B5EF4-FFF2-40B4-BE49-F238E27FC236}">
                <a16:creationId xmlns:a16="http://schemas.microsoft.com/office/drawing/2014/main" id="{E308F29D-6854-5802-D9A9-6FF51E9F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925" y="5033964"/>
            <a:ext cx="4572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f</a:t>
            </a:r>
          </a:p>
        </p:txBody>
      </p:sp>
      <p:sp>
        <p:nvSpPr>
          <p:cNvPr id="16410" name="Oval 28">
            <a:extLst>
              <a:ext uri="{FF2B5EF4-FFF2-40B4-BE49-F238E27FC236}">
                <a16:creationId xmlns:a16="http://schemas.microsoft.com/office/drawing/2014/main" id="{9ADF2127-E1FE-F99B-B067-05AE7BAEC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525" y="5795963"/>
            <a:ext cx="152400" cy="152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6411" name="Text Box 29">
            <a:extLst>
              <a:ext uri="{FF2B5EF4-FFF2-40B4-BE49-F238E27FC236}">
                <a16:creationId xmlns:a16="http://schemas.microsoft.com/office/drawing/2014/main" id="{A63CC0EE-B9A0-BA32-2383-53E645127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525" y="1371600"/>
            <a:ext cx="3352800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>
                <a:solidFill>
                  <a:schemeClr val="tx2"/>
                </a:solidFill>
              </a:rPr>
              <a:t>LHS is always set to the value on the RHS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>
                <a:solidFill>
                  <a:schemeClr val="tx2"/>
                </a:solidFill>
              </a:rPr>
              <a:t>Any change on the right causes re-evaluation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endParaRPr lang="en-US" altLang="en-US" sz="2000" dirty="0">
              <a:solidFill>
                <a:schemeClr val="tx2"/>
              </a:solidFill>
            </a:endParaRPr>
          </a:p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IN" sz="2000" dirty="0"/>
              <a:t>The infamous error: "concurrent assignment to a non-net is not permitted"</a:t>
            </a:r>
            <a:endParaRPr lang="en-US" altLang="en-US" sz="2000" dirty="0">
              <a:solidFill>
                <a:schemeClr val="tx2"/>
              </a:solidFill>
            </a:endParaRPr>
          </a:p>
        </p:txBody>
      </p:sp>
      <p:sp>
        <p:nvSpPr>
          <p:cNvPr id="16412" name="Line 30">
            <a:extLst>
              <a:ext uri="{FF2B5EF4-FFF2-40B4-BE49-F238E27FC236}">
                <a16:creationId xmlns:a16="http://schemas.microsoft.com/office/drawing/2014/main" id="{256373D9-C56B-55EE-F68A-B56C5DC02A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70726" y="1981200"/>
            <a:ext cx="2057399" cy="45243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96F6C2B-5436-9D29-3509-F10591E83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Mux with Continuous Assignment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07358AC0-3B17-E18E-C760-73B154C9B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5457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Any Sequence of letter, digits, dollar sign, underscore.</a:t>
            </a:r>
          </a:p>
          <a:p>
            <a:pPr eaLnBrk="1" hangingPunct="1"/>
            <a:r>
              <a:rPr lang="en-US" altLang="en-US"/>
              <a:t>First character must be a letter or underscore.</a:t>
            </a:r>
          </a:p>
          <a:p>
            <a:pPr eaLnBrk="1" hangingPunct="1"/>
            <a:r>
              <a:rPr lang="en-US" altLang="en-US"/>
              <a:t>It cannot be a dollar sign.</a:t>
            </a:r>
          </a:p>
          <a:p>
            <a:pPr eaLnBrk="1" hangingPunct="1"/>
            <a:r>
              <a:rPr lang="en-US" altLang="en-US"/>
              <a:t>Cannot use characters such as hyphen, brackets, or # in verilog names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42D7A2B-97F3-D167-6709-BD9EEF366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Identifiers in Verilog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7D623613-7BE3-3815-DC33-6F51ADA73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2705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Predefined logic value system or value set</a:t>
            </a:r>
          </a:p>
          <a:p>
            <a:pPr eaLnBrk="1" hangingPunct="1">
              <a:buFontTx/>
              <a:buNone/>
            </a:pPr>
            <a:r>
              <a:rPr lang="en-US" altLang="en-US"/>
              <a:t>   : ‘0’, ‘1’ ,’x’ and ‘z’;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r>
              <a:rPr lang="en-US" altLang="en-US"/>
              <a:t>  ‘x’ means uninitialized or unknown logic value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r>
              <a:rPr lang="en-US" altLang="en-US"/>
              <a:t>‘z’ means high impedance value.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2B7689-D667-C9EF-6637-76FD78BC7D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Verilog Logic Values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F9C9806E-3748-9BE2-7788-BD6EFF3D2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6489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Nets: wire, supply1, supply0</a:t>
            </a:r>
          </a:p>
          <a:p>
            <a:pPr lvl="1" eaLnBrk="1" hangingPunct="1"/>
            <a:r>
              <a:rPr lang="en-US" altLang="en-US"/>
              <a:t>wire: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 i) Analogous to a wire in an ASIC.</a:t>
            </a:r>
          </a:p>
          <a:p>
            <a:pPr eaLnBrk="1" hangingPunct="1">
              <a:buFontTx/>
              <a:buNone/>
            </a:pPr>
            <a:r>
              <a:rPr lang="en-US" altLang="en-US"/>
              <a:t>         ii) Cannot store or hold a value.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r>
              <a:rPr lang="en-US" altLang="en-US"/>
              <a:t>Integer: used for the index variables of say for loops. No hardware implication. 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E8268BF-1212-5D4C-BB6B-E5B85CA2A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Verilog Data Types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296166EE-A0D6-F20E-EC06-E922F1269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59" y="400890"/>
            <a:ext cx="6096000" cy="533400"/>
          </a:xfrm>
          <a:prstGeom prst="rect">
            <a:avLst/>
          </a:prstGeo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/>
              <a:t>The reg Data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0C5D2-1AC3-07C6-2681-35EA23DF44A3}"/>
              </a:ext>
            </a:extLst>
          </p:cNvPr>
          <p:cNvSpPr txBox="1"/>
          <p:nvPr/>
        </p:nvSpPr>
        <p:spPr>
          <a:xfrm>
            <a:off x="569259" y="1776442"/>
            <a:ext cx="7498976" cy="4302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/>
              <a:t>Register Data Type: Comparable to a variable in a programming language.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/>
              <a:t>Default initial value: ‘x’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/>
              <a:t>module reg_ex1;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     reg Q; wire D;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     always @(posedge </a:t>
            </a:r>
            <a:r>
              <a:rPr lang="en-US" altLang="en-US" sz="1800" dirty="0" err="1"/>
              <a:t>clk</a:t>
            </a:r>
            <a:r>
              <a:rPr lang="en-US" altLang="en-US" sz="1800" dirty="0"/>
              <a:t>) Q=D;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/>
              <a:t>A reg is not always equivalent to a hardware register, flipflop or latch.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module reg_ex2; // purely combinational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   reg c;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   always @(a or b) c=</a:t>
            </a:r>
            <a:r>
              <a:rPr lang="en-US" altLang="en-US" sz="1800" dirty="0" err="1"/>
              <a:t>a|b</a:t>
            </a:r>
            <a:r>
              <a:rPr lang="en-US" altLang="en-US" sz="1800" dirty="0"/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   </a:t>
            </a:r>
            <a:r>
              <a:rPr lang="en-US" altLang="en-US" sz="1800" dirty="0" err="1"/>
              <a:t>endmodule</a:t>
            </a:r>
            <a:r>
              <a:rPr lang="en-US" altLang="en-US" sz="1800" dirty="0"/>
              <a:t>   </a:t>
            </a:r>
          </a:p>
          <a:p>
            <a:pPr marL="285750" indent="-285750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DD47FBF-B714-C923-7355-D20939E0D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399" y="292568"/>
            <a:ext cx="9946341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4000"/>
              <a:t>Difference between driving and assigning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369A01A-EE85-7CF3-B763-B3C29C22A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398" y="1435568"/>
            <a:ext cx="10027025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/>
              <a:t>Programming languages provide variables that can contain arbitrary values of a particular type.</a:t>
            </a:r>
          </a:p>
          <a:p>
            <a:pPr eaLnBrk="1" hangingPunct="1"/>
            <a:r>
              <a:rPr lang="en-US" altLang="en-US" sz="2800"/>
              <a:t>They are implemented as simple memory locations.</a:t>
            </a:r>
          </a:p>
          <a:p>
            <a:pPr eaLnBrk="1" hangingPunct="1"/>
            <a:r>
              <a:rPr lang="en-US" altLang="en-US" sz="2800"/>
              <a:t>Assigning to these variables is the simple process of storing a value into the memory location.</a:t>
            </a:r>
          </a:p>
          <a:p>
            <a:pPr eaLnBrk="1" hangingPunct="1"/>
            <a:r>
              <a:rPr lang="en-US" altLang="en-US" sz="2800"/>
              <a:t>Verilog reg operates in the same way. Previous assignments have no effect on the final result.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95C3A55-30D2-EF65-97ED-9D9BA94B6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3741" y="2823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39E6B33-E3E2-2D34-FC73-CE6D38ABDD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23363"/>
            <a:ext cx="3505200" cy="52084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eaLnBrk="1" hangingPunct="1">
              <a:lnSpc>
                <a:spcPct val="50000"/>
              </a:lnSpc>
              <a:buNone/>
            </a:pPr>
            <a:endParaRPr lang="en-US" altLang="en-US" dirty="0"/>
          </a:p>
          <a:p>
            <a:pPr marL="0" indent="0" eaLnBrk="1" hangingPunct="1">
              <a:lnSpc>
                <a:spcPct val="50000"/>
              </a:lnSpc>
              <a:buNone/>
            </a:pPr>
            <a:r>
              <a:rPr lang="en-US" altLang="en-US" dirty="0"/>
              <a:t>module assignments;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reg R;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initial R&lt;=#20 3;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initial begin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R=5; R=#35 2;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end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initial begin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R&lt;=#100 1;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#15 R=4;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#220;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R=0;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/>
              <a:t>end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dirty="0" err="1"/>
              <a:t>endmodule</a:t>
            </a:r>
            <a:endParaRPr lang="en-US" altLang="en-US" dirty="0"/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5D98CAFD-E939-EE43-66DB-7D0BF7C0A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860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C188FD6-55B9-4A68-BB66-591558967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057400"/>
            <a:ext cx="4114800" cy="356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/>
              <a:t>The variable R is shared by all the concurrent blocks.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R takes the value that was last assigned.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/>
              <a:t>This is </a:t>
            </a:r>
            <a:r>
              <a:rPr lang="en-US" altLang="en-US" b="1" u="sng">
                <a:solidFill>
                  <a:srgbClr val="FF0000"/>
                </a:solidFill>
              </a:rPr>
              <a:t>like</a:t>
            </a:r>
            <a:r>
              <a:rPr lang="en-US" altLang="en-US"/>
              <a:t> a hardware register which also stores the value that was last loaded into them.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400" b="1" i="1">
                <a:solidFill>
                  <a:srgbClr val="FF0000"/>
                </a:solidFill>
              </a:rPr>
              <a:t>But a reg is not necessarily a hardware register.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0994E8E-3EB9-ADC5-DA3F-7A3ADD004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99247" y="355321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Wire: helps to connect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426FFA0-B2E0-AE71-FBA2-CD63ED170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98321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 dirty="0"/>
              <a:t>Consider a set of tristate drivers connected to a common bus.</a:t>
            </a:r>
          </a:p>
          <a:p>
            <a:pPr eaLnBrk="1" hangingPunct="1"/>
            <a:r>
              <a:rPr lang="en-US" altLang="en-US" sz="2800" dirty="0"/>
              <a:t>The output of the wire depends on </a:t>
            </a:r>
            <a:r>
              <a:rPr lang="en-US" altLang="en-US" sz="2800" i="1" dirty="0"/>
              <a:t>all </a:t>
            </a:r>
            <a:r>
              <a:rPr lang="en-US" altLang="en-US" sz="2800" dirty="0"/>
              <a:t>the outputs and not on the last one.</a:t>
            </a:r>
          </a:p>
          <a:p>
            <a:pPr eaLnBrk="1" hangingPunct="1"/>
            <a:r>
              <a:rPr lang="en-US" altLang="en-US" sz="2800" dirty="0"/>
              <a:t>To model connectivity, any value driven by a device must be driven continuously onto that wire, in parallel with the other driving values.</a:t>
            </a:r>
            <a:endParaRPr lang="en-US" altLang="en-US" sz="2800" i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6308963-0D56-3025-8545-0BB37FBB1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5129" y="262219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Code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DC8AC05-DAA4-9A1A-1D4F-381EB808E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5129" y="1100418"/>
            <a:ext cx="4267200" cy="42761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20000"/>
              </a:lnSpc>
            </a:pPr>
            <a:r>
              <a:rPr lang="en-US" altLang="en-US" dirty="0"/>
              <a:t>module simple(</a:t>
            </a:r>
            <a:r>
              <a:rPr lang="en-US" altLang="en-US" dirty="0" err="1"/>
              <a:t>A,B,C,sel,Z</a:t>
            </a:r>
            <a:r>
              <a:rPr lang="en-US" altLang="en-US" dirty="0"/>
              <a:t>);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input A, B, C;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input [1:0] </a:t>
            </a:r>
            <a:r>
              <a:rPr lang="en-US" altLang="en-US" dirty="0" err="1"/>
              <a:t>sel</a:t>
            </a:r>
            <a:r>
              <a:rPr lang="en-US" altLang="en-US" dirty="0"/>
              <a:t>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output Z;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reg Z;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always @(A or B or C or SEL)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begin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   2’b00: Z=1’bz;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   2’b01: Z=A;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   2’b10: Z=B;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   2’b11: Z=C;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</a:t>
            </a:r>
            <a:r>
              <a:rPr lang="en-US" altLang="en-US" dirty="0" err="1"/>
              <a:t>endcase</a:t>
            </a:r>
            <a:endParaRPr lang="en-US" altLang="en-US" dirty="0"/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end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</a:t>
            </a:r>
            <a:r>
              <a:rPr lang="en-US" altLang="en-US" dirty="0" err="1"/>
              <a:t>endmodule</a:t>
            </a:r>
            <a:endParaRPr lang="en-US" altLang="en-US" dirty="0"/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5A561D52-6AA4-6397-615B-80DAC1BD1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271" y="975519"/>
            <a:ext cx="42672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 dirty="0"/>
              <a:t>module simple(</a:t>
            </a:r>
            <a:r>
              <a:rPr lang="en-US" altLang="en-US" sz="2000" dirty="0" err="1"/>
              <a:t>A,B,C,sel,Z</a:t>
            </a:r>
            <a:r>
              <a:rPr lang="en-US" altLang="en-US" sz="2000" dirty="0"/>
              <a:t>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input A, B, C;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input [1:0] </a:t>
            </a:r>
            <a:r>
              <a:rPr lang="en-US" altLang="en-US" sz="2000" dirty="0" err="1"/>
              <a:t>sel</a:t>
            </a:r>
            <a:r>
              <a:rPr lang="en-US" altLang="en-US" sz="2000" dirty="0"/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/>
              <a:t>     output Z;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assign Z=(SEL==2’b01)?A: 1’bz;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assign Z=(SEL==2’b10)?B:1’bz;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assign Z=(SEL==2’b11)?C:1’bz;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 err="1"/>
              <a:t>endmodule</a:t>
            </a:r>
            <a:endParaRPr lang="en-US" altLang="en-US" sz="2000" dirty="0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48F810D7-9E91-B279-3B99-C2011EDF2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95" y="5389423"/>
            <a:ext cx="41910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</a:rPr>
              <a:t>Inferred as a multiplexer. </a:t>
            </a:r>
          </a:p>
          <a:p>
            <a:pPr algn="ctr" eaLnBrk="1" hangingPunct="1"/>
            <a:r>
              <a:rPr lang="en-US" altLang="en-US" dirty="0">
                <a:solidFill>
                  <a:schemeClr val="bg1"/>
                </a:solidFill>
              </a:rPr>
              <a:t>But we wanted drivers!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7680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DEEB-AC5E-29EF-E614-EA0DE078F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2E9F0B9-846B-EA3E-0918-0CE5A6CF9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5129" y="262219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Code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A349B9A6-13CA-F977-C4C3-DDF7C7347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9" y="1004233"/>
            <a:ext cx="660698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module </a:t>
            </a:r>
            <a:r>
              <a:rPr lang="en-US" altLang="en-US" sz="2000" dirty="0" err="1"/>
              <a:t>tristate_bus</a:t>
            </a:r>
            <a:r>
              <a:rPr lang="en-US" altLang="en-US" sz="2000" dirty="0"/>
              <a:t> (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wire enable1, enable2,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wire [7:0] data1, data2,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output wire [7:0] bus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);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assign bus = enable1 ? data1 : 8'bz; // Tristate driver 1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assign bus = enable2 ? data2 : 8'bz; // Tristate driver 2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 err="1"/>
              <a:t>endmodule</a:t>
            </a:r>
            <a:endParaRPr lang="en-US" altLang="en-US" sz="20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32049A-6843-9EEE-C0F5-61FDD8522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05" y="4960936"/>
            <a:ext cx="1065903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If enable1 is 1 and enable2 is 0, bus takes data1.</a:t>
            </a:r>
          </a:p>
          <a:p>
            <a:pPr marL="285750" indent="-2857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If enable2 is 1 and enable1 is 0, bus takes data2.</a:t>
            </a:r>
          </a:p>
          <a:p>
            <a:pPr marL="285750" indent="-2857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If both enable signals are 1 and data1 ≠ data2, the bus enters an undefined (x) state due to contention.</a:t>
            </a:r>
          </a:p>
          <a:p>
            <a:pPr marL="285750" indent="-28575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505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47DE-CA6E-C507-9387-BE22196FC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DCBE983-B055-2097-5E54-F481C7358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5129" y="262219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Code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35721CDC-867A-8065-EA49-1A9194035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9" y="1004233"/>
            <a:ext cx="660698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module </a:t>
            </a:r>
            <a:r>
              <a:rPr lang="en-US" altLang="en-US" sz="2000" dirty="0" err="1"/>
              <a:t>tristate_bus</a:t>
            </a:r>
            <a:r>
              <a:rPr lang="en-US" altLang="en-US" sz="2000" dirty="0"/>
              <a:t> (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[7:0] data1, data2,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output [7:0] bus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);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assign bus = data1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assign bus = data2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 err="1"/>
              <a:t>endmodule</a:t>
            </a:r>
            <a:endParaRPr lang="en-US" altLang="en-US" sz="20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51CD85-533F-9345-6EEB-47208E340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05" y="4960936"/>
            <a:ext cx="1065903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olidFill>
                  <a:srgbClr val="FF0000"/>
                </a:solidFill>
              </a:rPr>
              <a:t>Error: "Net </a:t>
            </a:r>
            <a:r>
              <a:rPr lang="en-US" dirty="0" err="1">
                <a:solidFill>
                  <a:srgbClr val="FF0000"/>
                </a:solidFill>
              </a:rPr>
              <a:t>out_signal</a:t>
            </a:r>
            <a:r>
              <a:rPr lang="en-US" dirty="0">
                <a:solidFill>
                  <a:srgbClr val="FF0000"/>
                </a:solidFill>
              </a:rPr>
              <a:t> has multiple drivers."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2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0AB7-ED6C-D7AD-C7E7-D20FC943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9B6762C-921D-F1FC-9213-E9DFD5978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5129" y="262219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Code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0F257070-4855-CE6A-15E5-70380C7D6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9" y="1004233"/>
            <a:ext cx="6606988" cy="4858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module </a:t>
            </a:r>
            <a:r>
              <a:rPr lang="en-US" altLang="en-US" sz="2000" dirty="0" err="1"/>
              <a:t>multi_driver_error</a:t>
            </a:r>
            <a:r>
              <a:rPr lang="en-US" altLang="en-US" sz="2000" dirty="0"/>
              <a:t> (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wire </a:t>
            </a:r>
            <a:r>
              <a:rPr lang="en-US" altLang="en-US" sz="2000" dirty="0" err="1"/>
              <a:t>clk</a:t>
            </a:r>
            <a:r>
              <a:rPr lang="en-US" altLang="en-US" sz="2000" dirty="0"/>
              <a:t>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wire </a:t>
            </a:r>
            <a:r>
              <a:rPr lang="en-US" altLang="en-US" sz="2000" dirty="0" err="1"/>
              <a:t>rst</a:t>
            </a:r>
            <a:r>
              <a:rPr lang="en-US" altLang="en-US" sz="2000" dirty="0"/>
              <a:t>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output reg </a:t>
            </a:r>
            <a:r>
              <a:rPr lang="en-US" altLang="en-US" sz="2000" dirty="0" err="1"/>
              <a:t>out_signal</a:t>
            </a: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);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always @(posedge </a:t>
            </a:r>
            <a:r>
              <a:rPr lang="en-US" altLang="en-US" sz="2000" dirty="0" err="1"/>
              <a:t>clk</a:t>
            </a:r>
            <a:r>
              <a:rPr lang="en-US" altLang="en-US" sz="2000" dirty="0"/>
              <a:t>) begin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if (</a:t>
            </a:r>
            <a:r>
              <a:rPr lang="en-US" altLang="en-US" sz="2000" dirty="0" err="1"/>
              <a:t>rst</a:t>
            </a:r>
            <a:r>
              <a:rPr lang="en-US" altLang="en-US" sz="2000" dirty="0"/>
              <a:t>)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    </a:t>
            </a:r>
            <a:r>
              <a:rPr lang="en-US" altLang="en-US" sz="2000" dirty="0" err="1"/>
              <a:t>out_signal</a:t>
            </a:r>
            <a:r>
              <a:rPr lang="en-US" altLang="en-US" sz="2000" dirty="0"/>
              <a:t> &lt;= 0; // First driver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end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always @(posedge </a:t>
            </a:r>
            <a:r>
              <a:rPr lang="en-US" altLang="en-US" sz="2000" dirty="0" err="1"/>
              <a:t>clk</a:t>
            </a:r>
            <a:r>
              <a:rPr lang="en-US" altLang="en-US" sz="2000" dirty="0"/>
              <a:t>) begin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</a:t>
            </a:r>
            <a:r>
              <a:rPr lang="en-US" altLang="en-US" sz="2000" dirty="0" err="1"/>
              <a:t>out_signal</a:t>
            </a:r>
            <a:r>
              <a:rPr lang="en-US" altLang="en-US" sz="2000" dirty="0"/>
              <a:t> &lt;= 1; // Second driver (Conflicting)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end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 err="1"/>
              <a:t>endmodule</a:t>
            </a:r>
            <a:endParaRPr lang="en-US" altLang="en-US" sz="20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3AE88D-F0C3-7776-3E56-027EB2688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411" y="3267214"/>
            <a:ext cx="4993341" cy="743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dirty="0">
                <a:solidFill>
                  <a:srgbClr val="FF0000"/>
                </a:solidFill>
              </a:rPr>
              <a:t>Error: "Signal </a:t>
            </a:r>
            <a:r>
              <a:rPr lang="en-US" dirty="0" err="1">
                <a:solidFill>
                  <a:srgbClr val="FF0000"/>
                </a:solidFill>
              </a:rPr>
              <a:t>out_signal</a:t>
            </a:r>
            <a:r>
              <a:rPr lang="en-US" dirty="0">
                <a:solidFill>
                  <a:srgbClr val="FF0000"/>
                </a:solidFill>
              </a:rPr>
              <a:t> has multiple drivers. "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25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F553-B7BC-C6C6-4F89-FA684A61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09240BE-9F28-79A7-CC5D-875512CCD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5129" y="262219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Code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2F6A23E7-5332-DD8E-6B6A-B6B75701C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59" y="1004233"/>
            <a:ext cx="660698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module </a:t>
            </a:r>
            <a:r>
              <a:rPr lang="en-US" altLang="en-US" sz="2000" dirty="0" err="1"/>
              <a:t>multi_driver_fix</a:t>
            </a:r>
            <a:r>
              <a:rPr lang="en-US" altLang="en-US" sz="2000" dirty="0"/>
              <a:t> (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wire </a:t>
            </a:r>
            <a:r>
              <a:rPr lang="en-US" altLang="en-US" sz="2000" dirty="0" err="1"/>
              <a:t>clk</a:t>
            </a:r>
            <a:r>
              <a:rPr lang="en-US" altLang="en-US" sz="2000" dirty="0"/>
              <a:t>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input wire </a:t>
            </a:r>
            <a:r>
              <a:rPr lang="en-US" altLang="en-US" sz="2000" dirty="0" err="1"/>
              <a:t>rst</a:t>
            </a:r>
            <a:r>
              <a:rPr lang="en-US" altLang="en-US" sz="2000" dirty="0"/>
              <a:t>,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output reg </a:t>
            </a:r>
            <a:r>
              <a:rPr lang="en-US" altLang="en-US" sz="2000" dirty="0" err="1"/>
              <a:t>out_signal</a:t>
            </a: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);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always @(posedge </a:t>
            </a:r>
            <a:r>
              <a:rPr lang="en-US" altLang="en-US" sz="2000" dirty="0" err="1"/>
              <a:t>clk</a:t>
            </a:r>
            <a:r>
              <a:rPr lang="en-US" altLang="en-US" sz="2000" dirty="0"/>
              <a:t>) begin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if (</a:t>
            </a:r>
            <a:r>
              <a:rPr lang="en-US" altLang="en-US" sz="2000" dirty="0" err="1"/>
              <a:t>rst</a:t>
            </a:r>
            <a:r>
              <a:rPr lang="en-US" altLang="en-US" sz="2000" dirty="0"/>
              <a:t>)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    </a:t>
            </a:r>
            <a:r>
              <a:rPr lang="en-US" altLang="en-US" sz="2000" dirty="0" err="1"/>
              <a:t>out_signal</a:t>
            </a:r>
            <a:r>
              <a:rPr lang="en-US" altLang="en-US" sz="2000" dirty="0"/>
              <a:t> &lt;= 0;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else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        </a:t>
            </a:r>
            <a:r>
              <a:rPr lang="en-US" altLang="en-US" sz="2000" dirty="0" err="1"/>
              <a:t>out_signal</a:t>
            </a:r>
            <a:r>
              <a:rPr lang="en-US" altLang="en-US" sz="2000" dirty="0"/>
              <a:t> &lt;= 1;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/>
              <a:t>    end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endParaRPr lang="en-US" altLang="en-US" sz="2000" dirty="0"/>
          </a:p>
          <a:p>
            <a:pPr marL="0" inden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 dirty="0" err="1"/>
              <a:t>endmodule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5990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9A8EB0CB-8D9C-E98E-4DCE-38B46330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1671" y="1452284"/>
            <a:ext cx="8229600" cy="46021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 dirty="0"/>
              <a:t>Format of integer constants:</a:t>
            </a:r>
          </a:p>
          <a:p>
            <a:pPr eaLnBrk="1" hangingPunct="1">
              <a:buFontTx/>
              <a:buNone/>
            </a:pPr>
            <a:r>
              <a:rPr lang="en-US" altLang="en-US" sz="2800" dirty="0"/>
              <a:t>                   Width’ radix value;</a:t>
            </a:r>
          </a:p>
          <a:p>
            <a:pPr eaLnBrk="1" hangingPunct="1"/>
            <a:r>
              <a:rPr lang="en-US" altLang="en-US" sz="2800" dirty="0"/>
              <a:t>Verilog keeps track of the sign if it is assigned to an integer or assigned to a parameter.</a:t>
            </a:r>
          </a:p>
          <a:p>
            <a:pPr eaLnBrk="1" hangingPunct="1"/>
            <a:r>
              <a:rPr lang="en-US" altLang="en-US" sz="2800" dirty="0"/>
              <a:t>Once </a:t>
            </a:r>
            <a:r>
              <a:rPr lang="en-US" altLang="en-US" sz="2800" dirty="0" err="1"/>
              <a:t>verilog</a:t>
            </a:r>
            <a:r>
              <a:rPr lang="en-US" altLang="en-US" sz="2800" dirty="0"/>
              <a:t> looses sign the designer has to be careful.</a:t>
            </a:r>
          </a:p>
          <a:p>
            <a:pPr eaLnBrk="1" hangingPunct="1">
              <a:buFontTx/>
              <a:buNone/>
            </a:pPr>
            <a:endParaRPr lang="en-US" altLang="en-US" sz="28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6003BB0-A78A-CF5A-E326-460C2836AB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71" y="486336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Numbers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13F5CD2D-BA73-72CD-A917-DCC590E31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1671" y="1555377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/>
              <a:t>Module interface provides the means to interconnect two verilog modules.</a:t>
            </a:r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/>
            <a:r>
              <a:rPr lang="en-US" altLang="en-US" sz="2800"/>
              <a:t>Note that a reg cannot be an input/ inout port.</a:t>
            </a:r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/>
            <a:r>
              <a:rPr lang="en-US" altLang="en-US" sz="2800"/>
              <a:t>A module may instantiate other modules.</a:t>
            </a:r>
          </a:p>
          <a:p>
            <a:pPr eaLnBrk="1" hangingPunct="1"/>
            <a:endParaRPr lang="en-US" altLang="en-US" sz="2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0DEA837-4E1F-A059-135E-1731F7CB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71" y="486336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Hierarchy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93857D4-2CC2-6958-D983-94245150E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7188" y="238779"/>
            <a:ext cx="6172200" cy="792162"/>
          </a:xfrm>
          <a:noFill/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Instantiating a Module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6FE8826-114C-DA36-0762-537EF8BC7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4082" y="1501590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/>
            <a:r>
              <a:rPr lang="en-US" altLang="en-US" sz="2400" dirty="0"/>
              <a:t>Instances of</a:t>
            </a:r>
          </a:p>
          <a:p>
            <a:pPr marL="385763" indent="-385763">
              <a:buNone/>
            </a:pPr>
            <a:r>
              <a:rPr lang="en-US" altLang="en-US" sz="2400" dirty="0"/>
              <a:t>module </a:t>
            </a:r>
            <a:r>
              <a:rPr lang="en-US" altLang="en-US" sz="2400" dirty="0" err="1"/>
              <a:t>mymod</a:t>
            </a:r>
            <a:r>
              <a:rPr lang="en-US" altLang="en-US" sz="2400" dirty="0"/>
              <a:t>(y, a, b);</a:t>
            </a:r>
          </a:p>
          <a:p>
            <a:pPr marL="385763" indent="-385763"/>
            <a:r>
              <a:rPr lang="en-US" altLang="en-US" sz="2400" dirty="0"/>
              <a:t>Lets </a:t>
            </a:r>
            <a:r>
              <a:rPr lang="en-US" altLang="en-US" sz="2400" b="1" dirty="0"/>
              <a:t>instantiate </a:t>
            </a:r>
            <a:r>
              <a:rPr lang="en-US" altLang="en-US" sz="2400" dirty="0"/>
              <a:t>the module,</a:t>
            </a:r>
          </a:p>
          <a:p>
            <a:pPr marL="385763" indent="-385763">
              <a:buNone/>
            </a:pPr>
            <a:r>
              <a:rPr lang="en-US" altLang="en-US" sz="2400" dirty="0" err="1"/>
              <a:t>mymod</a:t>
            </a:r>
            <a:r>
              <a:rPr lang="en-US" altLang="en-US" sz="2400" dirty="0"/>
              <a:t> mm1(y1, a1, b1);		</a:t>
            </a:r>
            <a:r>
              <a:rPr lang="en-US" altLang="en-US" sz="2400" dirty="0">
                <a:solidFill>
                  <a:schemeClr val="tx2"/>
                </a:solidFill>
              </a:rPr>
              <a:t>// Connect-by-position</a:t>
            </a:r>
          </a:p>
          <a:p>
            <a:pPr marL="385763" indent="-385763">
              <a:buNone/>
            </a:pPr>
            <a:r>
              <a:rPr lang="en-US" altLang="en-US" sz="2400" dirty="0" err="1"/>
              <a:t>mymod</a:t>
            </a:r>
            <a:r>
              <a:rPr lang="en-US" altLang="en-US" sz="2400" dirty="0"/>
              <a:t> mm2(.a(a2), .b(b2), .y(c2));  </a:t>
            </a:r>
            <a:r>
              <a:rPr lang="en-US" altLang="en-US" sz="2400" dirty="0">
                <a:solidFill>
                  <a:schemeClr val="tx2"/>
                </a:solidFill>
              </a:rPr>
              <a:t>// Connect-by-name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5F3E-CB4C-32A7-F7AF-114F94B0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060C4DE-1A98-84DD-33D5-97234186C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87188" y="238779"/>
            <a:ext cx="6172200" cy="792162"/>
          </a:xfrm>
          <a:noFill/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Instantiating a Module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7F95976-B014-1B5D-B31F-555DE348A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11069" y="1501587"/>
            <a:ext cx="3850343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module </a:t>
            </a:r>
            <a:r>
              <a:rPr lang="en-US" sz="2000" dirty="0" err="1"/>
              <a:t>top_module</a:t>
            </a:r>
            <a:r>
              <a:rPr lang="en-US" sz="2000" dirty="0"/>
              <a:t>; </a:t>
            </a:r>
          </a:p>
          <a:p>
            <a:pPr marL="0" indent="0">
              <a:buNone/>
            </a:pPr>
            <a:r>
              <a:rPr lang="en-US" sz="2000" dirty="0"/>
              <a:t>reg [3:0] x, y; </a:t>
            </a:r>
          </a:p>
          <a:p>
            <a:pPr marL="0" indent="0">
              <a:buNone/>
            </a:pPr>
            <a:r>
              <a:rPr lang="en-US" sz="2000" dirty="0"/>
              <a:t>wire [3:0] result; </a:t>
            </a:r>
          </a:p>
          <a:p>
            <a:pPr marL="0" indent="0">
              <a:buNone/>
            </a:pPr>
            <a:r>
              <a:rPr lang="en-US" sz="2000" dirty="0"/>
              <a:t>adder4 </a:t>
            </a:r>
            <a:r>
              <a:rPr lang="en-US" sz="2000" dirty="0" err="1"/>
              <a:t>uut</a:t>
            </a:r>
            <a:r>
              <a:rPr lang="en-US" sz="2000" dirty="0"/>
              <a:t> (x, y, result); </a:t>
            </a:r>
          </a:p>
          <a:p>
            <a:pPr marL="0" indent="0">
              <a:buNone/>
            </a:pPr>
            <a:r>
              <a:rPr lang="en-US" sz="2000" dirty="0"/>
              <a:t>initial </a:t>
            </a:r>
          </a:p>
          <a:p>
            <a:pPr marL="0" indent="0">
              <a:buNone/>
            </a:pPr>
            <a:r>
              <a:rPr lang="en-US" sz="2000" dirty="0"/>
              <a:t>begin </a:t>
            </a:r>
          </a:p>
          <a:p>
            <a:pPr marL="0" indent="0">
              <a:buNone/>
            </a:pPr>
            <a:r>
              <a:rPr lang="en-US" sz="2000" dirty="0"/>
              <a:t>x = 4'b0011; </a:t>
            </a:r>
          </a:p>
          <a:p>
            <a:pPr marL="0" indent="0">
              <a:buNone/>
            </a:pPr>
            <a:r>
              <a:rPr lang="en-US" sz="2000" dirty="0"/>
              <a:t>y = 4'b0101; </a:t>
            </a:r>
          </a:p>
          <a:p>
            <a:pPr marL="0" indent="0">
              <a:buNone/>
            </a:pPr>
            <a:r>
              <a:rPr lang="en-US" sz="2000" dirty="0"/>
              <a:t>#10; </a:t>
            </a:r>
          </a:p>
          <a:p>
            <a:pPr marL="0" indent="0">
              <a:buNone/>
            </a:pPr>
            <a:r>
              <a:rPr lang="en-US" sz="2000" dirty="0"/>
              <a:t>end </a:t>
            </a:r>
          </a:p>
          <a:p>
            <a:pPr marL="0" indent="0">
              <a:buNone/>
            </a:pPr>
            <a:r>
              <a:rPr lang="en-US" sz="2000" dirty="0" err="1"/>
              <a:t>endmodule</a:t>
            </a:r>
            <a:endParaRPr lang="en-US" altLang="en-US" sz="2400" dirty="0">
              <a:solidFill>
                <a:schemeClr val="tx2"/>
              </a:solidFill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44B0ADB4-AAFE-E5E1-1D55-623900575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848" y="1501589"/>
            <a:ext cx="4199965" cy="45259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module </a:t>
            </a:r>
            <a:r>
              <a:rPr lang="en-US" dirty="0" err="1"/>
              <a:t>top_module</a:t>
            </a:r>
            <a:r>
              <a:rPr lang="en-US" dirty="0"/>
              <a:t>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reg [3:0] x, y;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wire [3:0] result;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adder4 </a:t>
            </a:r>
            <a:r>
              <a:rPr lang="en-US" dirty="0" err="1"/>
              <a:t>uut</a:t>
            </a:r>
            <a:r>
              <a:rPr lang="en-US" dirty="0"/>
              <a:t> (.a(x), .b(y), .sum(result));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initial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begin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x = 4'b0011;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y = 4'b0101;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#10;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end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 err="1"/>
              <a:t>endmodule</a:t>
            </a:r>
            <a:endParaRPr lang="en-US" altLang="en-US" sz="2400" dirty="0">
              <a:solidFill>
                <a:schemeClr val="tx2"/>
              </a:solidFill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A831DCD7-2AAE-23C2-3120-5DF9F1D82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187" y="2162735"/>
            <a:ext cx="2680445" cy="253253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module adder4 ( input [3:0] a, input [3:0] b, output [3:0] sum ); 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/>
              <a:t>assign sum = a + b; 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dirty="0" err="1"/>
              <a:t>endmodule</a:t>
            </a:r>
            <a:endParaRPr lang="en-US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5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F4269BB-280C-9753-471C-FDDBE8807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40236"/>
            <a:ext cx="5867400" cy="944563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Sequential Blocks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B7BD199-1858-6BF2-DC19-C3DC941A0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19519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/>
              <a:t>Sequential block is a group of statements between a begin and an end.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A sequential block, in an always statement executes repeatedly.</a:t>
            </a:r>
          </a:p>
          <a:p>
            <a:pPr eaLnBrk="1" hangingPunct="1">
              <a:buFontTx/>
              <a:buNone/>
            </a:pPr>
            <a:endParaRPr lang="en-US" altLang="en-US" sz="2800"/>
          </a:p>
          <a:p>
            <a:pPr eaLnBrk="1" hangingPunct="1"/>
            <a:r>
              <a:rPr lang="en-US" altLang="en-US" sz="2800"/>
              <a:t>Inside an initial statement, it operates only once</a:t>
            </a:r>
            <a:r>
              <a:rPr lang="en-US" altLang="en-US"/>
              <a:t>.</a:t>
            </a:r>
          </a:p>
          <a:p>
            <a:pPr eaLnBrk="1" hangingPunct="1"/>
            <a:endParaRPr lang="en-US" altLang="en-US" sz="2400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10AA2C5-ABD1-6B4F-C664-5BCD7B9C8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0635" y="579438"/>
            <a:ext cx="5943600" cy="1020763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Procedures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39EECFA-9CD5-E2D1-85EF-7D632C950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0635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200"/>
              <a:t>A Procedure is an always or initial statement or a function.</a:t>
            </a:r>
          </a:p>
          <a:p>
            <a:pPr eaLnBrk="1" hangingPunct="1">
              <a:buFontTx/>
              <a:buNone/>
            </a:pPr>
            <a:endParaRPr lang="en-US" altLang="en-US" sz="3200"/>
          </a:p>
          <a:p>
            <a:pPr eaLnBrk="1" hangingPunct="1"/>
            <a:r>
              <a:rPr lang="en-US" altLang="en-US" sz="3200"/>
              <a:t>Procedural statements within a sequential block executes concurrently with other procedures.</a:t>
            </a:r>
          </a:p>
          <a:p>
            <a:pPr eaLnBrk="1" hangingPunct="1">
              <a:buFontTx/>
              <a:buNone/>
            </a:pPr>
            <a:r>
              <a:rPr lang="en-US" altLang="en-US" sz="320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6F140DB-D6B7-6A50-5D96-AB1E71690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93375" y="259883"/>
            <a:ext cx="5410200" cy="8382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Assignments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A484FF7-2008-6125-92D4-647C15E4B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3375" y="987144"/>
            <a:ext cx="10287001" cy="2886636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20000"/>
              </a:lnSpc>
            </a:pPr>
            <a:endParaRPr lang="en-US" altLang="en-US" dirty="0"/>
          </a:p>
          <a:p>
            <a:pPr eaLnBrk="1" hangingPunct="1">
              <a:lnSpc>
                <a:spcPct val="20000"/>
              </a:lnSpc>
            </a:pPr>
            <a:r>
              <a:rPr lang="en-US" altLang="en-US" dirty="0"/>
              <a:t>module assignments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// continuous assignments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always // beginning of a procedure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begin //beginning of a sequential block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//….Procedural assignments 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   end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    </a:t>
            </a:r>
            <a:r>
              <a:rPr lang="en-US" altLang="en-US" dirty="0" err="1"/>
              <a:t>endmodule</a:t>
            </a:r>
            <a:endParaRPr lang="en-US" altLang="en-US" dirty="0"/>
          </a:p>
          <a:p>
            <a:pPr eaLnBrk="1" hangingPunct="1">
              <a:lnSpc>
                <a:spcPct val="2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20000"/>
              </a:lnSpc>
            </a:pPr>
            <a:r>
              <a:rPr lang="en-US" altLang="en-US" dirty="0"/>
              <a:t>A Continuous assignment assigns a value to a wire like a real gate driving a wire.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2BCB78A4-87D5-89FF-43AD-9A7BE3623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375" y="4034303"/>
            <a:ext cx="4191000" cy="180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 dirty="0">
                <a:latin typeface="Verdana" panose="020B0604030504040204" pitchFamily="34" charset="0"/>
              </a:rPr>
              <a:t>module holiday_1(sat, sun, weekend);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latin typeface="Verdana" panose="020B0604030504040204" pitchFamily="34" charset="0"/>
              </a:rPr>
              <a:t> input sat, sun; output weekend;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latin typeface="Verdana" panose="020B0604030504040204" pitchFamily="34" charset="0"/>
              </a:rPr>
              <a:t>// Continuous assignment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latin typeface="Verdana" panose="020B0604030504040204" pitchFamily="34" charset="0"/>
              </a:rPr>
              <a:t> assign weekend = sat | sun;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latin typeface="Verdana" panose="020B0604030504040204" pitchFamily="34" charset="0"/>
              </a:rPr>
              <a:t> </a:t>
            </a:r>
            <a:r>
              <a:rPr lang="en-US" altLang="en-US" sz="1600" dirty="0" err="1">
                <a:latin typeface="Verdana" panose="020B0604030504040204" pitchFamily="34" charset="0"/>
              </a:rPr>
              <a:t>endmodule</a:t>
            </a:r>
            <a:endParaRPr lang="en-US" altLang="en-US" sz="1600" dirty="0">
              <a:latin typeface="Verdana" panose="020B0604030504040204" pitchFamily="34" charset="0"/>
            </a:endParaRP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108FFE3A-A8DC-0427-CABD-267C46AD1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0871" y="3954463"/>
            <a:ext cx="5271247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latin typeface="Verdana" panose="020B0604030504040204" pitchFamily="34" charset="0"/>
              </a:rPr>
              <a:t>module holiday_2(sat, sun, weekend);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latin typeface="Verdana" panose="020B0604030504040204" pitchFamily="34" charset="0"/>
              </a:rPr>
              <a:t> input sat, sun; output weekend;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latin typeface="Verdana" panose="020B0604030504040204" pitchFamily="34" charset="0"/>
              </a:rPr>
              <a:t> reg weekend;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latin typeface="Verdana" panose="020B0604030504040204" pitchFamily="34" charset="0"/>
              </a:rPr>
              <a:t> always @(sat or sun)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latin typeface="Verdana" panose="020B0604030504040204" pitchFamily="34" charset="0"/>
              </a:rPr>
              <a:t>    weekend = sat | sun; // Procedural</a:t>
            </a:r>
          </a:p>
          <a:p>
            <a:pPr>
              <a:spcBef>
                <a:spcPct val="50000"/>
              </a:spcBef>
            </a:pPr>
            <a:r>
              <a:rPr lang="en-US" altLang="en-US" sz="1600">
                <a:latin typeface="Verdana" panose="020B0604030504040204" pitchFamily="34" charset="0"/>
              </a:rPr>
              <a:t> endmodule                  // assignment</a:t>
            </a:r>
          </a:p>
          <a:p>
            <a:pPr>
              <a:spcBef>
                <a:spcPct val="50000"/>
              </a:spcBef>
            </a:pPr>
            <a:endParaRPr lang="en-US" altLang="en-US" sz="1600">
              <a:latin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20220A4-95C9-430F-E9B8-908ED6FA6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46847" y="436002"/>
            <a:ext cx="8130988" cy="10207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Blocking and Nonblocking Assignments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3413D5C-4872-4A19-0554-B570B6E98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5459" y="1564342"/>
            <a:ext cx="9861176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Blocking procedural assignments must be executed before the procedural flow can pass to the subsequent statement.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 Non-blocking procedural assignment is scheduled to occur without blocking the procedural flow to subsequent statements.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A1B977C-F698-2729-D957-4DECE05FB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1317" y="430306"/>
            <a:ext cx="6248400" cy="7620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/>
              <a:t>Nonblocking Statements are odd! 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DC4AA77D-7F85-00F2-3CB2-3ECB1E43B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17" y="2238376"/>
            <a:ext cx="3352800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a = 1;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b = a;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c = b;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endParaRPr lang="en-US" altLang="en-US" sz="2000" dirty="0"/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Blocking assignment: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a = b = c = 1</a:t>
            </a: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038528A5-99CD-4AB5-B5C9-BA7A136A9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917" y="2209800"/>
            <a:ext cx="388620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a &lt;= 1;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b &lt;= a;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c &lt;= b;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endParaRPr lang="en-US" altLang="en-US" sz="2000" dirty="0"/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Nonblocking assignment: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a = 1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b = old value of a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 dirty="0"/>
              <a:t>c = old value of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B9F820-CA88-AFF6-986C-A481FBA28DD0}"/>
              </a:ext>
            </a:extLst>
          </p:cNvPr>
          <p:cNvSpPr/>
          <p:nvPr/>
        </p:nvSpPr>
        <p:spPr>
          <a:xfrm>
            <a:off x="681317" y="1846729"/>
            <a:ext cx="6992471" cy="40789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7DB9F92-58D9-ADB4-9E95-9F85DC061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1"/>
            <a:ext cx="6248400" cy="6858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/>
              <a:t>Nonblocking Looks Like Latches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3606214-4443-9723-47DC-D6DD6E528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8229600" cy="50292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/>
            <a:r>
              <a:rPr lang="en-US" altLang="en-US" dirty="0"/>
              <a:t>RHS of nonblocking taken from latches</a:t>
            </a:r>
          </a:p>
          <a:p>
            <a:pPr marL="385763" indent="-385763"/>
            <a:r>
              <a:rPr lang="en-US" altLang="en-US" dirty="0"/>
              <a:t>RHS of blocking taken from wires</a:t>
            </a:r>
          </a:p>
        </p:txBody>
      </p:sp>
      <p:sp>
        <p:nvSpPr>
          <p:cNvPr id="33796" name="Text Box 4">
            <a:extLst>
              <a:ext uri="{FF2B5EF4-FFF2-40B4-BE49-F238E27FC236}">
                <a16:creationId xmlns:a16="http://schemas.microsoft.com/office/drawing/2014/main" id="{27566B80-843B-1F80-6B34-E28C07D72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133600"/>
            <a:ext cx="114300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 = 1;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 = a;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c = b;</a:t>
            </a:r>
          </a:p>
        </p:txBody>
      </p:sp>
      <p:sp>
        <p:nvSpPr>
          <p:cNvPr id="33797" name="Text Box 5">
            <a:extLst>
              <a:ext uri="{FF2B5EF4-FFF2-40B4-BE49-F238E27FC236}">
                <a16:creationId xmlns:a16="http://schemas.microsoft.com/office/drawing/2014/main" id="{660EFC99-02E0-0BC1-4F29-8A1883D45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114800"/>
            <a:ext cx="1143000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 &lt;= 1;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 &lt;= a;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c &lt;= b;</a:t>
            </a:r>
          </a:p>
        </p:txBody>
      </p:sp>
      <p:sp>
        <p:nvSpPr>
          <p:cNvPr id="33798" name="AutoShape 6">
            <a:extLst>
              <a:ext uri="{FF2B5EF4-FFF2-40B4-BE49-F238E27FC236}">
                <a16:creationId xmlns:a16="http://schemas.microsoft.com/office/drawing/2014/main" id="{8F0EC40C-7421-F128-E935-882982820F2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771900" y="2552700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3799" name="AutoShape 7">
            <a:extLst>
              <a:ext uri="{FF2B5EF4-FFF2-40B4-BE49-F238E27FC236}">
                <a16:creationId xmlns:a16="http://schemas.microsoft.com/office/drawing/2014/main" id="{152FA4E9-D525-255F-0666-D42F2E337D0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762500" y="2552700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3800" name="AutoShape 8">
            <a:extLst>
              <a:ext uri="{FF2B5EF4-FFF2-40B4-BE49-F238E27FC236}">
                <a16:creationId xmlns:a16="http://schemas.microsoft.com/office/drawing/2014/main" id="{96D4B625-589A-1EAE-11E2-E92EBEFA52B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53100" y="2552700"/>
            <a:ext cx="457200" cy="533400"/>
          </a:xfrm>
          <a:prstGeom prst="triangle">
            <a:avLst>
              <a:gd name="adj" fmla="val 50000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57153482-7582-87AA-D06E-4CD6FE4E6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8194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2" name="Line 10">
            <a:extLst>
              <a:ext uri="{FF2B5EF4-FFF2-40B4-BE49-F238E27FC236}">
                <a16:creationId xmlns:a16="http://schemas.microsoft.com/office/drawing/2014/main" id="{D5EFCE15-8CE6-C8C9-04FC-42873A2D7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8194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3" name="Line 11">
            <a:extLst>
              <a:ext uri="{FF2B5EF4-FFF2-40B4-BE49-F238E27FC236}">
                <a16:creationId xmlns:a16="http://schemas.microsoft.com/office/drawing/2014/main" id="{9D7AC14F-616E-4D4E-B347-69B0A6B68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8194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4" name="Line 12">
            <a:extLst>
              <a:ext uri="{FF2B5EF4-FFF2-40B4-BE49-F238E27FC236}">
                <a16:creationId xmlns:a16="http://schemas.microsoft.com/office/drawing/2014/main" id="{0EE373F3-64F6-215E-5DD2-D8931DAC6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8194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05" name="Text Box 13">
            <a:extLst>
              <a:ext uri="{FF2B5EF4-FFF2-40B4-BE49-F238E27FC236}">
                <a16:creationId xmlns:a16="http://schemas.microsoft.com/office/drawing/2014/main" id="{3D5C9DFF-9A62-A8F8-2AC3-925EE5ADD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671764"/>
            <a:ext cx="304800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1</a:t>
            </a:r>
          </a:p>
        </p:txBody>
      </p:sp>
      <p:sp>
        <p:nvSpPr>
          <p:cNvPr id="33806" name="Text Box 14">
            <a:extLst>
              <a:ext uri="{FF2B5EF4-FFF2-40B4-BE49-F238E27FC236}">
                <a16:creationId xmlns:a16="http://schemas.microsoft.com/office/drawing/2014/main" id="{C736260D-54B4-22BF-0F67-1F694E124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362200"/>
            <a:ext cx="381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33807" name="Text Box 15">
            <a:extLst>
              <a:ext uri="{FF2B5EF4-FFF2-40B4-BE49-F238E27FC236}">
                <a16:creationId xmlns:a16="http://schemas.microsoft.com/office/drawing/2014/main" id="{FC939B47-CD44-A378-C57F-B75764081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362200"/>
            <a:ext cx="381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33808" name="Text Box 16">
            <a:extLst>
              <a:ext uri="{FF2B5EF4-FFF2-40B4-BE49-F238E27FC236}">
                <a16:creationId xmlns:a16="http://schemas.microsoft.com/office/drawing/2014/main" id="{3B72A3C8-F8F9-1B8C-C57A-236E0E9ED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362200"/>
            <a:ext cx="4572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33809" name="Text Box 17">
            <a:extLst>
              <a:ext uri="{FF2B5EF4-FFF2-40B4-BE49-F238E27FC236}">
                <a16:creationId xmlns:a16="http://schemas.microsoft.com/office/drawing/2014/main" id="{EAD2AFDB-28B1-B580-512B-883283F6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133600"/>
            <a:ext cx="381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“</a:t>
            </a:r>
          </a:p>
        </p:txBody>
      </p:sp>
      <p:sp>
        <p:nvSpPr>
          <p:cNvPr id="33810" name="Rectangle 18">
            <a:extLst>
              <a:ext uri="{FF2B5EF4-FFF2-40B4-BE49-F238E27FC236}">
                <a16:creationId xmlns:a16="http://schemas.microsoft.com/office/drawing/2014/main" id="{C76B7AB6-6365-37B4-8FB4-FCE5AF55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503489"/>
            <a:ext cx="268288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”</a:t>
            </a:r>
          </a:p>
        </p:txBody>
      </p:sp>
      <p:sp>
        <p:nvSpPr>
          <p:cNvPr id="33811" name="Rectangle 19">
            <a:extLst>
              <a:ext uri="{FF2B5EF4-FFF2-40B4-BE49-F238E27FC236}">
                <a16:creationId xmlns:a16="http://schemas.microsoft.com/office/drawing/2014/main" id="{80DB0BC1-D108-2684-3A84-92FF64C0D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733800"/>
            <a:ext cx="457200" cy="609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3812" name="Rectangle 20">
            <a:extLst>
              <a:ext uri="{FF2B5EF4-FFF2-40B4-BE49-F238E27FC236}">
                <a16:creationId xmlns:a16="http://schemas.microsoft.com/office/drawing/2014/main" id="{697395C9-6694-D2D9-E301-714B6F57B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72000"/>
            <a:ext cx="457200" cy="609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3813" name="Rectangle 21">
            <a:extLst>
              <a:ext uri="{FF2B5EF4-FFF2-40B4-BE49-F238E27FC236}">
                <a16:creationId xmlns:a16="http://schemas.microsoft.com/office/drawing/2014/main" id="{358C5D99-9FA0-95B3-C0D5-4D0555228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410200"/>
            <a:ext cx="457200" cy="609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cxnSp>
        <p:nvCxnSpPr>
          <p:cNvPr id="33814" name="AutoShape 22">
            <a:extLst>
              <a:ext uri="{FF2B5EF4-FFF2-40B4-BE49-F238E27FC236}">
                <a16:creationId xmlns:a16="http://schemas.microsoft.com/office/drawing/2014/main" id="{0BBBFB99-B56C-CD9C-983F-908723792156}"/>
              </a:ext>
            </a:extLst>
          </p:cNvPr>
          <p:cNvCxnSpPr>
            <a:cxnSpLocks noChangeShapeType="1"/>
            <a:stCxn id="33811" idx="3"/>
            <a:endCxn id="33812" idx="1"/>
          </p:cNvCxnSpPr>
          <p:nvPr/>
        </p:nvCxnSpPr>
        <p:spPr bwMode="auto">
          <a:xfrm flipH="1">
            <a:off x="4406900" y="4038600"/>
            <a:ext cx="482600" cy="838200"/>
          </a:xfrm>
          <a:prstGeom prst="bentConnector5">
            <a:avLst>
              <a:gd name="adj1" fmla="val -44736"/>
              <a:gd name="adj2" fmla="val 50000"/>
              <a:gd name="adj3" fmla="val 144736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</p:cxnSp>
      <p:cxnSp>
        <p:nvCxnSpPr>
          <p:cNvPr id="33815" name="AutoShape 23">
            <a:extLst>
              <a:ext uri="{FF2B5EF4-FFF2-40B4-BE49-F238E27FC236}">
                <a16:creationId xmlns:a16="http://schemas.microsoft.com/office/drawing/2014/main" id="{0835F3EA-D34F-B99C-DFF3-9D4941FBFC95}"/>
              </a:ext>
            </a:extLst>
          </p:cNvPr>
          <p:cNvCxnSpPr>
            <a:cxnSpLocks noChangeShapeType="1"/>
            <a:stCxn id="33812" idx="3"/>
            <a:endCxn id="33813" idx="1"/>
          </p:cNvCxnSpPr>
          <p:nvPr/>
        </p:nvCxnSpPr>
        <p:spPr bwMode="auto">
          <a:xfrm flipH="1">
            <a:off x="4406900" y="4876800"/>
            <a:ext cx="482600" cy="838200"/>
          </a:xfrm>
          <a:prstGeom prst="bentConnector5">
            <a:avLst>
              <a:gd name="adj1" fmla="val -44736"/>
              <a:gd name="adj2" fmla="val 50000"/>
              <a:gd name="adj3" fmla="val 144736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</p:cxnSp>
      <p:sp>
        <p:nvSpPr>
          <p:cNvPr id="33816" name="Line 24">
            <a:extLst>
              <a:ext uri="{FF2B5EF4-FFF2-40B4-BE49-F238E27FC236}">
                <a16:creationId xmlns:a16="http://schemas.microsoft.com/office/drawing/2014/main" id="{C11C93F1-95F4-B18C-323F-A20CCFCC2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038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7" name="Freeform 25">
            <a:extLst>
              <a:ext uri="{FF2B5EF4-FFF2-40B4-BE49-F238E27FC236}">
                <a16:creationId xmlns:a16="http://schemas.microsoft.com/office/drawing/2014/main" id="{E866B5A0-510F-5D5B-07BC-660112F045C3}"/>
              </a:ext>
            </a:extLst>
          </p:cNvPr>
          <p:cNvSpPr>
            <a:spLocks/>
          </p:cNvSpPr>
          <p:nvPr/>
        </p:nvSpPr>
        <p:spPr bwMode="auto">
          <a:xfrm>
            <a:off x="4400550" y="4122738"/>
            <a:ext cx="171450" cy="144462"/>
          </a:xfrm>
          <a:custGeom>
            <a:avLst/>
            <a:gdLst>
              <a:gd name="T0" fmla="*/ 0 w 108"/>
              <a:gd name="T1" fmla="*/ 0 h 91"/>
              <a:gd name="T2" fmla="*/ 2147483646 w 108"/>
              <a:gd name="T3" fmla="*/ 2147483646 h 91"/>
              <a:gd name="T4" fmla="*/ 2147483646 w 108"/>
              <a:gd name="T5" fmla="*/ 2147483646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91">
                <a:moveTo>
                  <a:pt x="0" y="0"/>
                </a:moveTo>
                <a:lnTo>
                  <a:pt x="108" y="43"/>
                </a:lnTo>
                <a:lnTo>
                  <a:pt x="12" y="91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8" name="Freeform 26">
            <a:extLst>
              <a:ext uri="{FF2B5EF4-FFF2-40B4-BE49-F238E27FC236}">
                <a16:creationId xmlns:a16="http://schemas.microsoft.com/office/drawing/2014/main" id="{1685BD3E-44FE-8F17-49CB-EC3235DD05A7}"/>
              </a:ext>
            </a:extLst>
          </p:cNvPr>
          <p:cNvSpPr>
            <a:spLocks/>
          </p:cNvSpPr>
          <p:nvPr/>
        </p:nvSpPr>
        <p:spPr bwMode="auto">
          <a:xfrm>
            <a:off x="4400550" y="4960938"/>
            <a:ext cx="171450" cy="144462"/>
          </a:xfrm>
          <a:custGeom>
            <a:avLst/>
            <a:gdLst>
              <a:gd name="T0" fmla="*/ 0 w 108"/>
              <a:gd name="T1" fmla="*/ 0 h 91"/>
              <a:gd name="T2" fmla="*/ 2147483646 w 108"/>
              <a:gd name="T3" fmla="*/ 2147483646 h 91"/>
              <a:gd name="T4" fmla="*/ 2147483646 w 108"/>
              <a:gd name="T5" fmla="*/ 2147483646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91">
                <a:moveTo>
                  <a:pt x="0" y="0"/>
                </a:moveTo>
                <a:lnTo>
                  <a:pt x="108" y="43"/>
                </a:lnTo>
                <a:lnTo>
                  <a:pt x="12" y="91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19" name="Freeform 27">
            <a:extLst>
              <a:ext uri="{FF2B5EF4-FFF2-40B4-BE49-F238E27FC236}">
                <a16:creationId xmlns:a16="http://schemas.microsoft.com/office/drawing/2014/main" id="{28E5A525-7CCF-CBD5-FB4E-D8F2E7ED923E}"/>
              </a:ext>
            </a:extLst>
          </p:cNvPr>
          <p:cNvSpPr>
            <a:spLocks/>
          </p:cNvSpPr>
          <p:nvPr/>
        </p:nvSpPr>
        <p:spPr bwMode="auto">
          <a:xfrm>
            <a:off x="4419600" y="5791201"/>
            <a:ext cx="171450" cy="144463"/>
          </a:xfrm>
          <a:custGeom>
            <a:avLst/>
            <a:gdLst>
              <a:gd name="T0" fmla="*/ 0 w 108"/>
              <a:gd name="T1" fmla="*/ 0 h 91"/>
              <a:gd name="T2" fmla="*/ 2147483646 w 108"/>
              <a:gd name="T3" fmla="*/ 2147483646 h 91"/>
              <a:gd name="T4" fmla="*/ 2147483646 w 108"/>
              <a:gd name="T5" fmla="*/ 2147483646 h 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" h="91">
                <a:moveTo>
                  <a:pt x="0" y="0"/>
                </a:moveTo>
                <a:lnTo>
                  <a:pt x="108" y="43"/>
                </a:lnTo>
                <a:lnTo>
                  <a:pt x="12" y="91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0" name="Line 28">
            <a:extLst>
              <a:ext uri="{FF2B5EF4-FFF2-40B4-BE49-F238E27FC236}">
                <a16:creationId xmlns:a16="http://schemas.microsoft.com/office/drawing/2014/main" id="{C890B72A-884B-D320-2F24-5E4DE103A4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7150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821" name="Text Box 29">
            <a:extLst>
              <a:ext uri="{FF2B5EF4-FFF2-40B4-BE49-F238E27FC236}">
                <a16:creationId xmlns:a16="http://schemas.microsoft.com/office/drawing/2014/main" id="{C5089042-9B16-4C78-BE97-F299E1249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810000"/>
            <a:ext cx="381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33822" name="Text Box 30">
            <a:extLst>
              <a:ext uri="{FF2B5EF4-FFF2-40B4-BE49-F238E27FC236}">
                <a16:creationId xmlns:a16="http://schemas.microsoft.com/office/drawing/2014/main" id="{7DA5F4EA-7464-D0D0-0CC2-D464262A8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648200"/>
            <a:ext cx="381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33823" name="Text Box 31">
            <a:extLst>
              <a:ext uri="{FF2B5EF4-FFF2-40B4-BE49-F238E27FC236}">
                <a16:creationId xmlns:a16="http://schemas.microsoft.com/office/drawing/2014/main" id="{4B9D98CA-F655-CB52-C2BB-8317820DB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410200"/>
            <a:ext cx="4572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33824" name="Text Box 32">
            <a:extLst>
              <a:ext uri="{FF2B5EF4-FFF2-40B4-BE49-F238E27FC236}">
                <a16:creationId xmlns:a16="http://schemas.microsoft.com/office/drawing/2014/main" id="{1179EECE-BB30-5332-1A04-C2AC903FD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810000"/>
            <a:ext cx="3048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1</a:t>
            </a:r>
          </a:p>
        </p:txBody>
      </p:sp>
      <p:sp>
        <p:nvSpPr>
          <p:cNvPr id="33825" name="Text Box 33">
            <a:extLst>
              <a:ext uri="{FF2B5EF4-FFF2-40B4-BE49-F238E27FC236}">
                <a16:creationId xmlns:a16="http://schemas.microsoft.com/office/drawing/2014/main" id="{30018418-BB6C-CE0B-0A0C-CDFA22E21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343400"/>
            <a:ext cx="381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“</a:t>
            </a:r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F3592240-7F27-8919-F1EC-4D1718DB7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637089"/>
            <a:ext cx="268288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3EE78CB-AAA7-CB71-1547-916214611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83602"/>
            <a:ext cx="5638800" cy="715962"/>
          </a:xfrm>
          <a:noFill/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4000" dirty="0"/>
              <a:t>Examples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D1BBA09-6E84-724B-1D07-4B3F5A827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1"/>
            <a:ext cx="5562600" cy="50292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Blocking: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always @(A1 or B1 or C1 or M1)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begin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    M1=#3(A1 &amp; B1);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    Y1= #1(M1|C1);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end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Non-Blocking: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always @(A2 or B2 or C2 or M2)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begin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    M2&lt;=#3(A2 &amp; B2);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    Y2&lt;=#1(M1 | C1);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/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AD92A2D3-8D49-7BDA-E46A-87A277197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819401"/>
            <a:ext cx="190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>
              <a:latin typeface="Verdana" panose="020B0604030504040204" pitchFamily="34" charset="0"/>
            </a:endParaRPr>
          </a:p>
        </p:txBody>
      </p:sp>
      <p:sp>
        <p:nvSpPr>
          <p:cNvPr id="21514" name="Text Box 10">
            <a:extLst>
              <a:ext uri="{FF2B5EF4-FFF2-40B4-BE49-F238E27FC236}">
                <a16:creationId xmlns:a16="http://schemas.microsoft.com/office/drawing/2014/main" id="{EC23457F-25A9-93D7-3306-660A164D1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33" y="2447450"/>
            <a:ext cx="22098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Statement executed at time t+3 causing Y1 to be assigned at time t+4</a:t>
            </a:r>
          </a:p>
        </p:txBody>
      </p:sp>
      <p:sp>
        <p:nvSpPr>
          <p:cNvPr id="21518" name="Text Box 14">
            <a:extLst>
              <a:ext uri="{FF2B5EF4-FFF2-40B4-BE49-F238E27FC236}">
                <a16:creationId xmlns:a16="http://schemas.microsoft.com/office/drawing/2014/main" id="{FBAD26FF-FF32-1035-CDD7-2A9ABE833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33" y="4550659"/>
            <a:ext cx="2209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Statement executed at time t causing Y2 to be assigned at time t+1.  Uses old values.</a:t>
            </a:r>
          </a:p>
        </p:txBody>
      </p:sp>
      <p:sp>
        <p:nvSpPr>
          <p:cNvPr id="21520" name="Text Box 16">
            <a:extLst>
              <a:ext uri="{FF2B5EF4-FFF2-40B4-BE49-F238E27FC236}">
                <a16:creationId xmlns:a16="http://schemas.microsoft.com/office/drawing/2014/main" id="{9A43A78F-078A-3910-D731-A9C971884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33" y="1371601"/>
            <a:ext cx="20574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dirty="0"/>
              <a:t>Statement executed at time t causing M1 to be assigned at t+3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400" dirty="0"/>
          </a:p>
        </p:txBody>
      </p:sp>
      <p:sp>
        <p:nvSpPr>
          <p:cNvPr id="21521" name="Text Box 17">
            <a:extLst>
              <a:ext uri="{FF2B5EF4-FFF2-40B4-BE49-F238E27FC236}">
                <a16:creationId xmlns:a16="http://schemas.microsoft.com/office/drawing/2014/main" id="{D76CC06E-5948-5827-7B9C-BCE36505B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33" y="3488830"/>
            <a:ext cx="22098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dirty="0"/>
              <a:t>Statement executed at time t causing M2 to be assigned at t+3</a:t>
            </a:r>
          </a:p>
          <a:p>
            <a:pPr>
              <a:spcBef>
                <a:spcPct val="50000"/>
              </a:spcBef>
            </a:pPr>
            <a:endParaRPr lang="en-US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4" grpId="0"/>
      <p:bldP spid="21518" grpId="0"/>
      <p:bldP spid="21520" grpId="0"/>
      <p:bldP spid="215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0D71120-3599-0F88-6EA7-B297494AF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7391"/>
            <a:ext cx="10282518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4000" dirty="0"/>
              <a:t>Order dependency of Concurrent Statements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EF14958-8433-7143-3F7B-D3AF3E3ED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27095"/>
            <a:ext cx="10183906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3200"/>
              <a:t>Order of concurrent statements does not affect how a synthesizer synthesizes a circuit.</a:t>
            </a:r>
          </a:p>
          <a:p>
            <a:pPr eaLnBrk="1" hangingPunct="1"/>
            <a:r>
              <a:rPr lang="en-US" altLang="en-US" sz="3200"/>
              <a:t>It can affect simulation results.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>
            <a:extLst>
              <a:ext uri="{FF2B5EF4-FFF2-40B4-BE49-F238E27FC236}">
                <a16:creationId xmlns:a16="http://schemas.microsoft.com/office/drawing/2014/main" id="{8334BB45-5DF1-12BA-6C1F-739B61468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7529" y="1600201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always @(posedge clock)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 begin: CONCURR_1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      Y1&lt;=A;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 end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always @(posedge clock)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 begin: CONCURR_2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      if(Y1) Y2=B; else Y2=0;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       end</a:t>
            </a:r>
          </a:p>
        </p:txBody>
      </p:sp>
      <p:grpSp>
        <p:nvGrpSpPr>
          <p:cNvPr id="70683" name="Group 27">
            <a:extLst>
              <a:ext uri="{FF2B5EF4-FFF2-40B4-BE49-F238E27FC236}">
                <a16:creationId xmlns:a16="http://schemas.microsoft.com/office/drawing/2014/main" id="{7FDCCF31-0AC4-1D04-E3FA-5FF64A79FB46}"/>
              </a:ext>
            </a:extLst>
          </p:cNvPr>
          <p:cNvGrpSpPr>
            <a:grpSpLocks/>
          </p:cNvGrpSpPr>
          <p:nvPr/>
        </p:nvGrpSpPr>
        <p:grpSpPr bwMode="auto">
          <a:xfrm>
            <a:off x="5275729" y="2133601"/>
            <a:ext cx="4038600" cy="1890713"/>
            <a:chOff x="3216" y="1344"/>
            <a:chExt cx="2544" cy="1191"/>
          </a:xfrm>
        </p:grpSpPr>
        <p:sp>
          <p:nvSpPr>
            <p:cNvPr id="36870" name="Line 11">
              <a:extLst>
                <a:ext uri="{FF2B5EF4-FFF2-40B4-BE49-F238E27FC236}">
                  <a16:creationId xmlns:a16="http://schemas.microsoft.com/office/drawing/2014/main" id="{97BF37BD-6154-3371-BDEE-BF56617D7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01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36871" name="Group 26">
              <a:extLst>
                <a:ext uri="{FF2B5EF4-FFF2-40B4-BE49-F238E27FC236}">
                  <a16:creationId xmlns:a16="http://schemas.microsoft.com/office/drawing/2014/main" id="{50399BF3-16AA-B77A-15D9-3CA874A6F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344"/>
              <a:ext cx="2544" cy="1191"/>
              <a:chOff x="3216" y="1344"/>
              <a:chExt cx="2544" cy="1191"/>
            </a:xfrm>
          </p:grpSpPr>
          <p:sp>
            <p:nvSpPr>
              <p:cNvPr id="36872" name="Line 5">
                <a:extLst>
                  <a:ext uri="{FF2B5EF4-FFF2-40B4-BE49-F238E27FC236}">
                    <a16:creationId xmlns:a16="http://schemas.microsoft.com/office/drawing/2014/main" id="{706F6141-B8E9-BCD6-09BE-E85BEE853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2" y="177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873" name="Line 10">
                <a:extLst>
                  <a:ext uri="{FF2B5EF4-FFF2-40B4-BE49-F238E27FC236}">
                    <a16:creationId xmlns:a16="http://schemas.microsoft.com/office/drawing/2014/main" id="{DD1FF3FD-C178-160F-6A36-09E7EB8AE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01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36874" name="Group 25">
                <a:extLst>
                  <a:ext uri="{FF2B5EF4-FFF2-40B4-BE49-F238E27FC236}">
                    <a16:creationId xmlns:a16="http://schemas.microsoft.com/office/drawing/2014/main" id="{056234D3-9B92-429D-2DFE-BAD8B67B70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6" y="1344"/>
                <a:ext cx="2544" cy="1191"/>
                <a:chOff x="3216" y="1536"/>
                <a:chExt cx="2544" cy="1191"/>
              </a:xfrm>
            </p:grpSpPr>
            <p:sp>
              <p:nvSpPr>
                <p:cNvPr id="36875" name="Line 16">
                  <a:extLst>
                    <a:ext uri="{FF2B5EF4-FFF2-40B4-BE49-F238E27FC236}">
                      <a16:creationId xmlns:a16="http://schemas.microsoft.com/office/drawing/2014/main" id="{E844C289-8B5D-7E84-C2E5-5A90C5A916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2016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36876" name="Group 24">
                  <a:extLst>
                    <a:ext uri="{FF2B5EF4-FFF2-40B4-BE49-F238E27FC236}">
                      <a16:creationId xmlns:a16="http://schemas.microsoft.com/office/drawing/2014/main" id="{39560E5C-5605-97CA-D2F1-12537B68DC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16" y="1536"/>
                  <a:ext cx="2544" cy="1191"/>
                  <a:chOff x="3216" y="1344"/>
                  <a:chExt cx="2544" cy="1191"/>
                </a:xfrm>
              </p:grpSpPr>
              <p:grpSp>
                <p:nvGrpSpPr>
                  <p:cNvPr id="36877" name="Group 22">
                    <a:extLst>
                      <a:ext uri="{FF2B5EF4-FFF2-40B4-BE49-F238E27FC236}">
                        <a16:creationId xmlns:a16="http://schemas.microsoft.com/office/drawing/2014/main" id="{D46B10E1-F9ED-4A17-C26B-1D8E70FD0BB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16" y="1344"/>
                    <a:ext cx="2544" cy="1191"/>
                    <a:chOff x="3216" y="1344"/>
                    <a:chExt cx="2544" cy="1191"/>
                  </a:xfrm>
                </p:grpSpPr>
                <p:sp>
                  <p:nvSpPr>
                    <p:cNvPr id="36879" name="Rectangle 4">
                      <a:extLst>
                        <a:ext uri="{FF2B5EF4-FFF2-40B4-BE49-F238E27FC236}">
                          <a16:creationId xmlns:a16="http://schemas.microsoft.com/office/drawing/2014/main" id="{542B4616-CFC3-F52E-6D00-F6F6EE8740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00" y="1632"/>
                      <a:ext cx="432" cy="43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en-IN" altLang="en-US"/>
                    </a:p>
                  </p:txBody>
                </p:sp>
                <p:pic>
                  <p:nvPicPr>
                    <p:cNvPr id="36880" name="Picture 6">
                      <a:extLst>
                        <a:ext uri="{FF2B5EF4-FFF2-40B4-BE49-F238E27FC236}">
                          <a16:creationId xmlns:a16="http://schemas.microsoft.com/office/drawing/2014/main" id="{95C89042-7546-F42A-B928-5CC1862AB9E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224" y="1584"/>
                      <a:ext cx="576" cy="34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  <p:sp>
                  <p:nvSpPr>
                    <p:cNvPr id="36881" name="Rectangle 7">
                      <a:extLst>
                        <a:ext uri="{FF2B5EF4-FFF2-40B4-BE49-F238E27FC236}">
                          <a16:creationId xmlns:a16="http://schemas.microsoft.com/office/drawing/2014/main" id="{26B30666-FA71-2533-D1A6-C77286E3E16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00" y="1680"/>
                      <a:ext cx="432" cy="432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en-IN" altLang="en-US"/>
                    </a:p>
                  </p:txBody>
                </p:sp>
                <p:sp>
                  <p:nvSpPr>
                    <p:cNvPr id="36882" name="Line 8">
                      <a:extLst>
                        <a:ext uri="{FF2B5EF4-FFF2-40B4-BE49-F238E27FC236}">
                          <a16:creationId xmlns:a16="http://schemas.microsoft.com/office/drawing/2014/main" id="{0379E81A-E0B5-B72B-2D19-907BCE69A96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824"/>
                      <a:ext cx="33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36883" name="Line 9">
                      <a:extLst>
                        <a:ext uri="{FF2B5EF4-FFF2-40B4-BE49-F238E27FC236}">
                          <a16:creationId xmlns:a16="http://schemas.microsoft.com/office/drawing/2014/main" id="{2AC97D15-E038-8535-DD5A-953EFD7145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2256"/>
                      <a:ext cx="13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36884" name="Line 12">
                      <a:extLst>
                        <a:ext uri="{FF2B5EF4-FFF2-40B4-BE49-F238E27FC236}">
                          <a16:creationId xmlns:a16="http://schemas.microsoft.com/office/drawing/2014/main" id="{08598632-A2CF-0376-475B-78745EAA8DC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360" y="1968"/>
                      <a:ext cx="0" cy="28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36885" name="Line 13">
                      <a:extLst>
                        <a:ext uri="{FF2B5EF4-FFF2-40B4-BE49-F238E27FC236}">
                          <a16:creationId xmlns:a16="http://schemas.microsoft.com/office/drawing/2014/main" id="{F5C43E3B-8E60-046C-AE10-56AA024A58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60" y="1968"/>
                      <a:ext cx="2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36886" name="Line 14">
                      <a:extLst>
                        <a:ext uri="{FF2B5EF4-FFF2-40B4-BE49-F238E27FC236}">
                          <a16:creationId xmlns:a16="http://schemas.microsoft.com/office/drawing/2014/main" id="{7C0443CB-DE3A-4316-E539-38861A3B2E9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1584"/>
                      <a:ext cx="96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N"/>
                    </a:p>
                  </p:txBody>
                </p:sp>
                <p:sp>
                  <p:nvSpPr>
                    <p:cNvPr id="36887" name="Text Box 17">
                      <a:extLst>
                        <a:ext uri="{FF2B5EF4-FFF2-40B4-BE49-F238E27FC236}">
                          <a16:creationId xmlns:a16="http://schemas.microsoft.com/office/drawing/2014/main" id="{AD386C48-BA38-D78E-3F4A-C7D0B916089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64" y="1344"/>
                      <a:ext cx="288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en-US" i="1">
                          <a:solidFill>
                            <a:schemeClr val="accent2"/>
                          </a:solidFill>
                        </a:rPr>
                        <a:t>B</a:t>
                      </a:r>
                    </a:p>
                  </p:txBody>
                </p:sp>
                <p:sp>
                  <p:nvSpPr>
                    <p:cNvPr id="36888" name="Text Box 18">
                      <a:extLst>
                        <a:ext uri="{FF2B5EF4-FFF2-40B4-BE49-F238E27FC236}">
                          <a16:creationId xmlns:a16="http://schemas.microsoft.com/office/drawing/2014/main" id="{A9C59265-FCF6-6E41-7B7E-D0D55E2FAC5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216" y="1632"/>
                      <a:ext cx="288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en-US" i="1">
                          <a:solidFill>
                            <a:schemeClr val="accent2"/>
                          </a:solidFill>
                        </a:rPr>
                        <a:t>A</a:t>
                      </a:r>
                    </a:p>
                  </p:txBody>
                </p:sp>
                <p:sp>
                  <p:nvSpPr>
                    <p:cNvPr id="36889" name="Text Box 19">
                      <a:extLst>
                        <a:ext uri="{FF2B5EF4-FFF2-40B4-BE49-F238E27FC236}">
                          <a16:creationId xmlns:a16="http://schemas.microsoft.com/office/drawing/2014/main" id="{FBE165EC-F1EA-DEB3-86D3-AC817FDB288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80" y="2304"/>
                      <a:ext cx="480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en-US" i="1">
                          <a:solidFill>
                            <a:schemeClr val="accent2"/>
                          </a:solidFill>
                        </a:rPr>
                        <a:t>clk</a:t>
                      </a:r>
                    </a:p>
                  </p:txBody>
                </p:sp>
                <p:sp>
                  <p:nvSpPr>
                    <p:cNvPr id="36890" name="Text Box 20">
                      <a:extLst>
                        <a:ext uri="{FF2B5EF4-FFF2-40B4-BE49-F238E27FC236}">
                          <a16:creationId xmlns:a16="http://schemas.microsoft.com/office/drawing/2014/main" id="{04A06B04-56DB-B92D-35FF-8E4FF8153EE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32" y="1824"/>
                      <a:ext cx="480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en-US" i="1">
                          <a:solidFill>
                            <a:schemeClr val="accent2"/>
                          </a:solidFill>
                        </a:rPr>
                        <a:t>Y1</a:t>
                      </a:r>
                    </a:p>
                  </p:txBody>
                </p:sp>
                <p:sp>
                  <p:nvSpPr>
                    <p:cNvPr id="36891" name="Text Box 21">
                      <a:extLst>
                        <a:ext uri="{FF2B5EF4-FFF2-40B4-BE49-F238E27FC236}">
                          <a16:creationId xmlns:a16="http://schemas.microsoft.com/office/drawing/2014/main" id="{2197F7B8-5197-7ACF-88E7-75610FB8BD84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280" y="1488"/>
                      <a:ext cx="480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en-US" i="1">
                          <a:solidFill>
                            <a:schemeClr val="accent2"/>
                          </a:solidFill>
                        </a:rPr>
                        <a:t>Y2</a:t>
                      </a:r>
                    </a:p>
                  </p:txBody>
                </p:sp>
              </p:grpSp>
              <p:sp>
                <p:nvSpPr>
                  <p:cNvPr id="36878" name="Line 23">
                    <a:extLst>
                      <a:ext uri="{FF2B5EF4-FFF2-40B4-BE49-F238E27FC236}">
                        <a16:creationId xmlns:a16="http://schemas.microsoft.com/office/drawing/2014/main" id="{A8DD3D05-9659-6CFA-14B0-84D75A5195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24" y="1584"/>
                    <a:ext cx="0" cy="14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</p:grpSp>
      <p:sp>
        <p:nvSpPr>
          <p:cNvPr id="70684" name="Rectangle 28">
            <a:extLst>
              <a:ext uri="{FF2B5EF4-FFF2-40B4-BE49-F238E27FC236}">
                <a16:creationId xmlns:a16="http://schemas.microsoft.com/office/drawing/2014/main" id="{6F3197A9-E4EA-2061-0601-7C737D227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29" y="5542758"/>
            <a:ext cx="79248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i="1" dirty="0">
                <a:solidFill>
                  <a:schemeClr val="bg1"/>
                </a:solidFill>
              </a:rPr>
              <a:t>Can you figure out the possible mismatch of simulation with synthesis results?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E025BA9-CDDF-4F9A-B8B3-655626AD6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37391"/>
            <a:ext cx="10282518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altLang="en-US" sz="4000" dirty="0"/>
              <a:t>Order dependency of Concurrent Statements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8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BB92510F-19AF-36DC-44A2-DAD1202BF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8565" y="37325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Explanation of the mismatch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6F3D9BF-386B-47DC-57C2-40EBB20F7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564" y="1516250"/>
            <a:ext cx="9977717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800"/>
              <a:t>The actual circuit is a </a:t>
            </a:r>
            <a:r>
              <a:rPr lang="en-US" altLang="en-US" sz="2800" i="1"/>
              <a:t>concurrent </a:t>
            </a:r>
            <a:r>
              <a:rPr lang="en-US" altLang="en-US" sz="2800"/>
              <a:t>process. </a:t>
            </a:r>
          </a:p>
          <a:p>
            <a:pPr eaLnBrk="1" hangingPunct="1"/>
            <a:r>
              <a:rPr lang="en-US" altLang="en-US" sz="2800"/>
              <a:t>The first and second flip flop are operating parallel.</a:t>
            </a:r>
          </a:p>
          <a:p>
            <a:pPr eaLnBrk="1" hangingPunct="1"/>
            <a:r>
              <a:rPr lang="en-US" altLang="en-US" sz="2800"/>
              <a:t>However if the simulator simulates CONCURR_1 block before CONCURR_2, we have an error. Why?</a:t>
            </a:r>
          </a:p>
          <a:p>
            <a:pPr eaLnBrk="1" hangingPunct="1"/>
            <a:r>
              <a:rPr lang="en-US" altLang="en-US" sz="2800"/>
              <a:t>So, how do we solve the problem?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6135A22-E933-9243-AB0D-AB813080D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7529" y="247744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Solution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0E86933-EFAE-F206-A41A-8A2025D36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7529" y="1600200"/>
            <a:ext cx="8229600" cy="4525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always @(posedge clock)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begin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Y1&lt;=A;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if(Y1==1)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Y2&lt;=B;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         Y2&lt;=0;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end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093905A6-2830-7A15-09BC-9EBD555C6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886200"/>
            <a:ext cx="3429000" cy="1371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i="1">
                <a:solidFill>
                  <a:schemeClr val="bg1"/>
                </a:solidFill>
              </a:rPr>
              <a:t>With non-blocking assignments</a:t>
            </a:r>
          </a:p>
          <a:p>
            <a:pPr algn="ctr" eaLnBrk="1" hangingPunct="1"/>
            <a:r>
              <a:rPr lang="en-US" altLang="en-US" i="1">
                <a:solidFill>
                  <a:schemeClr val="bg1"/>
                </a:solidFill>
              </a:rPr>
              <a:t>the order of the assignments </a:t>
            </a:r>
          </a:p>
          <a:p>
            <a:pPr algn="ctr" eaLnBrk="1" hangingPunct="1"/>
            <a:r>
              <a:rPr lang="en-US" altLang="en-US" i="1">
                <a:solidFill>
                  <a:schemeClr val="bg1"/>
                </a:solidFill>
              </a:rPr>
              <a:t>is immaterial…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EA12399-212F-AC05-05F7-94A1A3765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9385"/>
            <a:ext cx="6172200" cy="10207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Parameterized Design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0B9A76E-B481-57C8-36AA-6C38939F7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8227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module vector_and(z, a, b);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parameter cardinality =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input [cardinality-1:0] a, b;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output [cardinality-1:0] z;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wire [cardinality-1:0] z = a &amp; b;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endmodule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We override these parameters when we instantiate the module as: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module Four_and_gates(OutBus, InBusA, InBusB);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input [3:0] InBusA, InBusB; output[3:0] OutBus;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  Vector_And #(4) My_And(OutBus, InBusA, InBusB);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    endmodule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B9714F7-1AE7-1C87-4986-2587D796A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02024"/>
            <a:ext cx="6096000" cy="9144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Functions (cont’d)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6701AF5-CCBC-B58C-6F5A-CD8F24522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83660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Function Declaration and Invocation</a:t>
            </a:r>
          </a:p>
          <a:p>
            <a:pPr lvl="1" eaLnBrk="1" hangingPunct="1"/>
            <a:r>
              <a:rPr lang="en-US" altLang="ar-SA"/>
              <a:t>Declaration syntax:</a:t>
            </a:r>
          </a:p>
          <a:p>
            <a:pPr lvl="1" eaLnBrk="1" hangingPunct="1"/>
            <a:endParaRPr lang="en-US" altLang="ar-SA"/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function &lt;range_or_type&gt; &lt;func_name&gt;;</a:t>
            </a:r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	&lt;input declaration(s)&gt;</a:t>
            </a:r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	&lt;variable_declaration(s)&gt;</a:t>
            </a:r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	begin </a:t>
            </a:r>
            <a:r>
              <a:rPr lang="en-US" altLang="ar-SA">
                <a:latin typeface="Courier New" panose="02070309020205020404" pitchFamily="49" charset="0"/>
              </a:rPr>
              <a:t>// if more than one statement needed</a:t>
            </a:r>
            <a:endParaRPr lang="en-US" altLang="ar-SA" b="1">
              <a:latin typeface="Courier New" panose="02070309020205020404" pitchFamily="49" charset="0"/>
            </a:endParaRPr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	  &lt;statements&gt;</a:t>
            </a:r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	end	</a:t>
            </a:r>
            <a:r>
              <a:rPr lang="en-US" altLang="ar-SA" sz="1800">
                <a:latin typeface="Courier New" panose="02070309020205020404" pitchFamily="49" charset="0"/>
              </a:rPr>
              <a:t>// if begin used</a:t>
            </a:r>
          </a:p>
          <a:p>
            <a:pPr lvl="2" eaLnBrk="1" hangingPunct="1">
              <a:buFontTx/>
              <a:buNone/>
            </a:pPr>
            <a:r>
              <a:rPr lang="en-US" altLang="ar-SA" sz="2000" b="1">
                <a:latin typeface="Courier New" panose="02070309020205020404" pitchFamily="49" charset="0"/>
              </a:rPr>
              <a:t>endfunction</a:t>
            </a:r>
            <a:endParaRPr lang="en-US" altLang="ar-SA" sz="18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FAA6B0D-D3B8-CFE2-05DE-8D55F6B596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8565" y="266700"/>
            <a:ext cx="7799294" cy="11430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dirty="0"/>
              <a:t>Function Examples </a:t>
            </a:r>
            <a:r>
              <a:rPr lang="en-US" altLang="ar-SA" dirty="0"/>
              <a:t>Controllable Shifter</a:t>
            </a:r>
            <a:endParaRPr lang="en-US" altLang="en-US" dirty="0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E5B308C-DE87-4451-0CCE-B8F1695FF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05" y="1304364"/>
            <a:ext cx="4114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module shifter;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`define LEFT_SHIFT      1'b0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`define RIGHT_SHIFT     1'b1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 [31:0]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left_addr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right_addr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reg control;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initial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always @(addr)begin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left_addr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=shift(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`LEFT_SHIFT);</a:t>
            </a:r>
            <a:r>
              <a:rPr lang="en-US" altLang="en-US" sz="12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16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right_addr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=shift(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,`RIGHT_SHIFT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3747166F-97E6-3E94-0357-BEED812C6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305" y="1308844"/>
            <a:ext cx="441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function [31:0]shift;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 [31:0] address;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 control;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shift = (control==`LEFT_SHIFT) ?(address&lt;&lt;1) : (address&gt;&gt;1);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endfunction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5C20A4C8-1FA6-4976-A666-0774FAB4591F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D15A3E">
                    <a:lumMod val="75000"/>
                  </a:srgbClr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Architecture Design 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幼圆" panose="02010509060101010101" pitchFamily="49" charset="-122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C5D20-4EF7-240A-EB2B-DD411A86E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62735"/>
            <a:ext cx="4258235" cy="2843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EAE38-FCBC-011A-47CC-B75240859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17" y="1511080"/>
            <a:ext cx="3684494" cy="3684494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60B6704-4C39-8326-49A6-66FE2A264764}"/>
              </a:ext>
            </a:extLst>
          </p:cNvPr>
          <p:cNvSpPr/>
          <p:nvPr/>
        </p:nvSpPr>
        <p:spPr>
          <a:xfrm>
            <a:off x="4222376" y="3146613"/>
            <a:ext cx="1515036" cy="34962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E2C05-5617-065F-6E52-5C8A4FAFAF0A}"/>
              </a:ext>
            </a:extLst>
          </p:cNvPr>
          <p:cNvSpPr txBox="1"/>
          <p:nvPr/>
        </p:nvSpPr>
        <p:spPr>
          <a:xfrm>
            <a:off x="1156447" y="5414684"/>
            <a:ext cx="19274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Algorithm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3AA920-A8CE-914B-F8A9-AE9FF6595AA2}"/>
              </a:ext>
            </a:extLst>
          </p:cNvPr>
          <p:cNvSpPr txBox="1"/>
          <p:nvPr/>
        </p:nvSpPr>
        <p:spPr>
          <a:xfrm>
            <a:off x="6163233" y="4609910"/>
            <a:ext cx="4123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Hardware Design Architecture</a:t>
            </a:r>
          </a:p>
        </p:txBody>
      </p:sp>
      <p:sp>
        <p:nvSpPr>
          <p:cNvPr id="15" name="Google Shape;75;p16">
            <a:extLst>
              <a:ext uri="{FF2B5EF4-FFF2-40B4-BE49-F238E27FC236}">
                <a16:creationId xmlns:a16="http://schemas.microsoft.com/office/drawing/2014/main" id="{E3B6AB2E-6DDE-0302-6E58-B8D0C4324B27}"/>
              </a:ext>
            </a:extLst>
          </p:cNvPr>
          <p:cNvSpPr txBox="1">
            <a:spLocks/>
          </p:cNvSpPr>
          <p:nvPr/>
        </p:nvSpPr>
        <p:spPr>
          <a:xfrm>
            <a:off x="6095999" y="5145752"/>
            <a:ext cx="449611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532" marR="0" lvl="2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709" marR="0" lvl="3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5886" marR="0" lvl="4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062" marR="0" lvl="5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240" marR="0" lvl="6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418" marR="0" lvl="7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594" marR="0" lvl="8" indent="-3174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5A3E">
                  <a:lumMod val="75000"/>
                </a:srgbClr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Design Datapath Elements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5A3E">
                  <a:lumMod val="75000"/>
                </a:srgbClr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5A3E">
                  <a:lumMod val="75000"/>
                </a:srgbClr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Design Control Path</a:t>
            </a:r>
          </a:p>
        </p:txBody>
      </p:sp>
    </p:spTree>
    <p:extLst>
      <p:ext uri="{BB962C8B-B14F-4D97-AF65-F5344CB8AC3E}">
        <p14:creationId xmlns:p14="http://schemas.microsoft.com/office/powerpoint/2010/main" val="84880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B70BFA01-534A-327F-8093-209CC4ED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441A9574-D70A-147C-F366-3D046B754E32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Architecture Design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36C4E3-2DBE-B606-AFFD-ED2007A75FA3}"/>
              </a:ext>
            </a:extLst>
          </p:cNvPr>
          <p:cNvSpPr/>
          <p:nvPr/>
        </p:nvSpPr>
        <p:spPr>
          <a:xfrm>
            <a:off x="4222376" y="3146613"/>
            <a:ext cx="1515036" cy="34962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6F8627-DC9C-C3B1-CBE8-BE366A71AAFC}"/>
              </a:ext>
            </a:extLst>
          </p:cNvPr>
          <p:cNvSpPr txBox="1"/>
          <p:nvPr/>
        </p:nvSpPr>
        <p:spPr>
          <a:xfrm>
            <a:off x="1285748" y="5827061"/>
            <a:ext cx="1927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Algorithm of the Accumulator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3556A2C-DAD4-4377-75C6-AB02696ADC60}"/>
              </a:ext>
            </a:extLst>
          </p:cNvPr>
          <p:cNvSpPr/>
          <p:nvPr/>
        </p:nvSpPr>
        <p:spPr>
          <a:xfrm>
            <a:off x="428932" y="1443316"/>
            <a:ext cx="3641044" cy="43209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# Accumulator Algorithm </a:t>
            </a:r>
            <a:r>
              <a:rPr lang="en-IN" sz="1600" b="1" dirty="0"/>
              <a:t>accumulator = 0</a:t>
            </a:r>
            <a:r>
              <a:rPr lang="en-IN" sz="1600" dirty="0"/>
              <a:t> </a:t>
            </a:r>
          </a:p>
          <a:p>
            <a:endParaRPr lang="en-IN" sz="1600" dirty="0"/>
          </a:p>
          <a:p>
            <a:r>
              <a:rPr lang="en-IN" sz="1600" dirty="0"/>
              <a:t># Loop for N data inputs </a:t>
            </a:r>
            <a:r>
              <a:rPr lang="en-IN" sz="1600" b="1" dirty="0" err="1"/>
              <a:t>input_data</a:t>
            </a:r>
            <a:r>
              <a:rPr lang="en-IN" sz="1600" b="1" dirty="0"/>
              <a:t> = </a:t>
            </a:r>
            <a:r>
              <a:rPr lang="en-IN" sz="1600" b="1" dirty="0" err="1"/>
              <a:t>get_input</a:t>
            </a:r>
            <a:r>
              <a:rPr lang="en-IN" sz="1600" b="1" dirty="0"/>
              <a:t>() </a:t>
            </a:r>
            <a:r>
              <a:rPr lang="en-IN" sz="1600" dirty="0"/>
              <a:t># Fetch new data</a:t>
            </a:r>
            <a:r>
              <a:rPr lang="en-IN" sz="1600" b="1" dirty="0"/>
              <a:t> </a:t>
            </a:r>
          </a:p>
          <a:p>
            <a:endParaRPr lang="en-IN" sz="1600" dirty="0"/>
          </a:p>
          <a:p>
            <a:r>
              <a:rPr lang="en-IN" sz="1600" b="1" dirty="0"/>
              <a:t>accumulator += </a:t>
            </a:r>
            <a:r>
              <a:rPr lang="en-IN" sz="1600" b="1" dirty="0" err="1"/>
              <a:t>input_data</a:t>
            </a:r>
            <a:r>
              <a:rPr lang="en-IN" sz="1600" b="1" dirty="0"/>
              <a:t> </a:t>
            </a:r>
            <a:r>
              <a:rPr lang="en-IN" sz="1600" dirty="0"/>
              <a:t># Accumulate (accumulator = accumulator + </a:t>
            </a:r>
            <a:r>
              <a:rPr lang="en-IN" sz="1600" dirty="0" err="1"/>
              <a:t>input_data</a:t>
            </a:r>
            <a:r>
              <a:rPr lang="en-IN" sz="1600" dirty="0"/>
              <a:t>) </a:t>
            </a:r>
          </a:p>
          <a:p>
            <a:endParaRPr lang="en-IN" sz="1600" dirty="0"/>
          </a:p>
          <a:p>
            <a:r>
              <a:rPr lang="en-IN" sz="1600" dirty="0"/>
              <a:t># Output the final accumulated </a:t>
            </a:r>
            <a:r>
              <a:rPr lang="en-IN" sz="1600" b="1" dirty="0"/>
              <a:t>value print(accumulator)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CCFD1E-0997-B818-6922-FCD3A971DB6D}"/>
              </a:ext>
            </a:extLst>
          </p:cNvPr>
          <p:cNvSpPr/>
          <p:nvPr/>
        </p:nvSpPr>
        <p:spPr>
          <a:xfrm>
            <a:off x="7046258" y="2540969"/>
            <a:ext cx="1410463" cy="1544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4F67F-B623-71C9-CD61-FE5D54D27BD4}"/>
              </a:ext>
            </a:extLst>
          </p:cNvPr>
          <p:cNvSpPr/>
          <p:nvPr/>
        </p:nvSpPr>
        <p:spPr>
          <a:xfrm>
            <a:off x="9690718" y="2540969"/>
            <a:ext cx="958788" cy="15447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BE0583-8AB8-5DF4-63F5-5686476F17CE}"/>
              </a:ext>
            </a:extLst>
          </p:cNvPr>
          <p:cNvCxnSpPr/>
          <p:nvPr/>
        </p:nvCxnSpPr>
        <p:spPr>
          <a:xfrm>
            <a:off x="5746772" y="2949344"/>
            <a:ext cx="12961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469109C-4DE4-378A-64F0-F3A92D13BAE0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H="1">
            <a:off x="7046258" y="3313327"/>
            <a:ext cx="3603248" cy="12700"/>
          </a:xfrm>
          <a:prstGeom prst="bentConnector5">
            <a:avLst>
              <a:gd name="adj1" fmla="val -6344"/>
              <a:gd name="adj2" fmla="val 7881559"/>
              <a:gd name="adj3" fmla="val 10634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41BE29-D981-FE38-383C-8FCF3EE7FF38}"/>
              </a:ext>
            </a:extLst>
          </p:cNvPr>
          <p:cNvCxnSpPr>
            <a:stCxn id="6" idx="3"/>
          </p:cNvCxnSpPr>
          <p:nvPr/>
        </p:nvCxnSpPr>
        <p:spPr>
          <a:xfrm flipV="1">
            <a:off x="10649506" y="3313326"/>
            <a:ext cx="118073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76A583-1B61-270A-35B0-D1F6883DC59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456721" y="3313327"/>
            <a:ext cx="12339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26B32F-70A0-9B5A-9A14-3EB7FF310CB5}"/>
              </a:ext>
            </a:extLst>
          </p:cNvPr>
          <p:cNvCxnSpPr>
            <a:cxnSpLocks/>
          </p:cNvCxnSpPr>
          <p:nvPr/>
        </p:nvCxnSpPr>
        <p:spPr>
          <a:xfrm>
            <a:off x="10383176" y="1901779"/>
            <a:ext cx="0" cy="639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5EF329-9F0A-72F8-E23C-682A95F36C75}"/>
              </a:ext>
            </a:extLst>
          </p:cNvPr>
          <p:cNvCxnSpPr>
            <a:cxnSpLocks/>
          </p:cNvCxnSpPr>
          <p:nvPr/>
        </p:nvCxnSpPr>
        <p:spPr>
          <a:xfrm>
            <a:off x="9939292" y="1901779"/>
            <a:ext cx="0" cy="639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D1FE97-DEBB-EAC0-3DE1-0AB21AA4A745}"/>
              </a:ext>
            </a:extLst>
          </p:cNvPr>
          <p:cNvSpPr txBox="1"/>
          <p:nvPr/>
        </p:nvSpPr>
        <p:spPr>
          <a:xfrm>
            <a:off x="5656903" y="2306112"/>
            <a:ext cx="1296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Input_data</a:t>
            </a:r>
            <a:r>
              <a:rPr lang="en-IN" dirty="0"/>
              <a:t>(4 bits)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FBD402-E5A9-594B-0402-017447C43DA9}"/>
              </a:ext>
            </a:extLst>
          </p:cNvPr>
          <p:cNvSpPr txBox="1"/>
          <p:nvPr/>
        </p:nvSpPr>
        <p:spPr>
          <a:xfrm>
            <a:off x="8230341" y="4334880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dff_out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E97D1-E93C-2819-5976-71CF1A0F348D}"/>
              </a:ext>
            </a:extLst>
          </p:cNvPr>
          <p:cNvSpPr txBox="1"/>
          <p:nvPr/>
        </p:nvSpPr>
        <p:spPr>
          <a:xfrm>
            <a:off x="8523305" y="2931296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add_out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211615-4FE5-1D33-BD99-3FEA291C4D8D}"/>
              </a:ext>
            </a:extLst>
          </p:cNvPr>
          <p:cNvSpPr txBox="1"/>
          <p:nvPr/>
        </p:nvSpPr>
        <p:spPr>
          <a:xfrm>
            <a:off x="11024587" y="2949344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acc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8D8450-9796-CFA3-8D0D-AB9B82250F20}"/>
              </a:ext>
            </a:extLst>
          </p:cNvPr>
          <p:cNvSpPr txBox="1"/>
          <p:nvPr/>
        </p:nvSpPr>
        <p:spPr>
          <a:xfrm>
            <a:off x="9690719" y="1553111"/>
            <a:ext cx="56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clk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9E233E-2D56-B217-88D7-0D5A18F1C2E1}"/>
              </a:ext>
            </a:extLst>
          </p:cNvPr>
          <p:cNvSpPr txBox="1"/>
          <p:nvPr/>
        </p:nvSpPr>
        <p:spPr>
          <a:xfrm>
            <a:off x="10134602" y="1553111"/>
            <a:ext cx="56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rst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22ED0B-EBA6-F3AD-627B-0BC96557447E}"/>
              </a:ext>
            </a:extLst>
          </p:cNvPr>
          <p:cNvSpPr txBox="1"/>
          <p:nvPr/>
        </p:nvSpPr>
        <p:spPr>
          <a:xfrm>
            <a:off x="8634275" y="3326027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76B5A4-1882-981F-8C5F-4F5E11B10D9B}"/>
              </a:ext>
            </a:extLst>
          </p:cNvPr>
          <p:cNvSpPr txBox="1"/>
          <p:nvPr/>
        </p:nvSpPr>
        <p:spPr>
          <a:xfrm>
            <a:off x="8265853" y="4639338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DDC01C-C22B-DCFE-B4AE-EC4413A3533D}"/>
              </a:ext>
            </a:extLst>
          </p:cNvPr>
          <p:cNvSpPr txBox="1"/>
          <p:nvPr/>
        </p:nvSpPr>
        <p:spPr>
          <a:xfrm>
            <a:off x="10960223" y="3335522"/>
            <a:ext cx="92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866CFA-1672-5413-3249-3ECC0820CBCF}"/>
              </a:ext>
            </a:extLst>
          </p:cNvPr>
          <p:cNvSpPr txBox="1"/>
          <p:nvPr/>
        </p:nvSpPr>
        <p:spPr>
          <a:xfrm>
            <a:off x="6589057" y="5124926"/>
            <a:ext cx="4123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Hardware Design Architecture of the Accumulator</a:t>
            </a:r>
          </a:p>
        </p:txBody>
      </p:sp>
    </p:spTree>
    <p:extLst>
      <p:ext uri="{BB962C8B-B14F-4D97-AF65-F5344CB8AC3E}">
        <p14:creationId xmlns:p14="http://schemas.microsoft.com/office/powerpoint/2010/main" val="260297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F7D50FCF-1B84-BC9F-2F19-789F3689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D8359AC7-B070-BFD6-B4A8-2DEBF82E6A4C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Architecture Design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2D3BFB3-06AB-FD06-53A4-DC3849FBEA00}"/>
              </a:ext>
            </a:extLst>
          </p:cNvPr>
          <p:cNvSpPr/>
          <p:nvPr/>
        </p:nvSpPr>
        <p:spPr>
          <a:xfrm>
            <a:off x="4222376" y="3146613"/>
            <a:ext cx="1515036" cy="34962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53E3C-5645-269A-CCF9-EB8AAD7A6B09}"/>
              </a:ext>
            </a:extLst>
          </p:cNvPr>
          <p:cNvSpPr txBox="1"/>
          <p:nvPr/>
        </p:nvSpPr>
        <p:spPr>
          <a:xfrm>
            <a:off x="1285748" y="5827061"/>
            <a:ext cx="1927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Algorithm of the Accumulator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A35261-E421-375D-50D2-CC23C3F4B149}"/>
              </a:ext>
            </a:extLst>
          </p:cNvPr>
          <p:cNvSpPr/>
          <p:nvPr/>
        </p:nvSpPr>
        <p:spPr>
          <a:xfrm>
            <a:off x="428932" y="1443316"/>
            <a:ext cx="3641044" cy="43209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# Accumulator Algorithm </a:t>
            </a:r>
            <a:r>
              <a:rPr lang="en-IN" sz="1600" b="1" dirty="0"/>
              <a:t>accumulator = 0</a:t>
            </a:r>
            <a:r>
              <a:rPr lang="en-IN" sz="1600" dirty="0"/>
              <a:t> </a:t>
            </a:r>
          </a:p>
          <a:p>
            <a:endParaRPr lang="en-IN" sz="1600" dirty="0"/>
          </a:p>
          <a:p>
            <a:r>
              <a:rPr lang="en-IN" sz="1600" dirty="0"/>
              <a:t># Loop for N data inputs </a:t>
            </a:r>
            <a:r>
              <a:rPr lang="en-IN" sz="1600" b="1" dirty="0" err="1"/>
              <a:t>input_data</a:t>
            </a:r>
            <a:r>
              <a:rPr lang="en-IN" sz="1600" b="1" dirty="0"/>
              <a:t> = </a:t>
            </a:r>
            <a:r>
              <a:rPr lang="en-IN" sz="1600" b="1" dirty="0" err="1"/>
              <a:t>get_input</a:t>
            </a:r>
            <a:r>
              <a:rPr lang="en-IN" sz="1600" b="1" dirty="0"/>
              <a:t>() </a:t>
            </a:r>
            <a:r>
              <a:rPr lang="en-IN" sz="1600" dirty="0"/>
              <a:t># Fetch new data</a:t>
            </a:r>
            <a:r>
              <a:rPr lang="en-IN" sz="1600" b="1" dirty="0"/>
              <a:t> </a:t>
            </a:r>
          </a:p>
          <a:p>
            <a:endParaRPr lang="en-IN" sz="1600" dirty="0"/>
          </a:p>
          <a:p>
            <a:r>
              <a:rPr lang="en-IN" sz="1600" b="1" dirty="0"/>
              <a:t>accumulator += </a:t>
            </a:r>
            <a:r>
              <a:rPr lang="en-IN" sz="1600" b="1" dirty="0" err="1"/>
              <a:t>input_data</a:t>
            </a:r>
            <a:r>
              <a:rPr lang="en-IN" sz="1600" b="1" dirty="0"/>
              <a:t> </a:t>
            </a:r>
            <a:r>
              <a:rPr lang="en-IN" sz="1600" dirty="0"/>
              <a:t># Accumulate (accumulator = accumulator + </a:t>
            </a:r>
            <a:r>
              <a:rPr lang="en-IN" sz="1600" dirty="0" err="1"/>
              <a:t>input_data</a:t>
            </a:r>
            <a:r>
              <a:rPr lang="en-IN" sz="1600" dirty="0"/>
              <a:t>) </a:t>
            </a:r>
          </a:p>
          <a:p>
            <a:endParaRPr lang="en-IN" sz="1600" dirty="0"/>
          </a:p>
          <a:p>
            <a:r>
              <a:rPr lang="en-IN" sz="1600" dirty="0"/>
              <a:t># Output the final accumulated </a:t>
            </a:r>
            <a:r>
              <a:rPr lang="en-IN" sz="1600" b="1" dirty="0"/>
              <a:t>value print(accumulator)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56285C-1822-A4D2-3140-8ABD3F522330}"/>
              </a:ext>
            </a:extLst>
          </p:cNvPr>
          <p:cNvSpPr/>
          <p:nvPr/>
        </p:nvSpPr>
        <p:spPr>
          <a:xfrm>
            <a:off x="7046258" y="2540969"/>
            <a:ext cx="1410463" cy="1544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AE7834-DB9B-CA6F-C158-5038FDE65230}"/>
              </a:ext>
            </a:extLst>
          </p:cNvPr>
          <p:cNvSpPr/>
          <p:nvPr/>
        </p:nvSpPr>
        <p:spPr>
          <a:xfrm>
            <a:off x="9690718" y="2540969"/>
            <a:ext cx="958788" cy="15447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2BE753-086F-EBA4-6A04-AF5A97D838BD}"/>
              </a:ext>
            </a:extLst>
          </p:cNvPr>
          <p:cNvCxnSpPr/>
          <p:nvPr/>
        </p:nvCxnSpPr>
        <p:spPr>
          <a:xfrm>
            <a:off x="5746772" y="2949344"/>
            <a:ext cx="12961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3D27382-0EE2-53C9-5615-701877F572FF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H="1">
            <a:off x="7046258" y="3313327"/>
            <a:ext cx="3603248" cy="12700"/>
          </a:xfrm>
          <a:prstGeom prst="bentConnector5">
            <a:avLst>
              <a:gd name="adj1" fmla="val -6344"/>
              <a:gd name="adj2" fmla="val 7881559"/>
              <a:gd name="adj3" fmla="val 10634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E528DB-F783-1A68-3CED-0230E9D82850}"/>
              </a:ext>
            </a:extLst>
          </p:cNvPr>
          <p:cNvCxnSpPr>
            <a:stCxn id="6" idx="3"/>
          </p:cNvCxnSpPr>
          <p:nvPr/>
        </p:nvCxnSpPr>
        <p:spPr>
          <a:xfrm flipV="1">
            <a:off x="10649506" y="3313326"/>
            <a:ext cx="118073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DC16D7-186D-2718-D329-8C6891407CA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456721" y="3313327"/>
            <a:ext cx="12339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7FCF0C7-B1F4-19D8-1D18-7A2F1D9995E5}"/>
              </a:ext>
            </a:extLst>
          </p:cNvPr>
          <p:cNvCxnSpPr>
            <a:cxnSpLocks/>
          </p:cNvCxnSpPr>
          <p:nvPr/>
        </p:nvCxnSpPr>
        <p:spPr>
          <a:xfrm>
            <a:off x="10383176" y="1901779"/>
            <a:ext cx="0" cy="639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BA6D35-E6EB-76B0-C968-86405B4230A2}"/>
              </a:ext>
            </a:extLst>
          </p:cNvPr>
          <p:cNvCxnSpPr>
            <a:cxnSpLocks/>
          </p:cNvCxnSpPr>
          <p:nvPr/>
        </p:nvCxnSpPr>
        <p:spPr>
          <a:xfrm>
            <a:off x="9939292" y="1901779"/>
            <a:ext cx="0" cy="639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484AB5-839E-43AD-D0F2-D7DACC32D3F2}"/>
              </a:ext>
            </a:extLst>
          </p:cNvPr>
          <p:cNvSpPr txBox="1"/>
          <p:nvPr/>
        </p:nvSpPr>
        <p:spPr>
          <a:xfrm>
            <a:off x="5656903" y="2306112"/>
            <a:ext cx="1296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Input_data</a:t>
            </a:r>
            <a:r>
              <a:rPr lang="en-IN" dirty="0"/>
              <a:t>(4 bits)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AFE2EF-F426-F2F2-BCB2-51400B6A7DA0}"/>
              </a:ext>
            </a:extLst>
          </p:cNvPr>
          <p:cNvSpPr txBox="1"/>
          <p:nvPr/>
        </p:nvSpPr>
        <p:spPr>
          <a:xfrm>
            <a:off x="8230341" y="4334880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dff_out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6A7DC7-DEF7-A2E2-267C-8BB0242AD287}"/>
              </a:ext>
            </a:extLst>
          </p:cNvPr>
          <p:cNvSpPr txBox="1"/>
          <p:nvPr/>
        </p:nvSpPr>
        <p:spPr>
          <a:xfrm>
            <a:off x="8523305" y="2931296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add_out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E90AE4-EE65-4EF7-E867-CC50D6752543}"/>
              </a:ext>
            </a:extLst>
          </p:cNvPr>
          <p:cNvSpPr txBox="1"/>
          <p:nvPr/>
        </p:nvSpPr>
        <p:spPr>
          <a:xfrm>
            <a:off x="11024587" y="2949344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acc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E5F6FB-213C-4B0E-CE8F-DFB4AA8EDB66}"/>
              </a:ext>
            </a:extLst>
          </p:cNvPr>
          <p:cNvSpPr txBox="1"/>
          <p:nvPr/>
        </p:nvSpPr>
        <p:spPr>
          <a:xfrm>
            <a:off x="9690719" y="1553111"/>
            <a:ext cx="56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clk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615D2-126F-5DD1-85DC-FBEEEBE899D9}"/>
              </a:ext>
            </a:extLst>
          </p:cNvPr>
          <p:cNvSpPr txBox="1"/>
          <p:nvPr/>
        </p:nvSpPr>
        <p:spPr>
          <a:xfrm>
            <a:off x="10134602" y="1553111"/>
            <a:ext cx="56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rst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6B53F1-DB71-5588-4F8B-317006592B03}"/>
              </a:ext>
            </a:extLst>
          </p:cNvPr>
          <p:cNvSpPr txBox="1"/>
          <p:nvPr/>
        </p:nvSpPr>
        <p:spPr>
          <a:xfrm>
            <a:off x="8634275" y="3326027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2B1718-CAFD-7178-A97D-9EE42E084EEF}"/>
              </a:ext>
            </a:extLst>
          </p:cNvPr>
          <p:cNvSpPr txBox="1"/>
          <p:nvPr/>
        </p:nvSpPr>
        <p:spPr>
          <a:xfrm>
            <a:off x="8265853" y="4639338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CA762-DA00-F737-ADC9-148E71B8DF25}"/>
              </a:ext>
            </a:extLst>
          </p:cNvPr>
          <p:cNvSpPr txBox="1"/>
          <p:nvPr/>
        </p:nvSpPr>
        <p:spPr>
          <a:xfrm>
            <a:off x="10960223" y="3335522"/>
            <a:ext cx="92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63538-731D-2CC3-2767-F4211C097F89}"/>
              </a:ext>
            </a:extLst>
          </p:cNvPr>
          <p:cNvSpPr/>
          <p:nvPr/>
        </p:nvSpPr>
        <p:spPr>
          <a:xfrm>
            <a:off x="663388" y="2266199"/>
            <a:ext cx="1676400" cy="2407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879CC3-FF64-0612-4D7D-35820A4F68B8}"/>
              </a:ext>
            </a:extLst>
          </p:cNvPr>
          <p:cNvSpPr/>
          <p:nvPr/>
        </p:nvSpPr>
        <p:spPr>
          <a:xfrm>
            <a:off x="9561993" y="1532730"/>
            <a:ext cx="1244959" cy="2664638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BD1EC-1024-A62D-D2C2-C1FE6A90A8B4}"/>
              </a:ext>
            </a:extLst>
          </p:cNvPr>
          <p:cNvSpPr txBox="1"/>
          <p:nvPr/>
        </p:nvSpPr>
        <p:spPr>
          <a:xfrm>
            <a:off x="6589057" y="5124926"/>
            <a:ext cx="4123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Hardware Design Architecture of the Accumulator</a:t>
            </a:r>
          </a:p>
        </p:txBody>
      </p:sp>
    </p:spTree>
    <p:extLst>
      <p:ext uri="{BB962C8B-B14F-4D97-AF65-F5344CB8AC3E}">
        <p14:creationId xmlns:p14="http://schemas.microsoft.com/office/powerpoint/2010/main" val="2994387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042F7612-C28F-8846-A80D-ABF4C02A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7FE9CA1E-8A46-C42E-70B5-05E72A931E03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Architecture Design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7C10AAC-17F3-B163-DE75-71D208F2985D}"/>
              </a:ext>
            </a:extLst>
          </p:cNvPr>
          <p:cNvSpPr/>
          <p:nvPr/>
        </p:nvSpPr>
        <p:spPr>
          <a:xfrm>
            <a:off x="4222376" y="3146613"/>
            <a:ext cx="1515036" cy="34962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29802-9966-A1AE-BFF3-2FCCCD0BC2DD}"/>
              </a:ext>
            </a:extLst>
          </p:cNvPr>
          <p:cNvSpPr txBox="1"/>
          <p:nvPr/>
        </p:nvSpPr>
        <p:spPr>
          <a:xfrm>
            <a:off x="1285748" y="5827061"/>
            <a:ext cx="1927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Algorithm of the Accumulator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67D65E-CCEA-5EA5-92CF-71EC36D0E2C0}"/>
              </a:ext>
            </a:extLst>
          </p:cNvPr>
          <p:cNvSpPr/>
          <p:nvPr/>
        </p:nvSpPr>
        <p:spPr>
          <a:xfrm>
            <a:off x="428932" y="1443316"/>
            <a:ext cx="3641044" cy="43209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# Accumulator Algorithm </a:t>
            </a:r>
            <a:r>
              <a:rPr lang="en-IN" sz="1600" b="1" dirty="0"/>
              <a:t>accumulator = 0</a:t>
            </a:r>
            <a:r>
              <a:rPr lang="en-IN" sz="1600" dirty="0"/>
              <a:t> </a:t>
            </a:r>
          </a:p>
          <a:p>
            <a:endParaRPr lang="en-IN" sz="1600" dirty="0"/>
          </a:p>
          <a:p>
            <a:r>
              <a:rPr lang="en-IN" sz="1600" dirty="0"/>
              <a:t># Loop for N data inputs </a:t>
            </a:r>
            <a:r>
              <a:rPr lang="en-IN" sz="1600" b="1" dirty="0" err="1"/>
              <a:t>input_data</a:t>
            </a:r>
            <a:r>
              <a:rPr lang="en-IN" sz="1600" b="1" dirty="0"/>
              <a:t> = </a:t>
            </a:r>
            <a:r>
              <a:rPr lang="en-IN" sz="1600" b="1" dirty="0" err="1"/>
              <a:t>get_input</a:t>
            </a:r>
            <a:r>
              <a:rPr lang="en-IN" sz="1600" b="1" dirty="0"/>
              <a:t>() </a:t>
            </a:r>
            <a:r>
              <a:rPr lang="en-IN" sz="1600" dirty="0"/>
              <a:t># Fetch new data</a:t>
            </a:r>
            <a:r>
              <a:rPr lang="en-IN" sz="1600" b="1" dirty="0"/>
              <a:t> </a:t>
            </a:r>
          </a:p>
          <a:p>
            <a:endParaRPr lang="en-IN" sz="1600" dirty="0"/>
          </a:p>
          <a:p>
            <a:r>
              <a:rPr lang="en-IN" sz="1600" b="1" dirty="0"/>
              <a:t>accumulator += </a:t>
            </a:r>
            <a:r>
              <a:rPr lang="en-IN" sz="1600" b="1" dirty="0" err="1"/>
              <a:t>input_data</a:t>
            </a:r>
            <a:r>
              <a:rPr lang="en-IN" sz="1600" b="1" dirty="0"/>
              <a:t> </a:t>
            </a:r>
            <a:r>
              <a:rPr lang="en-IN" sz="1600" dirty="0"/>
              <a:t># Accumulate (accumulator = accumulator + </a:t>
            </a:r>
            <a:r>
              <a:rPr lang="en-IN" sz="1600" dirty="0" err="1"/>
              <a:t>input_data</a:t>
            </a:r>
            <a:r>
              <a:rPr lang="en-IN" sz="1600" dirty="0"/>
              <a:t>) </a:t>
            </a:r>
          </a:p>
          <a:p>
            <a:endParaRPr lang="en-IN" sz="1600" dirty="0"/>
          </a:p>
          <a:p>
            <a:r>
              <a:rPr lang="en-IN" sz="1600" dirty="0"/>
              <a:t># Output the final accumulated </a:t>
            </a:r>
            <a:r>
              <a:rPr lang="en-IN" sz="1600" b="1" dirty="0"/>
              <a:t>value print(accumulator)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5883BE-9B48-2112-7769-B65713B393B4}"/>
              </a:ext>
            </a:extLst>
          </p:cNvPr>
          <p:cNvSpPr/>
          <p:nvPr/>
        </p:nvSpPr>
        <p:spPr>
          <a:xfrm>
            <a:off x="7046258" y="2540969"/>
            <a:ext cx="1410463" cy="1544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50825-7098-3883-AF71-CCD2D401A54F}"/>
              </a:ext>
            </a:extLst>
          </p:cNvPr>
          <p:cNvSpPr/>
          <p:nvPr/>
        </p:nvSpPr>
        <p:spPr>
          <a:xfrm>
            <a:off x="9690718" y="2540969"/>
            <a:ext cx="958788" cy="15447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F95E6F-14F0-CC32-4180-C9438C4003D3}"/>
              </a:ext>
            </a:extLst>
          </p:cNvPr>
          <p:cNvCxnSpPr/>
          <p:nvPr/>
        </p:nvCxnSpPr>
        <p:spPr>
          <a:xfrm>
            <a:off x="5746772" y="2949344"/>
            <a:ext cx="12961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9D45FE7-37E5-4D32-8D27-2A292794AE44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H="1">
            <a:off x="7046258" y="3313327"/>
            <a:ext cx="3603248" cy="12700"/>
          </a:xfrm>
          <a:prstGeom prst="bentConnector5">
            <a:avLst>
              <a:gd name="adj1" fmla="val -6344"/>
              <a:gd name="adj2" fmla="val 7881559"/>
              <a:gd name="adj3" fmla="val 10634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32CFE4-B95F-2FDA-DE90-C77B1EC5E176}"/>
              </a:ext>
            </a:extLst>
          </p:cNvPr>
          <p:cNvCxnSpPr>
            <a:stCxn id="6" idx="3"/>
          </p:cNvCxnSpPr>
          <p:nvPr/>
        </p:nvCxnSpPr>
        <p:spPr>
          <a:xfrm flipV="1">
            <a:off x="10649506" y="3313326"/>
            <a:ext cx="118073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D4FD8B-FCDA-F8AE-BAA5-23D5E341E1C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456721" y="3313327"/>
            <a:ext cx="12339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2DBCC3-7470-1B6C-7205-41AC53C88703}"/>
              </a:ext>
            </a:extLst>
          </p:cNvPr>
          <p:cNvCxnSpPr>
            <a:cxnSpLocks/>
          </p:cNvCxnSpPr>
          <p:nvPr/>
        </p:nvCxnSpPr>
        <p:spPr>
          <a:xfrm>
            <a:off x="10383176" y="1901779"/>
            <a:ext cx="0" cy="639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DFB5C19-B539-DABC-B776-C67387335179}"/>
              </a:ext>
            </a:extLst>
          </p:cNvPr>
          <p:cNvCxnSpPr>
            <a:cxnSpLocks/>
          </p:cNvCxnSpPr>
          <p:nvPr/>
        </p:nvCxnSpPr>
        <p:spPr>
          <a:xfrm>
            <a:off x="9939292" y="1901779"/>
            <a:ext cx="0" cy="6391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DB5AAE-3CDC-3CFA-B5EA-1231969F5A48}"/>
              </a:ext>
            </a:extLst>
          </p:cNvPr>
          <p:cNvSpPr txBox="1"/>
          <p:nvPr/>
        </p:nvSpPr>
        <p:spPr>
          <a:xfrm>
            <a:off x="5656903" y="2306112"/>
            <a:ext cx="1296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Input_data</a:t>
            </a:r>
            <a:r>
              <a:rPr lang="en-IN" dirty="0"/>
              <a:t>(4 bits)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CA17F2-0E4D-BC70-C034-C721E1CAC164}"/>
              </a:ext>
            </a:extLst>
          </p:cNvPr>
          <p:cNvSpPr txBox="1"/>
          <p:nvPr/>
        </p:nvSpPr>
        <p:spPr>
          <a:xfrm>
            <a:off x="8230341" y="4334880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dff_out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9DA5C8-A001-299D-FA40-B89074A449E7}"/>
              </a:ext>
            </a:extLst>
          </p:cNvPr>
          <p:cNvSpPr txBox="1"/>
          <p:nvPr/>
        </p:nvSpPr>
        <p:spPr>
          <a:xfrm>
            <a:off x="8523305" y="2931296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add_out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FDD0B-D908-DEF6-B4DA-4A5B22C0FEE9}"/>
              </a:ext>
            </a:extLst>
          </p:cNvPr>
          <p:cNvSpPr txBox="1"/>
          <p:nvPr/>
        </p:nvSpPr>
        <p:spPr>
          <a:xfrm>
            <a:off x="11024587" y="2949344"/>
            <a:ext cx="1167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acc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453C5F-556E-5D79-F476-9EA5DF3B04B9}"/>
              </a:ext>
            </a:extLst>
          </p:cNvPr>
          <p:cNvSpPr txBox="1"/>
          <p:nvPr/>
        </p:nvSpPr>
        <p:spPr>
          <a:xfrm>
            <a:off x="9690719" y="1553111"/>
            <a:ext cx="56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clk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9D516-A846-0725-CD1D-D278B868D2EA}"/>
              </a:ext>
            </a:extLst>
          </p:cNvPr>
          <p:cNvSpPr txBox="1"/>
          <p:nvPr/>
        </p:nvSpPr>
        <p:spPr>
          <a:xfrm>
            <a:off x="10134602" y="1553111"/>
            <a:ext cx="568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rst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7D5AE1-850C-8142-50CA-DEF1EF3450AC}"/>
              </a:ext>
            </a:extLst>
          </p:cNvPr>
          <p:cNvSpPr txBox="1"/>
          <p:nvPr/>
        </p:nvSpPr>
        <p:spPr>
          <a:xfrm>
            <a:off x="8634275" y="3326027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4C1FAF-8A51-C698-1D20-EDE8C80099AD}"/>
              </a:ext>
            </a:extLst>
          </p:cNvPr>
          <p:cNvSpPr txBox="1"/>
          <p:nvPr/>
        </p:nvSpPr>
        <p:spPr>
          <a:xfrm>
            <a:off x="8265853" y="4639338"/>
            <a:ext cx="12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1E0D6B-42F8-0D6F-339F-8F5D0B7F3F28}"/>
              </a:ext>
            </a:extLst>
          </p:cNvPr>
          <p:cNvSpPr txBox="1"/>
          <p:nvPr/>
        </p:nvSpPr>
        <p:spPr>
          <a:xfrm>
            <a:off x="10960223" y="3335522"/>
            <a:ext cx="92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(5 bits)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04FB59-9B26-534B-C600-DF3A8A35EC0B}"/>
              </a:ext>
            </a:extLst>
          </p:cNvPr>
          <p:cNvSpPr/>
          <p:nvPr/>
        </p:nvSpPr>
        <p:spPr>
          <a:xfrm>
            <a:off x="663388" y="2266199"/>
            <a:ext cx="1676400" cy="2407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3CF46F-BD28-EC51-85BF-1EEC76593815}"/>
              </a:ext>
            </a:extLst>
          </p:cNvPr>
          <p:cNvSpPr/>
          <p:nvPr/>
        </p:nvSpPr>
        <p:spPr>
          <a:xfrm>
            <a:off x="9561993" y="1532730"/>
            <a:ext cx="1244959" cy="2664638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8E2A5F-C617-E716-9C72-93FB0AB2E250}"/>
              </a:ext>
            </a:extLst>
          </p:cNvPr>
          <p:cNvSpPr/>
          <p:nvPr/>
        </p:nvSpPr>
        <p:spPr>
          <a:xfrm>
            <a:off x="603743" y="3726741"/>
            <a:ext cx="1610539" cy="2407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816156-7A7C-256B-42A6-D9B9FDCB2B4E}"/>
              </a:ext>
            </a:extLst>
          </p:cNvPr>
          <p:cNvSpPr/>
          <p:nvPr/>
        </p:nvSpPr>
        <p:spPr>
          <a:xfrm>
            <a:off x="6953043" y="2375651"/>
            <a:ext cx="1610539" cy="1847542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4FCBAB-ED13-AED1-F142-9AE1FBA7DA9F}"/>
              </a:ext>
            </a:extLst>
          </p:cNvPr>
          <p:cNvSpPr txBox="1"/>
          <p:nvPr/>
        </p:nvSpPr>
        <p:spPr>
          <a:xfrm>
            <a:off x="6589057" y="5124926"/>
            <a:ext cx="4123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Hardware Design Architecture of the Accumulator</a:t>
            </a:r>
          </a:p>
        </p:txBody>
      </p:sp>
    </p:spTree>
    <p:extLst>
      <p:ext uri="{BB962C8B-B14F-4D97-AF65-F5344CB8AC3E}">
        <p14:creationId xmlns:p14="http://schemas.microsoft.com/office/powerpoint/2010/main" val="103090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C562CC34-B624-8D35-3360-4FE69BE44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9E765764-1A43-54D9-0685-87553A5FE6BC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Architecture Design 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AB7CF1C-EA37-83C6-8C19-8418A5AAEB3E}"/>
              </a:ext>
            </a:extLst>
          </p:cNvPr>
          <p:cNvSpPr/>
          <p:nvPr/>
        </p:nvSpPr>
        <p:spPr>
          <a:xfrm>
            <a:off x="4222376" y="3146613"/>
            <a:ext cx="1515036" cy="34962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6707F-C621-67E7-F85A-3B71AD13E166}"/>
              </a:ext>
            </a:extLst>
          </p:cNvPr>
          <p:cNvSpPr txBox="1"/>
          <p:nvPr/>
        </p:nvSpPr>
        <p:spPr>
          <a:xfrm>
            <a:off x="1285748" y="5827061"/>
            <a:ext cx="1927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Algorithm of the Accumulator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E1D618-CEE8-631B-76B3-599C26EA2116}"/>
              </a:ext>
            </a:extLst>
          </p:cNvPr>
          <p:cNvSpPr txBox="1"/>
          <p:nvPr/>
        </p:nvSpPr>
        <p:spPr>
          <a:xfrm>
            <a:off x="6589057" y="5124926"/>
            <a:ext cx="4123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Hardware Design Architecture of the Accumulator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0B07E3-AE8E-204A-6307-E60980364D49}"/>
              </a:ext>
            </a:extLst>
          </p:cNvPr>
          <p:cNvSpPr/>
          <p:nvPr/>
        </p:nvSpPr>
        <p:spPr>
          <a:xfrm>
            <a:off x="428932" y="1443316"/>
            <a:ext cx="3641044" cy="432099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/>
              <a:t># Accumulator Algorithm </a:t>
            </a:r>
            <a:r>
              <a:rPr lang="en-IN" sz="1600" b="1" dirty="0"/>
              <a:t>accumulator = 0</a:t>
            </a:r>
            <a:r>
              <a:rPr lang="en-IN" sz="1600" dirty="0"/>
              <a:t> </a:t>
            </a:r>
          </a:p>
          <a:p>
            <a:endParaRPr lang="en-IN" sz="1600" dirty="0"/>
          </a:p>
          <a:p>
            <a:r>
              <a:rPr lang="en-IN" sz="1600" dirty="0"/>
              <a:t># Loop for N data inputs </a:t>
            </a:r>
            <a:r>
              <a:rPr lang="en-IN" sz="1600" b="1" dirty="0" err="1"/>
              <a:t>input_data</a:t>
            </a:r>
            <a:r>
              <a:rPr lang="en-IN" sz="1600" b="1" dirty="0"/>
              <a:t> = </a:t>
            </a:r>
            <a:r>
              <a:rPr lang="en-IN" sz="1600" b="1" dirty="0" err="1"/>
              <a:t>get_input</a:t>
            </a:r>
            <a:r>
              <a:rPr lang="en-IN" sz="1600" b="1" dirty="0"/>
              <a:t>() </a:t>
            </a:r>
            <a:r>
              <a:rPr lang="en-IN" sz="1600" dirty="0"/>
              <a:t># Fetch new data</a:t>
            </a:r>
            <a:r>
              <a:rPr lang="en-IN" sz="1600" b="1" dirty="0"/>
              <a:t> </a:t>
            </a:r>
          </a:p>
          <a:p>
            <a:endParaRPr lang="en-IN" sz="1600" dirty="0"/>
          </a:p>
          <a:p>
            <a:r>
              <a:rPr lang="en-IN" sz="1600" b="1" dirty="0"/>
              <a:t>accumulator += </a:t>
            </a:r>
            <a:r>
              <a:rPr lang="en-IN" sz="1600" b="1" dirty="0" err="1"/>
              <a:t>input_data</a:t>
            </a:r>
            <a:r>
              <a:rPr lang="en-IN" sz="1600" b="1" dirty="0"/>
              <a:t> </a:t>
            </a:r>
            <a:r>
              <a:rPr lang="en-IN" sz="1600" dirty="0"/>
              <a:t># Accumulate (accumulator = accumulator + </a:t>
            </a:r>
            <a:r>
              <a:rPr lang="en-IN" sz="1600" dirty="0" err="1"/>
              <a:t>input_data</a:t>
            </a:r>
            <a:r>
              <a:rPr lang="en-IN" sz="1600" dirty="0"/>
              <a:t>) </a:t>
            </a:r>
          </a:p>
          <a:p>
            <a:endParaRPr lang="en-IN" sz="1600" dirty="0"/>
          </a:p>
          <a:p>
            <a:r>
              <a:rPr lang="en-IN" sz="1600" dirty="0"/>
              <a:t># Output the final accumulated </a:t>
            </a:r>
            <a:r>
              <a:rPr lang="en-IN" sz="1600" b="1" dirty="0"/>
              <a:t>value print(accumulator)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5666CB-755A-BBD8-48F2-54F0ED0F276D}"/>
              </a:ext>
            </a:extLst>
          </p:cNvPr>
          <p:cNvSpPr/>
          <p:nvPr/>
        </p:nvSpPr>
        <p:spPr>
          <a:xfrm>
            <a:off x="663388" y="2266199"/>
            <a:ext cx="1676400" cy="2407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CD26F-5297-852D-0889-C9D1CB09CEFF}"/>
              </a:ext>
            </a:extLst>
          </p:cNvPr>
          <p:cNvSpPr/>
          <p:nvPr/>
        </p:nvSpPr>
        <p:spPr>
          <a:xfrm>
            <a:off x="603743" y="3726741"/>
            <a:ext cx="1610539" cy="2407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FAB528-D253-B59E-C833-99FD7586B1A1}"/>
              </a:ext>
            </a:extLst>
          </p:cNvPr>
          <p:cNvSpPr/>
          <p:nvPr/>
        </p:nvSpPr>
        <p:spPr>
          <a:xfrm>
            <a:off x="6714564" y="1801906"/>
            <a:ext cx="3641045" cy="30031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78E27B-1108-FE68-AFF2-403003222894}"/>
              </a:ext>
            </a:extLst>
          </p:cNvPr>
          <p:cNvSpPr txBox="1"/>
          <p:nvPr/>
        </p:nvSpPr>
        <p:spPr>
          <a:xfrm>
            <a:off x="7244168" y="1867481"/>
            <a:ext cx="2581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Accumulator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FB3E05E-4757-A9BC-929E-A0940E436812}"/>
              </a:ext>
            </a:extLst>
          </p:cNvPr>
          <p:cNvSpPr/>
          <p:nvPr/>
        </p:nvSpPr>
        <p:spPr>
          <a:xfrm>
            <a:off x="7046258" y="2540969"/>
            <a:ext cx="1410463" cy="15447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Adder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1427C1-6C11-C617-8270-94110ED8348D}"/>
              </a:ext>
            </a:extLst>
          </p:cNvPr>
          <p:cNvSpPr/>
          <p:nvPr/>
        </p:nvSpPr>
        <p:spPr>
          <a:xfrm>
            <a:off x="8954479" y="2531136"/>
            <a:ext cx="958788" cy="15447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1E62F6D-5E00-EB36-3D97-DD66F10EDB47}"/>
              </a:ext>
            </a:extLst>
          </p:cNvPr>
          <p:cNvCxnSpPr>
            <a:cxnSpLocks/>
          </p:cNvCxnSpPr>
          <p:nvPr/>
        </p:nvCxnSpPr>
        <p:spPr>
          <a:xfrm>
            <a:off x="5746772" y="2949344"/>
            <a:ext cx="9677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49704CC-5A05-8646-31FD-744E659FAD16}"/>
              </a:ext>
            </a:extLst>
          </p:cNvPr>
          <p:cNvSpPr txBox="1"/>
          <p:nvPr/>
        </p:nvSpPr>
        <p:spPr>
          <a:xfrm>
            <a:off x="5656128" y="2386592"/>
            <a:ext cx="1057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Input_data</a:t>
            </a:r>
            <a:r>
              <a:rPr lang="en-IN" sz="1400" dirty="0"/>
              <a:t>(4 bits)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3A6D412-508D-C841-EAC4-26E05A6DA4E8}"/>
              </a:ext>
            </a:extLst>
          </p:cNvPr>
          <p:cNvCxnSpPr>
            <a:cxnSpLocks/>
          </p:cNvCxnSpPr>
          <p:nvPr/>
        </p:nvCxnSpPr>
        <p:spPr>
          <a:xfrm>
            <a:off x="5746772" y="3600149"/>
            <a:ext cx="9677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7861F7A-2978-FC1A-EFAA-E97DBE80A1B8}"/>
              </a:ext>
            </a:extLst>
          </p:cNvPr>
          <p:cNvSpPr txBox="1"/>
          <p:nvPr/>
        </p:nvSpPr>
        <p:spPr>
          <a:xfrm>
            <a:off x="5686732" y="3254475"/>
            <a:ext cx="1057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clk</a:t>
            </a:r>
            <a:endParaRPr lang="en-IN" sz="1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6E7A47-E6ED-04C3-A1F3-3F47637DDB62}"/>
              </a:ext>
            </a:extLst>
          </p:cNvPr>
          <p:cNvCxnSpPr>
            <a:cxnSpLocks/>
          </p:cNvCxnSpPr>
          <p:nvPr/>
        </p:nvCxnSpPr>
        <p:spPr>
          <a:xfrm>
            <a:off x="5746772" y="4221563"/>
            <a:ext cx="9677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015A727-545E-BEDA-DBAE-05CD37066619}"/>
              </a:ext>
            </a:extLst>
          </p:cNvPr>
          <p:cNvSpPr txBox="1"/>
          <p:nvPr/>
        </p:nvSpPr>
        <p:spPr>
          <a:xfrm>
            <a:off x="5686732" y="3875889"/>
            <a:ext cx="1057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rst</a:t>
            </a:r>
            <a:endParaRPr lang="en-IN" sz="14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BB5B9B1-C588-0FA2-0095-63C25A16EEC1}"/>
              </a:ext>
            </a:extLst>
          </p:cNvPr>
          <p:cNvCxnSpPr>
            <a:cxnSpLocks/>
          </p:cNvCxnSpPr>
          <p:nvPr/>
        </p:nvCxnSpPr>
        <p:spPr>
          <a:xfrm>
            <a:off x="10334747" y="3310033"/>
            <a:ext cx="9677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3FDB329-561F-9F58-9FE9-561D43BF95AE}"/>
              </a:ext>
            </a:extLst>
          </p:cNvPr>
          <p:cNvSpPr txBox="1"/>
          <p:nvPr/>
        </p:nvSpPr>
        <p:spPr>
          <a:xfrm>
            <a:off x="10274707" y="2964359"/>
            <a:ext cx="1057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 err="1"/>
              <a:t>acc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1200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BB516528-B481-2DB5-237F-CC9A5B89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51F86336-60F1-3B82-EDC0-3B619B5A914D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Datapath Element Design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CBD823-5110-D900-6DBB-35C1C2CBD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70" y="1981146"/>
            <a:ext cx="5621917" cy="1932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4FB7A8-E1EA-EB30-D9BC-84D5CCE36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39" y="695277"/>
            <a:ext cx="5183695" cy="3011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6FFC8F-60A0-1E31-8FD8-DA12F9200828}"/>
              </a:ext>
            </a:extLst>
          </p:cNvPr>
          <p:cNvSpPr txBox="1"/>
          <p:nvPr/>
        </p:nvSpPr>
        <p:spPr>
          <a:xfrm>
            <a:off x="1691219" y="3913679"/>
            <a:ext cx="3600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Ripple Carry Adder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13D78C-87F3-659B-2A50-3CE12A36E264}"/>
              </a:ext>
            </a:extLst>
          </p:cNvPr>
          <p:cNvSpPr txBox="1"/>
          <p:nvPr/>
        </p:nvSpPr>
        <p:spPr>
          <a:xfrm>
            <a:off x="7482419" y="3913679"/>
            <a:ext cx="3600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Carry Look Ahead Adder</a:t>
            </a:r>
          </a:p>
        </p:txBody>
      </p:sp>
    </p:spTree>
    <p:extLst>
      <p:ext uri="{BB962C8B-B14F-4D97-AF65-F5344CB8AC3E}">
        <p14:creationId xmlns:p14="http://schemas.microsoft.com/office/powerpoint/2010/main" val="54045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68BFF4C1-DD90-ED1D-ADBC-688BF456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9A1C4D14-65FC-4617-87D6-BBF49C44FA4B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Datapath Element Design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2581AD-E083-5A30-4F88-013C08A8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70" y="1981146"/>
            <a:ext cx="5621917" cy="1932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BEEE58-C080-367A-AF7D-44128B5C3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39" y="695277"/>
            <a:ext cx="5183695" cy="3011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8D3762-E1F9-2D4A-5BE3-347B72088E56}"/>
              </a:ext>
            </a:extLst>
          </p:cNvPr>
          <p:cNvSpPr txBox="1"/>
          <p:nvPr/>
        </p:nvSpPr>
        <p:spPr>
          <a:xfrm>
            <a:off x="1691219" y="3913679"/>
            <a:ext cx="3600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Ripple Carry Adder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B4DDF-DDA1-AC02-1CE5-20B73EC4CD5D}"/>
              </a:ext>
            </a:extLst>
          </p:cNvPr>
          <p:cNvSpPr txBox="1"/>
          <p:nvPr/>
        </p:nvSpPr>
        <p:spPr>
          <a:xfrm>
            <a:off x="7482419" y="3913679"/>
            <a:ext cx="3600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Carry Look Ahead Adder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ADD26-890D-32D2-9DA9-72E9FC3917BD}"/>
              </a:ext>
            </a:extLst>
          </p:cNvPr>
          <p:cNvSpPr txBox="1"/>
          <p:nvPr/>
        </p:nvSpPr>
        <p:spPr>
          <a:xfrm>
            <a:off x="6484753" y="4567095"/>
            <a:ext cx="5869657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532" marR="0" lvl="2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709" marR="0" lvl="3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5886" marR="0" lvl="4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062" marR="0" lvl="5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240" marR="0" lvl="6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418" marR="0" lvl="7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594" marR="0" lvl="8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Pros</a:t>
            </a:r>
            <a:r>
              <a:rPr lang="en-US" sz="1800" dirty="0"/>
              <a:t>:</a:t>
            </a:r>
          </a:p>
          <a:p>
            <a:r>
              <a:rPr lang="en-US" sz="1800" dirty="0"/>
              <a:t>Much faster than RCA, especially for wide adders.</a:t>
            </a:r>
          </a:p>
          <a:p>
            <a:r>
              <a:rPr lang="en-US" sz="1800" dirty="0"/>
              <a:t>Parallel carry computation reduces critical path delay.</a:t>
            </a:r>
          </a:p>
          <a:p>
            <a:pPr marL="0" indent="0">
              <a:buNone/>
            </a:pPr>
            <a:r>
              <a:rPr lang="en-US" sz="1800" b="1" dirty="0"/>
              <a:t>Cons</a:t>
            </a:r>
            <a:r>
              <a:rPr lang="en-US" sz="1800" dirty="0"/>
              <a:t>:</a:t>
            </a:r>
          </a:p>
          <a:p>
            <a:r>
              <a:rPr lang="en-US" sz="1800" dirty="0"/>
              <a:t>More complex design (requires additional logic for generate/propagate).</a:t>
            </a:r>
          </a:p>
          <a:p>
            <a:r>
              <a:rPr lang="en-US" sz="1800" dirty="0"/>
              <a:t>Higher area and power consumption due to extra gates.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6E51AD-0551-CBE9-AE33-2A8D278D24E2}"/>
              </a:ext>
            </a:extLst>
          </p:cNvPr>
          <p:cNvSpPr txBox="1"/>
          <p:nvPr/>
        </p:nvSpPr>
        <p:spPr>
          <a:xfrm>
            <a:off x="181519" y="4545137"/>
            <a:ext cx="621928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532" marR="0" lvl="2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709" marR="0" lvl="3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5886" marR="0" lvl="4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062" marR="0" lvl="5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240" marR="0" lvl="6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418" marR="0" lvl="7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594" marR="0" lvl="8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Pros</a:t>
            </a:r>
            <a:r>
              <a:rPr lang="en-US" sz="1800" dirty="0"/>
              <a:t>:</a:t>
            </a:r>
          </a:p>
          <a:p>
            <a:r>
              <a:rPr lang="en-US" sz="1800" dirty="0"/>
              <a:t>Simple design and easy to implement.</a:t>
            </a:r>
          </a:p>
          <a:p>
            <a:r>
              <a:rPr lang="en-US" sz="1800" dirty="0"/>
              <a:t>Low area and power consumption for small bit-width adders.</a:t>
            </a:r>
          </a:p>
          <a:p>
            <a:pPr marL="0" indent="0">
              <a:buNone/>
            </a:pPr>
            <a:r>
              <a:rPr lang="en-US" sz="1800" b="1" dirty="0"/>
              <a:t>Cons</a:t>
            </a:r>
            <a:r>
              <a:rPr lang="en-US" sz="1800" dirty="0"/>
              <a:t>:</a:t>
            </a:r>
          </a:p>
          <a:p>
            <a:r>
              <a:rPr lang="en-US" sz="1800" dirty="0"/>
              <a:t>Slow for large bit-widths due to the sequential carry propagation (linear delay).</a:t>
            </a:r>
          </a:p>
          <a:p>
            <a:r>
              <a:rPr lang="en-US" sz="1800" dirty="0"/>
              <a:t>Propagation Delay: Increases linearly with the number of bits.</a:t>
            </a:r>
          </a:p>
        </p:txBody>
      </p:sp>
    </p:spTree>
    <p:extLst>
      <p:ext uri="{BB962C8B-B14F-4D97-AF65-F5344CB8AC3E}">
        <p14:creationId xmlns:p14="http://schemas.microsoft.com/office/powerpoint/2010/main" val="105440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D949815B-740C-EA56-AB06-C81C6455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8A5F1051-A974-D934-B54B-BD4A8931D761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dirty="0"/>
              <a:t>Datapath Element Design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D722D-8FC8-9237-B7B0-04DF48056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70" y="1981146"/>
            <a:ext cx="5621917" cy="1932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AE9D3C-7FA4-9049-6FAA-3AD44E3E5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39" y="695277"/>
            <a:ext cx="5183695" cy="3011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C9283C-800D-BE70-A243-775BBDFC7720}"/>
              </a:ext>
            </a:extLst>
          </p:cNvPr>
          <p:cNvSpPr txBox="1"/>
          <p:nvPr/>
        </p:nvSpPr>
        <p:spPr>
          <a:xfrm>
            <a:off x="1691219" y="3913679"/>
            <a:ext cx="3600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Ripple Carry Adder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CB478-7D37-A79C-48A2-2E0717C2B485}"/>
              </a:ext>
            </a:extLst>
          </p:cNvPr>
          <p:cNvSpPr txBox="1"/>
          <p:nvPr/>
        </p:nvSpPr>
        <p:spPr>
          <a:xfrm>
            <a:off x="7482419" y="3913679"/>
            <a:ext cx="3600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002060"/>
                </a:solidFill>
              </a:rPr>
              <a:t>Carry Look Ahead Adder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DE02B-40E6-428F-B1E1-754D5529849F}"/>
              </a:ext>
            </a:extLst>
          </p:cNvPr>
          <p:cNvSpPr txBox="1"/>
          <p:nvPr/>
        </p:nvSpPr>
        <p:spPr>
          <a:xfrm>
            <a:off x="6484753" y="4567095"/>
            <a:ext cx="5869657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532" marR="0" lvl="2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709" marR="0" lvl="3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5886" marR="0" lvl="4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062" marR="0" lvl="5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240" marR="0" lvl="6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418" marR="0" lvl="7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594" marR="0" lvl="8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Pros</a:t>
            </a:r>
            <a:r>
              <a:rPr lang="en-US" sz="1800" dirty="0"/>
              <a:t>:</a:t>
            </a:r>
          </a:p>
          <a:p>
            <a:r>
              <a:rPr lang="en-US" sz="1800" dirty="0"/>
              <a:t>Much faster than RCA, especially for wide adders.</a:t>
            </a:r>
          </a:p>
          <a:p>
            <a:r>
              <a:rPr lang="en-US" sz="1800" dirty="0"/>
              <a:t>Parallel carry computation reduces critical path delay.</a:t>
            </a:r>
          </a:p>
          <a:p>
            <a:pPr marL="0" indent="0">
              <a:buNone/>
            </a:pPr>
            <a:r>
              <a:rPr lang="en-US" sz="1800" b="1" dirty="0"/>
              <a:t>Cons</a:t>
            </a:r>
            <a:r>
              <a:rPr lang="en-US" sz="1800" dirty="0"/>
              <a:t>:</a:t>
            </a:r>
          </a:p>
          <a:p>
            <a:r>
              <a:rPr lang="en-US" sz="1800" dirty="0"/>
              <a:t>More complex design (requires additional logic for generate/propagate).</a:t>
            </a:r>
          </a:p>
          <a:p>
            <a:r>
              <a:rPr lang="en-US" sz="1800" dirty="0"/>
              <a:t>Higher area and power consumption due to extra gates.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3C98D-8E3D-9F4C-5268-A400987FEAF3}"/>
              </a:ext>
            </a:extLst>
          </p:cNvPr>
          <p:cNvSpPr txBox="1"/>
          <p:nvPr/>
        </p:nvSpPr>
        <p:spPr>
          <a:xfrm>
            <a:off x="181519" y="4545137"/>
            <a:ext cx="621928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532" marR="0" lvl="2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709" marR="0" lvl="3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5886" marR="0" lvl="4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062" marR="0" lvl="5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240" marR="0" lvl="6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418" marR="0" lvl="7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594" marR="0" lvl="8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Pros</a:t>
            </a:r>
            <a:r>
              <a:rPr lang="en-US" sz="1800" dirty="0"/>
              <a:t>:</a:t>
            </a:r>
          </a:p>
          <a:p>
            <a:r>
              <a:rPr lang="en-US" sz="1800" dirty="0"/>
              <a:t>Simple design and easy to implement.</a:t>
            </a:r>
          </a:p>
          <a:p>
            <a:r>
              <a:rPr lang="en-US" sz="1800" dirty="0"/>
              <a:t>Low area and power consumption for small bit-width adders.</a:t>
            </a:r>
          </a:p>
          <a:p>
            <a:pPr marL="0" indent="0">
              <a:buNone/>
            </a:pPr>
            <a:r>
              <a:rPr lang="en-US" sz="1800" b="1" dirty="0"/>
              <a:t>Cons</a:t>
            </a:r>
            <a:r>
              <a:rPr lang="en-US" sz="1800" dirty="0"/>
              <a:t>:</a:t>
            </a:r>
          </a:p>
          <a:p>
            <a:r>
              <a:rPr lang="en-US" sz="1800" dirty="0"/>
              <a:t>Slow for large bit-widths due to the sequential carry propagation (linear delay).</a:t>
            </a:r>
          </a:p>
          <a:p>
            <a:r>
              <a:rPr lang="en-US" sz="1800" dirty="0"/>
              <a:t>Propagation Delay: Increases linearly with the number of bits.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174CA1-2B87-0081-E9F5-E9155D25BB91}"/>
              </a:ext>
            </a:extLst>
          </p:cNvPr>
          <p:cNvSpPr/>
          <p:nvPr/>
        </p:nvSpPr>
        <p:spPr>
          <a:xfrm>
            <a:off x="496166" y="2701631"/>
            <a:ext cx="5904635" cy="46290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2F96E0-888C-2FC9-D6E0-60C669756930}"/>
              </a:ext>
            </a:extLst>
          </p:cNvPr>
          <p:cNvSpPr/>
          <p:nvPr/>
        </p:nvSpPr>
        <p:spPr>
          <a:xfrm>
            <a:off x="7584141" y="2788965"/>
            <a:ext cx="3498295" cy="37557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766CDF-8BCE-EE2E-4927-13704CDD4A28}"/>
              </a:ext>
            </a:extLst>
          </p:cNvPr>
          <p:cNvCxnSpPr/>
          <p:nvPr/>
        </p:nvCxnSpPr>
        <p:spPr>
          <a:xfrm>
            <a:off x="5979459" y="3164540"/>
            <a:ext cx="636494" cy="8247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0C6771-E2AC-5663-F7E8-FC67FB9EA799}"/>
              </a:ext>
            </a:extLst>
          </p:cNvPr>
          <p:cNvCxnSpPr>
            <a:cxnSpLocks/>
          </p:cNvCxnSpPr>
          <p:nvPr/>
        </p:nvCxnSpPr>
        <p:spPr>
          <a:xfrm flipH="1">
            <a:off x="6799733" y="3164540"/>
            <a:ext cx="825072" cy="8247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AD27D98-D88C-AE2D-CDA6-8E233B474573}"/>
              </a:ext>
            </a:extLst>
          </p:cNvPr>
          <p:cNvSpPr txBox="1"/>
          <p:nvPr/>
        </p:nvSpPr>
        <p:spPr>
          <a:xfrm>
            <a:off x="5973922" y="3989294"/>
            <a:ext cx="144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rgbClr val="C00000"/>
                </a:solidFill>
              </a:rPr>
              <a:t>Critical Path</a:t>
            </a:r>
          </a:p>
        </p:txBody>
      </p:sp>
    </p:spTree>
    <p:extLst>
      <p:ext uri="{BB962C8B-B14F-4D97-AF65-F5344CB8AC3E}">
        <p14:creationId xmlns:p14="http://schemas.microsoft.com/office/powerpoint/2010/main" val="59458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D949815B-740C-EA56-AB06-C81C6455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89CCAB2-78D4-40BB-8DBD-89D5789E0392}"/>
              </a:ext>
            </a:extLst>
          </p:cNvPr>
          <p:cNvSpPr txBox="1"/>
          <p:nvPr/>
        </p:nvSpPr>
        <p:spPr>
          <a:xfrm>
            <a:off x="428932" y="1332154"/>
            <a:ext cx="6621953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532" marR="0" lvl="2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709" marR="0" lvl="3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5886" marR="0" lvl="4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062" marR="0" lvl="5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240" marR="0" lvl="6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418" marR="0" lvl="7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594" marR="0" lvl="8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nn-NO" sz="1800" dirty="0"/>
              <a:t>For each bit i (i = 0 to 3):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A[i], B[i]: Input bits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G[i] = A[i] · B[i] → Generate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P[i] = A[i] ⊕ B[i] → Propagate</a:t>
            </a:r>
            <a:endParaRPr lang="en-US" sz="1800" dirty="0"/>
          </a:p>
        </p:txBody>
      </p:sp>
      <p:sp>
        <p:nvSpPr>
          <p:cNvPr id="19" name="Google Shape;988;p89">
            <a:extLst>
              <a:ext uri="{FF2B5EF4-FFF2-40B4-BE49-F238E27FC236}">
                <a16:creationId xmlns:a16="http://schemas.microsoft.com/office/drawing/2014/main" id="{37284CAA-5585-4F3E-8CE0-36B126FAD64C}"/>
              </a:ext>
            </a:extLst>
          </p:cNvPr>
          <p:cNvSpPr txBox="1"/>
          <p:nvPr/>
        </p:nvSpPr>
        <p:spPr>
          <a:xfrm>
            <a:off x="428932" y="511960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IN" dirty="0"/>
              <a:t>CLA Carry Equations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95A9FE-3C16-4B76-B68E-4D5F401F7599}"/>
              </a:ext>
            </a:extLst>
          </p:cNvPr>
          <p:cNvSpPr txBox="1"/>
          <p:nvPr/>
        </p:nvSpPr>
        <p:spPr>
          <a:xfrm>
            <a:off x="428932" y="3760757"/>
            <a:ext cx="1031736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285750" marR="0" lvl="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ts val="18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914354" marR="0" lvl="1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532" marR="0" lvl="2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709" marR="0" lvl="3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5886" marR="0" lvl="4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062" marR="0" lvl="5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240" marR="0" lvl="6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418" marR="0" lvl="7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594" marR="0" lvl="8" indent="-31748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</a:pPr>
            <a:r>
              <a:rPr lang="nn-NO" sz="1800" dirty="0"/>
              <a:t>Given C0 as the input carry: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C1 = G0 + (P0 · C0)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C2 = G1 + (P1 · G0) + (P1 · P0 · C0)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C3 = G2 + (P2 · G1) + (P2 · P1 · G0) + (P2 · P1 · P0 · C0)</a:t>
            </a:r>
          </a:p>
          <a:p>
            <a:pPr marL="0" indent="0">
              <a:buNone/>
            </a:pPr>
            <a:endParaRPr lang="nn-NO" sz="1800" dirty="0"/>
          </a:p>
          <a:p>
            <a:pPr marL="0" indent="0">
              <a:buNone/>
            </a:pPr>
            <a:r>
              <a:rPr lang="nn-NO" sz="1800" dirty="0"/>
              <a:t>C4 = G3 + (P3 · G2) + (P3 · P2 · G1) + (P3 · P2 · P1 · G0) + (P3 · P2 · P1 · P0 · C0)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8360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14000"/>
    </mc:Choice>
    <mc:Fallback xmlns="">
      <p:transition advClick="0" advTm="14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706C6AE-CF6B-930D-6FA0-4A62CC307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7527" y="274638"/>
            <a:ext cx="6172200" cy="7921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How Are Simulators Used?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97603CC-F0A6-21A1-45FC-E64C0B6A5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563" y="1600201"/>
            <a:ext cx="8229600" cy="452596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85763" indent="-385763"/>
            <a:r>
              <a:rPr lang="en-US" altLang="en-US"/>
              <a:t>Testbench generates stimulus and checks response</a:t>
            </a:r>
          </a:p>
          <a:p>
            <a:pPr marL="385763" indent="-385763"/>
            <a:r>
              <a:rPr lang="en-US" altLang="en-US"/>
              <a:t>Coupled to model of the system</a:t>
            </a:r>
          </a:p>
          <a:p>
            <a:pPr marL="385763" indent="-385763"/>
            <a:r>
              <a:rPr lang="en-US" altLang="en-US"/>
              <a:t>Pair is run simultaneously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6A1A19C6-B21E-007A-6461-CDC2CD913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163" y="3048000"/>
            <a:ext cx="2133600" cy="281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Testbench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5B663239-F88A-8D8B-B6B1-933118ECB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3963" y="3048000"/>
            <a:ext cx="2133600" cy="281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System Model</a:t>
            </a:r>
          </a:p>
        </p:txBody>
      </p:sp>
      <p:sp>
        <p:nvSpPr>
          <p:cNvPr id="40966" name="Line 6">
            <a:extLst>
              <a:ext uri="{FF2B5EF4-FFF2-40B4-BE49-F238E27FC236}">
                <a16:creationId xmlns:a16="http://schemas.microsoft.com/office/drawing/2014/main" id="{ACE2D5FD-EA1C-3991-A147-58746D687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2763" y="3733800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67" name="Line 7">
            <a:extLst>
              <a:ext uri="{FF2B5EF4-FFF2-40B4-BE49-F238E27FC236}">
                <a16:creationId xmlns:a16="http://schemas.microsoft.com/office/drawing/2014/main" id="{E6E55321-25A2-EBBD-C93B-CB116374B0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2763" y="5257800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68" name="Text Box 8">
            <a:extLst>
              <a:ext uri="{FF2B5EF4-FFF2-40B4-BE49-F238E27FC236}">
                <a16:creationId xmlns:a16="http://schemas.microsoft.com/office/drawing/2014/main" id="{6CC4F431-8D88-4D9B-703D-9E10C32CE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7563" y="3352800"/>
            <a:ext cx="1524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Stimulus</a:t>
            </a:r>
          </a:p>
        </p:txBody>
      </p:sp>
      <p:sp>
        <p:nvSpPr>
          <p:cNvPr id="40969" name="Text Box 9">
            <a:extLst>
              <a:ext uri="{FF2B5EF4-FFF2-40B4-BE49-F238E27FC236}">
                <a16:creationId xmlns:a16="http://schemas.microsoft.com/office/drawing/2014/main" id="{E9D437A1-EB40-C1F3-E59A-D1A1B13B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363" y="4800600"/>
            <a:ext cx="152400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Response</a:t>
            </a:r>
          </a:p>
        </p:txBody>
      </p:sp>
      <p:sp>
        <p:nvSpPr>
          <p:cNvPr id="40970" name="Text Box 10">
            <a:extLst>
              <a:ext uri="{FF2B5EF4-FFF2-40B4-BE49-F238E27FC236}">
                <a16:creationId xmlns:a16="http://schemas.microsoft.com/office/drawing/2014/main" id="{AA9FB2F0-1FE0-CD94-D17D-CED7BB93C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563" y="5029200"/>
            <a:ext cx="1371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en-US" sz="2000"/>
              <a:t>Result checker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nimBg="1"/>
      <p:bldP spid="40965" grpId="0" animBg="1"/>
      <p:bldP spid="40968" grpId="0"/>
      <p:bldP spid="40969" grpId="0"/>
      <p:bldP spid="4097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B808957-2F5A-DBFA-08B0-277F92F69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8563" y="246529"/>
            <a:ext cx="9368119" cy="1219200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4000" dirty="0"/>
              <a:t>Looking back at our multiplexer</a:t>
            </a:r>
          </a:p>
        </p:txBody>
      </p:sp>
      <p:sp>
        <p:nvSpPr>
          <p:cNvPr id="44035" name="Rectangle 5">
            <a:extLst>
              <a:ext uri="{FF2B5EF4-FFF2-40B4-BE49-F238E27FC236}">
                <a16:creationId xmlns:a16="http://schemas.microsoft.com/office/drawing/2014/main" id="{BE638A08-65F6-40F0-9E97-B0D7D6B7C33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618563" y="1783977"/>
            <a:ext cx="8077200" cy="4191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20000"/>
              </a:lnSpc>
            </a:pPr>
            <a:endParaRPr lang="en-US" altLang="en-US" dirty="0"/>
          </a:p>
          <a:p>
            <a:pPr eaLnBrk="1" hangingPunct="1">
              <a:lnSpc>
                <a:spcPct val="20000"/>
              </a:lnSpc>
            </a:pPr>
            <a:r>
              <a:rPr lang="en-US" altLang="en-US" dirty="0"/>
              <a:t>“Dataflow” Descriptions of Logic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//Dataflow description of mux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module mux2 (in0, in1, select, out);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input in0,in1,select;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output out;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assign out = (~select &amp; in0) 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		    | (select &amp; in1);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 err="1">
                <a:latin typeface="Courier New" panose="02070309020205020404" pitchFamily="49" charset="0"/>
              </a:rPr>
              <a:t>endmodule</a:t>
            </a:r>
            <a:r>
              <a:rPr lang="en-US" altLang="en-US" dirty="0">
                <a:latin typeface="Courier New" panose="02070309020205020404" pitchFamily="49" charset="0"/>
              </a:rPr>
              <a:t> // mux2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Alternative:</a:t>
            </a:r>
          </a:p>
          <a:p>
            <a:pPr eaLnBrk="1" hangingPunct="1">
              <a:lnSpc>
                <a:spcPct val="2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2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urier New" panose="02070309020205020404" pitchFamily="49" charset="0"/>
              </a:rPr>
              <a:t>assign out = select ? in1 : in0;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8A4A522-7E91-6176-1611-839942D87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8565" y="319461"/>
            <a:ext cx="6553200" cy="868362"/>
          </a:xfrm>
          <a:solidFill>
            <a:srgbClr val="FFFFFF"/>
          </a:solidFill>
          <a:ln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TestBench of the Multiplexer</a:t>
            </a:r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7C5D4080-ED0A-C959-7353-304E4AD60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8565" y="1380565"/>
            <a:ext cx="82296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1" hangingPunct="1">
              <a:lnSpc>
                <a:spcPct val="20000"/>
              </a:lnSpc>
              <a:spcBef>
                <a:spcPts val="1500"/>
              </a:spcBef>
            </a:pPr>
            <a:endParaRPr lang="en-US" altLang="en-US" sz="1600" dirty="0"/>
          </a:p>
          <a:p>
            <a:pPr eaLnBrk="1" hangingPunct="1">
              <a:lnSpc>
                <a:spcPct val="20000"/>
              </a:lnSpc>
              <a:spcBef>
                <a:spcPts val="1500"/>
              </a:spcBef>
            </a:pPr>
            <a:r>
              <a:rPr lang="en-US" altLang="en-US" sz="1600" dirty="0"/>
              <a:t>Testbench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module </a:t>
            </a:r>
            <a:r>
              <a:rPr lang="en-US" altLang="en-US" sz="1600" dirty="0" err="1"/>
              <a:t>testmux</a:t>
            </a:r>
            <a:r>
              <a:rPr lang="en-US" altLang="en-US" sz="1600" dirty="0"/>
              <a:t>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	reg a, b, s;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	wire f;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	reg expected;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	mux2 </a:t>
            </a:r>
            <a:r>
              <a:rPr lang="en-US" altLang="en-US" sz="1600" dirty="0" err="1"/>
              <a:t>myMux</a:t>
            </a:r>
            <a:r>
              <a:rPr lang="en-US" altLang="en-US" sz="1600" dirty="0"/>
              <a:t> (.select(s), .in0(a), .in1(b), .out(f));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initial begin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$</a:t>
            </a:r>
            <a:r>
              <a:rPr lang="en-US" altLang="en-US" sz="1600" dirty="0" err="1"/>
              <a:t>dumpfile</a:t>
            </a:r>
            <a:r>
              <a:rPr lang="en-US" altLang="en-US" sz="1600" dirty="0"/>
              <a:t>("</a:t>
            </a:r>
            <a:r>
              <a:rPr lang="en-US" altLang="en-US" sz="1600" dirty="0" err="1"/>
              <a:t>wave.vcd</a:t>
            </a:r>
            <a:r>
              <a:rPr lang="en-US" altLang="en-US" sz="1600" dirty="0"/>
              <a:t>");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$</a:t>
            </a:r>
            <a:r>
              <a:rPr lang="en-US" altLang="en-US" sz="1600" dirty="0" err="1"/>
              <a:t>dumpvars</a:t>
            </a:r>
            <a:r>
              <a:rPr lang="en-US" altLang="en-US" sz="1600" dirty="0"/>
              <a:t>(0, </a:t>
            </a:r>
            <a:r>
              <a:rPr lang="en-US" altLang="en-US" sz="1600" dirty="0" err="1"/>
              <a:t>testmux</a:t>
            </a:r>
            <a:r>
              <a:rPr lang="en-US" altLang="en-US" sz="1600" dirty="0"/>
              <a:t>);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end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	initial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		begin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		       s=0; a=0; b=1; expected=0;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   #10 a=1; b=0; expected=1;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   #10 s=1; a=0; b=1; expected=1;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 end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initial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 $monitor(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     "select=%b in0=%b in1=%b out=%b, expected out=%b time=%d",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         s, a, b, f, expected, $time);</a:t>
            </a:r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r>
              <a:rPr lang="en-US" altLang="en-US" sz="1600" dirty="0"/>
              <a:t>    </a:t>
            </a:r>
            <a:r>
              <a:rPr lang="en-US" altLang="en-US" sz="1600" dirty="0" err="1"/>
              <a:t>endmodule</a:t>
            </a:r>
            <a:r>
              <a:rPr lang="en-US" altLang="en-US" sz="1600" dirty="0"/>
              <a:t> // </a:t>
            </a:r>
            <a:r>
              <a:rPr lang="en-US" altLang="en-US" sz="1600" dirty="0" err="1"/>
              <a:t>testmux</a:t>
            </a:r>
            <a:endParaRPr lang="en-US" altLang="en-US" sz="1600" dirty="0"/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20000"/>
              </a:lnSpc>
              <a:spcBef>
                <a:spcPts val="1500"/>
              </a:spcBef>
              <a:buFontTx/>
              <a:buNone/>
            </a:pP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88;p89">
            <a:extLst>
              <a:ext uri="{FF2B5EF4-FFF2-40B4-BE49-F238E27FC236}">
                <a16:creationId xmlns:a16="http://schemas.microsoft.com/office/drawing/2014/main" id="{3466612C-E5B1-452E-AA4B-11B8CB3F3772}"/>
              </a:ext>
            </a:extLst>
          </p:cNvPr>
          <p:cNvSpPr txBox="1"/>
          <p:nvPr/>
        </p:nvSpPr>
        <p:spPr>
          <a:xfrm>
            <a:off x="272717" y="2191407"/>
            <a:ext cx="11229472" cy="15373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8800" dirty="0">
                <a:sym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2363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3000"/>
    </mc:Choice>
    <mc:Fallback xmlns="">
      <p:transition advClick="0" advTm="3000"/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3654</Words>
  <Application>Microsoft Office PowerPoint</Application>
  <PresentationFormat>Widescreen</PresentationFormat>
  <Paragraphs>726</Paragraphs>
  <Slides>56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Courier New</vt:lpstr>
      <vt:lpstr>Verdana</vt:lpstr>
      <vt:lpstr>Diamond Grid 16x9</vt:lpstr>
      <vt:lpstr>Hardware Design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Multiplexer Built From Primitives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between driving and assigning</vt:lpstr>
      <vt:lpstr>Example</vt:lpstr>
      <vt:lpstr>Wire: helps to connect</vt:lpstr>
      <vt:lpstr>Code</vt:lpstr>
      <vt:lpstr>Code</vt:lpstr>
      <vt:lpstr>Code</vt:lpstr>
      <vt:lpstr>Code</vt:lpstr>
      <vt:lpstr>Code</vt:lpstr>
      <vt:lpstr>PowerPoint Presentation</vt:lpstr>
      <vt:lpstr>PowerPoint Presentation</vt:lpstr>
      <vt:lpstr>Instantiating a Module</vt:lpstr>
      <vt:lpstr>Instantiating a Module</vt:lpstr>
      <vt:lpstr>Sequential Blocks</vt:lpstr>
      <vt:lpstr>Procedures</vt:lpstr>
      <vt:lpstr>Assignments</vt:lpstr>
      <vt:lpstr>Blocking and Nonblocking Assignments</vt:lpstr>
      <vt:lpstr>Nonblocking Statements are odd! </vt:lpstr>
      <vt:lpstr>Nonblocking Looks Like Latches</vt:lpstr>
      <vt:lpstr>Examples</vt:lpstr>
      <vt:lpstr>Order dependency of Concurrent Statements</vt:lpstr>
      <vt:lpstr>Order dependency of Concurrent Statements</vt:lpstr>
      <vt:lpstr>Explanation of the mismatch</vt:lpstr>
      <vt:lpstr>Solution</vt:lpstr>
      <vt:lpstr>Parameterized Design</vt:lpstr>
      <vt:lpstr>Functions (cont’d)</vt:lpstr>
      <vt:lpstr>Function Examples Controllable Shifter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Are Simulators Used?</vt:lpstr>
      <vt:lpstr>Looking back at our multiplexer</vt:lpstr>
      <vt:lpstr>TestBench of the Multiplexer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Design Overview</dc:title>
  <dc:creator>Tishya Sarma Sarkar</dc:creator>
  <cp:lastModifiedBy>SEAL LAPTOP</cp:lastModifiedBy>
  <cp:revision>6</cp:revision>
  <dcterms:created xsi:type="dcterms:W3CDTF">2026-06-16T18:38:36Z</dcterms:created>
  <dcterms:modified xsi:type="dcterms:W3CDTF">2026-08-10T07:40:38Z</dcterms:modified>
</cp:coreProperties>
</file>