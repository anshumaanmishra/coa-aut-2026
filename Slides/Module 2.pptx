
<file path=[Content_Types].xml><?xml version="1.0" encoding="utf-8"?>
<Types xmlns="http://schemas.openxmlformats.org/package/2006/content-types">
  <Default Extension="bin" ContentType="application/vnd.openxmlformats-officedocument.oleObject"/>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8" r:id="rId102"/>
    <p:sldId id="359" r:id="rId103"/>
    <p:sldId id="360" r:id="rId104"/>
    <p:sldId id="361" r:id="rId105"/>
    <p:sldId id="363" r:id="rId106"/>
    <p:sldId id="364" r:id="rId107"/>
    <p:sldId id="365" r:id="rId108"/>
    <p:sldId id="366" r:id="rId109"/>
    <p:sldId id="367" r:id="rId110"/>
    <p:sldId id="368" r:id="rId111"/>
    <p:sldId id="369" r:id="rId112"/>
    <p:sldId id="370" r:id="rId113"/>
    <p:sldId id="371" r:id="rId114"/>
    <p:sldId id="372" r:id="rId115"/>
    <p:sldId id="373" r:id="rId116"/>
    <p:sldId id="379" r:id="rId117"/>
    <p:sldId id="380" r:id="rId118"/>
    <p:sldId id="381" r:id="rId119"/>
    <p:sldId id="382" r:id="rId120"/>
    <p:sldId id="383" r:id="rId121"/>
    <p:sldId id="384" r:id="rId122"/>
    <p:sldId id="385" r:id="rId123"/>
    <p:sldId id="386" r:id="rId124"/>
    <p:sldId id="388" r:id="rId125"/>
    <p:sldId id="389" r:id="rId126"/>
    <p:sldId id="390" r:id="rId127"/>
    <p:sldId id="392" r:id="rId128"/>
    <p:sldId id="393" r:id="rId129"/>
    <p:sldId id="394" r:id="rId130"/>
    <p:sldId id="396" r:id="rId131"/>
    <p:sldId id="397" r:id="rId132"/>
    <p:sldId id="398" r:id="rId133"/>
    <p:sldId id="399" r:id="rId134"/>
    <p:sldId id="400" r:id="rId135"/>
    <p:sldId id="401" r:id="rId136"/>
    <p:sldId id="402" r:id="rId137"/>
    <p:sldId id="403" r:id="rId138"/>
    <p:sldId id="404" r:id="rId139"/>
    <p:sldId id="405" r:id="rId140"/>
    <p:sldId id="406" r:id="rId141"/>
    <p:sldId id="407" r:id="rId142"/>
    <p:sldId id="408" r:id="rId143"/>
    <p:sldId id="409" r:id="rId144"/>
    <p:sldId id="410" r:id="rId145"/>
    <p:sldId id="411" r:id="rId146"/>
  </p:sldIdLst>
  <p:sldSz cx="12192000" cy="6858000"/>
  <p:notesSz cx="6858000" cy="9144000"/>
  <p:embeddedFontLst>
    <p:embeddedFont>
      <p:font typeface="Century Gothic" panose="020B0502020202020204" pitchFamily="34" charset="0"/>
      <p:regular r:id="rId148"/>
      <p:bold r:id="rId149"/>
      <p:italic r:id="rId150"/>
      <p:boldItalic r:id="rId151"/>
    </p:embeddedFont>
    <p:embeddedFont>
      <p:font typeface="Noto Sans Symbols" pitchFamily="2" charset="0"/>
      <p:regular r:id="rId152"/>
      <p:bold r:id="rId1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9" roundtripDataSignature="AMtx7mhE4jNKNAibbdN+tCcirO1s7N+l+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7E9FFD-D140-43D9-9319-91134215A3CE}">
  <a:tblStyle styleId="{C27E9FFD-D140-43D9-9319-91134215A3C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34F84DE-0EA6-4230-9EEA-1D2B58DE24B1}"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70"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2.fntdata"/><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font" Target="fonts/font3.fntdata"/><Relationship Id="rId171"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4.fntdata"/><Relationship Id="rId172"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5.fntdata"/><Relationship Id="rId173"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6.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font" Target="fonts/font1.fntdata"/><Relationship Id="rId16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5" name="Google Shape;45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3" name="Google Shape;49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3" name="Google Shape;503;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0" name="Google Shape;510;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0" name="Google Shape;530;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9" name="Google Shape;539;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3" name="Google Shape;553;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2" name="Google Shape;572;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8" name="Google Shape;618;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0" name="Google Shape;640;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0" name="Google Shape;660;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4" name="Google Shape;684;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4" name="Google Shape;704;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1" name="Google Shape;711;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8" name="Google Shape;718;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3" name="Google Shape;733;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8" name="Google Shape;748;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3" name="Google Shape;763;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8" name="Google Shape;778;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3" name="Google Shape;793;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8" name="Google Shape;808;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3" name="Google Shape;823;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8" name="Google Shape;838;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4" name="Google Shape;85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2" name="Google Shape;862;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0" name="Google Shape;870;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8" name="Google Shape;878;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5" name="Google Shape;885;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2" name="Google Shape;892;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1" name="Google Shape;901;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p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8" name="Google Shape;908;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3" name="Google Shape;933;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0" name="Google Shape;940;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9" name="Google Shape;949;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8" name="Google Shape;958;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2" name="Google Shape;972;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p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9" name="Google Shape;979;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7" name="Google Shape;997;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4" name="Google Shape;1004;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9" name="Google Shape;1019;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p8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6" name="Google Shape;1026;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p8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7" name="Google Shape;1047;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5" name="Google Shape;1065;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p8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2" name="Google Shape;1072;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6" name="Google Shape;1096;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3" name="Google Shape;1103;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p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0" name="Google Shape;1110;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p9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7" name="Google Shape;1117;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9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6" name="Google Shape;1156;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p9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2" name="Google Shape;1182;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9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1" name="Google Shape;1211;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p9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1" name="Google Shape;1231;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8"/>
        <p:cNvGrpSpPr/>
        <p:nvPr/>
      </p:nvGrpSpPr>
      <p:grpSpPr>
        <a:xfrm>
          <a:off x="0" y="0"/>
          <a:ext cx="0" cy="0"/>
          <a:chOff x="0" y="0"/>
          <a:chExt cx="0" cy="0"/>
        </a:xfrm>
      </p:grpSpPr>
      <p:sp>
        <p:nvSpPr>
          <p:cNvPr id="1249" name="Google Shape;1249;p9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0" name="Google Shape;1250;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9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3" name="Google Shape;1303;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9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0" name="Google Shape;1310;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4"/>
        <p:cNvGrpSpPr/>
        <p:nvPr/>
      </p:nvGrpSpPr>
      <p:grpSpPr>
        <a:xfrm>
          <a:off x="0" y="0"/>
          <a:ext cx="0" cy="0"/>
          <a:chOff x="0" y="0"/>
          <a:chExt cx="0" cy="0"/>
        </a:xfrm>
      </p:grpSpPr>
      <p:sp>
        <p:nvSpPr>
          <p:cNvPr id="1315" name="Google Shape;1315;p9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6" name="Google Shape;1316;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1"/>
        <p:cNvGrpSpPr/>
        <p:nvPr/>
      </p:nvGrpSpPr>
      <p:grpSpPr>
        <a:xfrm>
          <a:off x="0" y="0"/>
          <a:ext cx="0" cy="0"/>
          <a:chOff x="0" y="0"/>
          <a:chExt cx="0" cy="0"/>
        </a:xfrm>
      </p:grpSpPr>
      <p:sp>
        <p:nvSpPr>
          <p:cNvPr id="1322" name="Google Shape;1322;p10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3" name="Google Shape;1323;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8"/>
        <p:cNvGrpSpPr/>
        <p:nvPr/>
      </p:nvGrpSpPr>
      <p:grpSpPr>
        <a:xfrm>
          <a:off x="0" y="0"/>
          <a:ext cx="0" cy="0"/>
          <a:chOff x="0" y="0"/>
          <a:chExt cx="0" cy="0"/>
        </a:xfrm>
      </p:grpSpPr>
      <p:sp>
        <p:nvSpPr>
          <p:cNvPr id="1329" name="Google Shape;1329;p10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0" name="Google Shape;1330;p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4"/>
        <p:cNvGrpSpPr/>
        <p:nvPr/>
      </p:nvGrpSpPr>
      <p:grpSpPr>
        <a:xfrm>
          <a:off x="0" y="0"/>
          <a:ext cx="0" cy="0"/>
          <a:chOff x="0" y="0"/>
          <a:chExt cx="0" cy="0"/>
        </a:xfrm>
      </p:grpSpPr>
      <p:sp>
        <p:nvSpPr>
          <p:cNvPr id="1345" name="Google Shape;1345;p10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6" name="Google Shape;1346;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1"/>
        <p:cNvGrpSpPr/>
        <p:nvPr/>
      </p:nvGrpSpPr>
      <p:grpSpPr>
        <a:xfrm>
          <a:off x="0" y="0"/>
          <a:ext cx="0" cy="0"/>
          <a:chOff x="0" y="0"/>
          <a:chExt cx="0" cy="0"/>
        </a:xfrm>
      </p:grpSpPr>
      <p:sp>
        <p:nvSpPr>
          <p:cNvPr id="1352" name="Google Shape;1352;p10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3" name="Google Shape;1353;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7"/>
        <p:cNvGrpSpPr/>
        <p:nvPr/>
      </p:nvGrpSpPr>
      <p:grpSpPr>
        <a:xfrm>
          <a:off x="0" y="0"/>
          <a:ext cx="0" cy="0"/>
          <a:chOff x="0" y="0"/>
          <a:chExt cx="0" cy="0"/>
        </a:xfrm>
      </p:grpSpPr>
      <p:sp>
        <p:nvSpPr>
          <p:cNvPr id="1358" name="Google Shape;1358;p10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9" name="Google Shape;1359;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5"/>
        <p:cNvGrpSpPr/>
        <p:nvPr/>
      </p:nvGrpSpPr>
      <p:grpSpPr>
        <a:xfrm>
          <a:off x="0" y="0"/>
          <a:ext cx="0" cy="0"/>
          <a:chOff x="0" y="0"/>
          <a:chExt cx="0" cy="0"/>
        </a:xfrm>
      </p:grpSpPr>
      <p:sp>
        <p:nvSpPr>
          <p:cNvPr id="1366" name="Google Shape;1366;p10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7" name="Google Shape;1367;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p:cNvGrpSpPr/>
        <p:nvPr/>
      </p:nvGrpSpPr>
      <p:grpSpPr>
        <a:xfrm>
          <a:off x="0" y="0"/>
          <a:ext cx="0" cy="0"/>
          <a:chOff x="0" y="0"/>
          <a:chExt cx="0" cy="0"/>
        </a:xfrm>
      </p:grpSpPr>
      <p:sp>
        <p:nvSpPr>
          <p:cNvPr id="1380" name="Google Shape;1380;p10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105</a:t>
            </a:fld>
            <a:endParaRPr/>
          </a:p>
        </p:txBody>
      </p:sp>
      <p:sp>
        <p:nvSpPr>
          <p:cNvPr id="1381" name="Google Shape;1381;p10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382" name="Google Shape;1382;p108: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6"/>
        <p:cNvGrpSpPr/>
        <p:nvPr/>
      </p:nvGrpSpPr>
      <p:grpSpPr>
        <a:xfrm>
          <a:off x="0" y="0"/>
          <a:ext cx="0" cy="0"/>
          <a:chOff x="0" y="0"/>
          <a:chExt cx="0" cy="0"/>
        </a:xfrm>
      </p:grpSpPr>
      <p:sp>
        <p:nvSpPr>
          <p:cNvPr id="1387" name="Google Shape;1387;p10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106</a:t>
            </a:fld>
            <a:endParaRPr/>
          </a:p>
        </p:txBody>
      </p:sp>
      <p:sp>
        <p:nvSpPr>
          <p:cNvPr id="1388" name="Google Shape;1388;p10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389" name="Google Shape;1389;p109: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3"/>
        <p:cNvGrpSpPr/>
        <p:nvPr/>
      </p:nvGrpSpPr>
      <p:grpSpPr>
        <a:xfrm>
          <a:off x="0" y="0"/>
          <a:ext cx="0" cy="0"/>
          <a:chOff x="0" y="0"/>
          <a:chExt cx="0" cy="0"/>
        </a:xfrm>
      </p:grpSpPr>
      <p:sp>
        <p:nvSpPr>
          <p:cNvPr id="1394" name="Google Shape;1394;p1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107</a:t>
            </a:fld>
            <a:endParaRPr/>
          </a:p>
        </p:txBody>
      </p:sp>
      <p:sp>
        <p:nvSpPr>
          <p:cNvPr id="1395" name="Google Shape;1395;p1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396" name="Google Shape;1396;p110: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p:cNvGrpSpPr/>
        <p:nvPr/>
      </p:nvGrpSpPr>
      <p:grpSpPr>
        <a:xfrm>
          <a:off x="0" y="0"/>
          <a:ext cx="0" cy="0"/>
          <a:chOff x="0" y="0"/>
          <a:chExt cx="0" cy="0"/>
        </a:xfrm>
      </p:grpSpPr>
      <p:sp>
        <p:nvSpPr>
          <p:cNvPr id="1401" name="Google Shape;1401;p1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108</a:t>
            </a:fld>
            <a:endParaRPr/>
          </a:p>
        </p:txBody>
      </p:sp>
      <p:sp>
        <p:nvSpPr>
          <p:cNvPr id="1402" name="Google Shape;1402;p11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403" name="Google Shape;1403;p111: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7"/>
        <p:cNvGrpSpPr/>
        <p:nvPr/>
      </p:nvGrpSpPr>
      <p:grpSpPr>
        <a:xfrm>
          <a:off x="0" y="0"/>
          <a:ext cx="0" cy="0"/>
          <a:chOff x="0" y="0"/>
          <a:chExt cx="0" cy="0"/>
        </a:xfrm>
      </p:grpSpPr>
      <p:sp>
        <p:nvSpPr>
          <p:cNvPr id="1408" name="Google Shape;1408;p1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109</a:t>
            </a:fld>
            <a:endParaRPr/>
          </a:p>
        </p:txBody>
      </p:sp>
      <p:sp>
        <p:nvSpPr>
          <p:cNvPr id="1409" name="Google Shape;1409;p11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410" name="Google Shape;1410;p112: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4"/>
        <p:cNvGrpSpPr/>
        <p:nvPr/>
      </p:nvGrpSpPr>
      <p:grpSpPr>
        <a:xfrm>
          <a:off x="0" y="0"/>
          <a:ext cx="0" cy="0"/>
          <a:chOff x="0" y="0"/>
          <a:chExt cx="0" cy="0"/>
        </a:xfrm>
      </p:grpSpPr>
      <p:sp>
        <p:nvSpPr>
          <p:cNvPr id="1415" name="Google Shape;1415;p1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110</a:t>
            </a:fld>
            <a:endParaRPr/>
          </a:p>
        </p:txBody>
      </p:sp>
      <p:sp>
        <p:nvSpPr>
          <p:cNvPr id="1416" name="Google Shape;1416;p1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417" name="Google Shape;1417;p113: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1"/>
        <p:cNvGrpSpPr/>
        <p:nvPr/>
      </p:nvGrpSpPr>
      <p:grpSpPr>
        <a:xfrm>
          <a:off x="0" y="0"/>
          <a:ext cx="0" cy="0"/>
          <a:chOff x="0" y="0"/>
          <a:chExt cx="0" cy="0"/>
        </a:xfrm>
      </p:grpSpPr>
      <p:sp>
        <p:nvSpPr>
          <p:cNvPr id="1422" name="Google Shape;1422;p1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111</a:t>
            </a:fld>
            <a:endParaRPr/>
          </a:p>
        </p:txBody>
      </p:sp>
      <p:sp>
        <p:nvSpPr>
          <p:cNvPr id="1423" name="Google Shape;1423;p11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424" name="Google Shape;1424;p114: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8"/>
        <p:cNvGrpSpPr/>
        <p:nvPr/>
      </p:nvGrpSpPr>
      <p:grpSpPr>
        <a:xfrm>
          <a:off x="0" y="0"/>
          <a:ext cx="0" cy="0"/>
          <a:chOff x="0" y="0"/>
          <a:chExt cx="0" cy="0"/>
        </a:xfrm>
      </p:grpSpPr>
      <p:sp>
        <p:nvSpPr>
          <p:cNvPr id="1429" name="Google Shape;1429;p1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112</a:t>
            </a:fld>
            <a:endParaRPr/>
          </a:p>
        </p:txBody>
      </p:sp>
      <p:sp>
        <p:nvSpPr>
          <p:cNvPr id="1430" name="Google Shape;1430;p11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431" name="Google Shape;1431;p115: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5"/>
        <p:cNvGrpSpPr/>
        <p:nvPr/>
      </p:nvGrpSpPr>
      <p:grpSpPr>
        <a:xfrm>
          <a:off x="0" y="0"/>
          <a:ext cx="0" cy="0"/>
          <a:chOff x="0" y="0"/>
          <a:chExt cx="0" cy="0"/>
        </a:xfrm>
      </p:grpSpPr>
      <p:sp>
        <p:nvSpPr>
          <p:cNvPr id="1436" name="Google Shape;1436;p1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113</a:t>
            </a:fld>
            <a:endParaRPr/>
          </a:p>
        </p:txBody>
      </p:sp>
      <p:sp>
        <p:nvSpPr>
          <p:cNvPr id="1437" name="Google Shape;1437;p11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438" name="Google Shape;1438;p116: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2"/>
        <p:cNvGrpSpPr/>
        <p:nvPr/>
      </p:nvGrpSpPr>
      <p:grpSpPr>
        <a:xfrm>
          <a:off x="0" y="0"/>
          <a:ext cx="0" cy="0"/>
          <a:chOff x="0" y="0"/>
          <a:chExt cx="0" cy="0"/>
        </a:xfrm>
      </p:grpSpPr>
      <p:sp>
        <p:nvSpPr>
          <p:cNvPr id="1443" name="Google Shape;1443;p1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114</a:t>
            </a:fld>
            <a:endParaRPr/>
          </a:p>
        </p:txBody>
      </p:sp>
      <p:sp>
        <p:nvSpPr>
          <p:cNvPr id="1444" name="Google Shape;1444;p11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445" name="Google Shape;1445;p117: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9"/>
        <p:cNvGrpSpPr/>
        <p:nvPr/>
      </p:nvGrpSpPr>
      <p:grpSpPr>
        <a:xfrm>
          <a:off x="0" y="0"/>
          <a:ext cx="0" cy="0"/>
          <a:chOff x="0" y="0"/>
          <a:chExt cx="0" cy="0"/>
        </a:xfrm>
      </p:grpSpPr>
      <p:sp>
        <p:nvSpPr>
          <p:cNvPr id="1450" name="Google Shape;1450;p1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115</a:t>
            </a:fld>
            <a:endParaRPr/>
          </a:p>
        </p:txBody>
      </p:sp>
      <p:sp>
        <p:nvSpPr>
          <p:cNvPr id="1451" name="Google Shape;1451;p11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452" name="Google Shape;1452;p118: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1"/>
        <p:cNvGrpSpPr/>
        <p:nvPr/>
      </p:nvGrpSpPr>
      <p:grpSpPr>
        <a:xfrm>
          <a:off x="0" y="0"/>
          <a:ext cx="0" cy="0"/>
          <a:chOff x="0" y="0"/>
          <a:chExt cx="0" cy="0"/>
        </a:xfrm>
      </p:grpSpPr>
      <p:sp>
        <p:nvSpPr>
          <p:cNvPr id="1492" name="Google Shape;1492;p1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116</a:t>
            </a:fld>
            <a:endParaRPr/>
          </a:p>
        </p:txBody>
      </p:sp>
      <p:sp>
        <p:nvSpPr>
          <p:cNvPr id="1493" name="Google Shape;1493;p12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494" name="Google Shape;1494;p124: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8"/>
        <p:cNvGrpSpPr/>
        <p:nvPr/>
      </p:nvGrpSpPr>
      <p:grpSpPr>
        <a:xfrm>
          <a:off x="0" y="0"/>
          <a:ext cx="0" cy="0"/>
          <a:chOff x="0" y="0"/>
          <a:chExt cx="0" cy="0"/>
        </a:xfrm>
      </p:grpSpPr>
      <p:sp>
        <p:nvSpPr>
          <p:cNvPr id="1499" name="Google Shape;1499;p1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117</a:t>
            </a:fld>
            <a:endParaRPr/>
          </a:p>
        </p:txBody>
      </p:sp>
      <p:sp>
        <p:nvSpPr>
          <p:cNvPr id="1500" name="Google Shape;1500;p12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501" name="Google Shape;1501;p125: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5"/>
        <p:cNvGrpSpPr/>
        <p:nvPr/>
      </p:nvGrpSpPr>
      <p:grpSpPr>
        <a:xfrm>
          <a:off x="0" y="0"/>
          <a:ext cx="0" cy="0"/>
          <a:chOff x="0" y="0"/>
          <a:chExt cx="0" cy="0"/>
        </a:xfrm>
      </p:grpSpPr>
      <p:sp>
        <p:nvSpPr>
          <p:cNvPr id="1506" name="Google Shape;1506;p1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118</a:t>
            </a:fld>
            <a:endParaRPr/>
          </a:p>
        </p:txBody>
      </p:sp>
      <p:sp>
        <p:nvSpPr>
          <p:cNvPr id="1507" name="Google Shape;1507;p12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508" name="Google Shape;1508;p126: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2"/>
        <p:cNvGrpSpPr/>
        <p:nvPr/>
      </p:nvGrpSpPr>
      <p:grpSpPr>
        <a:xfrm>
          <a:off x="0" y="0"/>
          <a:ext cx="0" cy="0"/>
          <a:chOff x="0" y="0"/>
          <a:chExt cx="0" cy="0"/>
        </a:xfrm>
      </p:grpSpPr>
      <p:sp>
        <p:nvSpPr>
          <p:cNvPr id="1513" name="Google Shape;1513;p1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119</a:t>
            </a:fld>
            <a:endParaRPr/>
          </a:p>
        </p:txBody>
      </p:sp>
      <p:sp>
        <p:nvSpPr>
          <p:cNvPr id="1514" name="Google Shape;1514;p12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515" name="Google Shape;1515;p127: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p1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120</a:t>
            </a:fld>
            <a:endParaRPr/>
          </a:p>
        </p:txBody>
      </p:sp>
      <p:sp>
        <p:nvSpPr>
          <p:cNvPr id="1521" name="Google Shape;1521;p12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522" name="Google Shape;1522;p128: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p:cNvGrpSpPr/>
        <p:nvPr/>
      </p:nvGrpSpPr>
      <p:grpSpPr>
        <a:xfrm>
          <a:off x="0" y="0"/>
          <a:ext cx="0" cy="0"/>
          <a:chOff x="0" y="0"/>
          <a:chExt cx="0" cy="0"/>
        </a:xfrm>
      </p:grpSpPr>
      <p:sp>
        <p:nvSpPr>
          <p:cNvPr id="1527" name="Google Shape;1527;p1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121</a:t>
            </a:fld>
            <a:endParaRPr/>
          </a:p>
        </p:txBody>
      </p:sp>
      <p:sp>
        <p:nvSpPr>
          <p:cNvPr id="1528" name="Google Shape;1528;p12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529" name="Google Shape;1529;p129: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3"/>
        <p:cNvGrpSpPr/>
        <p:nvPr/>
      </p:nvGrpSpPr>
      <p:grpSpPr>
        <a:xfrm>
          <a:off x="0" y="0"/>
          <a:ext cx="0" cy="0"/>
          <a:chOff x="0" y="0"/>
          <a:chExt cx="0" cy="0"/>
        </a:xfrm>
      </p:grpSpPr>
      <p:sp>
        <p:nvSpPr>
          <p:cNvPr id="1534" name="Google Shape;1534;p1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122</a:t>
            </a:fld>
            <a:endParaRPr/>
          </a:p>
        </p:txBody>
      </p:sp>
      <p:sp>
        <p:nvSpPr>
          <p:cNvPr id="1535" name="Google Shape;1535;p13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536" name="Google Shape;1536;p130: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0"/>
        <p:cNvGrpSpPr/>
        <p:nvPr/>
      </p:nvGrpSpPr>
      <p:grpSpPr>
        <a:xfrm>
          <a:off x="0" y="0"/>
          <a:ext cx="0" cy="0"/>
          <a:chOff x="0" y="0"/>
          <a:chExt cx="0" cy="0"/>
        </a:xfrm>
      </p:grpSpPr>
      <p:sp>
        <p:nvSpPr>
          <p:cNvPr id="1541" name="Google Shape;1541;p1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123</a:t>
            </a:fld>
            <a:endParaRPr/>
          </a:p>
        </p:txBody>
      </p:sp>
      <p:sp>
        <p:nvSpPr>
          <p:cNvPr id="1542" name="Google Shape;1542;p13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543" name="Google Shape;1543;p131: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4"/>
        <p:cNvGrpSpPr/>
        <p:nvPr/>
      </p:nvGrpSpPr>
      <p:grpSpPr>
        <a:xfrm>
          <a:off x="0" y="0"/>
          <a:ext cx="0" cy="0"/>
          <a:chOff x="0" y="0"/>
          <a:chExt cx="0" cy="0"/>
        </a:xfrm>
      </p:grpSpPr>
      <p:sp>
        <p:nvSpPr>
          <p:cNvPr id="1555" name="Google Shape;1555;p1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124</a:t>
            </a:fld>
            <a:endParaRPr/>
          </a:p>
        </p:txBody>
      </p:sp>
      <p:sp>
        <p:nvSpPr>
          <p:cNvPr id="1556" name="Google Shape;1556;p13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557" name="Google Shape;1557;p133: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2"/>
        <p:cNvGrpSpPr/>
        <p:nvPr/>
      </p:nvGrpSpPr>
      <p:grpSpPr>
        <a:xfrm>
          <a:off x="0" y="0"/>
          <a:ext cx="0" cy="0"/>
          <a:chOff x="0" y="0"/>
          <a:chExt cx="0" cy="0"/>
        </a:xfrm>
      </p:grpSpPr>
      <p:sp>
        <p:nvSpPr>
          <p:cNvPr id="1563" name="Google Shape;1563;p1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125</a:t>
            </a:fld>
            <a:endParaRPr/>
          </a:p>
        </p:txBody>
      </p:sp>
      <p:sp>
        <p:nvSpPr>
          <p:cNvPr id="1564" name="Google Shape;1564;p13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565" name="Google Shape;1565;p134: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9"/>
        <p:cNvGrpSpPr/>
        <p:nvPr/>
      </p:nvGrpSpPr>
      <p:grpSpPr>
        <a:xfrm>
          <a:off x="0" y="0"/>
          <a:ext cx="0" cy="0"/>
          <a:chOff x="0" y="0"/>
          <a:chExt cx="0" cy="0"/>
        </a:xfrm>
      </p:grpSpPr>
      <p:sp>
        <p:nvSpPr>
          <p:cNvPr id="1570" name="Google Shape;1570;p1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126</a:t>
            </a:fld>
            <a:endParaRPr/>
          </a:p>
        </p:txBody>
      </p:sp>
      <p:sp>
        <p:nvSpPr>
          <p:cNvPr id="1571" name="Google Shape;1571;p13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572" name="Google Shape;1572;p135: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4"/>
        <p:cNvGrpSpPr/>
        <p:nvPr/>
      </p:nvGrpSpPr>
      <p:grpSpPr>
        <a:xfrm>
          <a:off x="0" y="0"/>
          <a:ext cx="0" cy="0"/>
          <a:chOff x="0" y="0"/>
          <a:chExt cx="0" cy="0"/>
        </a:xfrm>
      </p:grpSpPr>
      <p:sp>
        <p:nvSpPr>
          <p:cNvPr id="1585" name="Google Shape;1585;p1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127</a:t>
            </a:fld>
            <a:endParaRPr/>
          </a:p>
        </p:txBody>
      </p:sp>
      <p:sp>
        <p:nvSpPr>
          <p:cNvPr id="1586" name="Google Shape;1586;p13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587" name="Google Shape;1587;p137: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1"/>
        <p:cNvGrpSpPr/>
        <p:nvPr/>
      </p:nvGrpSpPr>
      <p:grpSpPr>
        <a:xfrm>
          <a:off x="0" y="0"/>
          <a:ext cx="0" cy="0"/>
          <a:chOff x="0" y="0"/>
          <a:chExt cx="0" cy="0"/>
        </a:xfrm>
      </p:grpSpPr>
      <p:sp>
        <p:nvSpPr>
          <p:cNvPr id="1592" name="Google Shape;1592;p1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128</a:t>
            </a:fld>
            <a:endParaRPr/>
          </a:p>
        </p:txBody>
      </p:sp>
      <p:sp>
        <p:nvSpPr>
          <p:cNvPr id="1593" name="Google Shape;1593;p13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594" name="Google Shape;1594;p138: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8"/>
        <p:cNvGrpSpPr/>
        <p:nvPr/>
      </p:nvGrpSpPr>
      <p:grpSpPr>
        <a:xfrm>
          <a:off x="0" y="0"/>
          <a:ext cx="0" cy="0"/>
          <a:chOff x="0" y="0"/>
          <a:chExt cx="0" cy="0"/>
        </a:xfrm>
      </p:grpSpPr>
      <p:sp>
        <p:nvSpPr>
          <p:cNvPr id="1599" name="Google Shape;1599;p1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129</a:t>
            </a:fld>
            <a:endParaRPr/>
          </a:p>
        </p:txBody>
      </p:sp>
      <p:sp>
        <p:nvSpPr>
          <p:cNvPr id="1600" name="Google Shape;1600;p1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601" name="Google Shape;1601;p139: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2"/>
        <p:cNvGrpSpPr/>
        <p:nvPr/>
      </p:nvGrpSpPr>
      <p:grpSpPr>
        <a:xfrm>
          <a:off x="0" y="0"/>
          <a:ext cx="0" cy="0"/>
          <a:chOff x="0" y="0"/>
          <a:chExt cx="0" cy="0"/>
        </a:xfrm>
      </p:grpSpPr>
      <p:sp>
        <p:nvSpPr>
          <p:cNvPr id="1613" name="Google Shape;1613;p1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130</a:t>
            </a:fld>
            <a:endParaRPr/>
          </a:p>
        </p:txBody>
      </p:sp>
      <p:sp>
        <p:nvSpPr>
          <p:cNvPr id="1614" name="Google Shape;1614;p14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615" name="Google Shape;1615;p141: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9"/>
        <p:cNvGrpSpPr/>
        <p:nvPr/>
      </p:nvGrpSpPr>
      <p:grpSpPr>
        <a:xfrm>
          <a:off x="0" y="0"/>
          <a:ext cx="0" cy="0"/>
          <a:chOff x="0" y="0"/>
          <a:chExt cx="0" cy="0"/>
        </a:xfrm>
      </p:grpSpPr>
      <p:sp>
        <p:nvSpPr>
          <p:cNvPr id="1620" name="Google Shape;1620;p1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131</a:t>
            </a:fld>
            <a:endParaRPr/>
          </a:p>
        </p:txBody>
      </p:sp>
      <p:sp>
        <p:nvSpPr>
          <p:cNvPr id="1621" name="Google Shape;1621;p14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622" name="Google Shape;1622;p142: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7"/>
        <p:cNvGrpSpPr/>
        <p:nvPr/>
      </p:nvGrpSpPr>
      <p:grpSpPr>
        <a:xfrm>
          <a:off x="0" y="0"/>
          <a:ext cx="0" cy="0"/>
          <a:chOff x="0" y="0"/>
          <a:chExt cx="0" cy="0"/>
        </a:xfrm>
      </p:grpSpPr>
      <p:sp>
        <p:nvSpPr>
          <p:cNvPr id="1628" name="Google Shape;1628;p1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132</a:t>
            </a:fld>
            <a:endParaRPr/>
          </a:p>
        </p:txBody>
      </p:sp>
      <p:sp>
        <p:nvSpPr>
          <p:cNvPr id="1629" name="Google Shape;1629;p14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630" name="Google Shape;1630;p143: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5"/>
        <p:cNvGrpSpPr/>
        <p:nvPr/>
      </p:nvGrpSpPr>
      <p:grpSpPr>
        <a:xfrm>
          <a:off x="0" y="0"/>
          <a:ext cx="0" cy="0"/>
          <a:chOff x="0" y="0"/>
          <a:chExt cx="0" cy="0"/>
        </a:xfrm>
      </p:grpSpPr>
      <p:sp>
        <p:nvSpPr>
          <p:cNvPr id="1636" name="Google Shape;1636;p1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133</a:t>
            </a:fld>
            <a:endParaRPr/>
          </a:p>
        </p:txBody>
      </p:sp>
      <p:sp>
        <p:nvSpPr>
          <p:cNvPr id="1637" name="Google Shape;1637;p14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638" name="Google Shape;1638;p144: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2"/>
        <p:cNvGrpSpPr/>
        <p:nvPr/>
      </p:nvGrpSpPr>
      <p:grpSpPr>
        <a:xfrm>
          <a:off x="0" y="0"/>
          <a:ext cx="0" cy="0"/>
          <a:chOff x="0" y="0"/>
          <a:chExt cx="0" cy="0"/>
        </a:xfrm>
      </p:grpSpPr>
      <p:sp>
        <p:nvSpPr>
          <p:cNvPr id="1643" name="Google Shape;1643;p1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134</a:t>
            </a:fld>
            <a:endParaRPr/>
          </a:p>
        </p:txBody>
      </p:sp>
      <p:sp>
        <p:nvSpPr>
          <p:cNvPr id="1644" name="Google Shape;1644;p14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645" name="Google Shape;1645;p145: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1"/>
        <p:cNvGrpSpPr/>
        <p:nvPr/>
      </p:nvGrpSpPr>
      <p:grpSpPr>
        <a:xfrm>
          <a:off x="0" y="0"/>
          <a:ext cx="0" cy="0"/>
          <a:chOff x="0" y="0"/>
          <a:chExt cx="0" cy="0"/>
        </a:xfrm>
      </p:grpSpPr>
      <p:sp>
        <p:nvSpPr>
          <p:cNvPr id="1652" name="Google Shape;1652;p1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135</a:t>
            </a:fld>
            <a:endParaRPr/>
          </a:p>
        </p:txBody>
      </p:sp>
      <p:sp>
        <p:nvSpPr>
          <p:cNvPr id="1653" name="Google Shape;1653;p14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654" name="Google Shape;1654;p146: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0"/>
        <p:cNvGrpSpPr/>
        <p:nvPr/>
      </p:nvGrpSpPr>
      <p:grpSpPr>
        <a:xfrm>
          <a:off x="0" y="0"/>
          <a:ext cx="0" cy="0"/>
          <a:chOff x="0" y="0"/>
          <a:chExt cx="0" cy="0"/>
        </a:xfrm>
      </p:grpSpPr>
      <p:sp>
        <p:nvSpPr>
          <p:cNvPr id="1661" name="Google Shape;1661;p1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136</a:t>
            </a:fld>
            <a:endParaRPr/>
          </a:p>
        </p:txBody>
      </p:sp>
      <p:sp>
        <p:nvSpPr>
          <p:cNvPr id="1662" name="Google Shape;1662;p14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663" name="Google Shape;1663;p147: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9"/>
        <p:cNvGrpSpPr/>
        <p:nvPr/>
      </p:nvGrpSpPr>
      <p:grpSpPr>
        <a:xfrm>
          <a:off x="0" y="0"/>
          <a:ext cx="0" cy="0"/>
          <a:chOff x="0" y="0"/>
          <a:chExt cx="0" cy="0"/>
        </a:xfrm>
      </p:grpSpPr>
      <p:sp>
        <p:nvSpPr>
          <p:cNvPr id="1670" name="Google Shape;1670;p1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137</a:t>
            </a:fld>
            <a:endParaRPr/>
          </a:p>
        </p:txBody>
      </p:sp>
      <p:sp>
        <p:nvSpPr>
          <p:cNvPr id="1671" name="Google Shape;1671;p14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672" name="Google Shape;1672;p148: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8"/>
        <p:cNvGrpSpPr/>
        <p:nvPr/>
      </p:nvGrpSpPr>
      <p:grpSpPr>
        <a:xfrm>
          <a:off x="0" y="0"/>
          <a:ext cx="0" cy="0"/>
          <a:chOff x="0" y="0"/>
          <a:chExt cx="0" cy="0"/>
        </a:xfrm>
      </p:grpSpPr>
      <p:sp>
        <p:nvSpPr>
          <p:cNvPr id="1679" name="Google Shape;1679;p1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138</a:t>
            </a:fld>
            <a:endParaRPr/>
          </a:p>
        </p:txBody>
      </p:sp>
      <p:sp>
        <p:nvSpPr>
          <p:cNvPr id="1680" name="Google Shape;1680;p14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681" name="Google Shape;1681;p149: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7"/>
        <p:cNvGrpSpPr/>
        <p:nvPr/>
      </p:nvGrpSpPr>
      <p:grpSpPr>
        <a:xfrm>
          <a:off x="0" y="0"/>
          <a:ext cx="0" cy="0"/>
          <a:chOff x="0" y="0"/>
          <a:chExt cx="0" cy="0"/>
        </a:xfrm>
      </p:grpSpPr>
      <p:sp>
        <p:nvSpPr>
          <p:cNvPr id="1688" name="Google Shape;1688;p1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139</a:t>
            </a:fld>
            <a:endParaRPr/>
          </a:p>
        </p:txBody>
      </p:sp>
      <p:sp>
        <p:nvSpPr>
          <p:cNvPr id="1689" name="Google Shape;1689;p15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690" name="Google Shape;1690;p150: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6"/>
        <p:cNvGrpSpPr/>
        <p:nvPr/>
      </p:nvGrpSpPr>
      <p:grpSpPr>
        <a:xfrm>
          <a:off x="0" y="0"/>
          <a:ext cx="0" cy="0"/>
          <a:chOff x="0" y="0"/>
          <a:chExt cx="0" cy="0"/>
        </a:xfrm>
      </p:grpSpPr>
      <p:sp>
        <p:nvSpPr>
          <p:cNvPr id="1697" name="Google Shape;1697;p1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140</a:t>
            </a:fld>
            <a:endParaRPr/>
          </a:p>
        </p:txBody>
      </p:sp>
      <p:sp>
        <p:nvSpPr>
          <p:cNvPr id="1698" name="Google Shape;1698;p15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699" name="Google Shape;1699;p151: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5"/>
        <p:cNvGrpSpPr/>
        <p:nvPr/>
      </p:nvGrpSpPr>
      <p:grpSpPr>
        <a:xfrm>
          <a:off x="0" y="0"/>
          <a:ext cx="0" cy="0"/>
          <a:chOff x="0" y="0"/>
          <a:chExt cx="0" cy="0"/>
        </a:xfrm>
      </p:grpSpPr>
      <p:sp>
        <p:nvSpPr>
          <p:cNvPr id="1706" name="Google Shape;1706;p1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141</a:t>
            </a:fld>
            <a:endParaRPr/>
          </a:p>
        </p:txBody>
      </p:sp>
      <p:sp>
        <p:nvSpPr>
          <p:cNvPr id="1707" name="Google Shape;1707;p15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708" name="Google Shape;1708;p152: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2"/>
        <p:cNvGrpSpPr/>
        <p:nvPr/>
      </p:nvGrpSpPr>
      <p:grpSpPr>
        <a:xfrm>
          <a:off x="0" y="0"/>
          <a:ext cx="0" cy="0"/>
          <a:chOff x="0" y="0"/>
          <a:chExt cx="0" cy="0"/>
        </a:xfrm>
      </p:grpSpPr>
      <p:sp>
        <p:nvSpPr>
          <p:cNvPr id="1713" name="Google Shape;1713;p1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142</a:t>
            </a:fld>
            <a:endParaRPr/>
          </a:p>
        </p:txBody>
      </p:sp>
      <p:sp>
        <p:nvSpPr>
          <p:cNvPr id="1714" name="Google Shape;1714;p15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715" name="Google Shape;1715;p153: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9"/>
        <p:cNvGrpSpPr/>
        <p:nvPr/>
      </p:nvGrpSpPr>
      <p:grpSpPr>
        <a:xfrm>
          <a:off x="0" y="0"/>
          <a:ext cx="0" cy="0"/>
          <a:chOff x="0" y="0"/>
          <a:chExt cx="0" cy="0"/>
        </a:xfrm>
      </p:grpSpPr>
      <p:sp>
        <p:nvSpPr>
          <p:cNvPr id="1720" name="Google Shape;1720;p1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143</a:t>
            </a:fld>
            <a:endParaRPr/>
          </a:p>
        </p:txBody>
      </p:sp>
      <p:sp>
        <p:nvSpPr>
          <p:cNvPr id="1721" name="Google Shape;1721;p15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722" name="Google Shape;1722;p154: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p1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144</a:t>
            </a:fld>
            <a:endParaRPr/>
          </a:p>
        </p:txBody>
      </p:sp>
      <p:sp>
        <p:nvSpPr>
          <p:cNvPr id="1728" name="Google Shape;1728;p15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729" name="Google Shape;1729;p155: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3"/>
        <p:cNvGrpSpPr/>
        <p:nvPr/>
      </p:nvGrpSpPr>
      <p:grpSpPr>
        <a:xfrm>
          <a:off x="0" y="0"/>
          <a:ext cx="0" cy="0"/>
          <a:chOff x="0" y="0"/>
          <a:chExt cx="0" cy="0"/>
        </a:xfrm>
      </p:grpSpPr>
      <p:sp>
        <p:nvSpPr>
          <p:cNvPr id="1734" name="Google Shape;1734;p1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145</a:t>
            </a:fld>
            <a:endParaRPr/>
          </a:p>
        </p:txBody>
      </p:sp>
      <p:sp>
        <p:nvSpPr>
          <p:cNvPr id="1735" name="Google Shape;1735;p15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1736" name="Google Shape;1736;p156:notes"/>
          <p:cNvSpPr txBox="1">
            <a:spLocks noGrp="1"/>
          </p:cNvSpPr>
          <p:nvPr>
            <p:ph type="body" idx="1"/>
          </p:nvPr>
        </p:nvSpPr>
        <p:spPr>
          <a:xfrm>
            <a:off x="731838" y="4560888"/>
            <a:ext cx="5851525" cy="431958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5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000"/>
              <a:buFont typeface="Calibri"/>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5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110000"/>
              </a:lnSpc>
              <a:spcBef>
                <a:spcPts val="0"/>
              </a:spcBef>
              <a:spcAft>
                <a:spcPts val="0"/>
              </a:spcAft>
              <a:buClr>
                <a:schemeClr val="dk1"/>
              </a:buClr>
              <a:buSzPts val="2400"/>
              <a:buNone/>
              <a:defRPr sz="2400"/>
            </a:lvl1pPr>
            <a:lvl2pPr lvl="1" algn="ctr">
              <a:lnSpc>
                <a:spcPct val="110000"/>
              </a:lnSpc>
              <a:spcBef>
                <a:spcPts val="600"/>
              </a:spcBef>
              <a:spcAft>
                <a:spcPts val="0"/>
              </a:spcAft>
              <a:buClr>
                <a:schemeClr val="dk1"/>
              </a:buClr>
              <a:buSzPts val="2000"/>
              <a:buNone/>
              <a:defRPr sz="2000"/>
            </a:lvl2pPr>
            <a:lvl3pPr lvl="2" algn="ctr">
              <a:lnSpc>
                <a:spcPct val="110000"/>
              </a:lnSpc>
              <a:spcBef>
                <a:spcPts val="600"/>
              </a:spcBef>
              <a:spcAft>
                <a:spcPts val="0"/>
              </a:spcAft>
              <a:buClr>
                <a:schemeClr val="dk1"/>
              </a:buClr>
              <a:buSzPts val="1800"/>
              <a:buNone/>
              <a:defRPr sz="1800"/>
            </a:lvl3pPr>
            <a:lvl4pPr lvl="3" algn="ctr">
              <a:lnSpc>
                <a:spcPct val="110000"/>
              </a:lnSpc>
              <a:spcBef>
                <a:spcPts val="600"/>
              </a:spcBef>
              <a:spcAft>
                <a:spcPts val="0"/>
              </a:spcAft>
              <a:buClr>
                <a:schemeClr val="dk1"/>
              </a:buClr>
              <a:buSzPts val="1600"/>
              <a:buNone/>
              <a:defRPr sz="1600"/>
            </a:lvl4pPr>
            <a:lvl5pPr lvl="4" algn="ctr">
              <a:lnSpc>
                <a:spcPct val="110000"/>
              </a:lnSpc>
              <a:spcBef>
                <a:spcPts val="600"/>
              </a:spcBef>
              <a:spcAft>
                <a:spcPts val="0"/>
              </a:spcAft>
              <a:buClr>
                <a:schemeClr val="dk1"/>
              </a:buClr>
              <a:buSzPts val="1600"/>
              <a:buNone/>
              <a:defRPr sz="1600"/>
            </a:lvl5pPr>
            <a:lvl6pPr lvl="5" algn="ctr">
              <a:lnSpc>
                <a:spcPct val="90000"/>
              </a:lnSpc>
              <a:spcBef>
                <a:spcPts val="6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0"/>
              </a:spcBef>
              <a:spcAft>
                <a:spcPts val="0"/>
              </a:spcAft>
              <a:buClr>
                <a:schemeClr val="dk1"/>
              </a:buClr>
              <a:buSzPts val="1800"/>
              <a:buChar char="•"/>
              <a:defRPr/>
            </a:lvl1pPr>
            <a:lvl2pPr marL="914400" lvl="1" indent="-342900" algn="l">
              <a:lnSpc>
                <a:spcPct val="110000"/>
              </a:lnSpc>
              <a:spcBef>
                <a:spcPts val="600"/>
              </a:spcBef>
              <a:spcAft>
                <a:spcPts val="0"/>
              </a:spcAft>
              <a:buClr>
                <a:schemeClr val="dk1"/>
              </a:buClr>
              <a:buSzPts val="1800"/>
              <a:buChar char="•"/>
              <a:defRPr/>
            </a:lvl2pPr>
            <a:lvl3pPr marL="1371600" lvl="2" indent="-342900" algn="l">
              <a:lnSpc>
                <a:spcPct val="110000"/>
              </a:lnSpc>
              <a:spcBef>
                <a:spcPts val="600"/>
              </a:spcBef>
              <a:spcAft>
                <a:spcPts val="0"/>
              </a:spcAft>
              <a:buClr>
                <a:schemeClr val="dk1"/>
              </a:buClr>
              <a:buSzPts val="1800"/>
              <a:buChar char="•"/>
              <a:defRPr/>
            </a:lvl3pPr>
            <a:lvl4pPr marL="1828800" lvl="3" indent="-342900" algn="l">
              <a:lnSpc>
                <a:spcPct val="110000"/>
              </a:lnSpc>
              <a:spcBef>
                <a:spcPts val="600"/>
              </a:spcBef>
              <a:spcAft>
                <a:spcPts val="0"/>
              </a:spcAft>
              <a:buClr>
                <a:schemeClr val="dk1"/>
              </a:buClr>
              <a:buSzPts val="1800"/>
              <a:buChar char="•"/>
              <a:defRPr/>
            </a:lvl4pPr>
            <a:lvl5pPr marL="2286000" lvl="4" indent="-342900" algn="l">
              <a:lnSpc>
                <a:spcPct val="11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1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0"/>
              </a:spcBef>
              <a:spcAft>
                <a:spcPts val="0"/>
              </a:spcAft>
              <a:buClr>
                <a:schemeClr val="dk1"/>
              </a:buClr>
              <a:buSzPts val="1800"/>
              <a:buChar char="•"/>
              <a:defRPr/>
            </a:lvl1pPr>
            <a:lvl2pPr marL="914400" lvl="1" indent="-342900" algn="l">
              <a:lnSpc>
                <a:spcPct val="110000"/>
              </a:lnSpc>
              <a:spcBef>
                <a:spcPts val="600"/>
              </a:spcBef>
              <a:spcAft>
                <a:spcPts val="0"/>
              </a:spcAft>
              <a:buClr>
                <a:schemeClr val="dk1"/>
              </a:buClr>
              <a:buSzPts val="1800"/>
              <a:buChar char="•"/>
              <a:defRPr/>
            </a:lvl2pPr>
            <a:lvl3pPr marL="1371600" lvl="2" indent="-342900" algn="l">
              <a:lnSpc>
                <a:spcPct val="110000"/>
              </a:lnSpc>
              <a:spcBef>
                <a:spcPts val="600"/>
              </a:spcBef>
              <a:spcAft>
                <a:spcPts val="0"/>
              </a:spcAft>
              <a:buClr>
                <a:schemeClr val="dk1"/>
              </a:buClr>
              <a:buSzPts val="1800"/>
              <a:buChar char="•"/>
              <a:defRPr/>
            </a:lvl3pPr>
            <a:lvl4pPr marL="1828800" lvl="3" indent="-342900" algn="l">
              <a:lnSpc>
                <a:spcPct val="110000"/>
              </a:lnSpc>
              <a:spcBef>
                <a:spcPts val="600"/>
              </a:spcBef>
              <a:spcAft>
                <a:spcPts val="0"/>
              </a:spcAft>
              <a:buClr>
                <a:schemeClr val="dk1"/>
              </a:buClr>
              <a:buSzPts val="1800"/>
              <a:buChar char="•"/>
              <a:defRPr/>
            </a:lvl4pPr>
            <a:lvl5pPr marL="2286000" lvl="4" indent="-342900" algn="l">
              <a:lnSpc>
                <a:spcPct val="11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16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0"/>
              </a:spcBef>
              <a:spcAft>
                <a:spcPts val="0"/>
              </a:spcAft>
              <a:buClr>
                <a:schemeClr val="dk1"/>
              </a:buClr>
              <a:buSzPts val="1800"/>
              <a:buChar char="•"/>
              <a:defRPr/>
            </a:lvl1pPr>
            <a:lvl2pPr marL="914400" lvl="1" indent="-342900" algn="l">
              <a:lnSpc>
                <a:spcPct val="110000"/>
              </a:lnSpc>
              <a:spcBef>
                <a:spcPts val="600"/>
              </a:spcBef>
              <a:spcAft>
                <a:spcPts val="0"/>
              </a:spcAft>
              <a:buClr>
                <a:schemeClr val="dk1"/>
              </a:buClr>
              <a:buSzPts val="1800"/>
              <a:buChar char="•"/>
              <a:defRPr/>
            </a:lvl2pPr>
            <a:lvl3pPr marL="1371600" lvl="2" indent="-342900" algn="l">
              <a:lnSpc>
                <a:spcPct val="110000"/>
              </a:lnSpc>
              <a:spcBef>
                <a:spcPts val="600"/>
              </a:spcBef>
              <a:spcAft>
                <a:spcPts val="0"/>
              </a:spcAft>
              <a:buClr>
                <a:schemeClr val="dk1"/>
              </a:buClr>
              <a:buSzPts val="1800"/>
              <a:buChar char="•"/>
              <a:defRPr/>
            </a:lvl3pPr>
            <a:lvl4pPr marL="1828800" lvl="3" indent="-342900" algn="l">
              <a:lnSpc>
                <a:spcPct val="110000"/>
              </a:lnSpc>
              <a:spcBef>
                <a:spcPts val="600"/>
              </a:spcBef>
              <a:spcAft>
                <a:spcPts val="0"/>
              </a:spcAft>
              <a:buClr>
                <a:schemeClr val="dk1"/>
              </a:buClr>
              <a:buSzPts val="1800"/>
              <a:buChar char="•"/>
              <a:defRPr/>
            </a:lvl4pPr>
            <a:lvl5pPr marL="2286000" lvl="4" indent="-342900" algn="l">
              <a:lnSpc>
                <a:spcPct val="11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1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1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16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000"/>
              <a:buFont typeface="Calibri"/>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6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0"/>
              </a:spcBef>
              <a:spcAft>
                <a:spcPts val="0"/>
              </a:spcAft>
              <a:buClr>
                <a:srgbClr val="888888"/>
              </a:buClr>
              <a:buSzPts val="2400"/>
              <a:buNone/>
              <a:defRPr sz="2400">
                <a:solidFill>
                  <a:srgbClr val="888888"/>
                </a:solidFill>
              </a:defRPr>
            </a:lvl1pPr>
            <a:lvl2pPr marL="914400" lvl="1" indent="-228600" algn="l">
              <a:lnSpc>
                <a:spcPct val="110000"/>
              </a:lnSpc>
              <a:spcBef>
                <a:spcPts val="600"/>
              </a:spcBef>
              <a:spcAft>
                <a:spcPts val="0"/>
              </a:spcAft>
              <a:buClr>
                <a:srgbClr val="888888"/>
              </a:buClr>
              <a:buSzPts val="2000"/>
              <a:buNone/>
              <a:defRPr sz="2000">
                <a:solidFill>
                  <a:srgbClr val="888888"/>
                </a:solidFill>
              </a:defRPr>
            </a:lvl2pPr>
            <a:lvl3pPr marL="1371600" lvl="2" indent="-228600" algn="l">
              <a:lnSpc>
                <a:spcPct val="110000"/>
              </a:lnSpc>
              <a:spcBef>
                <a:spcPts val="600"/>
              </a:spcBef>
              <a:spcAft>
                <a:spcPts val="0"/>
              </a:spcAft>
              <a:buClr>
                <a:srgbClr val="888888"/>
              </a:buClr>
              <a:buSzPts val="1800"/>
              <a:buNone/>
              <a:defRPr sz="1800">
                <a:solidFill>
                  <a:srgbClr val="888888"/>
                </a:solidFill>
              </a:defRPr>
            </a:lvl3pPr>
            <a:lvl4pPr marL="1828800" lvl="3" indent="-228600" algn="l">
              <a:lnSpc>
                <a:spcPct val="110000"/>
              </a:lnSpc>
              <a:spcBef>
                <a:spcPts val="600"/>
              </a:spcBef>
              <a:spcAft>
                <a:spcPts val="0"/>
              </a:spcAft>
              <a:buClr>
                <a:srgbClr val="888888"/>
              </a:buClr>
              <a:buSzPts val="1600"/>
              <a:buNone/>
              <a:defRPr sz="1600">
                <a:solidFill>
                  <a:srgbClr val="888888"/>
                </a:solidFill>
              </a:defRPr>
            </a:lvl4pPr>
            <a:lvl5pPr marL="2286000" lvl="4" indent="-228600" algn="l">
              <a:lnSpc>
                <a:spcPct val="110000"/>
              </a:lnSpc>
              <a:spcBef>
                <a:spcPts val="600"/>
              </a:spcBef>
              <a:spcAft>
                <a:spcPts val="0"/>
              </a:spcAft>
              <a:buClr>
                <a:srgbClr val="888888"/>
              </a:buClr>
              <a:buSzPts val="1600"/>
              <a:buNone/>
              <a:defRPr sz="1600">
                <a:solidFill>
                  <a:srgbClr val="888888"/>
                </a:solidFill>
              </a:defRPr>
            </a:lvl5pPr>
            <a:lvl6pPr marL="2743200" lvl="5" indent="-228600" algn="l">
              <a:lnSpc>
                <a:spcPct val="90000"/>
              </a:lnSpc>
              <a:spcBef>
                <a:spcPts val="6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2" name="Google Shape;42;p1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5"/>
        <p:cNvGrpSpPr/>
        <p:nvPr/>
      </p:nvGrpSpPr>
      <p:grpSpPr>
        <a:xfrm>
          <a:off x="0" y="0"/>
          <a:ext cx="0" cy="0"/>
          <a:chOff x="0" y="0"/>
          <a:chExt cx="0" cy="0"/>
        </a:xfrm>
      </p:grpSpPr>
      <p:sp>
        <p:nvSpPr>
          <p:cNvPr id="46" name="Google Shape;46;p163"/>
          <p:cNvSpPr txBox="1">
            <a:spLocks noGrp="1"/>
          </p:cNvSpPr>
          <p:nvPr>
            <p:ph type="title"/>
          </p:nvPr>
        </p:nvSpPr>
        <p:spPr>
          <a:xfrm>
            <a:off x="1016001" y="1371601"/>
            <a:ext cx="10259484" cy="205581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63"/>
          <p:cNvSpPr txBox="1">
            <a:spLocks noGrp="1"/>
          </p:cNvSpPr>
          <p:nvPr>
            <p:ph type="dt" idx="10"/>
          </p:nvPr>
        </p:nvSpPr>
        <p:spPr>
          <a:xfrm>
            <a:off x="609601" y="6248401"/>
            <a:ext cx="2842684" cy="45561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63"/>
          <p:cNvSpPr txBox="1">
            <a:spLocks noGrp="1"/>
          </p:cNvSpPr>
          <p:nvPr>
            <p:ph type="ftr" idx="11"/>
          </p:nvPr>
        </p:nvSpPr>
        <p:spPr>
          <a:xfrm>
            <a:off x="4165601" y="6248401"/>
            <a:ext cx="3858684" cy="45561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63"/>
          <p:cNvSpPr txBox="1">
            <a:spLocks noGrp="1"/>
          </p:cNvSpPr>
          <p:nvPr>
            <p:ph type="sldNum" idx="12"/>
          </p:nvPr>
        </p:nvSpPr>
        <p:spPr>
          <a:xfrm>
            <a:off x="8737601" y="6248401"/>
            <a:ext cx="2842684" cy="45561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16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6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0"/>
              </a:spcBef>
              <a:spcAft>
                <a:spcPts val="0"/>
              </a:spcAft>
              <a:buClr>
                <a:schemeClr val="dk1"/>
              </a:buClr>
              <a:buSzPts val="2400"/>
              <a:buNone/>
              <a:defRPr sz="2400" b="1"/>
            </a:lvl1pPr>
            <a:lvl2pPr marL="914400" lvl="1" indent="-228600" algn="l">
              <a:lnSpc>
                <a:spcPct val="110000"/>
              </a:lnSpc>
              <a:spcBef>
                <a:spcPts val="600"/>
              </a:spcBef>
              <a:spcAft>
                <a:spcPts val="0"/>
              </a:spcAft>
              <a:buClr>
                <a:schemeClr val="dk1"/>
              </a:buClr>
              <a:buSzPts val="2000"/>
              <a:buNone/>
              <a:defRPr sz="2000" b="1"/>
            </a:lvl2pPr>
            <a:lvl3pPr marL="1371600" lvl="2" indent="-228600" algn="l">
              <a:lnSpc>
                <a:spcPct val="110000"/>
              </a:lnSpc>
              <a:spcBef>
                <a:spcPts val="600"/>
              </a:spcBef>
              <a:spcAft>
                <a:spcPts val="0"/>
              </a:spcAft>
              <a:buClr>
                <a:schemeClr val="dk1"/>
              </a:buClr>
              <a:buSzPts val="1800"/>
              <a:buNone/>
              <a:defRPr sz="1800" b="1"/>
            </a:lvl3pPr>
            <a:lvl4pPr marL="1828800" lvl="3" indent="-228600" algn="l">
              <a:lnSpc>
                <a:spcPct val="110000"/>
              </a:lnSpc>
              <a:spcBef>
                <a:spcPts val="600"/>
              </a:spcBef>
              <a:spcAft>
                <a:spcPts val="0"/>
              </a:spcAft>
              <a:buClr>
                <a:schemeClr val="dk1"/>
              </a:buClr>
              <a:buSzPts val="1600"/>
              <a:buNone/>
              <a:defRPr sz="1600" b="1"/>
            </a:lvl4pPr>
            <a:lvl5pPr marL="2286000" lvl="4" indent="-228600" algn="l">
              <a:lnSpc>
                <a:spcPct val="110000"/>
              </a:lnSpc>
              <a:spcBef>
                <a:spcPts val="600"/>
              </a:spcBef>
              <a:spcAft>
                <a:spcPts val="0"/>
              </a:spcAft>
              <a:buClr>
                <a:schemeClr val="dk1"/>
              </a:buClr>
              <a:buSzPts val="1600"/>
              <a:buNone/>
              <a:defRPr sz="1600" b="1"/>
            </a:lvl5pPr>
            <a:lvl6pPr marL="2743200" lvl="5" indent="-228600" algn="l">
              <a:lnSpc>
                <a:spcPct val="90000"/>
              </a:lnSpc>
              <a:spcBef>
                <a:spcPts val="6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16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0"/>
              </a:spcBef>
              <a:spcAft>
                <a:spcPts val="0"/>
              </a:spcAft>
              <a:buClr>
                <a:schemeClr val="dk1"/>
              </a:buClr>
              <a:buSzPts val="1800"/>
              <a:buChar char="•"/>
              <a:defRPr/>
            </a:lvl1pPr>
            <a:lvl2pPr marL="914400" lvl="1" indent="-342900" algn="l">
              <a:lnSpc>
                <a:spcPct val="110000"/>
              </a:lnSpc>
              <a:spcBef>
                <a:spcPts val="600"/>
              </a:spcBef>
              <a:spcAft>
                <a:spcPts val="0"/>
              </a:spcAft>
              <a:buClr>
                <a:schemeClr val="dk1"/>
              </a:buClr>
              <a:buSzPts val="1800"/>
              <a:buChar char="•"/>
              <a:defRPr/>
            </a:lvl2pPr>
            <a:lvl3pPr marL="1371600" lvl="2" indent="-342900" algn="l">
              <a:lnSpc>
                <a:spcPct val="110000"/>
              </a:lnSpc>
              <a:spcBef>
                <a:spcPts val="600"/>
              </a:spcBef>
              <a:spcAft>
                <a:spcPts val="0"/>
              </a:spcAft>
              <a:buClr>
                <a:schemeClr val="dk1"/>
              </a:buClr>
              <a:buSzPts val="1800"/>
              <a:buChar char="•"/>
              <a:defRPr/>
            </a:lvl3pPr>
            <a:lvl4pPr marL="1828800" lvl="3" indent="-342900" algn="l">
              <a:lnSpc>
                <a:spcPct val="110000"/>
              </a:lnSpc>
              <a:spcBef>
                <a:spcPts val="600"/>
              </a:spcBef>
              <a:spcAft>
                <a:spcPts val="0"/>
              </a:spcAft>
              <a:buClr>
                <a:schemeClr val="dk1"/>
              </a:buClr>
              <a:buSzPts val="1800"/>
              <a:buChar char="•"/>
              <a:defRPr/>
            </a:lvl4pPr>
            <a:lvl5pPr marL="2286000" lvl="4" indent="-342900" algn="l">
              <a:lnSpc>
                <a:spcPct val="11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6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0"/>
              </a:spcBef>
              <a:spcAft>
                <a:spcPts val="0"/>
              </a:spcAft>
              <a:buClr>
                <a:schemeClr val="dk1"/>
              </a:buClr>
              <a:buSzPts val="2400"/>
              <a:buNone/>
              <a:defRPr sz="2400" b="1"/>
            </a:lvl1pPr>
            <a:lvl2pPr marL="914400" lvl="1" indent="-228600" algn="l">
              <a:lnSpc>
                <a:spcPct val="110000"/>
              </a:lnSpc>
              <a:spcBef>
                <a:spcPts val="600"/>
              </a:spcBef>
              <a:spcAft>
                <a:spcPts val="0"/>
              </a:spcAft>
              <a:buClr>
                <a:schemeClr val="dk1"/>
              </a:buClr>
              <a:buSzPts val="2000"/>
              <a:buNone/>
              <a:defRPr sz="2000" b="1"/>
            </a:lvl2pPr>
            <a:lvl3pPr marL="1371600" lvl="2" indent="-228600" algn="l">
              <a:lnSpc>
                <a:spcPct val="110000"/>
              </a:lnSpc>
              <a:spcBef>
                <a:spcPts val="600"/>
              </a:spcBef>
              <a:spcAft>
                <a:spcPts val="0"/>
              </a:spcAft>
              <a:buClr>
                <a:schemeClr val="dk1"/>
              </a:buClr>
              <a:buSzPts val="1800"/>
              <a:buNone/>
              <a:defRPr sz="1800" b="1"/>
            </a:lvl3pPr>
            <a:lvl4pPr marL="1828800" lvl="3" indent="-228600" algn="l">
              <a:lnSpc>
                <a:spcPct val="110000"/>
              </a:lnSpc>
              <a:spcBef>
                <a:spcPts val="600"/>
              </a:spcBef>
              <a:spcAft>
                <a:spcPts val="0"/>
              </a:spcAft>
              <a:buClr>
                <a:schemeClr val="dk1"/>
              </a:buClr>
              <a:buSzPts val="1600"/>
              <a:buNone/>
              <a:defRPr sz="1600" b="1"/>
            </a:lvl4pPr>
            <a:lvl5pPr marL="2286000" lvl="4" indent="-228600" algn="l">
              <a:lnSpc>
                <a:spcPct val="110000"/>
              </a:lnSpc>
              <a:spcBef>
                <a:spcPts val="600"/>
              </a:spcBef>
              <a:spcAft>
                <a:spcPts val="0"/>
              </a:spcAft>
              <a:buClr>
                <a:schemeClr val="dk1"/>
              </a:buClr>
              <a:buSzPts val="1600"/>
              <a:buNone/>
              <a:defRPr sz="1600" b="1"/>
            </a:lvl5pPr>
            <a:lvl6pPr marL="2743200" lvl="5" indent="-228600" algn="l">
              <a:lnSpc>
                <a:spcPct val="90000"/>
              </a:lnSpc>
              <a:spcBef>
                <a:spcPts val="6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16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0"/>
              </a:spcBef>
              <a:spcAft>
                <a:spcPts val="0"/>
              </a:spcAft>
              <a:buClr>
                <a:schemeClr val="dk1"/>
              </a:buClr>
              <a:buSzPts val="1800"/>
              <a:buChar char="•"/>
              <a:defRPr/>
            </a:lvl1pPr>
            <a:lvl2pPr marL="914400" lvl="1" indent="-342900" algn="l">
              <a:lnSpc>
                <a:spcPct val="110000"/>
              </a:lnSpc>
              <a:spcBef>
                <a:spcPts val="600"/>
              </a:spcBef>
              <a:spcAft>
                <a:spcPts val="0"/>
              </a:spcAft>
              <a:buClr>
                <a:schemeClr val="dk1"/>
              </a:buClr>
              <a:buSzPts val="1800"/>
              <a:buChar char="•"/>
              <a:defRPr/>
            </a:lvl2pPr>
            <a:lvl3pPr marL="1371600" lvl="2" indent="-342900" algn="l">
              <a:lnSpc>
                <a:spcPct val="110000"/>
              </a:lnSpc>
              <a:spcBef>
                <a:spcPts val="600"/>
              </a:spcBef>
              <a:spcAft>
                <a:spcPts val="0"/>
              </a:spcAft>
              <a:buClr>
                <a:schemeClr val="dk1"/>
              </a:buClr>
              <a:buSzPts val="1800"/>
              <a:buChar char="•"/>
              <a:defRPr/>
            </a:lvl3pPr>
            <a:lvl4pPr marL="1828800" lvl="3" indent="-342900" algn="l">
              <a:lnSpc>
                <a:spcPct val="110000"/>
              </a:lnSpc>
              <a:spcBef>
                <a:spcPts val="600"/>
              </a:spcBef>
              <a:spcAft>
                <a:spcPts val="0"/>
              </a:spcAft>
              <a:buClr>
                <a:schemeClr val="dk1"/>
              </a:buClr>
              <a:buSzPts val="1800"/>
              <a:buChar char="•"/>
              <a:defRPr/>
            </a:lvl4pPr>
            <a:lvl5pPr marL="2286000" lvl="4" indent="-342900" algn="l">
              <a:lnSpc>
                <a:spcPct val="11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1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16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6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110000"/>
              </a:lnSpc>
              <a:spcBef>
                <a:spcPts val="0"/>
              </a:spcBef>
              <a:spcAft>
                <a:spcPts val="0"/>
              </a:spcAft>
              <a:buClr>
                <a:schemeClr val="dk1"/>
              </a:buClr>
              <a:buSzPts val="3200"/>
              <a:buChar char="•"/>
              <a:defRPr sz="3200"/>
            </a:lvl1pPr>
            <a:lvl2pPr marL="914400" lvl="1" indent="-406400" algn="l">
              <a:lnSpc>
                <a:spcPct val="110000"/>
              </a:lnSpc>
              <a:spcBef>
                <a:spcPts val="600"/>
              </a:spcBef>
              <a:spcAft>
                <a:spcPts val="0"/>
              </a:spcAft>
              <a:buClr>
                <a:schemeClr val="dk1"/>
              </a:buClr>
              <a:buSzPts val="2800"/>
              <a:buChar char="•"/>
              <a:defRPr sz="2800"/>
            </a:lvl2pPr>
            <a:lvl3pPr marL="1371600" lvl="2" indent="-381000" algn="l">
              <a:lnSpc>
                <a:spcPct val="110000"/>
              </a:lnSpc>
              <a:spcBef>
                <a:spcPts val="600"/>
              </a:spcBef>
              <a:spcAft>
                <a:spcPts val="0"/>
              </a:spcAft>
              <a:buClr>
                <a:schemeClr val="dk1"/>
              </a:buClr>
              <a:buSzPts val="2400"/>
              <a:buChar char="•"/>
              <a:defRPr sz="2400"/>
            </a:lvl3pPr>
            <a:lvl4pPr marL="1828800" lvl="3" indent="-355600" algn="l">
              <a:lnSpc>
                <a:spcPct val="110000"/>
              </a:lnSpc>
              <a:spcBef>
                <a:spcPts val="600"/>
              </a:spcBef>
              <a:spcAft>
                <a:spcPts val="0"/>
              </a:spcAft>
              <a:buClr>
                <a:schemeClr val="dk1"/>
              </a:buClr>
              <a:buSzPts val="2000"/>
              <a:buChar char="•"/>
              <a:defRPr sz="2000"/>
            </a:lvl4pPr>
            <a:lvl5pPr marL="2286000" lvl="4" indent="-355600" algn="l">
              <a:lnSpc>
                <a:spcPct val="110000"/>
              </a:lnSpc>
              <a:spcBef>
                <a:spcPts val="600"/>
              </a:spcBef>
              <a:spcAft>
                <a:spcPts val="0"/>
              </a:spcAft>
              <a:buClr>
                <a:schemeClr val="dk1"/>
              </a:buClr>
              <a:buSzPts val="2000"/>
              <a:buChar char="•"/>
              <a:defRPr sz="2000"/>
            </a:lvl5pPr>
            <a:lvl6pPr marL="2743200" lvl="5" indent="-355600" algn="l">
              <a:lnSpc>
                <a:spcPct val="90000"/>
              </a:lnSpc>
              <a:spcBef>
                <a:spcPts val="6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6" name="Google Shape;66;p16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0"/>
              </a:spcBef>
              <a:spcAft>
                <a:spcPts val="0"/>
              </a:spcAft>
              <a:buClr>
                <a:schemeClr val="dk1"/>
              </a:buClr>
              <a:buSzPts val="1600"/>
              <a:buNone/>
              <a:defRPr sz="1600"/>
            </a:lvl1pPr>
            <a:lvl2pPr marL="914400" lvl="1" indent="-228600" algn="l">
              <a:lnSpc>
                <a:spcPct val="110000"/>
              </a:lnSpc>
              <a:spcBef>
                <a:spcPts val="600"/>
              </a:spcBef>
              <a:spcAft>
                <a:spcPts val="0"/>
              </a:spcAft>
              <a:buClr>
                <a:schemeClr val="dk1"/>
              </a:buClr>
              <a:buSzPts val="1400"/>
              <a:buNone/>
              <a:defRPr sz="1400"/>
            </a:lvl2pPr>
            <a:lvl3pPr marL="1371600" lvl="2" indent="-228600" algn="l">
              <a:lnSpc>
                <a:spcPct val="110000"/>
              </a:lnSpc>
              <a:spcBef>
                <a:spcPts val="600"/>
              </a:spcBef>
              <a:spcAft>
                <a:spcPts val="0"/>
              </a:spcAft>
              <a:buClr>
                <a:schemeClr val="dk1"/>
              </a:buClr>
              <a:buSzPts val="1200"/>
              <a:buNone/>
              <a:defRPr sz="1200"/>
            </a:lvl3pPr>
            <a:lvl4pPr marL="1828800" lvl="3" indent="-228600" algn="l">
              <a:lnSpc>
                <a:spcPct val="110000"/>
              </a:lnSpc>
              <a:spcBef>
                <a:spcPts val="600"/>
              </a:spcBef>
              <a:spcAft>
                <a:spcPts val="0"/>
              </a:spcAft>
              <a:buClr>
                <a:schemeClr val="dk1"/>
              </a:buClr>
              <a:buSzPts val="1000"/>
              <a:buNone/>
              <a:defRPr sz="1000"/>
            </a:lvl4pPr>
            <a:lvl5pPr marL="2286000" lvl="4" indent="-228600" algn="l">
              <a:lnSpc>
                <a:spcPct val="110000"/>
              </a:lnSpc>
              <a:spcBef>
                <a:spcPts val="600"/>
              </a:spcBef>
              <a:spcAft>
                <a:spcPts val="0"/>
              </a:spcAft>
              <a:buClr>
                <a:schemeClr val="dk1"/>
              </a:buClr>
              <a:buSzPts val="1000"/>
              <a:buNone/>
              <a:defRPr sz="1000"/>
            </a:lvl5pPr>
            <a:lvl6pPr marL="2743200" lvl="5" indent="-228600" algn="l">
              <a:lnSpc>
                <a:spcPct val="90000"/>
              </a:lnSpc>
              <a:spcBef>
                <a:spcPts val="6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7" name="Google Shape;67;p1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16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67"/>
          <p:cNvSpPr>
            <a:spLocks noGrp="1"/>
          </p:cNvSpPr>
          <p:nvPr>
            <p:ph type="pic" idx="2"/>
          </p:nvPr>
        </p:nvSpPr>
        <p:spPr>
          <a:xfrm>
            <a:off x="5183188" y="987425"/>
            <a:ext cx="6172200" cy="4873625"/>
          </a:xfrm>
          <a:prstGeom prst="rect">
            <a:avLst/>
          </a:prstGeom>
          <a:noFill/>
          <a:ln>
            <a:noFill/>
          </a:ln>
        </p:spPr>
      </p:sp>
      <p:sp>
        <p:nvSpPr>
          <p:cNvPr id="73" name="Google Shape;73;p16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0"/>
              </a:spcBef>
              <a:spcAft>
                <a:spcPts val="0"/>
              </a:spcAft>
              <a:buClr>
                <a:schemeClr val="dk1"/>
              </a:buClr>
              <a:buSzPts val="1600"/>
              <a:buNone/>
              <a:defRPr sz="1600"/>
            </a:lvl1pPr>
            <a:lvl2pPr marL="914400" lvl="1" indent="-228600" algn="l">
              <a:lnSpc>
                <a:spcPct val="110000"/>
              </a:lnSpc>
              <a:spcBef>
                <a:spcPts val="600"/>
              </a:spcBef>
              <a:spcAft>
                <a:spcPts val="0"/>
              </a:spcAft>
              <a:buClr>
                <a:schemeClr val="dk1"/>
              </a:buClr>
              <a:buSzPts val="1400"/>
              <a:buNone/>
              <a:defRPr sz="1400"/>
            </a:lvl2pPr>
            <a:lvl3pPr marL="1371600" lvl="2" indent="-228600" algn="l">
              <a:lnSpc>
                <a:spcPct val="110000"/>
              </a:lnSpc>
              <a:spcBef>
                <a:spcPts val="600"/>
              </a:spcBef>
              <a:spcAft>
                <a:spcPts val="0"/>
              </a:spcAft>
              <a:buClr>
                <a:schemeClr val="dk1"/>
              </a:buClr>
              <a:buSzPts val="1200"/>
              <a:buNone/>
              <a:defRPr sz="1200"/>
            </a:lvl3pPr>
            <a:lvl4pPr marL="1828800" lvl="3" indent="-228600" algn="l">
              <a:lnSpc>
                <a:spcPct val="110000"/>
              </a:lnSpc>
              <a:spcBef>
                <a:spcPts val="600"/>
              </a:spcBef>
              <a:spcAft>
                <a:spcPts val="0"/>
              </a:spcAft>
              <a:buClr>
                <a:schemeClr val="dk1"/>
              </a:buClr>
              <a:buSzPts val="1000"/>
              <a:buNone/>
              <a:defRPr sz="1000"/>
            </a:lvl4pPr>
            <a:lvl5pPr marL="2286000" lvl="4" indent="-228600" algn="l">
              <a:lnSpc>
                <a:spcPct val="110000"/>
              </a:lnSpc>
              <a:spcBef>
                <a:spcPts val="600"/>
              </a:spcBef>
              <a:spcAft>
                <a:spcPts val="0"/>
              </a:spcAft>
              <a:buClr>
                <a:schemeClr val="dk1"/>
              </a:buClr>
              <a:buSzPts val="1000"/>
              <a:buNone/>
              <a:defRPr sz="1000"/>
            </a:lvl5pPr>
            <a:lvl6pPr marL="2743200" lvl="5" indent="-228600" algn="l">
              <a:lnSpc>
                <a:spcPct val="90000"/>
              </a:lnSpc>
              <a:spcBef>
                <a:spcPts val="6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1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1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6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0"/>
              </a:spcBef>
              <a:spcAft>
                <a:spcPts val="0"/>
              </a:spcAft>
              <a:buClr>
                <a:schemeClr val="dk1"/>
              </a:buClr>
              <a:buSzPts val="1800"/>
              <a:buChar char="•"/>
              <a:defRPr/>
            </a:lvl1pPr>
            <a:lvl2pPr marL="914400" lvl="1" indent="-342900" algn="l">
              <a:lnSpc>
                <a:spcPct val="110000"/>
              </a:lnSpc>
              <a:spcBef>
                <a:spcPts val="600"/>
              </a:spcBef>
              <a:spcAft>
                <a:spcPts val="0"/>
              </a:spcAft>
              <a:buClr>
                <a:schemeClr val="dk1"/>
              </a:buClr>
              <a:buSzPts val="1800"/>
              <a:buChar char="•"/>
              <a:defRPr/>
            </a:lvl2pPr>
            <a:lvl3pPr marL="1371600" lvl="2" indent="-342900" algn="l">
              <a:lnSpc>
                <a:spcPct val="110000"/>
              </a:lnSpc>
              <a:spcBef>
                <a:spcPts val="600"/>
              </a:spcBef>
              <a:spcAft>
                <a:spcPts val="0"/>
              </a:spcAft>
              <a:buClr>
                <a:schemeClr val="dk1"/>
              </a:buClr>
              <a:buSzPts val="1800"/>
              <a:buChar char="•"/>
              <a:defRPr/>
            </a:lvl3pPr>
            <a:lvl4pPr marL="1828800" lvl="3" indent="-342900" algn="l">
              <a:lnSpc>
                <a:spcPct val="110000"/>
              </a:lnSpc>
              <a:spcBef>
                <a:spcPts val="600"/>
              </a:spcBef>
              <a:spcAft>
                <a:spcPts val="0"/>
              </a:spcAft>
              <a:buClr>
                <a:schemeClr val="dk1"/>
              </a:buClr>
              <a:buSzPts val="1800"/>
              <a:buChar char="•"/>
              <a:defRPr/>
            </a:lvl4pPr>
            <a:lvl5pPr marL="2286000" lvl="4" indent="-342900" algn="l">
              <a:lnSpc>
                <a:spcPct val="11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1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16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6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0"/>
              </a:spcBef>
              <a:spcAft>
                <a:spcPts val="0"/>
              </a:spcAft>
              <a:buClr>
                <a:schemeClr val="dk1"/>
              </a:buClr>
              <a:buSzPts val="1800"/>
              <a:buChar char="•"/>
              <a:defRPr/>
            </a:lvl1pPr>
            <a:lvl2pPr marL="914400" lvl="1" indent="-342900" algn="l">
              <a:lnSpc>
                <a:spcPct val="110000"/>
              </a:lnSpc>
              <a:spcBef>
                <a:spcPts val="600"/>
              </a:spcBef>
              <a:spcAft>
                <a:spcPts val="0"/>
              </a:spcAft>
              <a:buClr>
                <a:schemeClr val="dk1"/>
              </a:buClr>
              <a:buSzPts val="1800"/>
              <a:buChar char="•"/>
              <a:defRPr/>
            </a:lvl2pPr>
            <a:lvl3pPr marL="1371600" lvl="2" indent="-342900" algn="l">
              <a:lnSpc>
                <a:spcPct val="110000"/>
              </a:lnSpc>
              <a:spcBef>
                <a:spcPts val="600"/>
              </a:spcBef>
              <a:spcAft>
                <a:spcPts val="0"/>
              </a:spcAft>
              <a:buClr>
                <a:schemeClr val="dk1"/>
              </a:buClr>
              <a:buSzPts val="1800"/>
              <a:buChar char="•"/>
              <a:defRPr/>
            </a:lvl3pPr>
            <a:lvl4pPr marL="1828800" lvl="3" indent="-342900" algn="l">
              <a:lnSpc>
                <a:spcPct val="110000"/>
              </a:lnSpc>
              <a:spcBef>
                <a:spcPts val="600"/>
              </a:spcBef>
              <a:spcAft>
                <a:spcPts val="0"/>
              </a:spcAft>
              <a:buClr>
                <a:schemeClr val="dk1"/>
              </a:buClr>
              <a:buSzPts val="1800"/>
              <a:buChar char="•"/>
              <a:defRPr/>
            </a:lvl4pPr>
            <a:lvl5pPr marL="2286000" lvl="4" indent="-342900" algn="l">
              <a:lnSpc>
                <a:spcPct val="11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1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5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10000"/>
              </a:lnSpc>
              <a:spcBef>
                <a:spcPts val="6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10000"/>
              </a:lnSpc>
              <a:spcBef>
                <a:spcPts val="6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0000"/>
              </a:lnSpc>
              <a:spcBef>
                <a:spcPts val="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0000"/>
              </a:lnSpc>
              <a:spcBef>
                <a:spcPts val="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3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3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3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37.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38.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39.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4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40.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hyperlink" Target="http://www.ece.ucsb.edu/~parhami/pubs_folder/parh88-ijeee-ultimate-risc.pdf" TargetMode="External"/><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
          <p:cNvSpPr txBox="1"/>
          <p:nvPr/>
        </p:nvSpPr>
        <p:spPr>
          <a:xfrm>
            <a:off x="406400" y="889000"/>
            <a:ext cx="11379200" cy="1727200"/>
          </a:xfrm>
          <a:prstGeom prst="rect">
            <a:avLst/>
          </a:prstGeom>
          <a:noFill/>
          <a:ln>
            <a:noFill/>
          </a:ln>
        </p:spPr>
        <p:txBody>
          <a:bodyPr spcFirstLastPara="1" wrap="square" lIns="91425" tIns="45700" rIns="91425" bIns="45700" anchor="t" anchorCtr="0">
            <a:normAutofit/>
          </a:bodyPr>
          <a:lstStyle/>
          <a:p>
            <a:pPr marL="457189" marR="0" lvl="0" indent="-457189" algn="ctr" rtl="0">
              <a:lnSpc>
                <a:spcPct val="140000"/>
              </a:lnSpc>
              <a:spcBef>
                <a:spcPts val="0"/>
              </a:spcBef>
              <a:spcAft>
                <a:spcPts val="0"/>
              </a:spcAft>
              <a:buNone/>
            </a:pPr>
            <a:r>
              <a:rPr lang="en-US" sz="5067" b="1" i="0" u="none" strike="noStrike" cap="none">
                <a:solidFill>
                  <a:srgbClr val="800000"/>
                </a:solidFill>
                <a:latin typeface="Calibri"/>
                <a:ea typeface="Calibri"/>
                <a:cs typeface="Calibri"/>
                <a:sym typeface="Calibri"/>
              </a:rPr>
              <a:t>Computer Organization and Architecture</a:t>
            </a:r>
            <a:endParaRPr/>
          </a:p>
          <a:p>
            <a:pPr marL="457189" marR="0" lvl="0" indent="-457189" algn="ctr" rtl="0">
              <a:spcBef>
                <a:spcPts val="1333"/>
              </a:spcBef>
              <a:spcAft>
                <a:spcPts val="0"/>
              </a:spcAft>
              <a:buNone/>
            </a:pPr>
            <a:endParaRPr sz="2667" b="1" i="0" u="none" strike="noStrike" cap="none">
              <a:solidFill>
                <a:schemeClr val="accent2"/>
              </a:solidFill>
              <a:latin typeface="Century Gothic"/>
              <a:ea typeface="Century Gothic"/>
              <a:cs typeface="Century Gothic"/>
              <a:sym typeface="Century Gothic"/>
            </a:endParaRPr>
          </a:p>
        </p:txBody>
      </p:sp>
      <p:sp>
        <p:nvSpPr>
          <p:cNvPr id="94" name="Google Shape;94;p1"/>
          <p:cNvSpPr txBox="1"/>
          <p:nvPr/>
        </p:nvSpPr>
        <p:spPr>
          <a:xfrm>
            <a:off x="1727200" y="4221223"/>
            <a:ext cx="8534400" cy="1500127"/>
          </a:xfrm>
          <a:prstGeom prst="rect">
            <a:avLst/>
          </a:prstGeom>
          <a:noFill/>
          <a:ln>
            <a:noFill/>
          </a:ln>
        </p:spPr>
        <p:txBody>
          <a:bodyPr spcFirstLastPara="1" wrap="square" lIns="121900" tIns="60950" rIns="121900" bIns="60950" anchor="t" anchorCtr="0">
            <a:normAutofit/>
          </a:bodyPr>
          <a:lstStyle/>
          <a:p>
            <a:pPr marL="0" marR="0" lvl="0" indent="0" algn="ctr" rtl="0">
              <a:spcBef>
                <a:spcPts val="0"/>
              </a:spcBef>
              <a:spcAft>
                <a:spcPts val="0"/>
              </a:spcAft>
              <a:buNone/>
            </a:pPr>
            <a:r>
              <a:rPr lang="en-US" sz="2667" b="1" i="0" u="none" strike="noStrike" cap="none">
                <a:solidFill>
                  <a:srgbClr val="000090"/>
                </a:solidFill>
                <a:latin typeface="Calibri"/>
                <a:ea typeface="Calibri"/>
                <a:cs typeface="Calibri"/>
                <a:sym typeface="Calibri"/>
              </a:rPr>
              <a:t>Department of Computer Science and Engineering </a:t>
            </a:r>
            <a:endParaRPr/>
          </a:p>
          <a:p>
            <a:pPr marL="0" marR="0" lvl="0" indent="0" algn="ctr" rtl="0">
              <a:spcBef>
                <a:spcPts val="1333"/>
              </a:spcBef>
              <a:spcAft>
                <a:spcPts val="0"/>
              </a:spcAft>
              <a:buNone/>
            </a:pPr>
            <a:r>
              <a:rPr lang="en-US" sz="2667" b="1" i="0" u="none" strike="noStrike" cap="none">
                <a:solidFill>
                  <a:srgbClr val="000090"/>
                </a:solidFill>
                <a:latin typeface="Calibri"/>
                <a:ea typeface="Calibri"/>
                <a:cs typeface="Calibri"/>
                <a:sym typeface="Calibri"/>
              </a:rPr>
              <a:t>IIT Kharagpur</a:t>
            </a:r>
            <a:endParaRPr sz="2667" b="1" i="0" u="none" strike="noStrike" cap="none">
              <a:solidFill>
                <a:srgbClr val="000090"/>
              </a:solidFill>
              <a:latin typeface="Calibri"/>
              <a:ea typeface="Calibri"/>
              <a:cs typeface="Calibri"/>
              <a:sym typeface="Calibri"/>
            </a:endParaRPr>
          </a:p>
        </p:txBody>
      </p:sp>
      <p:sp>
        <p:nvSpPr>
          <p:cNvPr id="95" name="Google Shape;95;p1"/>
          <p:cNvSpPr txBox="1"/>
          <p:nvPr/>
        </p:nvSpPr>
        <p:spPr>
          <a:xfrm>
            <a:off x="859316" y="2302524"/>
            <a:ext cx="10432973" cy="1723549"/>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7030A0"/>
                </a:solidFill>
                <a:latin typeface="Calibri"/>
                <a:ea typeface="Calibri"/>
                <a:cs typeface="Calibri"/>
                <a:sym typeface="Calibri"/>
              </a:rPr>
              <a:t>Module 2</a:t>
            </a:r>
            <a:endParaRPr/>
          </a:p>
          <a:p>
            <a:pPr marL="0" marR="0" lvl="0" indent="0" algn="ctr" rtl="0">
              <a:spcBef>
                <a:spcPts val="1200"/>
              </a:spcBef>
              <a:spcAft>
                <a:spcPts val="0"/>
              </a:spcAft>
              <a:buNone/>
            </a:pPr>
            <a:r>
              <a:rPr lang="en-US" sz="3200" b="1" i="0" u="none" strike="noStrike" cap="none">
                <a:solidFill>
                  <a:srgbClr val="7030A0"/>
                </a:solidFill>
                <a:latin typeface="Calibri"/>
                <a:ea typeface="Calibri"/>
                <a:cs typeface="Calibri"/>
                <a:sym typeface="Calibri"/>
              </a:rPr>
              <a:t>Basic Operation of Computer Systems, Instruction Set &amp; Addressing Modes, Instruction Encoding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a:spLocks noGrp="1"/>
          </p:cNvSpPr>
          <p:nvPr>
            <p:ph type="ctrTitle"/>
          </p:nvPr>
        </p:nvSpPr>
        <p:spPr>
          <a:xfrm>
            <a:off x="1064871" y="1122363"/>
            <a:ext cx="10046825"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000"/>
              <a:buFont typeface="Calibri"/>
              <a:buNone/>
            </a:pPr>
            <a:r>
              <a:rPr lang="en-US"/>
              <a:t>Basic Block Diagram of a Computer System</a:t>
            </a:r>
            <a:endParaRPr/>
          </a:p>
        </p:txBody>
      </p:sp>
      <p:sp>
        <p:nvSpPr>
          <p:cNvPr id="101" name="Google Shape;101;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110000"/>
              </a:lnSpc>
              <a:spcBef>
                <a:spcPts val="0"/>
              </a:spcBef>
              <a:spcAft>
                <a:spcPts val="0"/>
              </a:spcAft>
              <a:buClr>
                <a:schemeClr val="dk1"/>
              </a:buClr>
              <a:buSzPts val="24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3"/>
          <p:cNvPicPr preferRelativeResize="0">
            <a:picLocks noGrp="1"/>
          </p:cNvPicPr>
          <p:nvPr>
            <p:ph type="body" idx="1"/>
          </p:nvPr>
        </p:nvPicPr>
        <p:blipFill rotWithShape="1">
          <a:blip r:embed="rId3">
            <a:alphaModFix/>
          </a:blip>
          <a:srcRect l="-244" r="-87"/>
          <a:stretch/>
        </p:blipFill>
        <p:spPr>
          <a:xfrm>
            <a:off x="5791200" y="889000"/>
            <a:ext cx="6230600" cy="4525963"/>
          </a:xfrm>
          <a:prstGeom prst="rect">
            <a:avLst/>
          </a:prstGeom>
          <a:noFill/>
          <a:ln>
            <a:noFill/>
          </a:ln>
        </p:spPr>
      </p:pic>
      <p:sp>
        <p:nvSpPr>
          <p:cNvPr id="107" name="Google Shape;107;p3"/>
          <p:cNvSpPr txBox="1"/>
          <p:nvPr/>
        </p:nvSpPr>
        <p:spPr>
          <a:xfrm>
            <a:off x="101600" y="787401"/>
            <a:ext cx="5486400" cy="46833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chemeClr val="dk1"/>
                </a:solidFill>
                <a:latin typeface="Calibri"/>
                <a:ea typeface="Calibri"/>
                <a:cs typeface="Calibri"/>
                <a:sym typeface="Calibri"/>
              </a:rPr>
              <a:t>Simplified Block Diagram</a:t>
            </a:r>
            <a:endParaRPr/>
          </a:p>
          <a:p>
            <a:pPr marL="457189" marR="0" lvl="0" indent="-457189" algn="l" rtl="0">
              <a:lnSpc>
                <a:spcPct val="114000"/>
              </a:lnSpc>
              <a:spcBef>
                <a:spcPts val="8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All instructions and data are stored in memory.</a:t>
            </a:r>
            <a:endParaRPr/>
          </a:p>
          <a:p>
            <a:pPr marL="457189" marR="0" lvl="0" indent="-457189" algn="l" rtl="0">
              <a:lnSpc>
                <a:spcPct val="114000"/>
              </a:lnSpc>
              <a:spcBef>
                <a:spcPts val="6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An instruction and the required data are brought into the processor for execution.</a:t>
            </a:r>
            <a:endParaRPr/>
          </a:p>
          <a:p>
            <a:pPr marL="457189" marR="0" lvl="0" indent="-457189" algn="l" rtl="0">
              <a:lnSpc>
                <a:spcPct val="114000"/>
              </a:lnSpc>
              <a:spcBef>
                <a:spcPts val="6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Input / Output devices interface with the outside world.</a:t>
            </a:r>
            <a:endParaRPr/>
          </a:p>
          <a:p>
            <a:pPr marL="457189" marR="0" lvl="0" indent="-457189" algn="l" rtl="0">
              <a:lnSpc>
                <a:spcPct val="114000"/>
              </a:lnSpc>
              <a:spcBef>
                <a:spcPts val="6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Referred to as </a:t>
            </a:r>
            <a:r>
              <a:rPr lang="en-US" sz="2400" b="0" i="1" u="none" strike="noStrike" cap="none">
                <a:solidFill>
                  <a:srgbClr val="800000"/>
                </a:solidFill>
                <a:latin typeface="Calibri"/>
                <a:ea typeface="Calibri"/>
                <a:cs typeface="Calibri"/>
                <a:sym typeface="Calibri"/>
              </a:rPr>
              <a:t>von-Neumann architecture</a:t>
            </a:r>
            <a:r>
              <a:rPr lang="en-US" sz="2400" b="0" i="0" u="none" strike="noStrike" cap="none">
                <a:solidFill>
                  <a:schemeClr val="dk1"/>
                </a:solidFill>
                <a:latin typeface="Calibri"/>
                <a:ea typeface="Calibri"/>
                <a:cs typeface="Calibri"/>
                <a:sym typeface="Calibri"/>
              </a:rPr>
              <a:t>.</a:t>
            </a:r>
            <a:endParaRPr/>
          </a:p>
        </p:txBody>
      </p:sp>
      <p:sp>
        <p:nvSpPr>
          <p:cNvPr id="108" name="Google Shape;108;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body" idx="1"/>
          </p:nvPr>
        </p:nvSpPr>
        <p:spPr>
          <a:xfrm>
            <a:off x="609600" y="1377707"/>
            <a:ext cx="10972800" cy="50800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3200"/>
              <a:buChar char="•"/>
            </a:pPr>
            <a:r>
              <a:rPr lang="en-US" sz="3200" b="1"/>
              <a:t>Inside the Processor</a:t>
            </a:r>
            <a:endParaRPr/>
          </a:p>
          <a:p>
            <a:pPr marL="685800" lvl="1" indent="-228600" algn="l" rtl="0">
              <a:lnSpc>
                <a:spcPct val="110000"/>
              </a:lnSpc>
              <a:spcBef>
                <a:spcPts val="600"/>
              </a:spcBef>
              <a:spcAft>
                <a:spcPts val="0"/>
              </a:spcAft>
              <a:buClr>
                <a:schemeClr val="dk1"/>
              </a:buClr>
              <a:buSzPts val="2667"/>
              <a:buChar char="•"/>
            </a:pPr>
            <a:r>
              <a:rPr lang="en-US" sz="2667"/>
              <a:t>Also called </a:t>
            </a:r>
            <a:r>
              <a:rPr lang="en-US" sz="2667" i="1">
                <a:solidFill>
                  <a:srgbClr val="800000"/>
                </a:solidFill>
              </a:rPr>
              <a:t>Central Processing Unit </a:t>
            </a:r>
            <a:r>
              <a:rPr lang="en-US" sz="2667"/>
              <a:t>(CPU).</a:t>
            </a:r>
            <a:endParaRPr/>
          </a:p>
          <a:p>
            <a:pPr marL="685800" lvl="1" indent="-228600" algn="l" rtl="0">
              <a:lnSpc>
                <a:spcPct val="110000"/>
              </a:lnSpc>
              <a:spcBef>
                <a:spcPts val="600"/>
              </a:spcBef>
              <a:spcAft>
                <a:spcPts val="0"/>
              </a:spcAft>
              <a:buClr>
                <a:schemeClr val="dk1"/>
              </a:buClr>
              <a:buSzPts val="2667"/>
              <a:buChar char="•"/>
            </a:pPr>
            <a:r>
              <a:rPr lang="en-US" sz="2667"/>
              <a:t>Consists of a </a:t>
            </a:r>
            <a:r>
              <a:rPr lang="en-US" sz="2667" i="1">
                <a:solidFill>
                  <a:srgbClr val="800000"/>
                </a:solidFill>
              </a:rPr>
              <a:t>Control Unit </a:t>
            </a:r>
            <a:r>
              <a:rPr lang="en-US" sz="2667"/>
              <a:t>and an </a:t>
            </a:r>
            <a:r>
              <a:rPr lang="en-US" sz="2667" i="1">
                <a:solidFill>
                  <a:srgbClr val="800000"/>
                </a:solidFill>
              </a:rPr>
              <a:t>Arithmetic Logic Unit </a:t>
            </a:r>
            <a:r>
              <a:rPr lang="en-US" sz="2667"/>
              <a:t>(ALU).</a:t>
            </a:r>
            <a:endParaRPr/>
          </a:p>
          <a:p>
            <a:pPr marL="1143000" lvl="2" indent="-228600" algn="l" rtl="0">
              <a:lnSpc>
                <a:spcPct val="110000"/>
              </a:lnSpc>
              <a:spcBef>
                <a:spcPts val="600"/>
              </a:spcBef>
              <a:spcAft>
                <a:spcPts val="0"/>
              </a:spcAft>
              <a:buClr>
                <a:schemeClr val="dk1"/>
              </a:buClr>
              <a:buSzPts val="2400"/>
              <a:buChar char="•"/>
            </a:pPr>
            <a:r>
              <a:rPr lang="en-US" sz="2400"/>
              <a:t>All calculations happen inside the ALU.</a:t>
            </a:r>
            <a:endParaRPr/>
          </a:p>
          <a:p>
            <a:pPr marL="1143000" lvl="2" indent="-228600" algn="l" rtl="0">
              <a:lnSpc>
                <a:spcPct val="110000"/>
              </a:lnSpc>
              <a:spcBef>
                <a:spcPts val="600"/>
              </a:spcBef>
              <a:spcAft>
                <a:spcPts val="0"/>
              </a:spcAft>
              <a:buClr>
                <a:schemeClr val="dk1"/>
              </a:buClr>
              <a:buSzPts val="2400"/>
              <a:buChar char="•"/>
            </a:pPr>
            <a:r>
              <a:rPr lang="en-US" sz="2400"/>
              <a:t>The Control Unit generates sequence of control signals to carry out all operations.</a:t>
            </a:r>
            <a:endParaRPr/>
          </a:p>
          <a:p>
            <a:pPr marL="685800" lvl="1" indent="-228600" algn="l" rtl="0">
              <a:lnSpc>
                <a:spcPct val="110000"/>
              </a:lnSpc>
              <a:spcBef>
                <a:spcPts val="600"/>
              </a:spcBef>
              <a:spcAft>
                <a:spcPts val="0"/>
              </a:spcAft>
              <a:buClr>
                <a:schemeClr val="dk1"/>
              </a:buClr>
              <a:buSzPts val="2667"/>
              <a:buChar char="•"/>
            </a:pPr>
            <a:r>
              <a:rPr lang="en-US" sz="2667"/>
              <a:t>The processor fetches an instruction from memory for execution.</a:t>
            </a:r>
            <a:endParaRPr/>
          </a:p>
          <a:p>
            <a:pPr marL="1143000" lvl="2" indent="-228600" algn="l" rtl="0">
              <a:lnSpc>
                <a:spcPct val="110000"/>
              </a:lnSpc>
              <a:spcBef>
                <a:spcPts val="600"/>
              </a:spcBef>
              <a:spcAft>
                <a:spcPts val="0"/>
              </a:spcAft>
              <a:buClr>
                <a:schemeClr val="dk1"/>
              </a:buClr>
              <a:buSzPts val="2400"/>
              <a:buChar char="•"/>
            </a:pPr>
            <a:r>
              <a:rPr lang="en-US" sz="2400"/>
              <a:t>An instruction specifies the exact operation to be carried out.</a:t>
            </a:r>
            <a:endParaRPr/>
          </a:p>
          <a:p>
            <a:pPr marL="1143000" lvl="2" indent="-228600" algn="l" rtl="0">
              <a:lnSpc>
                <a:spcPct val="110000"/>
              </a:lnSpc>
              <a:spcBef>
                <a:spcPts val="600"/>
              </a:spcBef>
              <a:spcAft>
                <a:spcPts val="0"/>
              </a:spcAft>
              <a:buClr>
                <a:schemeClr val="dk1"/>
              </a:buClr>
              <a:buSzPts val="2400"/>
              <a:buChar char="•"/>
            </a:pPr>
            <a:r>
              <a:rPr lang="en-US" sz="2400"/>
              <a:t>It also specifies the data that are to be operated on.</a:t>
            </a:r>
            <a:endParaRPr/>
          </a:p>
        </p:txBody>
      </p:sp>
      <p:sp>
        <p:nvSpPr>
          <p:cNvPr id="114" name="Google Shape;1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115" name="Google Shape;115;p4"/>
          <p:cNvPicPr preferRelativeResize="0"/>
          <p:nvPr/>
        </p:nvPicPr>
        <p:blipFill rotWithShape="1">
          <a:blip r:embed="rId3">
            <a:alphaModFix/>
          </a:blip>
          <a:srcRect l="-244" r="-87"/>
          <a:stretch/>
        </p:blipFill>
        <p:spPr>
          <a:xfrm>
            <a:off x="8976913" y="150475"/>
            <a:ext cx="2929140" cy="212775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endParaRPr/>
          </a:p>
        </p:txBody>
      </p:sp>
      <p:sp>
        <p:nvSpPr>
          <p:cNvPr id="121" name="Google Shape;121;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rgbClr val="800000"/>
              </a:buClr>
              <a:buSzPts val="2800"/>
              <a:buChar char="•"/>
            </a:pPr>
            <a:r>
              <a:rPr lang="en-US" b="1">
                <a:solidFill>
                  <a:srgbClr val="800000"/>
                </a:solidFill>
              </a:rPr>
              <a:t>What is the role of ALU?</a:t>
            </a:r>
            <a:endParaRPr/>
          </a:p>
          <a:p>
            <a:pPr marL="685800" lvl="1" indent="-228600" algn="l" rtl="0">
              <a:lnSpc>
                <a:spcPct val="110000"/>
              </a:lnSpc>
              <a:spcBef>
                <a:spcPts val="600"/>
              </a:spcBef>
              <a:spcAft>
                <a:spcPts val="0"/>
              </a:spcAft>
              <a:buClr>
                <a:schemeClr val="dk1"/>
              </a:buClr>
              <a:buSzPts val="2400"/>
              <a:buChar char="•"/>
            </a:pPr>
            <a:r>
              <a:rPr lang="en-US"/>
              <a:t>It contains several registers, some general-purpose and some special-purpose, for temporary storage of data.</a:t>
            </a:r>
            <a:endParaRPr/>
          </a:p>
          <a:p>
            <a:pPr marL="685800" lvl="1" indent="-228600" algn="l" rtl="0">
              <a:lnSpc>
                <a:spcPct val="110000"/>
              </a:lnSpc>
              <a:spcBef>
                <a:spcPts val="600"/>
              </a:spcBef>
              <a:spcAft>
                <a:spcPts val="0"/>
              </a:spcAft>
              <a:buClr>
                <a:schemeClr val="dk1"/>
              </a:buClr>
              <a:buSzPts val="2400"/>
              <a:buChar char="•"/>
            </a:pPr>
            <a:r>
              <a:rPr lang="en-US"/>
              <a:t>It contains circuitry to carry out logic operations, like AND, OR, NOT, shift, compare, etc.</a:t>
            </a:r>
            <a:endParaRPr/>
          </a:p>
          <a:p>
            <a:pPr marL="685800" lvl="1" indent="-228600" algn="l" rtl="0">
              <a:lnSpc>
                <a:spcPct val="110000"/>
              </a:lnSpc>
              <a:spcBef>
                <a:spcPts val="600"/>
              </a:spcBef>
              <a:spcAft>
                <a:spcPts val="0"/>
              </a:spcAft>
              <a:buClr>
                <a:schemeClr val="dk1"/>
              </a:buClr>
              <a:buSzPts val="2400"/>
              <a:buChar char="•"/>
            </a:pPr>
            <a:r>
              <a:rPr lang="en-US"/>
              <a:t>It contains circuitry to carry out arithmetic operations like addition, subtraction, multiplication, division, etc.</a:t>
            </a:r>
            <a:endParaRPr/>
          </a:p>
          <a:p>
            <a:pPr marL="685800" lvl="1" indent="-228600" algn="l" rtl="0">
              <a:lnSpc>
                <a:spcPct val="110000"/>
              </a:lnSpc>
              <a:spcBef>
                <a:spcPts val="600"/>
              </a:spcBef>
              <a:spcAft>
                <a:spcPts val="0"/>
              </a:spcAft>
              <a:buClr>
                <a:schemeClr val="dk1"/>
              </a:buClr>
              <a:buSzPts val="2400"/>
              <a:buChar char="•"/>
            </a:pPr>
            <a:r>
              <a:rPr lang="en-US"/>
              <a:t>During instruction execution, the data (operands) are brought in and stored in some registers, the desired operation carried out, and the result stored back in some register or memory.</a:t>
            </a:r>
            <a:endParaRPr/>
          </a:p>
        </p:txBody>
      </p:sp>
      <p:sp>
        <p:nvSpPr>
          <p:cNvPr id="122" name="Google Shape;12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pic>
        <p:nvPicPr>
          <p:cNvPr id="123" name="Google Shape;123;p5"/>
          <p:cNvPicPr preferRelativeResize="0"/>
          <p:nvPr/>
        </p:nvPicPr>
        <p:blipFill rotWithShape="1">
          <a:blip r:embed="rId3">
            <a:alphaModFix/>
          </a:blip>
          <a:srcRect l="-244" r="-87"/>
          <a:stretch/>
        </p:blipFill>
        <p:spPr>
          <a:xfrm>
            <a:off x="8976913" y="150475"/>
            <a:ext cx="2929140" cy="212775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endParaRPr/>
          </a:p>
        </p:txBody>
      </p:sp>
      <p:sp>
        <p:nvSpPr>
          <p:cNvPr id="129" name="Google Shape;12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rgbClr val="800000"/>
              </a:buClr>
              <a:buSzPts val="2800"/>
              <a:buChar char="•"/>
            </a:pPr>
            <a:r>
              <a:rPr lang="en-US" b="1">
                <a:solidFill>
                  <a:srgbClr val="800000"/>
                </a:solidFill>
              </a:rPr>
              <a:t>What is the role of control unit?</a:t>
            </a:r>
            <a:endParaRPr/>
          </a:p>
          <a:p>
            <a:pPr marL="685800" lvl="1" indent="-228600" algn="l" rtl="0">
              <a:lnSpc>
                <a:spcPct val="110000"/>
              </a:lnSpc>
              <a:spcBef>
                <a:spcPts val="600"/>
              </a:spcBef>
              <a:spcAft>
                <a:spcPts val="0"/>
              </a:spcAft>
              <a:buClr>
                <a:schemeClr val="dk1"/>
              </a:buClr>
              <a:buSzPts val="2400"/>
              <a:buChar char="•"/>
            </a:pPr>
            <a:r>
              <a:rPr lang="en-US"/>
              <a:t>Acts as the nerve center that senses the states of various functional units and sends control signals to control their states.</a:t>
            </a:r>
            <a:endParaRPr/>
          </a:p>
          <a:p>
            <a:pPr marL="685800" lvl="1" indent="-228600" algn="l" rtl="0">
              <a:lnSpc>
                <a:spcPct val="110000"/>
              </a:lnSpc>
              <a:spcBef>
                <a:spcPts val="600"/>
              </a:spcBef>
              <a:spcAft>
                <a:spcPts val="0"/>
              </a:spcAft>
              <a:buClr>
                <a:schemeClr val="dk1"/>
              </a:buClr>
              <a:buSzPts val="2400"/>
              <a:buChar char="•"/>
            </a:pPr>
            <a:r>
              <a:rPr lang="en-US"/>
              <a:t>To carry out a specific operation (say, R1 🡨 R2 + R3), the control unit must generate control signals in a specific sequence.</a:t>
            </a:r>
            <a:endParaRPr/>
          </a:p>
          <a:p>
            <a:pPr marL="1143000" lvl="2" indent="-228600" algn="l" rtl="0">
              <a:lnSpc>
                <a:spcPct val="110000"/>
              </a:lnSpc>
              <a:spcBef>
                <a:spcPts val="600"/>
              </a:spcBef>
              <a:spcAft>
                <a:spcPts val="0"/>
              </a:spcAft>
              <a:buClr>
                <a:schemeClr val="dk1"/>
              </a:buClr>
              <a:buSzPts val="2000"/>
              <a:buChar char="•"/>
            </a:pPr>
            <a:r>
              <a:rPr lang="en-US"/>
              <a:t>Enable the outputs of registers R2 and R3.</a:t>
            </a:r>
            <a:endParaRPr/>
          </a:p>
          <a:p>
            <a:pPr marL="1143000" lvl="2" indent="-228600" algn="l" rtl="0">
              <a:lnSpc>
                <a:spcPct val="110000"/>
              </a:lnSpc>
              <a:spcBef>
                <a:spcPts val="600"/>
              </a:spcBef>
              <a:spcAft>
                <a:spcPts val="0"/>
              </a:spcAft>
              <a:buClr>
                <a:schemeClr val="dk1"/>
              </a:buClr>
              <a:buSzPts val="2000"/>
              <a:buChar char="•"/>
            </a:pPr>
            <a:r>
              <a:rPr lang="en-US"/>
              <a:t>Select the addition operation.</a:t>
            </a:r>
            <a:endParaRPr/>
          </a:p>
          <a:p>
            <a:pPr marL="1143000" lvl="2" indent="-228600" algn="l" rtl="0">
              <a:lnSpc>
                <a:spcPct val="110000"/>
              </a:lnSpc>
              <a:spcBef>
                <a:spcPts val="600"/>
              </a:spcBef>
              <a:spcAft>
                <a:spcPts val="0"/>
              </a:spcAft>
              <a:buClr>
                <a:schemeClr val="dk1"/>
              </a:buClr>
              <a:buSzPts val="2000"/>
              <a:buChar char="•"/>
            </a:pPr>
            <a:r>
              <a:rPr lang="en-US"/>
              <a:t>Store the output of the adder circuit into register R1.</a:t>
            </a:r>
            <a:endParaRPr/>
          </a:p>
          <a:p>
            <a:pPr marL="685800" lvl="1" indent="-228600" algn="l" rtl="0">
              <a:lnSpc>
                <a:spcPct val="110000"/>
              </a:lnSpc>
              <a:spcBef>
                <a:spcPts val="600"/>
              </a:spcBef>
              <a:spcAft>
                <a:spcPts val="0"/>
              </a:spcAft>
              <a:buClr>
                <a:schemeClr val="dk1"/>
              </a:buClr>
              <a:buSzPts val="2400"/>
              <a:buChar char="•"/>
            </a:pPr>
            <a:r>
              <a:rPr lang="en-US"/>
              <a:t>When an instruction is fetched from memory, the operation (called </a:t>
            </a:r>
            <a:r>
              <a:rPr lang="en-US" i="1">
                <a:solidFill>
                  <a:srgbClr val="800000"/>
                </a:solidFill>
              </a:rPr>
              <a:t>opcode</a:t>
            </a:r>
            <a:r>
              <a:rPr lang="en-US"/>
              <a:t>) is decoded by the control unit, and the control signals issued.</a:t>
            </a:r>
            <a:endParaRPr/>
          </a:p>
        </p:txBody>
      </p:sp>
      <p:sp>
        <p:nvSpPr>
          <p:cNvPr id="130" name="Google Shape;13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131" name="Google Shape;131;p6"/>
          <p:cNvPicPr preferRelativeResize="0"/>
          <p:nvPr/>
        </p:nvPicPr>
        <p:blipFill rotWithShape="1">
          <a:blip r:embed="rId3">
            <a:alphaModFix/>
          </a:blip>
          <a:srcRect l="-244" r="-87"/>
          <a:stretch/>
        </p:blipFill>
        <p:spPr>
          <a:xfrm>
            <a:off x="8976913" y="150475"/>
            <a:ext cx="2929140" cy="212775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endParaRPr/>
          </a:p>
        </p:txBody>
      </p:sp>
      <p:sp>
        <p:nvSpPr>
          <p:cNvPr id="137" name="Google Shape;137;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rgbClr val="800000"/>
              </a:buClr>
              <a:buSzPts val="2800"/>
              <a:buChar char="•"/>
            </a:pPr>
            <a:r>
              <a:rPr lang="en-US" b="1">
                <a:solidFill>
                  <a:srgbClr val="800000"/>
                </a:solidFill>
              </a:rPr>
              <a:t>Inside the Memory Unit</a:t>
            </a:r>
            <a:endParaRPr/>
          </a:p>
          <a:p>
            <a:pPr marL="685800" lvl="1" indent="-228600" algn="l" rtl="0">
              <a:lnSpc>
                <a:spcPct val="110000"/>
              </a:lnSpc>
              <a:spcBef>
                <a:spcPts val="600"/>
              </a:spcBef>
              <a:spcAft>
                <a:spcPts val="0"/>
              </a:spcAft>
              <a:buClr>
                <a:schemeClr val="dk1"/>
              </a:buClr>
              <a:buSzPts val="2400"/>
              <a:buChar char="•"/>
            </a:pPr>
            <a:r>
              <a:rPr lang="en-US"/>
              <a:t>Two main types of memory subsystems:</a:t>
            </a:r>
            <a:endParaRPr/>
          </a:p>
          <a:p>
            <a:pPr marL="1143000" lvl="2" indent="-228600" algn="l" rtl="0">
              <a:lnSpc>
                <a:spcPct val="110000"/>
              </a:lnSpc>
              <a:spcBef>
                <a:spcPts val="600"/>
              </a:spcBef>
              <a:spcAft>
                <a:spcPts val="0"/>
              </a:spcAft>
              <a:buClr>
                <a:srgbClr val="800000"/>
              </a:buClr>
              <a:buSzPts val="2000"/>
              <a:buChar char="•"/>
            </a:pPr>
            <a:r>
              <a:rPr lang="en-US" i="1">
                <a:solidFill>
                  <a:srgbClr val="800000"/>
                </a:solidFill>
              </a:rPr>
              <a:t>Primary or Main memory</a:t>
            </a:r>
            <a:r>
              <a:rPr lang="en-US"/>
              <a:t>, which stores the active instructions and data for the program being executed on the processor.</a:t>
            </a:r>
            <a:endParaRPr/>
          </a:p>
          <a:p>
            <a:pPr marL="1143000" lvl="2" indent="-228600" algn="l" rtl="0">
              <a:lnSpc>
                <a:spcPct val="110000"/>
              </a:lnSpc>
              <a:spcBef>
                <a:spcPts val="600"/>
              </a:spcBef>
              <a:spcAft>
                <a:spcPts val="0"/>
              </a:spcAft>
              <a:buClr>
                <a:srgbClr val="800000"/>
              </a:buClr>
              <a:buSzPts val="2000"/>
              <a:buChar char="•"/>
            </a:pPr>
            <a:r>
              <a:rPr lang="en-US" i="1">
                <a:solidFill>
                  <a:srgbClr val="800000"/>
                </a:solidFill>
              </a:rPr>
              <a:t>Secondary memory</a:t>
            </a:r>
            <a:r>
              <a:rPr lang="en-US"/>
              <a:t>, which is used as a backup and stores all active and inactive programs and data, typically as files.</a:t>
            </a:r>
            <a:endParaRPr/>
          </a:p>
          <a:p>
            <a:pPr marL="685800" lvl="1" indent="-228600" algn="l" rtl="0">
              <a:lnSpc>
                <a:spcPct val="110000"/>
              </a:lnSpc>
              <a:spcBef>
                <a:spcPts val="600"/>
              </a:spcBef>
              <a:spcAft>
                <a:spcPts val="0"/>
              </a:spcAft>
              <a:buClr>
                <a:schemeClr val="dk1"/>
              </a:buClr>
              <a:buSzPts val="2400"/>
              <a:buChar char="•"/>
            </a:pPr>
            <a:r>
              <a:rPr lang="en-US"/>
              <a:t> The processor only has direct access to the primary memory.</a:t>
            </a:r>
            <a:endParaRPr/>
          </a:p>
          <a:p>
            <a:pPr marL="685800" lvl="1" indent="-228600" algn="l" rtl="0">
              <a:lnSpc>
                <a:spcPct val="110000"/>
              </a:lnSpc>
              <a:spcBef>
                <a:spcPts val="600"/>
              </a:spcBef>
              <a:spcAft>
                <a:spcPts val="0"/>
              </a:spcAft>
              <a:buClr>
                <a:schemeClr val="dk1"/>
              </a:buClr>
              <a:buSzPts val="2400"/>
              <a:buChar char="•"/>
            </a:pPr>
            <a:r>
              <a:rPr lang="en-US"/>
              <a:t>In reality, the memory system is implemented as a hierarchy of several levels.</a:t>
            </a:r>
            <a:endParaRPr/>
          </a:p>
          <a:p>
            <a:pPr marL="1143000" lvl="2" indent="-228600" algn="l" rtl="0">
              <a:lnSpc>
                <a:spcPct val="110000"/>
              </a:lnSpc>
              <a:spcBef>
                <a:spcPts val="600"/>
              </a:spcBef>
              <a:spcAft>
                <a:spcPts val="0"/>
              </a:spcAft>
              <a:buClr>
                <a:schemeClr val="dk1"/>
              </a:buClr>
              <a:buSzPts val="2000"/>
              <a:buChar char="•"/>
            </a:pPr>
            <a:r>
              <a:rPr lang="en-US"/>
              <a:t>L1 cache, L2 cache, L3 cache, primary memory, secondary memory.</a:t>
            </a:r>
            <a:endParaRPr/>
          </a:p>
          <a:p>
            <a:pPr marL="1143000" lvl="2" indent="-228600" algn="l" rtl="0">
              <a:lnSpc>
                <a:spcPct val="110000"/>
              </a:lnSpc>
              <a:spcBef>
                <a:spcPts val="600"/>
              </a:spcBef>
              <a:spcAft>
                <a:spcPts val="0"/>
              </a:spcAft>
              <a:buClr>
                <a:schemeClr val="dk1"/>
              </a:buClr>
              <a:buSzPts val="2000"/>
              <a:buChar char="•"/>
            </a:pPr>
            <a:r>
              <a:rPr lang="en-US"/>
              <a:t>Objective is to provide faster memory access at affordable cost.</a:t>
            </a:r>
            <a:endParaRPr/>
          </a:p>
        </p:txBody>
      </p:sp>
      <p:sp>
        <p:nvSpPr>
          <p:cNvPr id="138" name="Google Shape;13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139" name="Google Shape;139;p7"/>
          <p:cNvPicPr preferRelativeResize="0"/>
          <p:nvPr/>
        </p:nvPicPr>
        <p:blipFill rotWithShape="1">
          <a:blip r:embed="rId3">
            <a:alphaModFix/>
          </a:blip>
          <a:srcRect l="-244" r="-87"/>
          <a:stretch/>
        </p:blipFill>
        <p:spPr>
          <a:xfrm>
            <a:off x="8976913" y="150475"/>
            <a:ext cx="2929140" cy="212775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endParaRPr/>
          </a:p>
        </p:txBody>
      </p:sp>
      <p:sp>
        <p:nvSpPr>
          <p:cNvPr id="145" name="Google Shape;145;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685800" lvl="1" indent="-228600" algn="l" rtl="0">
              <a:lnSpc>
                <a:spcPct val="110000"/>
              </a:lnSpc>
              <a:spcBef>
                <a:spcPts val="0"/>
              </a:spcBef>
              <a:spcAft>
                <a:spcPts val="0"/>
              </a:spcAft>
              <a:buClr>
                <a:schemeClr val="dk1"/>
              </a:buClr>
              <a:buSzPts val="2400"/>
              <a:buChar char="•"/>
            </a:pPr>
            <a:r>
              <a:rPr lang="en-US"/>
              <a:t>Various different types of memory are possible.</a:t>
            </a:r>
            <a:endParaRPr/>
          </a:p>
          <a:p>
            <a:pPr marL="1676358" lvl="2" indent="-457189" algn="l" rtl="0">
              <a:lnSpc>
                <a:spcPct val="110000"/>
              </a:lnSpc>
              <a:spcBef>
                <a:spcPts val="600"/>
              </a:spcBef>
              <a:spcAft>
                <a:spcPts val="0"/>
              </a:spcAft>
              <a:buClr>
                <a:schemeClr val="dk1"/>
              </a:buClr>
              <a:buSzPts val="2000"/>
              <a:buFont typeface="Calibri"/>
              <a:buAutoNum type="alphaLcParenR"/>
            </a:pPr>
            <a:r>
              <a:rPr lang="en-US"/>
              <a:t>Random Access Memory (RAM), which is used for the cache and primary memory sub-systems. Read and Write access times are independent of the location being accessed.</a:t>
            </a:r>
            <a:endParaRPr/>
          </a:p>
          <a:p>
            <a:pPr marL="1676358" lvl="2" indent="-457189" algn="l" rtl="0">
              <a:lnSpc>
                <a:spcPct val="110000"/>
              </a:lnSpc>
              <a:spcBef>
                <a:spcPts val="600"/>
              </a:spcBef>
              <a:spcAft>
                <a:spcPts val="0"/>
              </a:spcAft>
              <a:buClr>
                <a:schemeClr val="dk1"/>
              </a:buClr>
              <a:buSzPts val="2000"/>
              <a:buFont typeface="Calibri"/>
              <a:buAutoNum type="alphaLcParenR"/>
            </a:pPr>
            <a:r>
              <a:rPr lang="en-US"/>
              <a:t>Read Only Memory (ROM), which is used as part of the primary memory to store some fixed data that cannot be changed.</a:t>
            </a:r>
            <a:endParaRPr/>
          </a:p>
          <a:p>
            <a:pPr marL="1676358" lvl="2" indent="-457189" algn="l" rtl="0">
              <a:lnSpc>
                <a:spcPct val="110000"/>
              </a:lnSpc>
              <a:spcBef>
                <a:spcPts val="600"/>
              </a:spcBef>
              <a:spcAft>
                <a:spcPts val="0"/>
              </a:spcAft>
              <a:buClr>
                <a:schemeClr val="dk1"/>
              </a:buClr>
              <a:buSzPts val="2000"/>
              <a:buFont typeface="Calibri"/>
              <a:buAutoNum type="alphaLcParenR"/>
            </a:pPr>
            <a:r>
              <a:rPr lang="en-US"/>
              <a:t>Magnetic Disk, which uses direction of magnetization of tiny magnetic particles on a metallic surface to store data. Access times vary depending on the location being accessed, and is used as secondary memory.</a:t>
            </a:r>
            <a:endParaRPr/>
          </a:p>
          <a:p>
            <a:pPr marL="1676358" lvl="2" indent="-457189" algn="l" rtl="0">
              <a:lnSpc>
                <a:spcPct val="110000"/>
              </a:lnSpc>
              <a:spcBef>
                <a:spcPts val="600"/>
              </a:spcBef>
              <a:spcAft>
                <a:spcPts val="0"/>
              </a:spcAft>
              <a:buClr>
                <a:schemeClr val="dk1"/>
              </a:buClr>
              <a:buSzPts val="2000"/>
              <a:buFont typeface="Calibri"/>
              <a:buAutoNum type="alphaLcParenR"/>
            </a:pPr>
            <a:r>
              <a:rPr lang="en-US"/>
              <a:t>Flash Memory or Solid-State Drives (SSD), which is replacing magnetic disks as secondary memory devices. They are faster, but smaller in size as compared to disk.</a:t>
            </a:r>
            <a:endParaRPr/>
          </a:p>
        </p:txBody>
      </p:sp>
      <p:sp>
        <p:nvSpPr>
          <p:cNvPr id="146" name="Google Shape;14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Google Shape;151;p9"/>
          <p:cNvPicPr preferRelativeResize="0"/>
          <p:nvPr/>
        </p:nvPicPr>
        <p:blipFill rotWithShape="1">
          <a:blip r:embed="rId3">
            <a:alphaModFix/>
          </a:blip>
          <a:srcRect/>
          <a:stretch/>
        </p:blipFill>
        <p:spPr>
          <a:xfrm>
            <a:off x="203200" y="4279475"/>
            <a:ext cx="5283200" cy="1469391"/>
          </a:xfrm>
          <a:prstGeom prst="rect">
            <a:avLst/>
          </a:prstGeom>
          <a:noFill/>
          <a:ln w="19050" cap="flat" cmpd="sng">
            <a:solidFill>
              <a:srgbClr val="800000"/>
            </a:solidFill>
            <a:prstDash val="solid"/>
            <a:round/>
            <a:headEnd type="none" w="sm" len="sm"/>
            <a:tailEnd type="none" w="sm" len="sm"/>
          </a:ln>
        </p:spPr>
      </p:pic>
      <p:pic>
        <p:nvPicPr>
          <p:cNvPr id="152" name="Google Shape;152;p9"/>
          <p:cNvPicPr preferRelativeResize="0"/>
          <p:nvPr/>
        </p:nvPicPr>
        <p:blipFill rotWithShape="1">
          <a:blip r:embed="rId4">
            <a:alphaModFix/>
          </a:blip>
          <a:srcRect/>
          <a:stretch/>
        </p:blipFill>
        <p:spPr>
          <a:xfrm>
            <a:off x="406400" y="482601"/>
            <a:ext cx="2743200" cy="1950720"/>
          </a:xfrm>
          <a:prstGeom prst="rect">
            <a:avLst/>
          </a:prstGeom>
          <a:noFill/>
          <a:ln w="19050" cap="flat" cmpd="sng">
            <a:solidFill>
              <a:srgbClr val="800000"/>
            </a:solidFill>
            <a:prstDash val="solid"/>
            <a:round/>
            <a:headEnd type="none" w="sm" len="sm"/>
            <a:tailEnd type="none" w="sm" len="sm"/>
          </a:ln>
        </p:spPr>
      </p:pic>
      <p:pic>
        <p:nvPicPr>
          <p:cNvPr id="153" name="Google Shape;153;p9"/>
          <p:cNvPicPr preferRelativeResize="0"/>
          <p:nvPr/>
        </p:nvPicPr>
        <p:blipFill rotWithShape="1">
          <a:blip r:embed="rId5">
            <a:alphaModFix/>
          </a:blip>
          <a:srcRect/>
          <a:stretch/>
        </p:blipFill>
        <p:spPr>
          <a:xfrm>
            <a:off x="9448800" y="482600"/>
            <a:ext cx="2438400" cy="2032000"/>
          </a:xfrm>
          <a:prstGeom prst="rect">
            <a:avLst/>
          </a:prstGeom>
          <a:noFill/>
          <a:ln w="19050" cap="flat" cmpd="sng">
            <a:solidFill>
              <a:srgbClr val="800000"/>
            </a:solidFill>
            <a:prstDash val="solid"/>
            <a:round/>
            <a:headEnd type="none" w="sm" len="sm"/>
            <a:tailEnd type="none" w="sm" len="sm"/>
          </a:ln>
        </p:spPr>
      </p:pic>
      <p:pic>
        <p:nvPicPr>
          <p:cNvPr id="154" name="Google Shape;154;p9"/>
          <p:cNvPicPr preferRelativeResize="0"/>
          <p:nvPr/>
        </p:nvPicPr>
        <p:blipFill rotWithShape="1">
          <a:blip r:embed="rId6">
            <a:alphaModFix/>
          </a:blip>
          <a:srcRect/>
          <a:stretch/>
        </p:blipFill>
        <p:spPr>
          <a:xfrm>
            <a:off x="9347200" y="2921000"/>
            <a:ext cx="2633133" cy="2633133"/>
          </a:xfrm>
          <a:prstGeom prst="rect">
            <a:avLst/>
          </a:prstGeom>
          <a:noFill/>
          <a:ln w="19050" cap="flat" cmpd="sng">
            <a:solidFill>
              <a:srgbClr val="800000"/>
            </a:solidFill>
            <a:prstDash val="solid"/>
            <a:round/>
            <a:headEnd type="none" w="sm" len="sm"/>
            <a:tailEnd type="none" w="sm" len="sm"/>
          </a:ln>
        </p:spPr>
      </p:pic>
      <p:pic>
        <p:nvPicPr>
          <p:cNvPr id="155" name="Google Shape;155;p9"/>
          <p:cNvPicPr preferRelativeResize="0"/>
          <p:nvPr/>
        </p:nvPicPr>
        <p:blipFill rotWithShape="1">
          <a:blip r:embed="rId7">
            <a:alphaModFix/>
          </a:blip>
          <a:srcRect/>
          <a:stretch/>
        </p:blipFill>
        <p:spPr>
          <a:xfrm>
            <a:off x="4775200" y="584201"/>
            <a:ext cx="4267200" cy="2400300"/>
          </a:xfrm>
          <a:prstGeom prst="rect">
            <a:avLst/>
          </a:prstGeom>
          <a:noFill/>
          <a:ln w="19050" cap="flat" cmpd="sng">
            <a:solidFill>
              <a:srgbClr val="800000"/>
            </a:solidFill>
            <a:prstDash val="solid"/>
            <a:round/>
            <a:headEnd type="none" w="sm" len="sm"/>
            <a:tailEnd type="none" w="sm" len="sm"/>
          </a:ln>
        </p:spPr>
      </p:pic>
      <p:pic>
        <p:nvPicPr>
          <p:cNvPr id="156" name="Google Shape;156;p9"/>
          <p:cNvPicPr preferRelativeResize="0"/>
          <p:nvPr/>
        </p:nvPicPr>
        <p:blipFill rotWithShape="1">
          <a:blip r:embed="rId8">
            <a:alphaModFix/>
          </a:blip>
          <a:srcRect/>
          <a:stretch/>
        </p:blipFill>
        <p:spPr>
          <a:xfrm>
            <a:off x="6096001" y="3225800"/>
            <a:ext cx="2707191" cy="2376312"/>
          </a:xfrm>
          <a:prstGeom prst="rect">
            <a:avLst/>
          </a:prstGeom>
          <a:noFill/>
          <a:ln w="19050" cap="flat" cmpd="sng">
            <a:solidFill>
              <a:srgbClr val="800000"/>
            </a:solidFill>
            <a:prstDash val="solid"/>
            <a:round/>
            <a:headEnd type="none" w="sm" len="sm"/>
            <a:tailEnd type="none" w="sm" len="sm"/>
          </a:ln>
        </p:spPr>
      </p:pic>
      <p:pic>
        <p:nvPicPr>
          <p:cNvPr id="157" name="Google Shape;157;p9"/>
          <p:cNvPicPr preferRelativeResize="0"/>
          <p:nvPr/>
        </p:nvPicPr>
        <p:blipFill rotWithShape="1">
          <a:blip r:embed="rId9">
            <a:alphaModFix/>
          </a:blip>
          <a:srcRect/>
          <a:stretch/>
        </p:blipFill>
        <p:spPr>
          <a:xfrm>
            <a:off x="812801" y="2616200"/>
            <a:ext cx="1995684" cy="1566333"/>
          </a:xfrm>
          <a:prstGeom prst="rect">
            <a:avLst/>
          </a:prstGeom>
          <a:noFill/>
          <a:ln w="19050" cap="flat" cmpd="sng">
            <a:solidFill>
              <a:srgbClr val="800000"/>
            </a:solidFill>
            <a:prstDash val="solid"/>
            <a:round/>
            <a:headEnd type="none" w="sm" len="sm"/>
            <a:tailEnd type="none" w="sm" len="sm"/>
          </a:ln>
        </p:spPr>
      </p:pic>
      <p:sp>
        <p:nvSpPr>
          <p:cNvPr id="158" name="Google Shape;15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Input Unit</a:t>
            </a:r>
            <a:endParaRPr/>
          </a:p>
        </p:txBody>
      </p:sp>
      <p:sp>
        <p:nvSpPr>
          <p:cNvPr id="164" name="Google Shape;164;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Used to feed data to the computer system from the external environment.</a:t>
            </a:r>
            <a:endParaRPr/>
          </a:p>
          <a:p>
            <a:pPr marL="685800" lvl="1" indent="-228600" algn="l" rtl="0">
              <a:lnSpc>
                <a:spcPct val="110000"/>
              </a:lnSpc>
              <a:spcBef>
                <a:spcPts val="600"/>
              </a:spcBef>
              <a:spcAft>
                <a:spcPts val="0"/>
              </a:spcAft>
              <a:buClr>
                <a:schemeClr val="dk1"/>
              </a:buClr>
              <a:buSzPts val="2400"/>
              <a:buChar char="•"/>
            </a:pPr>
            <a:r>
              <a:rPr lang="en-US"/>
              <a:t>Data are transferred to the processor/memory after appropriate encoding.</a:t>
            </a:r>
            <a:endParaRPr/>
          </a:p>
          <a:p>
            <a:pPr marL="228600" lvl="0" indent="-228600" algn="l" rtl="0">
              <a:lnSpc>
                <a:spcPct val="110000"/>
              </a:lnSpc>
              <a:spcBef>
                <a:spcPts val="600"/>
              </a:spcBef>
              <a:spcAft>
                <a:spcPts val="0"/>
              </a:spcAft>
              <a:buClr>
                <a:schemeClr val="dk1"/>
              </a:buClr>
              <a:buSzPts val="2800"/>
              <a:buChar char="•"/>
            </a:pPr>
            <a:r>
              <a:rPr lang="en-US"/>
              <a:t>Common input devices:</a:t>
            </a:r>
            <a:endParaRPr/>
          </a:p>
          <a:p>
            <a:pPr marL="685800" lvl="1" indent="-228600" algn="l" rtl="0">
              <a:lnSpc>
                <a:spcPct val="110000"/>
              </a:lnSpc>
              <a:spcBef>
                <a:spcPts val="600"/>
              </a:spcBef>
              <a:spcAft>
                <a:spcPts val="0"/>
              </a:spcAft>
              <a:buClr>
                <a:schemeClr val="dk1"/>
              </a:buClr>
              <a:buSzPts val="2400"/>
              <a:buChar char="•"/>
            </a:pPr>
            <a:r>
              <a:rPr lang="en-US"/>
              <a:t>Keyboard</a:t>
            </a:r>
            <a:endParaRPr/>
          </a:p>
          <a:p>
            <a:pPr marL="685800" lvl="1" indent="-228600" algn="l" rtl="0">
              <a:lnSpc>
                <a:spcPct val="110000"/>
              </a:lnSpc>
              <a:spcBef>
                <a:spcPts val="600"/>
              </a:spcBef>
              <a:spcAft>
                <a:spcPts val="0"/>
              </a:spcAft>
              <a:buClr>
                <a:schemeClr val="dk1"/>
              </a:buClr>
              <a:buSzPts val="2400"/>
              <a:buChar char="•"/>
            </a:pPr>
            <a:r>
              <a:rPr lang="en-US"/>
              <a:t>Mouse</a:t>
            </a:r>
            <a:endParaRPr/>
          </a:p>
          <a:p>
            <a:pPr marL="685800" lvl="1" indent="-228600" algn="l" rtl="0">
              <a:lnSpc>
                <a:spcPct val="110000"/>
              </a:lnSpc>
              <a:spcBef>
                <a:spcPts val="600"/>
              </a:spcBef>
              <a:spcAft>
                <a:spcPts val="0"/>
              </a:spcAft>
              <a:buClr>
                <a:schemeClr val="dk1"/>
              </a:buClr>
              <a:buSzPts val="2400"/>
              <a:buChar char="•"/>
            </a:pPr>
            <a:r>
              <a:rPr lang="en-US"/>
              <a:t>Joystick</a:t>
            </a:r>
            <a:endParaRPr/>
          </a:p>
          <a:p>
            <a:pPr marL="685800" lvl="1" indent="-228600" algn="l" rtl="0">
              <a:lnSpc>
                <a:spcPct val="110000"/>
              </a:lnSpc>
              <a:spcBef>
                <a:spcPts val="600"/>
              </a:spcBef>
              <a:spcAft>
                <a:spcPts val="0"/>
              </a:spcAft>
              <a:buClr>
                <a:schemeClr val="dk1"/>
              </a:buClr>
              <a:buSzPts val="2400"/>
              <a:buChar char="•"/>
            </a:pPr>
            <a:r>
              <a:rPr lang="en-US"/>
              <a:t>Camera</a:t>
            </a:r>
            <a:endParaRPr/>
          </a:p>
        </p:txBody>
      </p:sp>
      <p:sp>
        <p:nvSpPr>
          <p:cNvPr id="165" name="Google Shape;16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Output Unit</a:t>
            </a:r>
            <a:endParaRPr/>
          </a:p>
        </p:txBody>
      </p:sp>
      <p:sp>
        <p:nvSpPr>
          <p:cNvPr id="171" name="Google Shape;17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Used to send the result of some computation to the outside world.</a:t>
            </a:r>
            <a:endParaRPr/>
          </a:p>
          <a:p>
            <a:pPr marL="228600" lvl="0" indent="-228600" algn="l" rtl="0">
              <a:lnSpc>
                <a:spcPct val="110000"/>
              </a:lnSpc>
              <a:spcBef>
                <a:spcPts val="600"/>
              </a:spcBef>
              <a:spcAft>
                <a:spcPts val="0"/>
              </a:spcAft>
              <a:buClr>
                <a:schemeClr val="dk1"/>
              </a:buClr>
              <a:buSzPts val="2800"/>
              <a:buChar char="•"/>
            </a:pPr>
            <a:r>
              <a:rPr lang="en-US"/>
              <a:t>Common output devices:</a:t>
            </a:r>
            <a:endParaRPr/>
          </a:p>
          <a:p>
            <a:pPr marL="685800" lvl="1" indent="-228600" algn="l" rtl="0">
              <a:lnSpc>
                <a:spcPct val="110000"/>
              </a:lnSpc>
              <a:spcBef>
                <a:spcPts val="600"/>
              </a:spcBef>
              <a:spcAft>
                <a:spcPts val="0"/>
              </a:spcAft>
              <a:buClr>
                <a:schemeClr val="dk1"/>
              </a:buClr>
              <a:buSzPts val="2400"/>
              <a:buChar char="•"/>
            </a:pPr>
            <a:r>
              <a:rPr lang="en-US"/>
              <a:t>LCD/LED screen</a:t>
            </a:r>
            <a:endParaRPr/>
          </a:p>
          <a:p>
            <a:pPr marL="685800" lvl="1" indent="-228600" algn="l" rtl="0">
              <a:lnSpc>
                <a:spcPct val="110000"/>
              </a:lnSpc>
              <a:spcBef>
                <a:spcPts val="600"/>
              </a:spcBef>
              <a:spcAft>
                <a:spcPts val="0"/>
              </a:spcAft>
              <a:buClr>
                <a:schemeClr val="dk1"/>
              </a:buClr>
              <a:buSzPts val="2400"/>
              <a:buChar char="•"/>
            </a:pPr>
            <a:r>
              <a:rPr lang="en-US"/>
              <a:t>Printer and Plotter</a:t>
            </a:r>
            <a:endParaRPr/>
          </a:p>
          <a:p>
            <a:pPr marL="685800" lvl="1" indent="-228600" algn="l" rtl="0">
              <a:lnSpc>
                <a:spcPct val="110000"/>
              </a:lnSpc>
              <a:spcBef>
                <a:spcPts val="600"/>
              </a:spcBef>
              <a:spcAft>
                <a:spcPts val="0"/>
              </a:spcAft>
              <a:buClr>
                <a:schemeClr val="dk1"/>
              </a:buClr>
              <a:buSzPts val="2400"/>
              <a:buChar char="•"/>
            </a:pPr>
            <a:r>
              <a:rPr lang="en-US"/>
              <a:t>Speaker / Buzzer</a:t>
            </a:r>
            <a:endParaRPr/>
          </a:p>
          <a:p>
            <a:pPr marL="685800" lvl="1" indent="-228600" algn="l" rtl="0">
              <a:lnSpc>
                <a:spcPct val="110000"/>
              </a:lnSpc>
              <a:spcBef>
                <a:spcPts val="600"/>
              </a:spcBef>
              <a:spcAft>
                <a:spcPts val="0"/>
              </a:spcAft>
              <a:buClr>
                <a:schemeClr val="dk1"/>
              </a:buClr>
              <a:buSzPts val="2400"/>
              <a:buChar char="•"/>
            </a:pPr>
            <a:r>
              <a:rPr lang="en-US"/>
              <a:t>Projection system</a:t>
            </a:r>
            <a:endParaRPr/>
          </a:p>
        </p:txBody>
      </p:sp>
      <p:sp>
        <p:nvSpPr>
          <p:cNvPr id="172" name="Google Shape;17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000"/>
              <a:buFont typeface="Calibri"/>
              <a:buNone/>
            </a:pPr>
            <a:r>
              <a:rPr lang="en-US"/>
              <a:t>Basic Operation of a Computer</a:t>
            </a:r>
            <a:endParaRPr/>
          </a:p>
        </p:txBody>
      </p:sp>
      <p:sp>
        <p:nvSpPr>
          <p:cNvPr id="178" name="Google Shape;178;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110000"/>
              </a:lnSpc>
              <a:spcBef>
                <a:spcPts val="0"/>
              </a:spcBef>
              <a:spcAft>
                <a:spcPts val="0"/>
              </a:spcAft>
              <a:buClr>
                <a:schemeClr val="dk1"/>
              </a:buClr>
              <a:buSzPts val="24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Introduction</a:t>
            </a:r>
            <a:endParaRPr/>
          </a:p>
        </p:txBody>
      </p:sp>
      <p:sp>
        <p:nvSpPr>
          <p:cNvPr id="184" name="Google Shape;184;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The basic mechanism through which an instruction gets executed shall be illustrated.</a:t>
            </a:r>
            <a:endParaRPr/>
          </a:p>
          <a:p>
            <a:pPr marL="228600" lvl="0" indent="-228600" algn="l" rtl="0">
              <a:lnSpc>
                <a:spcPct val="110000"/>
              </a:lnSpc>
              <a:spcBef>
                <a:spcPts val="600"/>
              </a:spcBef>
              <a:spcAft>
                <a:spcPts val="0"/>
              </a:spcAft>
              <a:buClr>
                <a:schemeClr val="dk1"/>
              </a:buClr>
              <a:buSzPts val="2800"/>
              <a:buChar char="•"/>
            </a:pPr>
            <a:r>
              <a:rPr lang="en-US"/>
              <a:t>May be recalled:</a:t>
            </a:r>
            <a:endParaRPr/>
          </a:p>
          <a:p>
            <a:pPr marL="685800" lvl="1" indent="-228600" algn="l" rtl="0">
              <a:lnSpc>
                <a:spcPct val="110000"/>
              </a:lnSpc>
              <a:spcBef>
                <a:spcPts val="600"/>
              </a:spcBef>
              <a:spcAft>
                <a:spcPts val="0"/>
              </a:spcAft>
              <a:buClr>
                <a:schemeClr val="dk1"/>
              </a:buClr>
              <a:buSzPts val="2400"/>
              <a:buChar char="•"/>
            </a:pPr>
            <a:r>
              <a:rPr lang="en-US"/>
              <a:t>ALU contains a set of registers, some general-purpose and some special-purpose.</a:t>
            </a:r>
            <a:endParaRPr/>
          </a:p>
          <a:p>
            <a:pPr marL="685800" lvl="1" indent="-228600" algn="l" rtl="0">
              <a:lnSpc>
                <a:spcPct val="110000"/>
              </a:lnSpc>
              <a:spcBef>
                <a:spcPts val="600"/>
              </a:spcBef>
              <a:spcAft>
                <a:spcPts val="0"/>
              </a:spcAft>
              <a:buClr>
                <a:schemeClr val="dk1"/>
              </a:buClr>
              <a:buSzPts val="2400"/>
              <a:buChar char="•"/>
            </a:pPr>
            <a:r>
              <a:rPr lang="en-US"/>
              <a:t>First we briefly explain the functions of the special-purpose registers before we look into some examples.</a:t>
            </a:r>
            <a:endParaRPr/>
          </a:p>
        </p:txBody>
      </p:sp>
      <p:sp>
        <p:nvSpPr>
          <p:cNvPr id="185" name="Google Shape;18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4"/>
          <p:cNvSpPr txBox="1">
            <a:spLocks noGrp="1"/>
          </p:cNvSpPr>
          <p:nvPr>
            <p:ph type="title"/>
          </p:nvPr>
        </p:nvSpPr>
        <p:spPr>
          <a:xfrm>
            <a:off x="4494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For Interfacing with the Primary Memory</a:t>
            </a:r>
            <a:endParaRPr/>
          </a:p>
        </p:txBody>
      </p:sp>
      <p:sp>
        <p:nvSpPr>
          <p:cNvPr id="191" name="Google Shape;191;p14"/>
          <p:cNvSpPr txBox="1">
            <a:spLocks noGrp="1"/>
          </p:cNvSpPr>
          <p:nvPr>
            <p:ph type="body" idx="1"/>
          </p:nvPr>
        </p:nvSpPr>
        <p:spPr>
          <a:xfrm>
            <a:off x="406400" y="1517751"/>
            <a:ext cx="8229600" cy="4673601"/>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Two special-purpose registers are used:</a:t>
            </a:r>
            <a:endParaRPr/>
          </a:p>
          <a:p>
            <a:pPr marL="685800" lvl="1" indent="-228600" algn="l" rtl="0">
              <a:lnSpc>
                <a:spcPct val="110000"/>
              </a:lnSpc>
              <a:spcBef>
                <a:spcPts val="600"/>
              </a:spcBef>
              <a:spcAft>
                <a:spcPts val="0"/>
              </a:spcAft>
              <a:buClr>
                <a:srgbClr val="800000"/>
              </a:buClr>
              <a:buSzPts val="2400"/>
              <a:buChar char="•"/>
            </a:pPr>
            <a:r>
              <a:rPr lang="en-US" b="1">
                <a:solidFill>
                  <a:srgbClr val="800000"/>
                </a:solidFill>
              </a:rPr>
              <a:t>Memory Address Register (MAR)</a:t>
            </a:r>
            <a:r>
              <a:rPr lang="en-US"/>
              <a:t>: Holds the address of the memory location to be accessed.</a:t>
            </a:r>
            <a:endParaRPr/>
          </a:p>
          <a:p>
            <a:pPr marL="685800" lvl="1" indent="-228600" algn="l" rtl="0">
              <a:lnSpc>
                <a:spcPct val="110000"/>
              </a:lnSpc>
              <a:spcBef>
                <a:spcPts val="600"/>
              </a:spcBef>
              <a:spcAft>
                <a:spcPts val="0"/>
              </a:spcAft>
              <a:buClr>
                <a:srgbClr val="800000"/>
              </a:buClr>
              <a:buSzPts val="2400"/>
              <a:buChar char="•"/>
            </a:pPr>
            <a:r>
              <a:rPr lang="en-US" b="1">
                <a:solidFill>
                  <a:srgbClr val="800000"/>
                </a:solidFill>
              </a:rPr>
              <a:t>Memory Data Register (MDR)</a:t>
            </a:r>
            <a:r>
              <a:rPr lang="en-US"/>
              <a:t>: Holds the data that is being written into memory, or will receive the data being read out from memory.</a:t>
            </a:r>
            <a:endParaRPr/>
          </a:p>
          <a:p>
            <a:pPr marL="228600" lvl="0" indent="-228600" algn="l" rtl="0">
              <a:lnSpc>
                <a:spcPct val="110000"/>
              </a:lnSpc>
              <a:spcBef>
                <a:spcPts val="600"/>
              </a:spcBef>
              <a:spcAft>
                <a:spcPts val="0"/>
              </a:spcAft>
              <a:buClr>
                <a:schemeClr val="dk1"/>
              </a:buClr>
              <a:buSzPts val="2800"/>
              <a:buChar char="•"/>
            </a:pPr>
            <a:r>
              <a:rPr lang="en-US"/>
              <a:t>Memory considered as a linear array of storage locations (bytes or words) each with unique address.</a:t>
            </a:r>
            <a:endParaRPr/>
          </a:p>
        </p:txBody>
      </p:sp>
      <p:grpSp>
        <p:nvGrpSpPr>
          <p:cNvPr id="192" name="Google Shape;192;p14"/>
          <p:cNvGrpSpPr/>
          <p:nvPr/>
        </p:nvGrpSpPr>
        <p:grpSpPr>
          <a:xfrm>
            <a:off x="9245600" y="1717358"/>
            <a:ext cx="2336800" cy="4002109"/>
            <a:chOff x="7239000" y="1123950"/>
            <a:chExt cx="1752600" cy="3001581"/>
          </a:xfrm>
        </p:grpSpPr>
        <p:sp>
          <p:nvSpPr>
            <p:cNvPr id="193" name="Google Shape;193;p14"/>
            <p:cNvSpPr/>
            <p:nvPr/>
          </p:nvSpPr>
          <p:spPr>
            <a:xfrm>
              <a:off x="7239000" y="1200150"/>
              <a:ext cx="1066800" cy="2286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
          <p:nvSpPr>
            <p:cNvPr id="194" name="Google Shape;194;p14"/>
            <p:cNvSpPr/>
            <p:nvPr/>
          </p:nvSpPr>
          <p:spPr>
            <a:xfrm>
              <a:off x="7239000" y="1428750"/>
              <a:ext cx="1066800" cy="2286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
          <p:nvSpPr>
            <p:cNvPr id="195" name="Google Shape;195;p14"/>
            <p:cNvSpPr/>
            <p:nvPr/>
          </p:nvSpPr>
          <p:spPr>
            <a:xfrm>
              <a:off x="7239000" y="1657350"/>
              <a:ext cx="1066800" cy="2286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
          <p:nvSpPr>
            <p:cNvPr id="196" name="Google Shape;196;p14"/>
            <p:cNvSpPr/>
            <p:nvPr/>
          </p:nvSpPr>
          <p:spPr>
            <a:xfrm>
              <a:off x="7239000" y="1885950"/>
              <a:ext cx="1066800" cy="2286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
          <p:nvSpPr>
            <p:cNvPr id="197" name="Google Shape;197;p14"/>
            <p:cNvSpPr/>
            <p:nvPr/>
          </p:nvSpPr>
          <p:spPr>
            <a:xfrm>
              <a:off x="7239000" y="2114550"/>
              <a:ext cx="1066800" cy="2286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
          <p:nvSpPr>
            <p:cNvPr id="198" name="Google Shape;198;p14"/>
            <p:cNvSpPr/>
            <p:nvPr/>
          </p:nvSpPr>
          <p:spPr>
            <a:xfrm>
              <a:off x="7239000" y="2343150"/>
              <a:ext cx="1066800" cy="2286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
          <p:nvSpPr>
            <p:cNvPr id="199" name="Google Shape;199;p14"/>
            <p:cNvSpPr/>
            <p:nvPr/>
          </p:nvSpPr>
          <p:spPr>
            <a:xfrm>
              <a:off x="7239000" y="2571750"/>
              <a:ext cx="1066800" cy="9906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
          <p:nvSpPr>
            <p:cNvPr id="200" name="Google Shape;200;p14"/>
            <p:cNvSpPr/>
            <p:nvPr/>
          </p:nvSpPr>
          <p:spPr>
            <a:xfrm>
              <a:off x="7239000" y="3562350"/>
              <a:ext cx="1066800" cy="2286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
          <p:nvSpPr>
            <p:cNvPr id="201" name="Google Shape;201;p14"/>
            <p:cNvSpPr txBox="1"/>
            <p:nvPr/>
          </p:nvSpPr>
          <p:spPr>
            <a:xfrm>
              <a:off x="7239000" y="3779282"/>
              <a:ext cx="1143000" cy="34624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dk1"/>
                  </a:solidFill>
                  <a:latin typeface="Calibri"/>
                  <a:ea typeface="Calibri"/>
                  <a:cs typeface="Calibri"/>
                  <a:sym typeface="Calibri"/>
                </a:rPr>
                <a:t>Memory</a:t>
              </a:r>
              <a:endParaRPr/>
            </a:p>
          </p:txBody>
        </p:sp>
        <p:sp>
          <p:nvSpPr>
            <p:cNvPr id="202" name="Google Shape;202;p14"/>
            <p:cNvSpPr txBox="1"/>
            <p:nvPr/>
          </p:nvSpPr>
          <p:spPr>
            <a:xfrm>
              <a:off x="8382000" y="1123950"/>
              <a:ext cx="3048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b="0" i="0" u="none" strike="noStrike" cap="none">
                  <a:solidFill>
                    <a:schemeClr val="dk1"/>
                  </a:solidFill>
                  <a:latin typeface="Calibri"/>
                  <a:ea typeface="Calibri"/>
                  <a:cs typeface="Calibri"/>
                  <a:sym typeface="Calibri"/>
                </a:rPr>
                <a:t>0</a:t>
              </a:r>
              <a:endParaRPr/>
            </a:p>
          </p:txBody>
        </p:sp>
        <p:sp>
          <p:nvSpPr>
            <p:cNvPr id="203" name="Google Shape;203;p14"/>
            <p:cNvSpPr txBox="1"/>
            <p:nvPr/>
          </p:nvSpPr>
          <p:spPr>
            <a:xfrm>
              <a:off x="8382000" y="1352550"/>
              <a:ext cx="3048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a:t>
              </a:r>
              <a:endParaRPr/>
            </a:p>
          </p:txBody>
        </p:sp>
        <p:sp>
          <p:nvSpPr>
            <p:cNvPr id="204" name="Google Shape;204;p14"/>
            <p:cNvSpPr txBox="1"/>
            <p:nvPr/>
          </p:nvSpPr>
          <p:spPr>
            <a:xfrm>
              <a:off x="8382000" y="1581150"/>
              <a:ext cx="3048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a:t>
              </a:r>
              <a:endParaRPr/>
            </a:p>
          </p:txBody>
        </p:sp>
        <p:sp>
          <p:nvSpPr>
            <p:cNvPr id="205" name="Google Shape;205;p14"/>
            <p:cNvSpPr txBox="1"/>
            <p:nvPr/>
          </p:nvSpPr>
          <p:spPr>
            <a:xfrm>
              <a:off x="8382000" y="1809750"/>
              <a:ext cx="3048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3</a:t>
              </a:r>
              <a:endParaRPr/>
            </a:p>
          </p:txBody>
        </p:sp>
        <p:sp>
          <p:nvSpPr>
            <p:cNvPr id="206" name="Google Shape;206;p14"/>
            <p:cNvSpPr txBox="1"/>
            <p:nvPr/>
          </p:nvSpPr>
          <p:spPr>
            <a:xfrm>
              <a:off x="8382000" y="2038350"/>
              <a:ext cx="3048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4</a:t>
              </a:r>
              <a:endParaRPr/>
            </a:p>
          </p:txBody>
        </p:sp>
        <p:sp>
          <p:nvSpPr>
            <p:cNvPr id="207" name="Google Shape;207;p14"/>
            <p:cNvSpPr txBox="1"/>
            <p:nvPr/>
          </p:nvSpPr>
          <p:spPr>
            <a:xfrm>
              <a:off x="8382000" y="2266950"/>
              <a:ext cx="3048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5</a:t>
              </a:r>
              <a:endParaRPr/>
            </a:p>
          </p:txBody>
        </p:sp>
        <p:sp>
          <p:nvSpPr>
            <p:cNvPr id="208" name="Google Shape;208;p14"/>
            <p:cNvSpPr txBox="1"/>
            <p:nvPr/>
          </p:nvSpPr>
          <p:spPr>
            <a:xfrm>
              <a:off x="8382000" y="3486150"/>
              <a:ext cx="6096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1023</a:t>
              </a:r>
              <a:endParaRPr/>
            </a:p>
          </p:txBody>
        </p:sp>
      </p:grpSp>
      <p:sp>
        <p:nvSpPr>
          <p:cNvPr id="209" name="Google Shape;209;p14"/>
          <p:cNvSpPr txBox="1"/>
          <p:nvPr/>
        </p:nvSpPr>
        <p:spPr>
          <a:xfrm>
            <a:off x="10261600" y="1295401"/>
            <a:ext cx="15240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rgbClr val="800000"/>
                </a:solidFill>
                <a:latin typeface="Calibri"/>
                <a:ea typeface="Calibri"/>
                <a:cs typeface="Calibri"/>
                <a:sym typeface="Calibri"/>
              </a:rPr>
              <a:t>Address</a:t>
            </a:r>
            <a:endParaRPr/>
          </a:p>
        </p:txBody>
      </p:sp>
      <p:sp>
        <p:nvSpPr>
          <p:cNvPr id="210" name="Google Shape;21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5"/>
          <p:cNvSpPr/>
          <p:nvPr/>
        </p:nvSpPr>
        <p:spPr>
          <a:xfrm>
            <a:off x="7010400" y="1803400"/>
            <a:ext cx="2844800" cy="2540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rgbClr val="0C0C0C"/>
                </a:solidFill>
                <a:latin typeface="Calibri"/>
                <a:ea typeface="Calibri"/>
                <a:cs typeface="Calibri"/>
                <a:sym typeface="Calibri"/>
              </a:rPr>
              <a:t>PRIMARY</a:t>
            </a:r>
            <a:endParaRPr/>
          </a:p>
          <a:p>
            <a:pPr marL="0" marR="0" lvl="0" indent="0" algn="ctr" rtl="0">
              <a:spcBef>
                <a:spcPts val="0"/>
              </a:spcBef>
              <a:spcAft>
                <a:spcPts val="0"/>
              </a:spcAft>
              <a:buNone/>
            </a:pPr>
            <a:r>
              <a:rPr lang="en-US" sz="2800" b="1">
                <a:solidFill>
                  <a:srgbClr val="0C0C0C"/>
                </a:solidFill>
                <a:latin typeface="Calibri"/>
                <a:ea typeface="Calibri"/>
                <a:cs typeface="Calibri"/>
                <a:sym typeface="Calibri"/>
              </a:rPr>
              <a:t>MEMORY</a:t>
            </a:r>
            <a:endParaRPr/>
          </a:p>
        </p:txBody>
      </p:sp>
      <p:sp>
        <p:nvSpPr>
          <p:cNvPr id="216" name="Google Shape;216;p15"/>
          <p:cNvSpPr/>
          <p:nvPr/>
        </p:nvSpPr>
        <p:spPr>
          <a:xfrm>
            <a:off x="1320800" y="1193800"/>
            <a:ext cx="3048000" cy="3860800"/>
          </a:xfrm>
          <a:prstGeom prst="rect">
            <a:avLst/>
          </a:prstGeom>
          <a:solidFill>
            <a:srgbClr val="E1EFD8"/>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a:solidFill>
                  <a:srgbClr val="0D0D0D"/>
                </a:solidFill>
                <a:latin typeface="Calibri"/>
                <a:ea typeface="Calibri"/>
                <a:cs typeface="Calibri"/>
                <a:sym typeface="Calibri"/>
              </a:rPr>
              <a:t> PROCESSOR</a:t>
            </a:r>
            <a:endParaRPr/>
          </a:p>
        </p:txBody>
      </p:sp>
      <p:sp>
        <p:nvSpPr>
          <p:cNvPr id="217" name="Google Shape;217;p15"/>
          <p:cNvSpPr/>
          <p:nvPr/>
        </p:nvSpPr>
        <p:spPr>
          <a:xfrm>
            <a:off x="3823162" y="1600200"/>
            <a:ext cx="545638" cy="1320800"/>
          </a:xfrm>
          <a:prstGeom prst="rect">
            <a:avLst/>
          </a:prstGeom>
          <a:solidFill>
            <a:srgbClr val="FEF2CC"/>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D0D0D"/>
                </a:solidFill>
                <a:latin typeface="Calibri"/>
                <a:ea typeface="Calibri"/>
                <a:cs typeface="Calibri"/>
                <a:sym typeface="Calibri"/>
              </a:rPr>
              <a:t>MA R</a:t>
            </a:r>
            <a:endParaRPr/>
          </a:p>
        </p:txBody>
      </p:sp>
      <p:sp>
        <p:nvSpPr>
          <p:cNvPr id="218" name="Google Shape;218;p15"/>
          <p:cNvSpPr/>
          <p:nvPr/>
        </p:nvSpPr>
        <p:spPr>
          <a:xfrm>
            <a:off x="3849082" y="3124200"/>
            <a:ext cx="519718" cy="1320800"/>
          </a:xfrm>
          <a:prstGeom prst="rect">
            <a:avLst/>
          </a:prstGeom>
          <a:solidFill>
            <a:srgbClr val="FEF2CC"/>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D0D0D"/>
                </a:solidFill>
                <a:latin typeface="Calibri"/>
                <a:ea typeface="Calibri"/>
                <a:cs typeface="Calibri"/>
                <a:sym typeface="Calibri"/>
              </a:rPr>
              <a:t>MD R</a:t>
            </a:r>
            <a:endParaRPr/>
          </a:p>
        </p:txBody>
      </p:sp>
      <p:sp>
        <p:nvSpPr>
          <p:cNvPr id="219" name="Google Shape;219;p15"/>
          <p:cNvSpPr/>
          <p:nvPr/>
        </p:nvSpPr>
        <p:spPr>
          <a:xfrm>
            <a:off x="4368800" y="2108200"/>
            <a:ext cx="2641600" cy="508000"/>
          </a:xfrm>
          <a:prstGeom prst="rightArrow">
            <a:avLst>
              <a:gd name="adj1" fmla="val 50000"/>
              <a:gd name="adj2" fmla="val 50000"/>
            </a:avLst>
          </a:prstGeom>
          <a:solidFill>
            <a:srgbClr val="BFBFBF"/>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20" name="Google Shape;220;p15"/>
          <p:cNvSpPr/>
          <p:nvPr/>
        </p:nvSpPr>
        <p:spPr>
          <a:xfrm>
            <a:off x="4368800" y="3530600"/>
            <a:ext cx="2641600" cy="508000"/>
          </a:xfrm>
          <a:prstGeom prst="leftRightArrow">
            <a:avLst>
              <a:gd name="adj1" fmla="val 50000"/>
              <a:gd name="adj2" fmla="val 50000"/>
            </a:avLst>
          </a:prstGeom>
          <a:solidFill>
            <a:srgbClr val="BFBFBF"/>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21" name="Google Shape;221;p15"/>
          <p:cNvSpPr/>
          <p:nvPr/>
        </p:nvSpPr>
        <p:spPr>
          <a:xfrm>
            <a:off x="4368800" y="4343400"/>
            <a:ext cx="4165600" cy="406400"/>
          </a:xfrm>
          <a:prstGeom prst="bentUpArrow">
            <a:avLst>
              <a:gd name="adj1" fmla="val 25000"/>
              <a:gd name="adj2" fmla="val 25000"/>
              <a:gd name="adj3" fmla="val 25000"/>
            </a:avLst>
          </a:prstGeom>
          <a:solidFill>
            <a:srgbClr val="BFBFBF"/>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22" name="Google Shape;222;p15"/>
          <p:cNvSpPr txBox="1"/>
          <p:nvPr/>
        </p:nvSpPr>
        <p:spPr>
          <a:xfrm>
            <a:off x="4673600" y="1701801"/>
            <a:ext cx="19304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Calibri"/>
                <a:ea typeface="Calibri"/>
                <a:cs typeface="Calibri"/>
                <a:sym typeface="Calibri"/>
              </a:rPr>
              <a:t>Address</a:t>
            </a:r>
            <a:endParaRPr/>
          </a:p>
        </p:txBody>
      </p:sp>
      <p:sp>
        <p:nvSpPr>
          <p:cNvPr id="223" name="Google Shape;223;p15"/>
          <p:cNvSpPr txBox="1"/>
          <p:nvPr/>
        </p:nvSpPr>
        <p:spPr>
          <a:xfrm>
            <a:off x="4978400" y="3124201"/>
            <a:ext cx="12192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Calibri"/>
                <a:ea typeface="Calibri"/>
                <a:cs typeface="Calibri"/>
                <a:sym typeface="Calibri"/>
              </a:rPr>
              <a:t>Data</a:t>
            </a:r>
            <a:endParaRPr/>
          </a:p>
        </p:txBody>
      </p:sp>
      <p:sp>
        <p:nvSpPr>
          <p:cNvPr id="224" name="Google Shape;224;p15"/>
          <p:cNvSpPr txBox="1"/>
          <p:nvPr/>
        </p:nvSpPr>
        <p:spPr>
          <a:xfrm>
            <a:off x="4876800" y="4749801"/>
            <a:ext cx="31496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Calibri"/>
                <a:ea typeface="Calibri"/>
                <a:cs typeface="Calibri"/>
                <a:sym typeface="Calibri"/>
              </a:rPr>
              <a:t>Control Signals</a:t>
            </a:r>
            <a:endParaRPr/>
          </a:p>
        </p:txBody>
      </p:sp>
      <p:sp>
        <p:nvSpPr>
          <p:cNvPr id="225" name="Google Shape;22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endParaRPr/>
          </a:p>
        </p:txBody>
      </p:sp>
      <p:sp>
        <p:nvSpPr>
          <p:cNvPr id="231" name="Google Shape;23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To read data from memory</a:t>
            </a:r>
            <a:endParaRPr/>
          </a:p>
          <a:p>
            <a:pPr marL="685800" lvl="1" indent="-228600" algn="l" rtl="0">
              <a:lnSpc>
                <a:spcPct val="110000"/>
              </a:lnSpc>
              <a:spcBef>
                <a:spcPts val="600"/>
              </a:spcBef>
              <a:spcAft>
                <a:spcPts val="0"/>
              </a:spcAft>
              <a:buClr>
                <a:schemeClr val="dk1"/>
              </a:buClr>
              <a:buSzPts val="2400"/>
              <a:buChar char="•"/>
            </a:pPr>
            <a:r>
              <a:rPr lang="en-US"/>
              <a:t>Load the memory address into MAR.</a:t>
            </a:r>
            <a:endParaRPr/>
          </a:p>
          <a:p>
            <a:pPr marL="685800" lvl="1" indent="-228600" algn="l" rtl="0">
              <a:lnSpc>
                <a:spcPct val="110000"/>
              </a:lnSpc>
              <a:spcBef>
                <a:spcPts val="600"/>
              </a:spcBef>
              <a:spcAft>
                <a:spcPts val="0"/>
              </a:spcAft>
              <a:buClr>
                <a:schemeClr val="dk1"/>
              </a:buClr>
              <a:buSzPts val="2400"/>
              <a:buChar char="•"/>
            </a:pPr>
            <a:r>
              <a:rPr lang="en-US"/>
              <a:t>Issue the control signal READ.</a:t>
            </a:r>
            <a:endParaRPr/>
          </a:p>
          <a:p>
            <a:pPr marL="685800" lvl="1" indent="-228600" algn="l" rtl="0">
              <a:lnSpc>
                <a:spcPct val="110000"/>
              </a:lnSpc>
              <a:spcBef>
                <a:spcPts val="600"/>
              </a:spcBef>
              <a:spcAft>
                <a:spcPts val="0"/>
              </a:spcAft>
              <a:buClr>
                <a:schemeClr val="dk1"/>
              </a:buClr>
              <a:buSzPts val="2400"/>
              <a:buChar char="•"/>
            </a:pPr>
            <a:r>
              <a:rPr lang="en-US"/>
              <a:t>The data read from the memory is stored into MDR.</a:t>
            </a:r>
            <a:endParaRPr/>
          </a:p>
          <a:p>
            <a:pPr marL="228600" lvl="0" indent="-228600" algn="l" rtl="0">
              <a:lnSpc>
                <a:spcPct val="110000"/>
              </a:lnSpc>
              <a:spcBef>
                <a:spcPts val="600"/>
              </a:spcBef>
              <a:spcAft>
                <a:spcPts val="0"/>
              </a:spcAft>
              <a:buClr>
                <a:schemeClr val="dk1"/>
              </a:buClr>
              <a:buSzPts val="2800"/>
              <a:buChar char="•"/>
            </a:pPr>
            <a:r>
              <a:rPr lang="en-US"/>
              <a:t>To write data into memory</a:t>
            </a:r>
            <a:endParaRPr/>
          </a:p>
          <a:p>
            <a:pPr marL="685800" lvl="1" indent="-228600" algn="l" rtl="0">
              <a:lnSpc>
                <a:spcPct val="110000"/>
              </a:lnSpc>
              <a:spcBef>
                <a:spcPts val="600"/>
              </a:spcBef>
              <a:spcAft>
                <a:spcPts val="0"/>
              </a:spcAft>
              <a:buClr>
                <a:schemeClr val="dk1"/>
              </a:buClr>
              <a:buSzPts val="2400"/>
              <a:buChar char="•"/>
            </a:pPr>
            <a:r>
              <a:rPr lang="en-US"/>
              <a:t>Load the memory address into MAR.</a:t>
            </a:r>
            <a:endParaRPr/>
          </a:p>
          <a:p>
            <a:pPr marL="685800" lvl="1" indent="-228600" algn="l" rtl="0">
              <a:lnSpc>
                <a:spcPct val="110000"/>
              </a:lnSpc>
              <a:spcBef>
                <a:spcPts val="600"/>
              </a:spcBef>
              <a:spcAft>
                <a:spcPts val="0"/>
              </a:spcAft>
              <a:buClr>
                <a:schemeClr val="dk1"/>
              </a:buClr>
              <a:buSzPts val="2400"/>
              <a:buChar char="•"/>
            </a:pPr>
            <a:r>
              <a:rPr lang="en-US"/>
              <a:t>Load the data to be written into MDR.</a:t>
            </a:r>
            <a:endParaRPr/>
          </a:p>
          <a:p>
            <a:pPr marL="685800" lvl="1" indent="-228600" algn="l" rtl="0">
              <a:lnSpc>
                <a:spcPct val="110000"/>
              </a:lnSpc>
              <a:spcBef>
                <a:spcPts val="600"/>
              </a:spcBef>
              <a:spcAft>
                <a:spcPts val="0"/>
              </a:spcAft>
              <a:buClr>
                <a:schemeClr val="dk1"/>
              </a:buClr>
              <a:buSzPts val="2400"/>
              <a:buChar char="•"/>
            </a:pPr>
            <a:r>
              <a:rPr lang="en-US"/>
              <a:t>Issue the control signal WRITE.</a:t>
            </a:r>
            <a:endParaRPr/>
          </a:p>
        </p:txBody>
      </p:sp>
      <p:sp>
        <p:nvSpPr>
          <p:cNvPr id="232" name="Google Shape;232;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1">
                                            <p:txEl>
                                              <p:pRg st="0" end="0"/>
                                            </p:txEl>
                                          </p:spTgt>
                                        </p:tgtEl>
                                        <p:attrNameLst>
                                          <p:attrName>style.visibility</p:attrName>
                                        </p:attrNameLst>
                                      </p:cBhvr>
                                      <p:to>
                                        <p:strVal val="visible"/>
                                      </p:to>
                                    </p:set>
                                    <p:animEffect transition="in" filter="fade">
                                      <p:cBhvr>
                                        <p:cTn id="7" dur="500"/>
                                        <p:tgtEl>
                                          <p:spTgt spid="2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1">
                                            <p:txEl>
                                              <p:pRg st="1" end="1"/>
                                            </p:txEl>
                                          </p:spTgt>
                                        </p:tgtEl>
                                        <p:attrNameLst>
                                          <p:attrName>style.visibility</p:attrName>
                                        </p:attrNameLst>
                                      </p:cBhvr>
                                      <p:to>
                                        <p:strVal val="visible"/>
                                      </p:to>
                                    </p:set>
                                    <p:animEffect transition="in" filter="fade">
                                      <p:cBhvr>
                                        <p:cTn id="12" dur="500"/>
                                        <p:tgtEl>
                                          <p:spTgt spid="2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1">
                                            <p:txEl>
                                              <p:pRg st="2" end="2"/>
                                            </p:txEl>
                                          </p:spTgt>
                                        </p:tgtEl>
                                        <p:attrNameLst>
                                          <p:attrName>style.visibility</p:attrName>
                                        </p:attrNameLst>
                                      </p:cBhvr>
                                      <p:to>
                                        <p:strVal val="visible"/>
                                      </p:to>
                                    </p:set>
                                    <p:animEffect transition="in" filter="fade">
                                      <p:cBhvr>
                                        <p:cTn id="17" dur="500"/>
                                        <p:tgtEl>
                                          <p:spTgt spid="2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1">
                                            <p:txEl>
                                              <p:pRg st="3" end="3"/>
                                            </p:txEl>
                                          </p:spTgt>
                                        </p:tgtEl>
                                        <p:attrNameLst>
                                          <p:attrName>style.visibility</p:attrName>
                                        </p:attrNameLst>
                                      </p:cBhvr>
                                      <p:to>
                                        <p:strVal val="visible"/>
                                      </p:to>
                                    </p:set>
                                    <p:animEffect transition="in" filter="fade">
                                      <p:cBhvr>
                                        <p:cTn id="22" dur="500"/>
                                        <p:tgtEl>
                                          <p:spTgt spid="2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1">
                                            <p:txEl>
                                              <p:pRg st="4" end="4"/>
                                            </p:txEl>
                                          </p:spTgt>
                                        </p:tgtEl>
                                        <p:attrNameLst>
                                          <p:attrName>style.visibility</p:attrName>
                                        </p:attrNameLst>
                                      </p:cBhvr>
                                      <p:to>
                                        <p:strVal val="visible"/>
                                      </p:to>
                                    </p:set>
                                    <p:animEffect transition="in" filter="fade">
                                      <p:cBhvr>
                                        <p:cTn id="27" dur="500"/>
                                        <p:tgtEl>
                                          <p:spTgt spid="2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1">
                                            <p:txEl>
                                              <p:pRg st="5" end="5"/>
                                            </p:txEl>
                                          </p:spTgt>
                                        </p:tgtEl>
                                        <p:attrNameLst>
                                          <p:attrName>style.visibility</p:attrName>
                                        </p:attrNameLst>
                                      </p:cBhvr>
                                      <p:to>
                                        <p:strVal val="visible"/>
                                      </p:to>
                                    </p:set>
                                    <p:animEffect transition="in" filter="fade">
                                      <p:cBhvr>
                                        <p:cTn id="32" dur="500"/>
                                        <p:tgtEl>
                                          <p:spTgt spid="2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1">
                                            <p:txEl>
                                              <p:pRg st="6" end="6"/>
                                            </p:txEl>
                                          </p:spTgt>
                                        </p:tgtEl>
                                        <p:attrNameLst>
                                          <p:attrName>style.visibility</p:attrName>
                                        </p:attrNameLst>
                                      </p:cBhvr>
                                      <p:to>
                                        <p:strVal val="visible"/>
                                      </p:to>
                                    </p:set>
                                    <p:animEffect transition="in" filter="fade">
                                      <p:cBhvr>
                                        <p:cTn id="37" dur="500"/>
                                        <p:tgtEl>
                                          <p:spTgt spid="2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1">
                                            <p:txEl>
                                              <p:pRg st="7" end="7"/>
                                            </p:txEl>
                                          </p:spTgt>
                                        </p:tgtEl>
                                        <p:attrNameLst>
                                          <p:attrName>style.visibility</p:attrName>
                                        </p:attrNameLst>
                                      </p:cBhvr>
                                      <p:to>
                                        <p:strVal val="visible"/>
                                      </p:to>
                                    </p:set>
                                    <p:animEffect transition="in" filter="fade">
                                      <p:cBhvr>
                                        <p:cTn id="42" dur="500"/>
                                        <p:tgtEl>
                                          <p:spTgt spid="23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For Keeping Track of Program / Instructions</a:t>
            </a:r>
            <a:endParaRPr/>
          </a:p>
        </p:txBody>
      </p:sp>
      <p:sp>
        <p:nvSpPr>
          <p:cNvPr id="238" name="Google Shape;238;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Two special-purpose registers are used:</a:t>
            </a:r>
            <a:endParaRPr/>
          </a:p>
          <a:p>
            <a:pPr marL="685800" lvl="1" indent="-228600" algn="l" rtl="0">
              <a:lnSpc>
                <a:spcPct val="110000"/>
              </a:lnSpc>
              <a:spcBef>
                <a:spcPts val="600"/>
              </a:spcBef>
              <a:spcAft>
                <a:spcPts val="0"/>
              </a:spcAft>
              <a:buClr>
                <a:srgbClr val="800000"/>
              </a:buClr>
              <a:buSzPts val="2400"/>
              <a:buChar char="•"/>
            </a:pPr>
            <a:r>
              <a:rPr lang="en-US" b="1">
                <a:solidFill>
                  <a:srgbClr val="800000"/>
                </a:solidFill>
              </a:rPr>
              <a:t>Program Counter (PC)</a:t>
            </a:r>
            <a:r>
              <a:rPr lang="en-US"/>
              <a:t>: Holds the memory address of the next instruction to be executed.</a:t>
            </a:r>
            <a:endParaRPr/>
          </a:p>
          <a:p>
            <a:pPr marL="1143000" lvl="2" indent="-228600" algn="l" rtl="0">
              <a:lnSpc>
                <a:spcPct val="110000"/>
              </a:lnSpc>
              <a:spcBef>
                <a:spcPts val="600"/>
              </a:spcBef>
              <a:spcAft>
                <a:spcPts val="0"/>
              </a:spcAft>
              <a:buClr>
                <a:schemeClr val="dk1"/>
              </a:buClr>
              <a:buSzPts val="2000"/>
              <a:buChar char="•"/>
            </a:pPr>
            <a:r>
              <a:rPr lang="en-US"/>
              <a:t>Automatically incremented to point to the next instruction when an instruction is being executed.</a:t>
            </a:r>
            <a:endParaRPr/>
          </a:p>
          <a:p>
            <a:pPr marL="685800" lvl="1" indent="-228600" algn="l" rtl="0">
              <a:lnSpc>
                <a:spcPct val="110000"/>
              </a:lnSpc>
              <a:spcBef>
                <a:spcPts val="600"/>
              </a:spcBef>
              <a:spcAft>
                <a:spcPts val="0"/>
              </a:spcAft>
              <a:buClr>
                <a:srgbClr val="800000"/>
              </a:buClr>
              <a:buSzPts val="2400"/>
              <a:buChar char="•"/>
            </a:pPr>
            <a:r>
              <a:rPr lang="en-US" b="1">
                <a:solidFill>
                  <a:srgbClr val="800000"/>
                </a:solidFill>
              </a:rPr>
              <a:t>Instruction Register (IR)</a:t>
            </a:r>
            <a:r>
              <a:rPr lang="en-US"/>
              <a:t>: Temporarily holds an instruction that has been fetched from memory.</a:t>
            </a:r>
            <a:endParaRPr/>
          </a:p>
          <a:p>
            <a:pPr marL="1143000" lvl="2" indent="-228600" algn="l" rtl="0">
              <a:lnSpc>
                <a:spcPct val="110000"/>
              </a:lnSpc>
              <a:spcBef>
                <a:spcPts val="600"/>
              </a:spcBef>
              <a:spcAft>
                <a:spcPts val="0"/>
              </a:spcAft>
              <a:buClr>
                <a:schemeClr val="dk1"/>
              </a:buClr>
              <a:buSzPts val="2000"/>
              <a:buChar char="•"/>
            </a:pPr>
            <a:r>
              <a:rPr lang="en-US"/>
              <a:t>Need to be decoded to find out the instruction type.</a:t>
            </a:r>
            <a:endParaRPr/>
          </a:p>
          <a:p>
            <a:pPr marL="1143000" lvl="2" indent="-228600" algn="l" rtl="0">
              <a:lnSpc>
                <a:spcPct val="110000"/>
              </a:lnSpc>
              <a:spcBef>
                <a:spcPts val="600"/>
              </a:spcBef>
              <a:spcAft>
                <a:spcPts val="0"/>
              </a:spcAft>
              <a:buClr>
                <a:schemeClr val="dk1"/>
              </a:buClr>
              <a:buSzPts val="2000"/>
              <a:buChar char="•"/>
            </a:pPr>
            <a:r>
              <a:rPr lang="en-US"/>
              <a:t>Also contains information about the location of the data.</a:t>
            </a:r>
            <a:endParaRPr/>
          </a:p>
        </p:txBody>
      </p:sp>
      <p:sp>
        <p:nvSpPr>
          <p:cNvPr id="239" name="Google Shape;23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8"/>
          <p:cNvSpPr txBox="1">
            <a:spLocks noGrp="1"/>
          </p:cNvSpPr>
          <p:nvPr>
            <p:ph type="title"/>
          </p:nvPr>
        </p:nvSpPr>
        <p:spPr>
          <a:xfrm>
            <a:off x="609600" y="274640"/>
            <a:ext cx="10972800" cy="9191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Overall Architecture of a Simple Processor</a:t>
            </a:r>
            <a:endParaRPr/>
          </a:p>
        </p:txBody>
      </p:sp>
      <p:sp>
        <p:nvSpPr>
          <p:cNvPr id="245" name="Google Shape;245;p18"/>
          <p:cNvSpPr/>
          <p:nvPr/>
        </p:nvSpPr>
        <p:spPr>
          <a:xfrm>
            <a:off x="3556000" y="1295400"/>
            <a:ext cx="2946400" cy="6096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667" b="1">
                <a:solidFill>
                  <a:schemeClr val="dk1"/>
                </a:solidFill>
                <a:latin typeface="Calibri"/>
                <a:ea typeface="Calibri"/>
                <a:cs typeface="Calibri"/>
                <a:sym typeface="Calibri"/>
              </a:rPr>
              <a:t>Memory</a:t>
            </a:r>
            <a:endParaRPr/>
          </a:p>
        </p:txBody>
      </p:sp>
      <p:sp>
        <p:nvSpPr>
          <p:cNvPr id="246" name="Google Shape;246;p18"/>
          <p:cNvSpPr/>
          <p:nvPr/>
        </p:nvSpPr>
        <p:spPr>
          <a:xfrm>
            <a:off x="2438400" y="2616201"/>
            <a:ext cx="1219200" cy="443401"/>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MAR</a:t>
            </a:r>
            <a:endParaRPr/>
          </a:p>
        </p:txBody>
      </p:sp>
      <p:sp>
        <p:nvSpPr>
          <p:cNvPr id="247" name="Google Shape;247;p18"/>
          <p:cNvSpPr/>
          <p:nvPr/>
        </p:nvSpPr>
        <p:spPr>
          <a:xfrm>
            <a:off x="2438400" y="3290400"/>
            <a:ext cx="1219200" cy="443401"/>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PC</a:t>
            </a:r>
            <a:endParaRPr/>
          </a:p>
        </p:txBody>
      </p:sp>
      <p:sp>
        <p:nvSpPr>
          <p:cNvPr id="248" name="Google Shape;248;p18"/>
          <p:cNvSpPr/>
          <p:nvPr/>
        </p:nvSpPr>
        <p:spPr>
          <a:xfrm>
            <a:off x="2438400" y="4038601"/>
            <a:ext cx="1219200" cy="443401"/>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IR</a:t>
            </a:r>
            <a:endParaRPr/>
          </a:p>
        </p:txBody>
      </p:sp>
      <p:sp>
        <p:nvSpPr>
          <p:cNvPr id="249" name="Google Shape;249;p18"/>
          <p:cNvSpPr/>
          <p:nvPr/>
        </p:nvSpPr>
        <p:spPr>
          <a:xfrm>
            <a:off x="4368800" y="2579200"/>
            <a:ext cx="1320800" cy="443401"/>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MDR</a:t>
            </a:r>
            <a:endParaRPr/>
          </a:p>
        </p:txBody>
      </p:sp>
      <p:sp>
        <p:nvSpPr>
          <p:cNvPr id="250" name="Google Shape;250;p18"/>
          <p:cNvSpPr/>
          <p:nvPr/>
        </p:nvSpPr>
        <p:spPr>
          <a:xfrm>
            <a:off x="6807200" y="2579200"/>
            <a:ext cx="1219200" cy="1154601"/>
          </a:xfrm>
          <a:prstGeom prst="rect">
            <a:avLst/>
          </a:prstGeom>
          <a:solidFill>
            <a:srgbClr val="E1EFD8"/>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Control</a:t>
            </a:r>
            <a:endParaRPr/>
          </a:p>
        </p:txBody>
      </p:sp>
      <p:sp>
        <p:nvSpPr>
          <p:cNvPr id="251" name="Google Shape;251;p18"/>
          <p:cNvSpPr/>
          <p:nvPr/>
        </p:nvSpPr>
        <p:spPr>
          <a:xfrm>
            <a:off x="6807200" y="3900000"/>
            <a:ext cx="1219200" cy="1154601"/>
          </a:xfrm>
          <a:prstGeom prst="rect">
            <a:avLst/>
          </a:prstGeom>
          <a:solidFill>
            <a:srgbClr val="E1EFD8"/>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ALU</a:t>
            </a:r>
            <a:endParaRPr/>
          </a:p>
        </p:txBody>
      </p:sp>
      <p:cxnSp>
        <p:nvCxnSpPr>
          <p:cNvPr id="252" name="Google Shape;252;p18"/>
          <p:cNvCxnSpPr>
            <a:stCxn id="249" idx="0"/>
            <a:endCxn id="245" idx="2"/>
          </p:cNvCxnSpPr>
          <p:nvPr/>
        </p:nvCxnSpPr>
        <p:spPr>
          <a:xfrm rot="10800000">
            <a:off x="5029200" y="1905100"/>
            <a:ext cx="0" cy="674100"/>
          </a:xfrm>
          <a:prstGeom prst="straightConnector1">
            <a:avLst/>
          </a:prstGeom>
          <a:noFill/>
          <a:ln w="38100" cap="flat" cmpd="sng">
            <a:solidFill>
              <a:schemeClr val="dk1"/>
            </a:solidFill>
            <a:prstDash val="solid"/>
            <a:miter lim="8000"/>
            <a:headEnd type="triangle" w="med" len="med"/>
            <a:tailEnd type="triangle" w="med" len="med"/>
          </a:ln>
        </p:spPr>
      </p:cxnSp>
      <p:cxnSp>
        <p:nvCxnSpPr>
          <p:cNvPr id="253" name="Google Shape;253;p18"/>
          <p:cNvCxnSpPr/>
          <p:nvPr/>
        </p:nvCxnSpPr>
        <p:spPr>
          <a:xfrm rot="10800000" flipH="1">
            <a:off x="3073400" y="2209699"/>
            <a:ext cx="1625700" cy="406500"/>
          </a:xfrm>
          <a:prstGeom prst="bentConnector2">
            <a:avLst/>
          </a:prstGeom>
          <a:noFill/>
          <a:ln w="38100" cap="flat" cmpd="sng">
            <a:solidFill>
              <a:schemeClr val="dk1"/>
            </a:solidFill>
            <a:prstDash val="solid"/>
            <a:miter lim="8000"/>
            <a:headEnd type="none" w="sm" len="sm"/>
            <a:tailEnd type="none" w="sm" len="sm"/>
          </a:ln>
        </p:spPr>
      </p:cxnSp>
      <p:cxnSp>
        <p:nvCxnSpPr>
          <p:cNvPr id="254" name="Google Shape;254;p18"/>
          <p:cNvCxnSpPr/>
          <p:nvPr/>
        </p:nvCxnSpPr>
        <p:spPr>
          <a:xfrm>
            <a:off x="5260977" y="2209799"/>
            <a:ext cx="2203500" cy="369300"/>
          </a:xfrm>
          <a:prstGeom prst="bentConnector2">
            <a:avLst/>
          </a:prstGeom>
          <a:noFill/>
          <a:ln w="38100" cap="flat" cmpd="sng">
            <a:solidFill>
              <a:schemeClr val="dk1"/>
            </a:solidFill>
            <a:prstDash val="solid"/>
            <a:miter lim="8000"/>
            <a:headEnd type="none" w="sm" len="sm"/>
            <a:tailEnd type="triangle" w="med" len="med"/>
          </a:ln>
        </p:spPr>
      </p:cxnSp>
      <p:cxnSp>
        <p:nvCxnSpPr>
          <p:cNvPr id="255" name="Google Shape;255;p18"/>
          <p:cNvCxnSpPr/>
          <p:nvPr/>
        </p:nvCxnSpPr>
        <p:spPr>
          <a:xfrm rot="10800000">
            <a:off x="5283200" y="1905000"/>
            <a:ext cx="0" cy="304800"/>
          </a:xfrm>
          <a:prstGeom prst="straightConnector1">
            <a:avLst/>
          </a:prstGeom>
          <a:noFill/>
          <a:ln w="38100" cap="flat" cmpd="sng">
            <a:solidFill>
              <a:schemeClr val="dk1"/>
            </a:solidFill>
            <a:prstDash val="solid"/>
            <a:miter lim="8000"/>
            <a:headEnd type="none" w="sm" len="sm"/>
            <a:tailEnd type="triangle" w="med" len="med"/>
          </a:ln>
        </p:spPr>
      </p:cxnSp>
      <p:cxnSp>
        <p:nvCxnSpPr>
          <p:cNvPr id="256" name="Google Shape;256;p18"/>
          <p:cNvCxnSpPr/>
          <p:nvPr/>
        </p:nvCxnSpPr>
        <p:spPr>
          <a:xfrm rot="10800000">
            <a:off x="4673600" y="1905000"/>
            <a:ext cx="0" cy="304800"/>
          </a:xfrm>
          <a:prstGeom prst="straightConnector1">
            <a:avLst/>
          </a:prstGeom>
          <a:noFill/>
          <a:ln w="38100" cap="flat" cmpd="sng">
            <a:solidFill>
              <a:schemeClr val="dk1"/>
            </a:solidFill>
            <a:prstDash val="solid"/>
            <a:miter lim="8000"/>
            <a:headEnd type="none" w="sm" len="sm"/>
            <a:tailEnd type="triangle" w="med" len="med"/>
          </a:ln>
        </p:spPr>
      </p:cxnSp>
      <p:grpSp>
        <p:nvGrpSpPr>
          <p:cNvPr id="257" name="Google Shape;257;p18"/>
          <p:cNvGrpSpPr/>
          <p:nvPr/>
        </p:nvGrpSpPr>
        <p:grpSpPr>
          <a:xfrm>
            <a:off x="4368800" y="3124200"/>
            <a:ext cx="1320800" cy="2225104"/>
            <a:chOff x="3324225" y="2452320"/>
            <a:chExt cx="990600" cy="1668828"/>
          </a:xfrm>
        </p:grpSpPr>
        <p:sp>
          <p:nvSpPr>
            <p:cNvPr id="258" name="Google Shape;258;p18"/>
            <p:cNvSpPr/>
            <p:nvPr/>
          </p:nvSpPr>
          <p:spPr>
            <a:xfrm>
              <a:off x="3324225" y="2452320"/>
              <a:ext cx="990600" cy="332549"/>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R</a:t>
              </a:r>
              <a:r>
                <a:rPr lang="en-US" sz="2400" baseline="-25000">
                  <a:solidFill>
                    <a:schemeClr val="dk1"/>
                  </a:solidFill>
                  <a:latin typeface="Calibri"/>
                  <a:ea typeface="Calibri"/>
                  <a:cs typeface="Calibri"/>
                  <a:sym typeface="Calibri"/>
                </a:rPr>
                <a:t>0</a:t>
              </a:r>
              <a:endParaRPr/>
            </a:p>
          </p:txBody>
        </p:sp>
        <p:sp>
          <p:nvSpPr>
            <p:cNvPr id="259" name="Google Shape;259;p18"/>
            <p:cNvSpPr/>
            <p:nvPr/>
          </p:nvSpPr>
          <p:spPr>
            <a:xfrm>
              <a:off x="3324225" y="2791649"/>
              <a:ext cx="990600" cy="332549"/>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R</a:t>
              </a:r>
              <a:r>
                <a:rPr lang="en-US" sz="2400" baseline="-25000">
                  <a:solidFill>
                    <a:schemeClr val="dk1"/>
                  </a:solidFill>
                  <a:latin typeface="Calibri"/>
                  <a:ea typeface="Calibri"/>
                  <a:cs typeface="Calibri"/>
                  <a:sym typeface="Calibri"/>
                </a:rPr>
                <a:t>1</a:t>
              </a:r>
              <a:endParaRPr/>
            </a:p>
          </p:txBody>
        </p:sp>
        <p:sp>
          <p:nvSpPr>
            <p:cNvPr id="260" name="Google Shape;260;p18"/>
            <p:cNvSpPr/>
            <p:nvPr/>
          </p:nvSpPr>
          <p:spPr>
            <a:xfrm>
              <a:off x="3324225" y="3136515"/>
              <a:ext cx="990600" cy="654435"/>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b="1">
                  <a:solidFill>
                    <a:schemeClr val="dk1"/>
                  </a:solidFill>
                  <a:latin typeface="Calibri"/>
                  <a:ea typeface="Calibri"/>
                  <a:cs typeface="Calibri"/>
                  <a:sym typeface="Calibri"/>
                </a:rPr>
                <a:t>.</a:t>
              </a:r>
              <a:endParaRPr/>
            </a:p>
            <a:p>
              <a:pPr marL="0" marR="0" lvl="0" indent="0" algn="ctr" rtl="0">
                <a:spcBef>
                  <a:spcPts val="0"/>
                </a:spcBef>
                <a:spcAft>
                  <a:spcPts val="0"/>
                </a:spcAft>
                <a:buNone/>
              </a:pPr>
              <a:r>
                <a:rPr lang="en-US" sz="2400" b="1" baseline="-25000">
                  <a:solidFill>
                    <a:schemeClr val="dk1"/>
                  </a:solidFill>
                  <a:latin typeface="Calibri"/>
                  <a:ea typeface="Calibri"/>
                  <a:cs typeface="Calibri"/>
                  <a:sym typeface="Calibri"/>
                </a:rPr>
                <a:t>.</a:t>
              </a:r>
              <a:endParaRPr/>
            </a:p>
            <a:p>
              <a:pPr marL="0" marR="0" lvl="0" indent="0" algn="ctr" rtl="0">
                <a:spcBef>
                  <a:spcPts val="0"/>
                </a:spcBef>
                <a:spcAft>
                  <a:spcPts val="0"/>
                </a:spcAft>
                <a:buNone/>
              </a:pPr>
              <a:endParaRPr sz="2400" b="1" baseline="-25000">
                <a:solidFill>
                  <a:schemeClr val="dk1"/>
                </a:solidFill>
                <a:latin typeface="Calibri"/>
                <a:ea typeface="Calibri"/>
                <a:cs typeface="Calibri"/>
                <a:sym typeface="Calibri"/>
              </a:endParaRPr>
            </a:p>
          </p:txBody>
        </p:sp>
        <p:sp>
          <p:nvSpPr>
            <p:cNvPr id="261" name="Google Shape;261;p18"/>
            <p:cNvSpPr/>
            <p:nvPr/>
          </p:nvSpPr>
          <p:spPr>
            <a:xfrm>
              <a:off x="3324225" y="3788599"/>
              <a:ext cx="990600" cy="332549"/>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R</a:t>
              </a:r>
              <a:r>
                <a:rPr lang="en-US" sz="2400" baseline="-25000">
                  <a:solidFill>
                    <a:schemeClr val="dk1"/>
                  </a:solidFill>
                  <a:latin typeface="Calibri"/>
                  <a:ea typeface="Calibri"/>
                  <a:cs typeface="Calibri"/>
                  <a:sym typeface="Calibri"/>
                </a:rPr>
                <a:t>n-1</a:t>
              </a:r>
              <a:endParaRPr/>
            </a:p>
          </p:txBody>
        </p:sp>
      </p:grpSp>
      <p:sp>
        <p:nvSpPr>
          <p:cNvPr id="262" name="Google Shape;262;p18"/>
          <p:cNvSpPr/>
          <p:nvPr/>
        </p:nvSpPr>
        <p:spPr>
          <a:xfrm>
            <a:off x="1727200" y="2311400"/>
            <a:ext cx="7213600" cy="3558556"/>
          </a:xfrm>
          <a:prstGeom prst="rect">
            <a:avLst/>
          </a:prstGeom>
          <a:noFill/>
          <a:ln w="12700" cap="flat" cmpd="sng">
            <a:solidFill>
              <a:srgbClr val="800000"/>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3" name="Google Shape;263;p18"/>
          <p:cNvSpPr txBox="1"/>
          <p:nvPr/>
        </p:nvSpPr>
        <p:spPr>
          <a:xfrm>
            <a:off x="2844800" y="5348507"/>
            <a:ext cx="47752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90"/>
                </a:solidFill>
                <a:latin typeface="Calibri"/>
                <a:ea typeface="Calibri"/>
                <a:cs typeface="Calibri"/>
                <a:sym typeface="Calibri"/>
              </a:rPr>
              <a:t>n General Purpose Registers (GPR)</a:t>
            </a:r>
            <a:endParaRPr/>
          </a:p>
        </p:txBody>
      </p:sp>
      <p:sp>
        <p:nvSpPr>
          <p:cNvPr id="264" name="Google Shape;264;p18"/>
          <p:cNvSpPr txBox="1"/>
          <p:nvPr/>
        </p:nvSpPr>
        <p:spPr>
          <a:xfrm>
            <a:off x="9042400" y="3733801"/>
            <a:ext cx="1727200" cy="5027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67" b="1">
                <a:solidFill>
                  <a:schemeClr val="dk1"/>
                </a:solidFill>
                <a:latin typeface="Calibri"/>
                <a:ea typeface="Calibri"/>
                <a:cs typeface="Calibri"/>
                <a:sym typeface="Calibri"/>
              </a:rPr>
              <a:t>Processor</a:t>
            </a:r>
            <a:endParaRPr/>
          </a:p>
        </p:txBody>
      </p:sp>
      <p:sp>
        <p:nvSpPr>
          <p:cNvPr id="265" name="Google Shape;26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Example Instructions</a:t>
            </a:r>
            <a:endParaRPr/>
          </a:p>
        </p:txBody>
      </p:sp>
      <p:sp>
        <p:nvSpPr>
          <p:cNvPr id="272" name="Google Shape;272;p19"/>
          <p:cNvSpPr txBox="1">
            <a:spLocks noGrp="1"/>
          </p:cNvSpPr>
          <p:nvPr>
            <p:ph type="body" idx="1"/>
          </p:nvPr>
        </p:nvSpPr>
        <p:spPr>
          <a:xfrm>
            <a:off x="609600" y="1600202"/>
            <a:ext cx="11277600" cy="4267199"/>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chemeClr val="dk1"/>
              </a:buClr>
              <a:buSzPts val="2800"/>
              <a:buChar char="•"/>
            </a:pPr>
            <a:r>
              <a:rPr lang="en-US"/>
              <a:t>We shall illustrate the process of instruction execution with the help of the following two instructions:</a:t>
            </a:r>
            <a:endParaRPr/>
          </a:p>
          <a:p>
            <a:pPr marL="1081590" lvl="1" indent="-472006" algn="l" rtl="0">
              <a:lnSpc>
                <a:spcPct val="110000"/>
              </a:lnSpc>
              <a:spcBef>
                <a:spcPts val="1200"/>
              </a:spcBef>
              <a:spcAft>
                <a:spcPts val="0"/>
              </a:spcAft>
              <a:buClr>
                <a:srgbClr val="0C0C0C"/>
              </a:buClr>
              <a:buSzPts val="2667"/>
              <a:buFont typeface="Calibri"/>
              <a:buAutoNum type="alphaLcParenR"/>
            </a:pPr>
            <a:r>
              <a:rPr lang="en-US" sz="2667" b="1">
                <a:solidFill>
                  <a:srgbClr val="0000FF"/>
                </a:solidFill>
              </a:rPr>
              <a:t>ADD   R1, LOCA</a:t>
            </a:r>
            <a:endParaRPr/>
          </a:p>
          <a:p>
            <a:pPr marL="1142971" lvl="2" indent="0" algn="l" rtl="0">
              <a:lnSpc>
                <a:spcPct val="110000"/>
              </a:lnSpc>
              <a:spcBef>
                <a:spcPts val="600"/>
              </a:spcBef>
              <a:spcAft>
                <a:spcPts val="0"/>
              </a:spcAft>
              <a:buClr>
                <a:schemeClr val="dk1"/>
              </a:buClr>
              <a:buSzPts val="2400"/>
              <a:buNone/>
            </a:pPr>
            <a:r>
              <a:rPr lang="en-US" sz="2400"/>
              <a:t>Add the contents of memory location LOCA (i.e. address of the memory location is LOCA) to the contents of register R1.</a:t>
            </a:r>
            <a:endParaRPr/>
          </a:p>
          <a:p>
            <a:pPr marL="1142971" lvl="2" indent="0" algn="l" rtl="0">
              <a:lnSpc>
                <a:spcPct val="110000"/>
              </a:lnSpc>
              <a:spcBef>
                <a:spcPts val="600"/>
              </a:spcBef>
              <a:spcAft>
                <a:spcPts val="0"/>
              </a:spcAft>
              <a:buClr>
                <a:srgbClr val="800000"/>
              </a:buClr>
              <a:buSzPts val="2400"/>
              <a:buNone/>
            </a:pPr>
            <a:r>
              <a:rPr lang="en-US" sz="2400">
                <a:solidFill>
                  <a:srgbClr val="800000"/>
                </a:solidFill>
              </a:rPr>
              <a:t>	R1 🡨 R1 + Mem[LOCA]</a:t>
            </a:r>
            <a:endParaRPr sz="2400">
              <a:solidFill>
                <a:srgbClr val="800000"/>
              </a:solidFill>
            </a:endParaRPr>
          </a:p>
          <a:p>
            <a:pPr marL="1081590" lvl="1" indent="-472006" algn="l" rtl="0">
              <a:lnSpc>
                <a:spcPct val="110000"/>
              </a:lnSpc>
              <a:spcBef>
                <a:spcPts val="1200"/>
              </a:spcBef>
              <a:spcAft>
                <a:spcPts val="0"/>
              </a:spcAft>
              <a:buClr>
                <a:srgbClr val="0C0C0C"/>
              </a:buClr>
              <a:buSzPts val="2667"/>
              <a:buFont typeface="Calibri"/>
              <a:buAutoNum type="alphaLcParenR"/>
            </a:pPr>
            <a:r>
              <a:rPr lang="en-US" sz="2667" b="1">
                <a:solidFill>
                  <a:srgbClr val="0000FF"/>
                </a:solidFill>
              </a:rPr>
              <a:t>ADD   R1, R2</a:t>
            </a:r>
            <a:endParaRPr/>
          </a:p>
          <a:p>
            <a:pPr marL="1142971" lvl="2" indent="0" algn="l" rtl="0">
              <a:lnSpc>
                <a:spcPct val="110000"/>
              </a:lnSpc>
              <a:spcBef>
                <a:spcPts val="600"/>
              </a:spcBef>
              <a:spcAft>
                <a:spcPts val="0"/>
              </a:spcAft>
              <a:buClr>
                <a:schemeClr val="dk1"/>
              </a:buClr>
              <a:buSzPts val="2400"/>
              <a:buNone/>
            </a:pPr>
            <a:r>
              <a:rPr lang="en-US" sz="2400"/>
              <a:t>Add the contents of register R2 to the contents of register R1.</a:t>
            </a:r>
            <a:endParaRPr/>
          </a:p>
          <a:p>
            <a:pPr marL="1142971" lvl="2" indent="0" algn="l" rtl="0">
              <a:lnSpc>
                <a:spcPct val="110000"/>
              </a:lnSpc>
              <a:spcBef>
                <a:spcPts val="600"/>
              </a:spcBef>
              <a:spcAft>
                <a:spcPts val="0"/>
              </a:spcAft>
              <a:buClr>
                <a:srgbClr val="800000"/>
              </a:buClr>
              <a:buSzPts val="2400"/>
              <a:buNone/>
            </a:pPr>
            <a:r>
              <a:rPr lang="en-US" sz="2400">
                <a:solidFill>
                  <a:srgbClr val="800000"/>
                </a:solidFill>
              </a:rPr>
              <a:t>	R1 🡨 R1 + R2</a:t>
            </a:r>
            <a:endParaRPr sz="2400">
              <a:solidFill>
                <a:srgbClr val="800000"/>
              </a:solidFill>
            </a:endParaRPr>
          </a:p>
        </p:txBody>
      </p:sp>
      <p:sp>
        <p:nvSpPr>
          <p:cNvPr id="273" name="Google Shape;27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Execution of  </a:t>
            </a:r>
            <a:r>
              <a:rPr lang="en-US" i="1">
                <a:solidFill>
                  <a:srgbClr val="000090"/>
                </a:solidFill>
              </a:rPr>
              <a:t>ADD  R1,LOCA</a:t>
            </a:r>
            <a:endParaRPr/>
          </a:p>
        </p:txBody>
      </p:sp>
      <p:sp>
        <p:nvSpPr>
          <p:cNvPr id="279" name="Google Shape;279;p20"/>
          <p:cNvSpPr txBox="1">
            <a:spLocks noGrp="1"/>
          </p:cNvSpPr>
          <p:nvPr>
            <p:ph type="body" idx="1"/>
          </p:nvPr>
        </p:nvSpPr>
        <p:spPr>
          <a:xfrm>
            <a:off x="609600" y="1397001"/>
            <a:ext cx="11277600" cy="44704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400"/>
              <a:buChar char="•"/>
            </a:pPr>
            <a:r>
              <a:rPr lang="en-US" sz="2400"/>
              <a:t>Assume that the instruction is stored in memory location 1000, the initial value of R1 is 50, and LOCA is 5000.</a:t>
            </a:r>
            <a:endParaRPr/>
          </a:p>
          <a:p>
            <a:pPr marL="228600" lvl="0" indent="-228600" algn="l" rtl="0">
              <a:lnSpc>
                <a:spcPct val="110000"/>
              </a:lnSpc>
              <a:spcBef>
                <a:spcPts val="600"/>
              </a:spcBef>
              <a:spcAft>
                <a:spcPts val="0"/>
              </a:spcAft>
              <a:buClr>
                <a:schemeClr val="dk1"/>
              </a:buClr>
              <a:buSzPts val="2400"/>
              <a:buChar char="•"/>
            </a:pPr>
            <a:r>
              <a:rPr lang="en-US" sz="2400"/>
              <a:t>Before the instruction is executed, PC contains 1000.</a:t>
            </a:r>
            <a:endParaRPr/>
          </a:p>
          <a:p>
            <a:pPr marL="228600" lvl="0" indent="-228600" algn="l" rtl="0">
              <a:lnSpc>
                <a:spcPct val="110000"/>
              </a:lnSpc>
              <a:spcBef>
                <a:spcPts val="600"/>
              </a:spcBef>
              <a:spcAft>
                <a:spcPts val="0"/>
              </a:spcAft>
              <a:buClr>
                <a:schemeClr val="dk1"/>
              </a:buClr>
              <a:buSzPts val="2400"/>
              <a:buChar char="•"/>
            </a:pPr>
            <a:r>
              <a:rPr lang="en-US" sz="2400"/>
              <a:t>Content of PC is transferred to MAR.     			</a:t>
            </a:r>
            <a:r>
              <a:rPr lang="en-US" sz="2400">
                <a:solidFill>
                  <a:srgbClr val="0000FF"/>
                </a:solidFill>
              </a:rPr>
              <a:t>MAR 🡨 PC</a:t>
            </a:r>
            <a:endParaRPr/>
          </a:p>
          <a:p>
            <a:pPr marL="228600" lvl="0" indent="-228600" algn="l" rtl="0">
              <a:lnSpc>
                <a:spcPct val="110000"/>
              </a:lnSpc>
              <a:spcBef>
                <a:spcPts val="600"/>
              </a:spcBef>
              <a:spcAft>
                <a:spcPts val="0"/>
              </a:spcAft>
              <a:buClr>
                <a:schemeClr val="dk1"/>
              </a:buClr>
              <a:buSzPts val="2400"/>
              <a:buChar char="•"/>
            </a:pPr>
            <a:r>
              <a:rPr lang="en-US" sz="2400"/>
              <a:t>READ request is issued to memory unit.</a:t>
            </a:r>
            <a:endParaRPr/>
          </a:p>
          <a:p>
            <a:pPr marL="228600" lvl="0" indent="-228600" algn="l" rtl="0">
              <a:lnSpc>
                <a:spcPct val="110000"/>
              </a:lnSpc>
              <a:spcBef>
                <a:spcPts val="600"/>
              </a:spcBef>
              <a:spcAft>
                <a:spcPts val="0"/>
              </a:spcAft>
              <a:buClr>
                <a:schemeClr val="dk1"/>
              </a:buClr>
              <a:buSzPts val="2400"/>
              <a:buChar char="•"/>
            </a:pPr>
            <a:r>
              <a:rPr lang="en-US" sz="2400"/>
              <a:t>The instruction is fetched to MDR.  			</a:t>
            </a:r>
            <a:r>
              <a:rPr lang="en-US" sz="2400">
                <a:solidFill>
                  <a:srgbClr val="0000FF"/>
                </a:solidFill>
              </a:rPr>
              <a:t>MDR 🡨 Mem[MAR]</a:t>
            </a:r>
            <a:endParaRPr/>
          </a:p>
          <a:p>
            <a:pPr marL="228600" lvl="0" indent="-228600" algn="l" rtl="0">
              <a:lnSpc>
                <a:spcPct val="110000"/>
              </a:lnSpc>
              <a:spcBef>
                <a:spcPts val="600"/>
              </a:spcBef>
              <a:spcAft>
                <a:spcPts val="0"/>
              </a:spcAft>
              <a:buClr>
                <a:schemeClr val="dk1"/>
              </a:buClr>
              <a:buSzPts val="2400"/>
              <a:buChar char="•"/>
            </a:pPr>
            <a:r>
              <a:rPr lang="en-US" sz="2400"/>
              <a:t>Content of MDR is transferred to IR.  			</a:t>
            </a:r>
            <a:r>
              <a:rPr lang="en-US" sz="2400">
                <a:solidFill>
                  <a:srgbClr val="0000FF"/>
                </a:solidFill>
              </a:rPr>
              <a:t>IR 🡨 MDR</a:t>
            </a:r>
            <a:endParaRPr/>
          </a:p>
          <a:p>
            <a:pPr marL="228600" lvl="0" indent="-228600" algn="l" rtl="0">
              <a:lnSpc>
                <a:spcPct val="110000"/>
              </a:lnSpc>
              <a:spcBef>
                <a:spcPts val="600"/>
              </a:spcBef>
              <a:spcAft>
                <a:spcPts val="0"/>
              </a:spcAft>
              <a:buClr>
                <a:schemeClr val="dk1"/>
              </a:buClr>
              <a:buSzPts val="2400"/>
              <a:buChar char="•"/>
            </a:pPr>
            <a:r>
              <a:rPr lang="en-US" sz="2400"/>
              <a:t>PC is incremented to point to the next instruction.		</a:t>
            </a:r>
            <a:r>
              <a:rPr lang="en-US" sz="2400">
                <a:solidFill>
                  <a:srgbClr val="0000FF"/>
                </a:solidFill>
              </a:rPr>
              <a:t>PC 🡨 PC + 4</a:t>
            </a:r>
            <a:endParaRPr/>
          </a:p>
          <a:p>
            <a:pPr marL="228600" lvl="0" indent="-228600" algn="l" rtl="0">
              <a:lnSpc>
                <a:spcPct val="110000"/>
              </a:lnSpc>
              <a:spcBef>
                <a:spcPts val="600"/>
              </a:spcBef>
              <a:spcAft>
                <a:spcPts val="0"/>
              </a:spcAft>
              <a:buClr>
                <a:schemeClr val="dk1"/>
              </a:buClr>
              <a:buSzPts val="2400"/>
              <a:buChar char="•"/>
            </a:pPr>
            <a:r>
              <a:rPr lang="en-US" sz="2400"/>
              <a:t>The instruction is decoded by the control unit.</a:t>
            </a:r>
            <a:endParaRPr/>
          </a:p>
          <a:p>
            <a:pPr marL="0" lvl="0" indent="0" algn="l" rtl="0">
              <a:lnSpc>
                <a:spcPct val="110000"/>
              </a:lnSpc>
              <a:spcBef>
                <a:spcPts val="600"/>
              </a:spcBef>
              <a:spcAft>
                <a:spcPts val="0"/>
              </a:spcAft>
              <a:buClr>
                <a:schemeClr val="dk1"/>
              </a:buClr>
              <a:buSzPts val="2400"/>
              <a:buNone/>
            </a:pPr>
            <a:endParaRPr sz="2400"/>
          </a:p>
        </p:txBody>
      </p:sp>
      <p:sp>
        <p:nvSpPr>
          <p:cNvPr id="280" name="Google Shape;280;p20"/>
          <p:cNvSpPr/>
          <p:nvPr/>
        </p:nvSpPr>
        <p:spPr>
          <a:xfrm>
            <a:off x="7928960" y="5480150"/>
            <a:ext cx="1320800" cy="508000"/>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ADD  R1</a:t>
            </a:r>
            <a:endParaRPr/>
          </a:p>
        </p:txBody>
      </p:sp>
      <p:sp>
        <p:nvSpPr>
          <p:cNvPr id="281" name="Google Shape;281;p20"/>
          <p:cNvSpPr/>
          <p:nvPr/>
        </p:nvSpPr>
        <p:spPr>
          <a:xfrm>
            <a:off x="9249760" y="5480150"/>
            <a:ext cx="2235200" cy="508000"/>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5000</a:t>
            </a:r>
            <a:endParaRPr/>
          </a:p>
        </p:txBody>
      </p:sp>
      <p:sp>
        <p:nvSpPr>
          <p:cNvPr id="282" name="Google Shape;28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1"/>
          <p:cNvSpPr txBox="1">
            <a:spLocks noGrp="1"/>
          </p:cNvSpPr>
          <p:nvPr>
            <p:ph type="body" idx="1"/>
          </p:nvPr>
        </p:nvSpPr>
        <p:spPr>
          <a:xfrm>
            <a:off x="609600" y="889001"/>
            <a:ext cx="10972800" cy="4978401"/>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400"/>
              <a:buChar char="•"/>
            </a:pPr>
            <a:r>
              <a:rPr lang="en-US" sz="2400"/>
              <a:t>LOCA (i.e. 5000) is transferred (from IR) to MAR.		</a:t>
            </a:r>
            <a:r>
              <a:rPr lang="en-US" sz="2400">
                <a:solidFill>
                  <a:srgbClr val="0000FF"/>
                </a:solidFill>
              </a:rPr>
              <a:t>MAR 🡨 IR[Operand]</a:t>
            </a:r>
            <a:endParaRPr sz="2400">
              <a:solidFill>
                <a:srgbClr val="0000FF"/>
              </a:solidFill>
            </a:endParaRPr>
          </a:p>
          <a:p>
            <a:pPr marL="228600" lvl="0" indent="-228600" algn="l" rtl="0">
              <a:lnSpc>
                <a:spcPct val="110000"/>
              </a:lnSpc>
              <a:spcBef>
                <a:spcPts val="600"/>
              </a:spcBef>
              <a:spcAft>
                <a:spcPts val="0"/>
              </a:spcAft>
              <a:buClr>
                <a:schemeClr val="dk1"/>
              </a:buClr>
              <a:buSzPts val="2400"/>
              <a:buChar char="•"/>
            </a:pPr>
            <a:r>
              <a:rPr lang="en-US" sz="2400"/>
              <a:t>READ request is issued to memory unit.</a:t>
            </a:r>
            <a:endParaRPr/>
          </a:p>
          <a:p>
            <a:pPr marL="228600" lvl="0" indent="-228600" algn="l" rtl="0">
              <a:lnSpc>
                <a:spcPct val="110000"/>
              </a:lnSpc>
              <a:spcBef>
                <a:spcPts val="600"/>
              </a:spcBef>
              <a:spcAft>
                <a:spcPts val="0"/>
              </a:spcAft>
              <a:buClr>
                <a:schemeClr val="dk1"/>
              </a:buClr>
              <a:buSzPts val="2400"/>
              <a:buChar char="•"/>
            </a:pPr>
            <a:r>
              <a:rPr lang="en-US" sz="2400"/>
              <a:t>The data is fetched to MDR.  				</a:t>
            </a:r>
            <a:r>
              <a:rPr lang="en-US" sz="2400">
                <a:solidFill>
                  <a:srgbClr val="0000FF"/>
                </a:solidFill>
              </a:rPr>
              <a:t>MDR 🡨 Mem[MAR]</a:t>
            </a:r>
            <a:endParaRPr/>
          </a:p>
          <a:p>
            <a:pPr marL="228600" lvl="0" indent="-228600" algn="l" rtl="0">
              <a:lnSpc>
                <a:spcPct val="110000"/>
              </a:lnSpc>
              <a:spcBef>
                <a:spcPts val="600"/>
              </a:spcBef>
              <a:spcAft>
                <a:spcPts val="0"/>
              </a:spcAft>
              <a:buClr>
                <a:schemeClr val="dk1"/>
              </a:buClr>
              <a:buSzPts val="2400"/>
              <a:buChar char="•"/>
            </a:pPr>
            <a:r>
              <a:rPr lang="en-US" sz="2400"/>
              <a:t>The content of MDR is added to R1. 			</a:t>
            </a:r>
            <a:r>
              <a:rPr lang="en-US" sz="2400">
                <a:solidFill>
                  <a:srgbClr val="0000FF"/>
                </a:solidFill>
              </a:rPr>
              <a:t>R1 🡨 R1 + MDR</a:t>
            </a:r>
            <a:endParaRPr sz="2400">
              <a:solidFill>
                <a:srgbClr val="0000FF"/>
              </a:solidFill>
            </a:endParaRPr>
          </a:p>
        </p:txBody>
      </p:sp>
      <p:sp>
        <p:nvSpPr>
          <p:cNvPr id="288" name="Google Shape;288;p21"/>
          <p:cNvSpPr txBox="1"/>
          <p:nvPr/>
        </p:nvSpPr>
        <p:spPr>
          <a:xfrm>
            <a:off x="1727200" y="3279817"/>
            <a:ext cx="7416800" cy="3033203"/>
          </a:xfrm>
          <a:prstGeom prst="rect">
            <a:avLst/>
          </a:prstGeom>
          <a:solidFill>
            <a:srgbClr val="DDEAF6"/>
          </a:solidFill>
          <a:ln w="25400" cap="flat" cmpd="sng">
            <a:solidFill>
              <a:srgbClr val="80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00FF"/>
                </a:solidFill>
                <a:latin typeface="Calibri"/>
                <a:ea typeface="Calibri"/>
                <a:cs typeface="Calibri"/>
                <a:sym typeface="Calibri"/>
              </a:rPr>
              <a:t>The steps being carried out are called </a:t>
            </a:r>
            <a:r>
              <a:rPr lang="en-US" sz="2400">
                <a:solidFill>
                  <a:srgbClr val="800000"/>
                </a:solidFill>
                <a:latin typeface="Calibri"/>
                <a:ea typeface="Calibri"/>
                <a:cs typeface="Calibri"/>
                <a:sym typeface="Calibri"/>
              </a:rPr>
              <a:t>micro-operations</a:t>
            </a:r>
            <a:r>
              <a:rPr lang="en-US" sz="2400">
                <a:solidFill>
                  <a:srgbClr val="0000FF"/>
                </a:solidFill>
                <a:latin typeface="Calibri"/>
                <a:ea typeface="Calibri"/>
                <a:cs typeface="Calibri"/>
                <a:sym typeface="Calibri"/>
              </a:rPr>
              <a:t>:</a:t>
            </a:r>
            <a:endParaRPr/>
          </a:p>
          <a:p>
            <a:pPr marL="457200" marR="0" lvl="1" indent="0" algn="l" rtl="0">
              <a:lnSpc>
                <a:spcPct val="110000"/>
              </a:lnSpc>
              <a:spcBef>
                <a:spcPts val="600"/>
              </a:spcBef>
              <a:spcAft>
                <a:spcPts val="0"/>
              </a:spcAft>
              <a:buNone/>
            </a:pPr>
            <a:r>
              <a:rPr lang="en-US" sz="2133" b="0" i="0" u="none" strike="noStrike" cap="none">
                <a:solidFill>
                  <a:srgbClr val="000090"/>
                </a:solidFill>
                <a:latin typeface="Calibri"/>
                <a:ea typeface="Calibri"/>
                <a:cs typeface="Calibri"/>
                <a:sym typeface="Calibri"/>
              </a:rPr>
              <a:t>MAR 🡨 PC</a:t>
            </a:r>
            <a:endParaRPr/>
          </a:p>
          <a:p>
            <a:pPr marL="457200" marR="0" lvl="1" indent="0" algn="l" rtl="0">
              <a:lnSpc>
                <a:spcPct val="110000"/>
              </a:lnSpc>
              <a:spcBef>
                <a:spcPts val="0"/>
              </a:spcBef>
              <a:spcAft>
                <a:spcPts val="0"/>
              </a:spcAft>
              <a:buNone/>
            </a:pPr>
            <a:r>
              <a:rPr lang="en-US" sz="2133" b="0" i="0" u="none" strike="noStrike" cap="none">
                <a:solidFill>
                  <a:srgbClr val="000090"/>
                </a:solidFill>
                <a:latin typeface="Calibri"/>
                <a:ea typeface="Calibri"/>
                <a:cs typeface="Calibri"/>
                <a:sym typeface="Calibri"/>
              </a:rPr>
              <a:t>MDR 🡨 Mem[MAR]</a:t>
            </a:r>
            <a:endParaRPr/>
          </a:p>
          <a:p>
            <a:pPr marL="457200" marR="0" lvl="1" indent="0" algn="l" rtl="0">
              <a:lnSpc>
                <a:spcPct val="110000"/>
              </a:lnSpc>
              <a:spcBef>
                <a:spcPts val="0"/>
              </a:spcBef>
              <a:spcAft>
                <a:spcPts val="0"/>
              </a:spcAft>
              <a:buNone/>
            </a:pPr>
            <a:r>
              <a:rPr lang="en-US" sz="2133" b="0" i="0" u="none" strike="noStrike" cap="none">
                <a:solidFill>
                  <a:srgbClr val="000090"/>
                </a:solidFill>
                <a:latin typeface="Calibri"/>
                <a:ea typeface="Calibri"/>
                <a:cs typeface="Calibri"/>
                <a:sym typeface="Calibri"/>
              </a:rPr>
              <a:t>IR 	   🡨 MDR</a:t>
            </a:r>
            <a:endParaRPr/>
          </a:p>
          <a:p>
            <a:pPr marL="457200" marR="0" lvl="1" indent="0" algn="l" rtl="0">
              <a:lnSpc>
                <a:spcPct val="110000"/>
              </a:lnSpc>
              <a:spcBef>
                <a:spcPts val="0"/>
              </a:spcBef>
              <a:spcAft>
                <a:spcPts val="0"/>
              </a:spcAft>
              <a:buNone/>
            </a:pPr>
            <a:r>
              <a:rPr lang="en-US" sz="2133" b="0" i="0" u="none" strike="noStrike" cap="none">
                <a:solidFill>
                  <a:srgbClr val="000090"/>
                </a:solidFill>
                <a:latin typeface="Calibri"/>
                <a:ea typeface="Calibri"/>
                <a:cs typeface="Calibri"/>
                <a:sym typeface="Calibri"/>
              </a:rPr>
              <a:t>PC 	   🡨 PC + 4</a:t>
            </a:r>
            <a:endParaRPr/>
          </a:p>
          <a:p>
            <a:pPr marL="457200" marR="0" lvl="1" indent="0" algn="l" rtl="0">
              <a:lnSpc>
                <a:spcPct val="110000"/>
              </a:lnSpc>
              <a:spcBef>
                <a:spcPts val="0"/>
              </a:spcBef>
              <a:spcAft>
                <a:spcPts val="0"/>
              </a:spcAft>
              <a:buNone/>
            </a:pPr>
            <a:r>
              <a:rPr lang="en-US" sz="2133" b="0" i="0" u="none" strike="noStrike" cap="none">
                <a:solidFill>
                  <a:srgbClr val="000090"/>
                </a:solidFill>
                <a:latin typeface="Calibri"/>
                <a:ea typeface="Calibri"/>
                <a:cs typeface="Calibri"/>
                <a:sym typeface="Calibri"/>
              </a:rPr>
              <a:t>MAR  🡨 IR[Operand]</a:t>
            </a:r>
            <a:endParaRPr/>
          </a:p>
          <a:p>
            <a:pPr marL="457200" marR="0" lvl="1" indent="0" algn="l" rtl="0">
              <a:lnSpc>
                <a:spcPct val="110000"/>
              </a:lnSpc>
              <a:spcBef>
                <a:spcPts val="0"/>
              </a:spcBef>
              <a:spcAft>
                <a:spcPts val="0"/>
              </a:spcAft>
              <a:buNone/>
            </a:pPr>
            <a:r>
              <a:rPr lang="en-US" sz="2133" b="0" i="0" u="none" strike="noStrike" cap="none">
                <a:solidFill>
                  <a:srgbClr val="000090"/>
                </a:solidFill>
                <a:latin typeface="Calibri"/>
                <a:ea typeface="Calibri"/>
                <a:cs typeface="Calibri"/>
                <a:sym typeface="Calibri"/>
              </a:rPr>
              <a:t>MDR  🡨 Mem[MAR]</a:t>
            </a:r>
            <a:endParaRPr/>
          </a:p>
          <a:p>
            <a:pPr marL="457200" marR="0" lvl="1" indent="0" algn="l" rtl="0">
              <a:spcBef>
                <a:spcPts val="0"/>
              </a:spcBef>
              <a:spcAft>
                <a:spcPts val="0"/>
              </a:spcAft>
              <a:buNone/>
            </a:pPr>
            <a:r>
              <a:rPr lang="en-US" sz="2133" b="0" i="0" u="none" strike="noStrike" cap="none">
                <a:solidFill>
                  <a:srgbClr val="000090"/>
                </a:solidFill>
                <a:latin typeface="Calibri"/>
                <a:ea typeface="Calibri"/>
                <a:cs typeface="Calibri"/>
                <a:sym typeface="Calibri"/>
              </a:rPr>
              <a:t>R1 	    🡨 R1 + MDR</a:t>
            </a:r>
            <a:endParaRPr sz="2133" b="0" i="0" u="none" strike="noStrike" cap="none">
              <a:solidFill>
                <a:srgbClr val="000090"/>
              </a:solidFill>
              <a:latin typeface="Calibri"/>
              <a:ea typeface="Calibri"/>
              <a:cs typeface="Calibri"/>
              <a:sym typeface="Calibri"/>
            </a:endParaRPr>
          </a:p>
        </p:txBody>
      </p:sp>
      <p:sp>
        <p:nvSpPr>
          <p:cNvPr id="289" name="Google Shape;28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8"/>
                                        </p:tgtEl>
                                        <p:attrNameLst>
                                          <p:attrName>style.visibility</p:attrName>
                                        </p:attrNameLst>
                                      </p:cBhvr>
                                      <p:to>
                                        <p:strVal val="visible"/>
                                      </p:to>
                                    </p:set>
                                    <p:animEffect transition="in" filter="fade">
                                      <p:cBhvr>
                                        <p:cTn id="7" dur="500"/>
                                        <p:tgtEl>
                                          <p:spTgt spid="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2"/>
          <p:cNvSpPr txBox="1">
            <a:spLocks noGrp="1"/>
          </p:cNvSpPr>
          <p:nvPr>
            <p:ph type="body" idx="2"/>
          </p:nvPr>
        </p:nvSpPr>
        <p:spPr>
          <a:xfrm>
            <a:off x="5181600" y="1092200"/>
            <a:ext cx="6908800" cy="4673600"/>
          </a:xfrm>
          <a:prstGeom prst="rect">
            <a:avLst/>
          </a:prstGeom>
          <a:noFill/>
          <a:ln>
            <a:noFill/>
          </a:ln>
        </p:spPr>
        <p:txBody>
          <a:bodyPr spcFirstLastPara="1" wrap="square" lIns="91425" tIns="45700" rIns="91425" bIns="45700" anchor="t" anchorCtr="0">
            <a:normAutofit/>
          </a:bodyPr>
          <a:lstStyle/>
          <a:p>
            <a:pPr marL="685783" lvl="0" indent="-685783" algn="l" rtl="0">
              <a:lnSpc>
                <a:spcPct val="110000"/>
              </a:lnSpc>
              <a:spcBef>
                <a:spcPts val="0"/>
              </a:spcBef>
              <a:spcAft>
                <a:spcPts val="0"/>
              </a:spcAft>
              <a:buClr>
                <a:schemeClr val="dk1"/>
              </a:buClr>
              <a:buSzPts val="2667"/>
              <a:buFont typeface="Calibri"/>
              <a:buAutoNum type="arabicPeriod"/>
            </a:pPr>
            <a:r>
              <a:rPr lang="en-US" sz="2667"/>
              <a:t>PC 	=   1000</a:t>
            </a:r>
            <a:endParaRPr/>
          </a:p>
          <a:p>
            <a:pPr marL="685783" lvl="0" indent="-685783" algn="l" rtl="0">
              <a:lnSpc>
                <a:spcPct val="110000"/>
              </a:lnSpc>
              <a:spcBef>
                <a:spcPts val="600"/>
              </a:spcBef>
              <a:spcAft>
                <a:spcPts val="0"/>
              </a:spcAft>
              <a:buClr>
                <a:schemeClr val="dk1"/>
              </a:buClr>
              <a:buSzPts val="2667"/>
              <a:buFont typeface="Calibri"/>
              <a:buAutoNum type="arabicPeriod"/>
            </a:pPr>
            <a:r>
              <a:rPr lang="en-US" sz="2667"/>
              <a:t>MAR 	=   1000</a:t>
            </a:r>
            <a:endParaRPr/>
          </a:p>
          <a:p>
            <a:pPr marL="685783" lvl="0" indent="-685783" algn="l" rtl="0">
              <a:lnSpc>
                <a:spcPct val="110000"/>
              </a:lnSpc>
              <a:spcBef>
                <a:spcPts val="600"/>
              </a:spcBef>
              <a:spcAft>
                <a:spcPts val="0"/>
              </a:spcAft>
              <a:buClr>
                <a:schemeClr val="dk1"/>
              </a:buClr>
              <a:buSzPts val="2667"/>
              <a:buFont typeface="Calibri"/>
              <a:buAutoNum type="arabicPeriod"/>
            </a:pPr>
            <a:r>
              <a:rPr lang="en-US" sz="2667"/>
              <a:t>PC	=   PC + 4  =  1004</a:t>
            </a:r>
            <a:endParaRPr/>
          </a:p>
          <a:p>
            <a:pPr marL="685783" lvl="0" indent="-685783" algn="l" rtl="0">
              <a:lnSpc>
                <a:spcPct val="110000"/>
              </a:lnSpc>
              <a:spcBef>
                <a:spcPts val="600"/>
              </a:spcBef>
              <a:spcAft>
                <a:spcPts val="0"/>
              </a:spcAft>
              <a:buClr>
                <a:schemeClr val="dk1"/>
              </a:buClr>
              <a:buSzPts val="2667"/>
              <a:buFont typeface="Calibri"/>
              <a:buAutoNum type="arabicPeriod"/>
            </a:pPr>
            <a:r>
              <a:rPr lang="en-US" sz="2667"/>
              <a:t>MDR	=   ADD R1, LOCA</a:t>
            </a:r>
            <a:endParaRPr/>
          </a:p>
          <a:p>
            <a:pPr marL="685783" lvl="0" indent="-685783" algn="l" rtl="0">
              <a:lnSpc>
                <a:spcPct val="110000"/>
              </a:lnSpc>
              <a:spcBef>
                <a:spcPts val="600"/>
              </a:spcBef>
              <a:spcAft>
                <a:spcPts val="0"/>
              </a:spcAft>
              <a:buClr>
                <a:schemeClr val="dk1"/>
              </a:buClr>
              <a:buSzPts val="2667"/>
              <a:buFont typeface="Calibri"/>
              <a:buAutoNum type="arabicPeriod"/>
            </a:pPr>
            <a:r>
              <a:rPr lang="en-US" sz="2667"/>
              <a:t>IR	=   ADD R1, LOCA</a:t>
            </a:r>
            <a:endParaRPr/>
          </a:p>
          <a:p>
            <a:pPr marL="685783" lvl="0" indent="-685783" algn="l" rtl="0">
              <a:lnSpc>
                <a:spcPct val="110000"/>
              </a:lnSpc>
              <a:spcBef>
                <a:spcPts val="600"/>
              </a:spcBef>
              <a:spcAft>
                <a:spcPts val="0"/>
              </a:spcAft>
              <a:buClr>
                <a:schemeClr val="dk1"/>
              </a:buClr>
              <a:buSzPts val="2667"/>
              <a:buFont typeface="Calibri"/>
              <a:buAutoNum type="arabicPeriod"/>
            </a:pPr>
            <a:r>
              <a:rPr lang="en-US" sz="2667"/>
              <a:t>MAR	=   LOCA  =  5000</a:t>
            </a:r>
            <a:endParaRPr/>
          </a:p>
          <a:p>
            <a:pPr marL="685783" lvl="0" indent="-685783" algn="l" rtl="0">
              <a:lnSpc>
                <a:spcPct val="110000"/>
              </a:lnSpc>
              <a:spcBef>
                <a:spcPts val="600"/>
              </a:spcBef>
              <a:spcAft>
                <a:spcPts val="0"/>
              </a:spcAft>
              <a:buClr>
                <a:schemeClr val="dk1"/>
              </a:buClr>
              <a:buSzPts val="2667"/>
              <a:buFont typeface="Calibri"/>
              <a:buAutoNum type="arabicPeriod"/>
            </a:pPr>
            <a:r>
              <a:rPr lang="en-US" sz="2667"/>
              <a:t>MDR	=   75</a:t>
            </a:r>
            <a:endParaRPr/>
          </a:p>
          <a:p>
            <a:pPr marL="685783" lvl="0" indent="-685783" algn="l" rtl="0">
              <a:lnSpc>
                <a:spcPct val="110000"/>
              </a:lnSpc>
              <a:spcBef>
                <a:spcPts val="600"/>
              </a:spcBef>
              <a:spcAft>
                <a:spcPts val="0"/>
              </a:spcAft>
              <a:buClr>
                <a:schemeClr val="dk1"/>
              </a:buClr>
              <a:buSzPts val="2667"/>
              <a:buFont typeface="Calibri"/>
              <a:buAutoNum type="arabicPeriod"/>
            </a:pPr>
            <a:r>
              <a:rPr lang="en-US" sz="2667"/>
              <a:t>R1	=   R1 + MDR  = 50 + 75 = 125</a:t>
            </a:r>
            <a:endParaRPr/>
          </a:p>
          <a:p>
            <a:pPr marL="228600" lvl="0" indent="-50800" algn="l" rtl="0">
              <a:lnSpc>
                <a:spcPct val="110000"/>
              </a:lnSpc>
              <a:spcBef>
                <a:spcPts val="600"/>
              </a:spcBef>
              <a:spcAft>
                <a:spcPts val="0"/>
              </a:spcAft>
              <a:buClr>
                <a:schemeClr val="dk1"/>
              </a:buClr>
              <a:buSzPts val="2800"/>
              <a:buNone/>
            </a:pPr>
            <a:endParaRPr/>
          </a:p>
        </p:txBody>
      </p:sp>
      <p:graphicFrame>
        <p:nvGraphicFramePr>
          <p:cNvPr id="295" name="Google Shape;295;p22"/>
          <p:cNvGraphicFramePr/>
          <p:nvPr/>
        </p:nvGraphicFramePr>
        <p:xfrm>
          <a:off x="406400" y="1691351"/>
          <a:ext cx="4064000" cy="1842320"/>
        </p:xfrm>
        <a:graphic>
          <a:graphicData uri="http://schemas.openxmlformats.org/drawingml/2006/table">
            <a:tbl>
              <a:tblPr firstRow="1" bandRow="1">
                <a:noFill/>
                <a:tableStyleId>{C27E9FFD-D140-43D9-9319-91134215A3CE}</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tblGrid>
              <a:tr h="494450">
                <a:tc>
                  <a:txBody>
                    <a:bodyPr/>
                    <a:lstStyle/>
                    <a:p>
                      <a:pPr marL="0" marR="0" lvl="0" indent="0" algn="l" rtl="0">
                        <a:spcBef>
                          <a:spcPts val="0"/>
                        </a:spcBef>
                        <a:spcAft>
                          <a:spcPts val="0"/>
                        </a:spcAft>
                        <a:buNone/>
                      </a:pPr>
                      <a:r>
                        <a:rPr lang="en-US" sz="2400" u="none" strike="noStrike" cap="none"/>
                        <a:t>Address</a:t>
                      </a:r>
                      <a:endParaRPr/>
                    </a:p>
                  </a:txBody>
                  <a:tcPr marL="121925" marR="121925" marT="60950" marB="60950"/>
                </a:tc>
                <a:tc>
                  <a:txBody>
                    <a:bodyPr/>
                    <a:lstStyle/>
                    <a:p>
                      <a:pPr marL="0" marR="0" lvl="0" indent="0" algn="l" rtl="0">
                        <a:spcBef>
                          <a:spcPts val="0"/>
                        </a:spcBef>
                        <a:spcAft>
                          <a:spcPts val="0"/>
                        </a:spcAft>
                        <a:buNone/>
                      </a:pPr>
                      <a:r>
                        <a:rPr lang="en-US" sz="2400"/>
                        <a:t>Content</a:t>
                      </a:r>
                      <a:endParaRPr/>
                    </a:p>
                  </a:txBody>
                  <a:tcPr marL="121925" marR="121925" marT="60950" marB="60950"/>
                </a:tc>
                <a:extLst>
                  <a:ext uri="{0D108BD9-81ED-4DB2-BD59-A6C34878D82A}">
                    <a16:rowId xmlns:a16="http://schemas.microsoft.com/office/drawing/2014/main" val="10000"/>
                  </a:ext>
                </a:extLst>
              </a:tr>
              <a:tr h="494450">
                <a:tc>
                  <a:txBody>
                    <a:bodyPr/>
                    <a:lstStyle/>
                    <a:p>
                      <a:pPr marL="0" marR="0" lvl="0" indent="0" algn="l" rtl="0">
                        <a:spcBef>
                          <a:spcPts val="0"/>
                        </a:spcBef>
                        <a:spcAft>
                          <a:spcPts val="0"/>
                        </a:spcAft>
                        <a:buNone/>
                      </a:pPr>
                      <a:r>
                        <a:rPr lang="en-US" sz="2400"/>
                        <a:t>1000</a:t>
                      </a:r>
                      <a:endParaRPr/>
                    </a:p>
                  </a:txBody>
                  <a:tcPr marL="121925" marR="121925" marT="60950" marB="60950"/>
                </a:tc>
                <a:tc>
                  <a:txBody>
                    <a:bodyPr/>
                    <a:lstStyle/>
                    <a:p>
                      <a:pPr marL="0" marR="0" lvl="0" indent="0" algn="l" rtl="0">
                        <a:spcBef>
                          <a:spcPts val="0"/>
                        </a:spcBef>
                        <a:spcAft>
                          <a:spcPts val="0"/>
                        </a:spcAft>
                        <a:buNone/>
                      </a:pPr>
                      <a:r>
                        <a:rPr lang="en-US" sz="2400"/>
                        <a:t>ADD R1, LOCA</a:t>
                      </a:r>
                      <a:endParaRPr/>
                    </a:p>
                  </a:txBody>
                  <a:tcPr marL="121925" marR="121925" marT="60950" marB="60950"/>
                </a:tc>
                <a:extLst>
                  <a:ext uri="{0D108BD9-81ED-4DB2-BD59-A6C34878D82A}">
                    <a16:rowId xmlns:a16="http://schemas.microsoft.com/office/drawing/2014/main" val="10001"/>
                  </a:ext>
                </a:extLst>
              </a:tr>
              <a:tr h="494450">
                <a:tc>
                  <a:txBody>
                    <a:bodyPr/>
                    <a:lstStyle/>
                    <a:p>
                      <a:pPr marL="0" marR="0" lvl="0" indent="0" algn="l" rtl="0">
                        <a:spcBef>
                          <a:spcPts val="0"/>
                        </a:spcBef>
                        <a:spcAft>
                          <a:spcPts val="0"/>
                        </a:spcAft>
                        <a:buNone/>
                      </a:pPr>
                      <a:r>
                        <a:rPr lang="en-US" sz="2400"/>
                        <a:t>1004</a:t>
                      </a:r>
                      <a:endParaRPr/>
                    </a:p>
                  </a:txBody>
                  <a:tcPr marL="121925" marR="121925" marT="60950" marB="60950"/>
                </a:tc>
                <a:tc>
                  <a:txBody>
                    <a:bodyPr/>
                    <a:lstStyle/>
                    <a:p>
                      <a:pPr marL="0" marR="0" lvl="0" indent="0" algn="l" rtl="0">
                        <a:spcBef>
                          <a:spcPts val="0"/>
                        </a:spcBef>
                        <a:spcAft>
                          <a:spcPts val="0"/>
                        </a:spcAft>
                        <a:buNone/>
                      </a:pPr>
                      <a:r>
                        <a:rPr lang="en-US" sz="2400"/>
                        <a:t>…</a:t>
                      </a:r>
                      <a:endParaRPr/>
                    </a:p>
                  </a:txBody>
                  <a:tcPr marL="121925" marR="121925" marT="60950" marB="60950"/>
                </a:tc>
                <a:extLst>
                  <a:ext uri="{0D108BD9-81ED-4DB2-BD59-A6C34878D82A}">
                    <a16:rowId xmlns:a16="http://schemas.microsoft.com/office/drawing/2014/main" val="10002"/>
                  </a:ext>
                </a:extLst>
              </a:tr>
            </a:tbl>
          </a:graphicData>
        </a:graphic>
      </p:graphicFrame>
      <p:sp>
        <p:nvSpPr>
          <p:cNvPr id="296" name="Google Shape;296;p22"/>
          <p:cNvSpPr txBox="1"/>
          <p:nvPr/>
        </p:nvSpPr>
        <p:spPr>
          <a:xfrm>
            <a:off x="406400" y="3733801"/>
            <a:ext cx="1930400" cy="461665"/>
          </a:xfrm>
          <a:prstGeom prst="rect">
            <a:avLst/>
          </a:prstGeom>
          <a:noFill/>
          <a:ln w="9525" cap="flat" cmpd="sng">
            <a:solidFill>
              <a:srgbClr val="0C0C0C"/>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5000</a:t>
            </a:r>
            <a:endParaRPr/>
          </a:p>
        </p:txBody>
      </p:sp>
      <p:sp>
        <p:nvSpPr>
          <p:cNvPr id="297" name="Google Shape;297;p22"/>
          <p:cNvSpPr txBox="1"/>
          <p:nvPr/>
        </p:nvSpPr>
        <p:spPr>
          <a:xfrm>
            <a:off x="2336800" y="3733801"/>
            <a:ext cx="2133600" cy="461665"/>
          </a:xfrm>
          <a:prstGeom prst="rect">
            <a:avLst/>
          </a:prstGeom>
          <a:noFill/>
          <a:ln w="9525" cap="flat" cmpd="sng">
            <a:solidFill>
              <a:srgbClr val="0C0C0C"/>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75</a:t>
            </a:r>
            <a:endParaRPr/>
          </a:p>
        </p:txBody>
      </p:sp>
      <p:sp>
        <p:nvSpPr>
          <p:cNvPr id="298" name="Google Shape;298;p22"/>
          <p:cNvSpPr txBox="1"/>
          <p:nvPr/>
        </p:nvSpPr>
        <p:spPr>
          <a:xfrm>
            <a:off x="1219200" y="685801"/>
            <a:ext cx="1219200" cy="461665"/>
          </a:xfrm>
          <a:prstGeom prst="rect">
            <a:avLst/>
          </a:prstGeom>
          <a:solidFill>
            <a:srgbClr val="DDEAF6"/>
          </a:solidFill>
          <a:ln w="9525" cap="flat" cmpd="sng">
            <a:solidFill>
              <a:srgbClr val="0C0C0C"/>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50</a:t>
            </a:r>
            <a:endParaRPr/>
          </a:p>
        </p:txBody>
      </p:sp>
      <p:sp>
        <p:nvSpPr>
          <p:cNvPr id="299" name="Google Shape;299;p22"/>
          <p:cNvSpPr txBox="1"/>
          <p:nvPr/>
        </p:nvSpPr>
        <p:spPr>
          <a:xfrm>
            <a:off x="304800" y="685801"/>
            <a:ext cx="12192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R1</a:t>
            </a:r>
            <a:endParaRPr/>
          </a:p>
        </p:txBody>
      </p:sp>
      <p:sp>
        <p:nvSpPr>
          <p:cNvPr id="300" name="Google Shape;300;p22"/>
          <p:cNvSpPr txBox="1"/>
          <p:nvPr/>
        </p:nvSpPr>
        <p:spPr>
          <a:xfrm>
            <a:off x="406400" y="4241801"/>
            <a:ext cx="12192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LOCA</a:t>
            </a:r>
            <a:endParaRPr/>
          </a:p>
        </p:txBody>
      </p:sp>
      <p:sp>
        <p:nvSpPr>
          <p:cNvPr id="301" name="Google Shape;301;p22"/>
          <p:cNvSpPr txBox="1"/>
          <p:nvPr/>
        </p:nvSpPr>
        <p:spPr>
          <a:xfrm>
            <a:off x="1219200" y="685801"/>
            <a:ext cx="1219200" cy="461665"/>
          </a:xfrm>
          <a:prstGeom prst="rect">
            <a:avLst/>
          </a:prstGeom>
          <a:solidFill>
            <a:srgbClr val="DDEAF6"/>
          </a:solidFill>
          <a:ln w="9525" cap="flat" cmpd="sng">
            <a:solidFill>
              <a:srgbClr val="0C0C0C"/>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125</a:t>
            </a:r>
            <a:endParaRPr/>
          </a:p>
        </p:txBody>
      </p:sp>
      <p:sp>
        <p:nvSpPr>
          <p:cNvPr id="302" name="Google Shape;30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1"/>
                                        </p:tgtEl>
                                        <p:attrNameLst>
                                          <p:attrName>style.visibility</p:attrName>
                                        </p:attrNameLst>
                                      </p:cBhvr>
                                      <p:to>
                                        <p:strVal val="visible"/>
                                      </p:to>
                                    </p:set>
                                    <p:animEffect transition="in" filter="fade">
                                      <p:cBhvr>
                                        <p:cTn id="7" dur="500"/>
                                        <p:tgtEl>
                                          <p:spTgt spid="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Execution of  </a:t>
            </a:r>
            <a:r>
              <a:rPr lang="en-US" i="1">
                <a:solidFill>
                  <a:srgbClr val="000090"/>
                </a:solidFill>
              </a:rPr>
              <a:t>ADD  R1,R2</a:t>
            </a:r>
            <a:endParaRPr/>
          </a:p>
        </p:txBody>
      </p:sp>
      <p:sp>
        <p:nvSpPr>
          <p:cNvPr id="308" name="Google Shape;308;p23"/>
          <p:cNvSpPr txBox="1">
            <a:spLocks noGrp="1"/>
          </p:cNvSpPr>
          <p:nvPr>
            <p:ph type="body" idx="1"/>
          </p:nvPr>
        </p:nvSpPr>
        <p:spPr>
          <a:xfrm>
            <a:off x="609600" y="1397001"/>
            <a:ext cx="11277600" cy="447040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chemeClr val="dk1"/>
              </a:buClr>
              <a:buSzPts val="2400"/>
              <a:buChar char="•"/>
            </a:pPr>
            <a:r>
              <a:rPr lang="en-US" sz="2400"/>
              <a:t>Assume that the instruction is stored in memory location 1500, the initial value of R1 is 50, and R2 is 200.</a:t>
            </a:r>
            <a:endParaRPr/>
          </a:p>
          <a:p>
            <a:pPr marL="228600" lvl="0" indent="-228600" algn="l" rtl="0">
              <a:lnSpc>
                <a:spcPct val="110000"/>
              </a:lnSpc>
              <a:spcBef>
                <a:spcPts val="600"/>
              </a:spcBef>
              <a:spcAft>
                <a:spcPts val="0"/>
              </a:spcAft>
              <a:buClr>
                <a:schemeClr val="dk1"/>
              </a:buClr>
              <a:buSzPts val="2400"/>
              <a:buChar char="•"/>
            </a:pPr>
            <a:r>
              <a:rPr lang="en-US" sz="2400"/>
              <a:t>Before the instruction is executed, PC contains 1500.</a:t>
            </a:r>
            <a:endParaRPr/>
          </a:p>
          <a:p>
            <a:pPr marL="228600" lvl="0" indent="-228600" algn="l" rtl="0">
              <a:lnSpc>
                <a:spcPct val="110000"/>
              </a:lnSpc>
              <a:spcBef>
                <a:spcPts val="600"/>
              </a:spcBef>
              <a:spcAft>
                <a:spcPts val="0"/>
              </a:spcAft>
              <a:buClr>
                <a:schemeClr val="dk1"/>
              </a:buClr>
              <a:buSzPts val="2400"/>
              <a:buChar char="•"/>
            </a:pPr>
            <a:r>
              <a:rPr lang="en-US" sz="2400"/>
              <a:t>Content of PC is transferred to MAR.     				</a:t>
            </a:r>
            <a:r>
              <a:rPr lang="en-US" sz="2400">
                <a:solidFill>
                  <a:srgbClr val="0000FF"/>
                </a:solidFill>
              </a:rPr>
              <a:t>MAR 🡨 PC</a:t>
            </a:r>
            <a:endParaRPr/>
          </a:p>
          <a:p>
            <a:pPr marL="228600" lvl="0" indent="-228600" algn="l" rtl="0">
              <a:lnSpc>
                <a:spcPct val="110000"/>
              </a:lnSpc>
              <a:spcBef>
                <a:spcPts val="600"/>
              </a:spcBef>
              <a:spcAft>
                <a:spcPts val="0"/>
              </a:spcAft>
              <a:buClr>
                <a:schemeClr val="dk1"/>
              </a:buClr>
              <a:buSzPts val="2400"/>
              <a:buChar char="•"/>
            </a:pPr>
            <a:r>
              <a:rPr lang="en-US" sz="2400"/>
              <a:t>READ request is issued to memory unit.</a:t>
            </a:r>
            <a:endParaRPr/>
          </a:p>
          <a:p>
            <a:pPr marL="228600" lvl="0" indent="-228600" algn="l" rtl="0">
              <a:lnSpc>
                <a:spcPct val="110000"/>
              </a:lnSpc>
              <a:spcBef>
                <a:spcPts val="600"/>
              </a:spcBef>
              <a:spcAft>
                <a:spcPts val="0"/>
              </a:spcAft>
              <a:buClr>
                <a:schemeClr val="dk1"/>
              </a:buClr>
              <a:buSzPts val="2400"/>
              <a:buChar char="•"/>
            </a:pPr>
            <a:r>
              <a:rPr lang="en-US" sz="2400"/>
              <a:t>The instruction is fetched to MDR.  				</a:t>
            </a:r>
            <a:r>
              <a:rPr lang="en-US" sz="2400">
                <a:solidFill>
                  <a:srgbClr val="0000FF"/>
                </a:solidFill>
              </a:rPr>
              <a:t>MDR 🡨 Mem[MAR]</a:t>
            </a:r>
            <a:endParaRPr/>
          </a:p>
          <a:p>
            <a:pPr marL="228600" lvl="0" indent="-228600" algn="l" rtl="0">
              <a:lnSpc>
                <a:spcPct val="110000"/>
              </a:lnSpc>
              <a:spcBef>
                <a:spcPts val="600"/>
              </a:spcBef>
              <a:spcAft>
                <a:spcPts val="0"/>
              </a:spcAft>
              <a:buClr>
                <a:schemeClr val="dk1"/>
              </a:buClr>
              <a:buSzPts val="2400"/>
              <a:buChar char="•"/>
            </a:pPr>
            <a:r>
              <a:rPr lang="en-US" sz="2400"/>
              <a:t>Content of MDR is transferred to IR.  			     	</a:t>
            </a:r>
            <a:r>
              <a:rPr lang="en-US" sz="2400">
                <a:solidFill>
                  <a:srgbClr val="0000FF"/>
                </a:solidFill>
              </a:rPr>
              <a:t>IR 🡨 MDR</a:t>
            </a:r>
            <a:endParaRPr/>
          </a:p>
          <a:p>
            <a:pPr marL="228600" lvl="0" indent="-228600" algn="l" rtl="0">
              <a:lnSpc>
                <a:spcPct val="110000"/>
              </a:lnSpc>
              <a:spcBef>
                <a:spcPts val="600"/>
              </a:spcBef>
              <a:spcAft>
                <a:spcPts val="0"/>
              </a:spcAft>
              <a:buClr>
                <a:schemeClr val="dk1"/>
              </a:buClr>
              <a:buSzPts val="2400"/>
              <a:buChar char="•"/>
            </a:pPr>
            <a:r>
              <a:rPr lang="en-US" sz="2400"/>
              <a:t>PC is incremented to point to the next instruction.	 		</a:t>
            </a:r>
            <a:r>
              <a:rPr lang="en-US" sz="2400">
                <a:solidFill>
                  <a:srgbClr val="0000FF"/>
                </a:solidFill>
              </a:rPr>
              <a:t>PC 🡨 PC + 4</a:t>
            </a:r>
            <a:endParaRPr/>
          </a:p>
          <a:p>
            <a:pPr marL="228600" lvl="0" indent="-228600" algn="l" rtl="0">
              <a:lnSpc>
                <a:spcPct val="110000"/>
              </a:lnSpc>
              <a:spcBef>
                <a:spcPts val="600"/>
              </a:spcBef>
              <a:spcAft>
                <a:spcPts val="0"/>
              </a:spcAft>
              <a:buClr>
                <a:schemeClr val="dk1"/>
              </a:buClr>
              <a:buSzPts val="2400"/>
              <a:buChar char="•"/>
            </a:pPr>
            <a:r>
              <a:rPr lang="en-US" sz="2400"/>
              <a:t>The instruction is decoded by the control unit.</a:t>
            </a:r>
            <a:endParaRPr/>
          </a:p>
          <a:p>
            <a:pPr marL="228600" lvl="0" indent="-228600" algn="l" rtl="0">
              <a:lnSpc>
                <a:spcPct val="110000"/>
              </a:lnSpc>
              <a:spcBef>
                <a:spcPts val="600"/>
              </a:spcBef>
              <a:spcAft>
                <a:spcPts val="0"/>
              </a:spcAft>
              <a:buClr>
                <a:schemeClr val="dk1"/>
              </a:buClr>
              <a:buSzPts val="2400"/>
              <a:buChar char="•"/>
            </a:pPr>
            <a:r>
              <a:rPr lang="en-US" sz="2400"/>
              <a:t>R2 is added to R1.							</a:t>
            </a:r>
            <a:r>
              <a:rPr lang="en-US" sz="2400">
                <a:solidFill>
                  <a:srgbClr val="0000FF"/>
                </a:solidFill>
              </a:rPr>
              <a:t>R1 🡨 R1 + R2</a:t>
            </a:r>
            <a:endParaRPr sz="2400"/>
          </a:p>
          <a:p>
            <a:pPr marL="0" lvl="0" indent="0" algn="l" rtl="0">
              <a:lnSpc>
                <a:spcPct val="110000"/>
              </a:lnSpc>
              <a:spcBef>
                <a:spcPts val="600"/>
              </a:spcBef>
              <a:spcAft>
                <a:spcPts val="0"/>
              </a:spcAft>
              <a:buClr>
                <a:schemeClr val="dk1"/>
              </a:buClr>
              <a:buSzPts val="2400"/>
              <a:buNone/>
            </a:pPr>
            <a:endParaRPr sz="2400"/>
          </a:p>
        </p:txBody>
      </p:sp>
      <p:sp>
        <p:nvSpPr>
          <p:cNvPr id="309" name="Google Shape;309;p23"/>
          <p:cNvSpPr/>
          <p:nvPr/>
        </p:nvSpPr>
        <p:spPr>
          <a:xfrm>
            <a:off x="6400800" y="3124200"/>
            <a:ext cx="2032000" cy="508000"/>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ADD  R1, R2</a:t>
            </a:r>
            <a:endParaRPr/>
          </a:p>
        </p:txBody>
      </p:sp>
      <p:cxnSp>
        <p:nvCxnSpPr>
          <p:cNvPr id="310" name="Google Shape;310;p23"/>
          <p:cNvCxnSpPr/>
          <p:nvPr/>
        </p:nvCxnSpPr>
        <p:spPr>
          <a:xfrm rot="10800000" flipH="1">
            <a:off x="5283200" y="3525044"/>
            <a:ext cx="1117600" cy="508000"/>
          </a:xfrm>
          <a:prstGeom prst="straightConnector1">
            <a:avLst/>
          </a:prstGeom>
          <a:noFill/>
          <a:ln w="38100" cap="flat" cmpd="sng">
            <a:solidFill>
              <a:srgbClr val="FF0000"/>
            </a:solidFill>
            <a:prstDash val="solid"/>
            <a:miter lim="8000"/>
            <a:headEnd type="none" w="sm" len="sm"/>
            <a:tailEnd type="stealth" w="med" len="med"/>
          </a:ln>
        </p:spPr>
      </p:cxnSp>
      <p:sp>
        <p:nvSpPr>
          <p:cNvPr id="311" name="Google Shape;31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graphicFrame>
        <p:nvGraphicFramePr>
          <p:cNvPr id="316" name="Google Shape;316;p24"/>
          <p:cNvGraphicFramePr/>
          <p:nvPr/>
        </p:nvGraphicFramePr>
        <p:xfrm>
          <a:off x="581061" y="2102659"/>
          <a:ext cx="3657600" cy="1842320"/>
        </p:xfrm>
        <a:graphic>
          <a:graphicData uri="http://schemas.openxmlformats.org/drawingml/2006/table">
            <a:tbl>
              <a:tblPr firstRow="1" bandRow="1">
                <a:noFill/>
                <a:tableStyleId>{C27E9FFD-D140-43D9-9319-91134215A3CE}</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94450">
                <a:tc>
                  <a:txBody>
                    <a:bodyPr/>
                    <a:lstStyle/>
                    <a:p>
                      <a:pPr marL="0" marR="0" lvl="0" indent="0" algn="l" rtl="0">
                        <a:spcBef>
                          <a:spcPts val="0"/>
                        </a:spcBef>
                        <a:spcAft>
                          <a:spcPts val="0"/>
                        </a:spcAft>
                        <a:buNone/>
                      </a:pPr>
                      <a:r>
                        <a:rPr lang="en-US" sz="2400"/>
                        <a:t>Address</a:t>
                      </a:r>
                      <a:endParaRPr/>
                    </a:p>
                  </a:txBody>
                  <a:tcPr marL="153850" marR="153850" marT="60950" marB="60950"/>
                </a:tc>
                <a:tc>
                  <a:txBody>
                    <a:bodyPr/>
                    <a:lstStyle/>
                    <a:p>
                      <a:pPr marL="0" marR="0" lvl="0" indent="0" algn="l" rtl="0">
                        <a:spcBef>
                          <a:spcPts val="0"/>
                        </a:spcBef>
                        <a:spcAft>
                          <a:spcPts val="0"/>
                        </a:spcAft>
                        <a:buNone/>
                      </a:pPr>
                      <a:r>
                        <a:rPr lang="en-US" sz="2400"/>
                        <a:t>Instruction</a:t>
                      </a:r>
                      <a:endParaRPr/>
                    </a:p>
                  </a:txBody>
                  <a:tcPr marL="153850" marR="153850" marT="60950" marB="60950"/>
                </a:tc>
                <a:extLst>
                  <a:ext uri="{0D108BD9-81ED-4DB2-BD59-A6C34878D82A}">
                    <a16:rowId xmlns:a16="http://schemas.microsoft.com/office/drawing/2014/main" val="10000"/>
                  </a:ext>
                </a:extLst>
              </a:tr>
              <a:tr h="494450">
                <a:tc>
                  <a:txBody>
                    <a:bodyPr/>
                    <a:lstStyle/>
                    <a:p>
                      <a:pPr marL="0" marR="0" lvl="0" indent="0" algn="l" rtl="0">
                        <a:spcBef>
                          <a:spcPts val="0"/>
                        </a:spcBef>
                        <a:spcAft>
                          <a:spcPts val="0"/>
                        </a:spcAft>
                        <a:buNone/>
                      </a:pPr>
                      <a:r>
                        <a:rPr lang="en-US" sz="2400"/>
                        <a:t>1500</a:t>
                      </a:r>
                      <a:endParaRPr/>
                    </a:p>
                  </a:txBody>
                  <a:tcPr marL="153850" marR="153850" marT="60950" marB="60950"/>
                </a:tc>
                <a:tc>
                  <a:txBody>
                    <a:bodyPr/>
                    <a:lstStyle/>
                    <a:p>
                      <a:pPr marL="0" marR="0" lvl="0" indent="0" algn="l" rtl="0">
                        <a:spcBef>
                          <a:spcPts val="0"/>
                        </a:spcBef>
                        <a:spcAft>
                          <a:spcPts val="0"/>
                        </a:spcAft>
                        <a:buNone/>
                      </a:pPr>
                      <a:r>
                        <a:rPr lang="en-US" sz="2400"/>
                        <a:t>ADD R1, R2</a:t>
                      </a:r>
                      <a:endParaRPr sz="2400"/>
                    </a:p>
                  </a:txBody>
                  <a:tcPr marL="153850" marR="153850" marT="60950" marB="60950"/>
                </a:tc>
                <a:extLst>
                  <a:ext uri="{0D108BD9-81ED-4DB2-BD59-A6C34878D82A}">
                    <a16:rowId xmlns:a16="http://schemas.microsoft.com/office/drawing/2014/main" val="10001"/>
                  </a:ext>
                </a:extLst>
              </a:tr>
              <a:tr h="494450">
                <a:tc>
                  <a:txBody>
                    <a:bodyPr/>
                    <a:lstStyle/>
                    <a:p>
                      <a:pPr marL="0" marR="0" lvl="0" indent="0" algn="l" rtl="0">
                        <a:spcBef>
                          <a:spcPts val="0"/>
                        </a:spcBef>
                        <a:spcAft>
                          <a:spcPts val="0"/>
                        </a:spcAft>
                        <a:buNone/>
                      </a:pPr>
                      <a:r>
                        <a:rPr lang="en-US" sz="2400"/>
                        <a:t>1504</a:t>
                      </a:r>
                      <a:endParaRPr/>
                    </a:p>
                  </a:txBody>
                  <a:tcPr marL="153850" marR="153850" marT="60950" marB="60950"/>
                </a:tc>
                <a:tc>
                  <a:txBody>
                    <a:bodyPr/>
                    <a:lstStyle/>
                    <a:p>
                      <a:pPr marL="0" marR="0" lvl="0" indent="0" algn="l" rtl="0">
                        <a:spcBef>
                          <a:spcPts val="0"/>
                        </a:spcBef>
                        <a:spcAft>
                          <a:spcPts val="0"/>
                        </a:spcAft>
                        <a:buNone/>
                      </a:pPr>
                      <a:r>
                        <a:rPr lang="en-US" sz="2400"/>
                        <a:t>…</a:t>
                      </a:r>
                      <a:endParaRPr/>
                    </a:p>
                  </a:txBody>
                  <a:tcPr marL="153850" marR="153850" marT="60950" marB="60950"/>
                </a:tc>
                <a:extLst>
                  <a:ext uri="{0D108BD9-81ED-4DB2-BD59-A6C34878D82A}">
                    <a16:rowId xmlns:a16="http://schemas.microsoft.com/office/drawing/2014/main" val="10002"/>
                  </a:ext>
                </a:extLst>
              </a:tr>
            </a:tbl>
          </a:graphicData>
        </a:graphic>
      </p:graphicFrame>
      <p:sp>
        <p:nvSpPr>
          <p:cNvPr id="317" name="Google Shape;317;p24"/>
          <p:cNvSpPr txBox="1">
            <a:spLocks noGrp="1"/>
          </p:cNvSpPr>
          <p:nvPr>
            <p:ph type="body" idx="2"/>
          </p:nvPr>
        </p:nvSpPr>
        <p:spPr>
          <a:xfrm>
            <a:off x="5283200" y="1404797"/>
            <a:ext cx="6299200" cy="2938604"/>
          </a:xfrm>
          <a:prstGeom prst="rect">
            <a:avLst/>
          </a:prstGeom>
          <a:noFill/>
          <a:ln>
            <a:noFill/>
          </a:ln>
        </p:spPr>
        <p:txBody>
          <a:bodyPr spcFirstLastPara="1" wrap="square" lIns="91425" tIns="45700" rIns="91425" bIns="45700" anchor="t" anchorCtr="0">
            <a:normAutofit fontScale="92500" lnSpcReduction="20000"/>
          </a:bodyPr>
          <a:lstStyle/>
          <a:p>
            <a:pPr marL="685783" lvl="0" indent="-685785" algn="l" rtl="0">
              <a:lnSpc>
                <a:spcPct val="110000"/>
              </a:lnSpc>
              <a:spcBef>
                <a:spcPts val="0"/>
              </a:spcBef>
              <a:spcAft>
                <a:spcPts val="0"/>
              </a:spcAft>
              <a:buClr>
                <a:schemeClr val="dk1"/>
              </a:buClr>
              <a:buSzPct val="100000"/>
              <a:buFont typeface="Calibri"/>
              <a:buAutoNum type="arabicPeriod"/>
            </a:pPr>
            <a:r>
              <a:rPr lang="en-US" sz="2933"/>
              <a:t>PC 	=  1500</a:t>
            </a:r>
            <a:endParaRPr/>
          </a:p>
          <a:p>
            <a:pPr marL="685783" lvl="0" indent="-685785" algn="l" rtl="0">
              <a:lnSpc>
                <a:spcPct val="110000"/>
              </a:lnSpc>
              <a:spcBef>
                <a:spcPts val="600"/>
              </a:spcBef>
              <a:spcAft>
                <a:spcPts val="0"/>
              </a:spcAft>
              <a:buClr>
                <a:schemeClr val="dk1"/>
              </a:buClr>
              <a:buSzPct val="100000"/>
              <a:buFont typeface="Calibri"/>
              <a:buAutoNum type="arabicPeriod"/>
            </a:pPr>
            <a:r>
              <a:rPr lang="en-US" sz="2933"/>
              <a:t>MAR 	=  1500</a:t>
            </a:r>
            <a:endParaRPr/>
          </a:p>
          <a:p>
            <a:pPr marL="685783" lvl="0" indent="-685785" algn="l" rtl="0">
              <a:lnSpc>
                <a:spcPct val="110000"/>
              </a:lnSpc>
              <a:spcBef>
                <a:spcPts val="600"/>
              </a:spcBef>
              <a:spcAft>
                <a:spcPts val="0"/>
              </a:spcAft>
              <a:buClr>
                <a:schemeClr val="dk1"/>
              </a:buClr>
              <a:buSzPct val="100000"/>
              <a:buFont typeface="Calibri"/>
              <a:buAutoNum type="arabicPeriod"/>
            </a:pPr>
            <a:r>
              <a:rPr lang="en-US" sz="2933"/>
              <a:t>PC	=  PC + 4  =  1504</a:t>
            </a:r>
            <a:endParaRPr/>
          </a:p>
          <a:p>
            <a:pPr marL="685783" lvl="0" indent="-685785" algn="l" rtl="0">
              <a:lnSpc>
                <a:spcPct val="110000"/>
              </a:lnSpc>
              <a:spcBef>
                <a:spcPts val="600"/>
              </a:spcBef>
              <a:spcAft>
                <a:spcPts val="0"/>
              </a:spcAft>
              <a:buClr>
                <a:schemeClr val="dk1"/>
              </a:buClr>
              <a:buSzPct val="100000"/>
              <a:buFont typeface="Calibri"/>
              <a:buAutoNum type="arabicPeriod"/>
            </a:pPr>
            <a:r>
              <a:rPr lang="en-US" sz="2933"/>
              <a:t>MDR	=  ADD R1, R2</a:t>
            </a:r>
            <a:endParaRPr/>
          </a:p>
          <a:p>
            <a:pPr marL="685783" lvl="0" indent="-685785" algn="l" rtl="0">
              <a:lnSpc>
                <a:spcPct val="110000"/>
              </a:lnSpc>
              <a:spcBef>
                <a:spcPts val="600"/>
              </a:spcBef>
              <a:spcAft>
                <a:spcPts val="0"/>
              </a:spcAft>
              <a:buClr>
                <a:schemeClr val="dk1"/>
              </a:buClr>
              <a:buSzPct val="100000"/>
              <a:buFont typeface="Calibri"/>
              <a:buAutoNum type="arabicPeriod"/>
            </a:pPr>
            <a:r>
              <a:rPr lang="en-US" sz="2933"/>
              <a:t>IR	=  ADD R1, R2</a:t>
            </a:r>
            <a:endParaRPr/>
          </a:p>
          <a:p>
            <a:pPr marL="685783" lvl="0" indent="-685785" algn="l" rtl="0">
              <a:lnSpc>
                <a:spcPct val="110000"/>
              </a:lnSpc>
              <a:spcBef>
                <a:spcPts val="600"/>
              </a:spcBef>
              <a:spcAft>
                <a:spcPts val="0"/>
              </a:spcAft>
              <a:buClr>
                <a:schemeClr val="dk1"/>
              </a:buClr>
              <a:buSzPct val="100000"/>
              <a:buFont typeface="Calibri"/>
              <a:buAutoNum type="arabicPeriod"/>
            </a:pPr>
            <a:r>
              <a:rPr lang="en-US" sz="2933"/>
              <a:t>R1	=  R1 + R2  =   250</a:t>
            </a:r>
            <a:endParaRPr/>
          </a:p>
          <a:p>
            <a:pPr marL="228600" lvl="0" indent="-64135" algn="l" rtl="0">
              <a:lnSpc>
                <a:spcPct val="110000"/>
              </a:lnSpc>
              <a:spcBef>
                <a:spcPts val="600"/>
              </a:spcBef>
              <a:spcAft>
                <a:spcPts val="0"/>
              </a:spcAft>
              <a:buClr>
                <a:schemeClr val="dk1"/>
              </a:buClr>
              <a:buSzPct val="100000"/>
              <a:buNone/>
            </a:pPr>
            <a:endParaRPr/>
          </a:p>
        </p:txBody>
      </p:sp>
      <p:sp>
        <p:nvSpPr>
          <p:cNvPr id="318" name="Google Shape;318;p24"/>
          <p:cNvSpPr txBox="1"/>
          <p:nvPr/>
        </p:nvSpPr>
        <p:spPr>
          <a:xfrm>
            <a:off x="1219200" y="685801"/>
            <a:ext cx="1219200" cy="461665"/>
          </a:xfrm>
          <a:prstGeom prst="rect">
            <a:avLst/>
          </a:prstGeom>
          <a:solidFill>
            <a:srgbClr val="DDEAF6"/>
          </a:solidFill>
          <a:ln w="9525" cap="flat" cmpd="sng">
            <a:solidFill>
              <a:srgbClr val="0C0C0C"/>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50</a:t>
            </a:r>
            <a:endParaRPr/>
          </a:p>
        </p:txBody>
      </p:sp>
      <p:sp>
        <p:nvSpPr>
          <p:cNvPr id="319" name="Google Shape;319;p24"/>
          <p:cNvSpPr txBox="1"/>
          <p:nvPr/>
        </p:nvSpPr>
        <p:spPr>
          <a:xfrm>
            <a:off x="304800" y="685801"/>
            <a:ext cx="12192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R1</a:t>
            </a:r>
            <a:endParaRPr/>
          </a:p>
        </p:txBody>
      </p:sp>
      <p:sp>
        <p:nvSpPr>
          <p:cNvPr id="320" name="Google Shape;320;p24"/>
          <p:cNvSpPr txBox="1"/>
          <p:nvPr/>
        </p:nvSpPr>
        <p:spPr>
          <a:xfrm>
            <a:off x="1219200" y="1295401"/>
            <a:ext cx="1219200" cy="461665"/>
          </a:xfrm>
          <a:prstGeom prst="rect">
            <a:avLst/>
          </a:prstGeom>
          <a:solidFill>
            <a:srgbClr val="DDEAF6"/>
          </a:solidFill>
          <a:ln w="9525" cap="flat" cmpd="sng">
            <a:solidFill>
              <a:srgbClr val="0C0C0C"/>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200</a:t>
            </a:r>
            <a:endParaRPr/>
          </a:p>
        </p:txBody>
      </p:sp>
      <p:sp>
        <p:nvSpPr>
          <p:cNvPr id="321" name="Google Shape;321;p24"/>
          <p:cNvSpPr txBox="1"/>
          <p:nvPr/>
        </p:nvSpPr>
        <p:spPr>
          <a:xfrm>
            <a:off x="304800" y="1295401"/>
            <a:ext cx="12192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R2</a:t>
            </a:r>
            <a:endParaRPr/>
          </a:p>
        </p:txBody>
      </p:sp>
      <p:sp>
        <p:nvSpPr>
          <p:cNvPr id="322" name="Google Shape;322;p24"/>
          <p:cNvSpPr txBox="1"/>
          <p:nvPr/>
        </p:nvSpPr>
        <p:spPr>
          <a:xfrm>
            <a:off x="1219200" y="685801"/>
            <a:ext cx="1219200" cy="461665"/>
          </a:xfrm>
          <a:prstGeom prst="rect">
            <a:avLst/>
          </a:prstGeom>
          <a:solidFill>
            <a:srgbClr val="DDEAF6"/>
          </a:solidFill>
          <a:ln w="9525" cap="flat" cmpd="sng">
            <a:solidFill>
              <a:srgbClr val="0C0C0C"/>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250</a:t>
            </a:r>
            <a:endParaRPr/>
          </a:p>
        </p:txBody>
      </p:sp>
      <p:sp>
        <p:nvSpPr>
          <p:cNvPr id="323" name="Google Shape;32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animEffect transition="in" filter="fade">
                                      <p:cBhvr>
                                        <p:cTn id="7" dur="5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Bus Architecture</a:t>
            </a:r>
            <a:endParaRPr/>
          </a:p>
        </p:txBody>
      </p:sp>
      <p:sp>
        <p:nvSpPr>
          <p:cNvPr id="329" name="Google Shape;329;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The different functional modules must be connected in an organized manner to form an operational system.</a:t>
            </a:r>
            <a:endParaRPr/>
          </a:p>
          <a:p>
            <a:pPr marL="228600" lvl="0" indent="-228600" algn="l" rtl="0">
              <a:lnSpc>
                <a:spcPct val="110000"/>
              </a:lnSpc>
              <a:spcBef>
                <a:spcPts val="600"/>
              </a:spcBef>
              <a:spcAft>
                <a:spcPts val="0"/>
              </a:spcAft>
              <a:buClr>
                <a:schemeClr val="dk1"/>
              </a:buClr>
              <a:buSzPts val="2800"/>
              <a:buChar char="•"/>
            </a:pPr>
            <a:r>
              <a:rPr lang="en-US"/>
              <a:t>Bus refers to a group of lines that serves as a connecting path for several devices.</a:t>
            </a:r>
            <a:endParaRPr/>
          </a:p>
          <a:p>
            <a:pPr marL="228600" lvl="0" indent="-228600" algn="l" rtl="0">
              <a:lnSpc>
                <a:spcPct val="110000"/>
              </a:lnSpc>
              <a:spcBef>
                <a:spcPts val="600"/>
              </a:spcBef>
              <a:spcAft>
                <a:spcPts val="0"/>
              </a:spcAft>
              <a:buClr>
                <a:schemeClr val="dk1"/>
              </a:buClr>
              <a:buSzPts val="2800"/>
              <a:buChar char="•"/>
            </a:pPr>
            <a:r>
              <a:rPr lang="en-US"/>
              <a:t>The simplest way to connect the functional unit is to use the single bus architecture.</a:t>
            </a:r>
            <a:endParaRPr/>
          </a:p>
          <a:p>
            <a:pPr marL="685800" lvl="1" indent="-228600" algn="l" rtl="0">
              <a:lnSpc>
                <a:spcPct val="110000"/>
              </a:lnSpc>
              <a:spcBef>
                <a:spcPts val="600"/>
              </a:spcBef>
              <a:spcAft>
                <a:spcPts val="0"/>
              </a:spcAft>
              <a:buClr>
                <a:schemeClr val="dk1"/>
              </a:buClr>
              <a:buSzPts val="2400"/>
              <a:buChar char="•"/>
            </a:pPr>
            <a:r>
              <a:rPr lang="en-US"/>
              <a:t>Only one data transfer allowed in one clock cycle.</a:t>
            </a:r>
            <a:endParaRPr/>
          </a:p>
          <a:p>
            <a:pPr marL="685800" lvl="1" indent="-228600" algn="l" rtl="0">
              <a:lnSpc>
                <a:spcPct val="110000"/>
              </a:lnSpc>
              <a:spcBef>
                <a:spcPts val="600"/>
              </a:spcBef>
              <a:spcAft>
                <a:spcPts val="0"/>
              </a:spcAft>
              <a:buClr>
                <a:schemeClr val="dk1"/>
              </a:buClr>
              <a:buSzPts val="2400"/>
              <a:buChar char="•"/>
            </a:pPr>
            <a:r>
              <a:rPr lang="en-US"/>
              <a:t>For multi-bus architecture, parallelism in data transfer is allowed.</a:t>
            </a:r>
            <a:endParaRPr/>
          </a:p>
        </p:txBody>
      </p:sp>
      <p:sp>
        <p:nvSpPr>
          <p:cNvPr id="330" name="Google Shape;33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System-Level Single Bus Architecture</a:t>
            </a:r>
            <a:endParaRPr/>
          </a:p>
        </p:txBody>
      </p:sp>
      <p:sp>
        <p:nvSpPr>
          <p:cNvPr id="336" name="Google Shape;336;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
        <p:nvSpPr>
          <p:cNvPr id="337" name="Google Shape;337;p26"/>
          <p:cNvSpPr/>
          <p:nvPr/>
        </p:nvSpPr>
        <p:spPr>
          <a:xfrm>
            <a:off x="1117600" y="2311400"/>
            <a:ext cx="2032000" cy="10160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Input</a:t>
            </a:r>
            <a:endParaRPr/>
          </a:p>
        </p:txBody>
      </p:sp>
      <p:sp>
        <p:nvSpPr>
          <p:cNvPr id="338" name="Google Shape;338;p26"/>
          <p:cNvSpPr/>
          <p:nvPr/>
        </p:nvSpPr>
        <p:spPr>
          <a:xfrm>
            <a:off x="3643901" y="2311400"/>
            <a:ext cx="2032000" cy="10160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Output</a:t>
            </a:r>
            <a:endParaRPr/>
          </a:p>
        </p:txBody>
      </p:sp>
      <p:sp>
        <p:nvSpPr>
          <p:cNvPr id="339" name="Google Shape;339;p26"/>
          <p:cNvSpPr/>
          <p:nvPr/>
        </p:nvSpPr>
        <p:spPr>
          <a:xfrm>
            <a:off x="6170203" y="2311400"/>
            <a:ext cx="2032000" cy="10160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Memory</a:t>
            </a:r>
            <a:endParaRPr/>
          </a:p>
        </p:txBody>
      </p:sp>
      <p:sp>
        <p:nvSpPr>
          <p:cNvPr id="340" name="Google Shape;340;p26"/>
          <p:cNvSpPr/>
          <p:nvPr/>
        </p:nvSpPr>
        <p:spPr>
          <a:xfrm>
            <a:off x="8696504" y="2311400"/>
            <a:ext cx="2032000" cy="10160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Processor</a:t>
            </a:r>
            <a:endParaRPr/>
          </a:p>
        </p:txBody>
      </p:sp>
      <p:sp>
        <p:nvSpPr>
          <p:cNvPr id="341" name="Google Shape;341;p26"/>
          <p:cNvSpPr/>
          <p:nvPr/>
        </p:nvSpPr>
        <p:spPr>
          <a:xfrm>
            <a:off x="812800" y="4140200"/>
            <a:ext cx="10566400" cy="711200"/>
          </a:xfrm>
          <a:prstGeom prst="leftRightArrow">
            <a:avLst>
              <a:gd name="adj1" fmla="val 50000"/>
              <a:gd name="adj2" fmla="val 50000"/>
            </a:avLst>
          </a:prstGeom>
          <a:solidFill>
            <a:schemeClr val="accent1"/>
          </a:solidFill>
          <a:ln w="12700" cap="flat" cmpd="sng">
            <a:solidFill>
              <a:srgbClr val="31538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42" name="Google Shape;342;p26"/>
          <p:cNvSpPr/>
          <p:nvPr/>
        </p:nvSpPr>
        <p:spPr>
          <a:xfrm>
            <a:off x="4165600" y="3327401"/>
            <a:ext cx="609600" cy="965201"/>
          </a:xfrm>
          <a:prstGeom prst="upArrow">
            <a:avLst>
              <a:gd name="adj1" fmla="val 50000"/>
              <a:gd name="adj2" fmla="val 50000"/>
            </a:avLst>
          </a:prstGeom>
          <a:solidFill>
            <a:srgbClr val="E1EFD8"/>
          </a:solidFill>
          <a:ln w="12700" cap="flat" cmpd="sng">
            <a:solidFill>
              <a:srgbClr val="31538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43" name="Google Shape;343;p26"/>
          <p:cNvSpPr/>
          <p:nvPr/>
        </p:nvSpPr>
        <p:spPr>
          <a:xfrm>
            <a:off x="1828800" y="3327400"/>
            <a:ext cx="508000" cy="965203"/>
          </a:xfrm>
          <a:prstGeom prst="downArrow">
            <a:avLst>
              <a:gd name="adj1" fmla="val 50000"/>
              <a:gd name="adj2" fmla="val 50000"/>
            </a:avLst>
          </a:prstGeom>
          <a:solidFill>
            <a:srgbClr val="E1EFD8"/>
          </a:solidFill>
          <a:ln w="12700" cap="flat" cmpd="sng">
            <a:solidFill>
              <a:srgbClr val="31538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44" name="Google Shape;344;p26"/>
          <p:cNvSpPr/>
          <p:nvPr/>
        </p:nvSpPr>
        <p:spPr>
          <a:xfrm>
            <a:off x="7010400" y="3327399"/>
            <a:ext cx="508000" cy="965199"/>
          </a:xfrm>
          <a:prstGeom prst="upDownArrow">
            <a:avLst>
              <a:gd name="adj1" fmla="val 50000"/>
              <a:gd name="adj2" fmla="val 50000"/>
            </a:avLst>
          </a:prstGeom>
          <a:solidFill>
            <a:srgbClr val="E1EFD8"/>
          </a:solidFill>
          <a:ln w="12700" cap="flat" cmpd="sng">
            <a:solidFill>
              <a:srgbClr val="31538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45" name="Google Shape;345;p26"/>
          <p:cNvSpPr/>
          <p:nvPr/>
        </p:nvSpPr>
        <p:spPr>
          <a:xfrm>
            <a:off x="9458504" y="3327399"/>
            <a:ext cx="508000" cy="965200"/>
          </a:xfrm>
          <a:prstGeom prst="upDownArrow">
            <a:avLst>
              <a:gd name="adj1" fmla="val 50000"/>
              <a:gd name="adj2" fmla="val 50000"/>
            </a:avLst>
          </a:prstGeom>
          <a:solidFill>
            <a:srgbClr val="E1EFD8"/>
          </a:solidFill>
          <a:ln w="12700" cap="flat" cmpd="sng">
            <a:solidFill>
              <a:srgbClr val="31538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7"/>
          <p:cNvSpPr txBox="1">
            <a:spLocks noGrp="1"/>
          </p:cNvSpPr>
          <p:nvPr>
            <p:ph type="title"/>
          </p:nvPr>
        </p:nvSpPr>
        <p:spPr>
          <a:xfrm>
            <a:off x="609600" y="482601"/>
            <a:ext cx="10972800" cy="6302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System-Level Two-Bus Architecture</a:t>
            </a:r>
            <a:endParaRPr/>
          </a:p>
        </p:txBody>
      </p:sp>
      <p:sp>
        <p:nvSpPr>
          <p:cNvPr id="351" name="Google Shape;351;p27"/>
          <p:cNvSpPr/>
          <p:nvPr/>
        </p:nvSpPr>
        <p:spPr>
          <a:xfrm>
            <a:off x="9855200" y="4140200"/>
            <a:ext cx="1524000" cy="10160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Input Device</a:t>
            </a:r>
            <a:endParaRPr/>
          </a:p>
        </p:txBody>
      </p:sp>
      <p:sp>
        <p:nvSpPr>
          <p:cNvPr id="352" name="Google Shape;352;p27"/>
          <p:cNvSpPr/>
          <p:nvPr/>
        </p:nvSpPr>
        <p:spPr>
          <a:xfrm>
            <a:off x="9753600" y="2209800"/>
            <a:ext cx="1625600" cy="10160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Output</a:t>
            </a:r>
            <a:endParaRPr/>
          </a:p>
          <a:p>
            <a:pPr marL="0" marR="0" lvl="0" indent="0" algn="ctr" rtl="0">
              <a:spcBef>
                <a:spcPts val="0"/>
              </a:spcBef>
              <a:spcAft>
                <a:spcPts val="0"/>
              </a:spcAft>
              <a:buNone/>
            </a:pPr>
            <a:r>
              <a:rPr lang="en-US" sz="2400">
                <a:solidFill>
                  <a:schemeClr val="dk1"/>
                </a:solidFill>
                <a:latin typeface="Calibri"/>
                <a:ea typeface="Calibri"/>
                <a:cs typeface="Calibri"/>
                <a:sym typeface="Calibri"/>
              </a:rPr>
              <a:t>Device</a:t>
            </a:r>
            <a:endParaRPr/>
          </a:p>
        </p:txBody>
      </p:sp>
      <p:sp>
        <p:nvSpPr>
          <p:cNvPr id="353" name="Google Shape;353;p27"/>
          <p:cNvSpPr/>
          <p:nvPr/>
        </p:nvSpPr>
        <p:spPr>
          <a:xfrm>
            <a:off x="4775200" y="1397000"/>
            <a:ext cx="2032000" cy="10160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Memory</a:t>
            </a:r>
            <a:endParaRPr/>
          </a:p>
        </p:txBody>
      </p:sp>
      <p:sp>
        <p:nvSpPr>
          <p:cNvPr id="354" name="Google Shape;354;p27"/>
          <p:cNvSpPr/>
          <p:nvPr/>
        </p:nvSpPr>
        <p:spPr>
          <a:xfrm>
            <a:off x="1828800" y="1397000"/>
            <a:ext cx="2032000" cy="10160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Processor</a:t>
            </a:r>
            <a:endParaRPr/>
          </a:p>
        </p:txBody>
      </p:sp>
      <p:sp>
        <p:nvSpPr>
          <p:cNvPr id="355" name="Google Shape;355;p27"/>
          <p:cNvSpPr/>
          <p:nvPr/>
        </p:nvSpPr>
        <p:spPr>
          <a:xfrm>
            <a:off x="1320800" y="3225800"/>
            <a:ext cx="5892800" cy="711200"/>
          </a:xfrm>
          <a:prstGeom prst="leftRightArrow">
            <a:avLst>
              <a:gd name="adj1" fmla="val 50000"/>
              <a:gd name="adj2" fmla="val 50000"/>
            </a:avLst>
          </a:prstGeom>
          <a:solidFill>
            <a:schemeClr val="accent1"/>
          </a:solidFill>
          <a:ln w="12700" cap="flat" cmpd="sng">
            <a:solidFill>
              <a:srgbClr val="31538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6" name="Google Shape;356;p27"/>
          <p:cNvSpPr/>
          <p:nvPr/>
        </p:nvSpPr>
        <p:spPr>
          <a:xfrm>
            <a:off x="5486400" y="2413001"/>
            <a:ext cx="508000" cy="965199"/>
          </a:xfrm>
          <a:prstGeom prst="upDownArrow">
            <a:avLst>
              <a:gd name="adj1" fmla="val 50000"/>
              <a:gd name="adj2" fmla="val 50000"/>
            </a:avLst>
          </a:prstGeom>
          <a:solidFill>
            <a:srgbClr val="E1EFD8"/>
          </a:solidFill>
          <a:ln w="12700" cap="flat" cmpd="sng">
            <a:solidFill>
              <a:srgbClr val="31538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7" name="Google Shape;357;p27"/>
          <p:cNvSpPr/>
          <p:nvPr/>
        </p:nvSpPr>
        <p:spPr>
          <a:xfrm>
            <a:off x="2641600" y="2413000"/>
            <a:ext cx="508000" cy="965200"/>
          </a:xfrm>
          <a:prstGeom prst="upDownArrow">
            <a:avLst>
              <a:gd name="adj1" fmla="val 50000"/>
              <a:gd name="adj2" fmla="val 50000"/>
            </a:avLst>
          </a:prstGeom>
          <a:solidFill>
            <a:srgbClr val="E1EFD8"/>
          </a:solidFill>
          <a:ln w="12700" cap="flat" cmpd="sng">
            <a:solidFill>
              <a:srgbClr val="31538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8" name="Google Shape;358;p27"/>
          <p:cNvSpPr/>
          <p:nvPr/>
        </p:nvSpPr>
        <p:spPr>
          <a:xfrm>
            <a:off x="3352800" y="4749800"/>
            <a:ext cx="2032000" cy="10160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I/O Processor</a:t>
            </a:r>
            <a:endParaRPr/>
          </a:p>
        </p:txBody>
      </p:sp>
      <p:sp>
        <p:nvSpPr>
          <p:cNvPr id="359" name="Google Shape;359;p27"/>
          <p:cNvSpPr/>
          <p:nvPr/>
        </p:nvSpPr>
        <p:spPr>
          <a:xfrm>
            <a:off x="4064000" y="3784600"/>
            <a:ext cx="508000" cy="965200"/>
          </a:xfrm>
          <a:prstGeom prst="upDownArrow">
            <a:avLst>
              <a:gd name="adj1" fmla="val 50000"/>
              <a:gd name="adj2" fmla="val 50000"/>
            </a:avLst>
          </a:prstGeom>
          <a:solidFill>
            <a:srgbClr val="E1EFD8"/>
          </a:solidFill>
          <a:ln w="12700" cap="flat" cmpd="sng">
            <a:solidFill>
              <a:srgbClr val="31538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60" name="Google Shape;360;p27"/>
          <p:cNvSpPr/>
          <p:nvPr/>
        </p:nvSpPr>
        <p:spPr>
          <a:xfrm>
            <a:off x="8432800" y="1701800"/>
            <a:ext cx="711200" cy="4165600"/>
          </a:xfrm>
          <a:prstGeom prst="upDownArrow">
            <a:avLst>
              <a:gd name="adj1" fmla="val 50000"/>
              <a:gd name="adj2" fmla="val 50000"/>
            </a:avLst>
          </a:prstGeom>
          <a:gradFill>
            <a:gsLst>
              <a:gs pos="0">
                <a:srgbClr val="5F82CA"/>
              </a:gs>
              <a:gs pos="50000">
                <a:srgbClr val="3D70C9"/>
              </a:gs>
              <a:gs pos="100000">
                <a:srgbClr val="2D60B9"/>
              </a:gs>
            </a:gsLst>
            <a:lin ang="5400000" scaled="0"/>
          </a:gradFill>
          <a:ln w="952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61" name="Google Shape;361;p27"/>
          <p:cNvSpPr/>
          <p:nvPr/>
        </p:nvSpPr>
        <p:spPr>
          <a:xfrm>
            <a:off x="5384800" y="4953000"/>
            <a:ext cx="3251200" cy="508000"/>
          </a:xfrm>
          <a:prstGeom prst="leftRightArrow">
            <a:avLst>
              <a:gd name="adj1" fmla="val 50000"/>
              <a:gd name="adj2" fmla="val 50000"/>
            </a:avLst>
          </a:prstGeom>
          <a:solidFill>
            <a:srgbClr val="E1EFD8"/>
          </a:solidFill>
          <a:ln w="19050" cap="flat" cmpd="sng">
            <a:solidFill>
              <a:srgbClr val="00009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62" name="Google Shape;362;p27"/>
          <p:cNvSpPr/>
          <p:nvPr/>
        </p:nvSpPr>
        <p:spPr>
          <a:xfrm>
            <a:off x="8940800" y="2616200"/>
            <a:ext cx="812800" cy="406400"/>
          </a:xfrm>
          <a:prstGeom prst="rightArrow">
            <a:avLst>
              <a:gd name="adj1" fmla="val 50000"/>
              <a:gd name="adj2" fmla="val 50000"/>
            </a:avLst>
          </a:prstGeom>
          <a:solidFill>
            <a:srgbClr val="E1EFD8"/>
          </a:solidFill>
          <a:ln w="19050" cap="flat" cmpd="sng">
            <a:solidFill>
              <a:srgbClr val="00009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63" name="Google Shape;363;p27"/>
          <p:cNvSpPr/>
          <p:nvPr/>
        </p:nvSpPr>
        <p:spPr>
          <a:xfrm>
            <a:off x="8940800" y="4445000"/>
            <a:ext cx="914400" cy="406400"/>
          </a:xfrm>
          <a:prstGeom prst="leftArrow">
            <a:avLst>
              <a:gd name="adj1" fmla="val 50000"/>
              <a:gd name="adj2" fmla="val 50000"/>
            </a:avLst>
          </a:prstGeom>
          <a:solidFill>
            <a:srgbClr val="E1EFD8"/>
          </a:solidFill>
          <a:ln w="19050" cap="flat" cmpd="sng">
            <a:solidFill>
              <a:srgbClr val="00009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64" name="Google Shape;36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28"/>
          <p:cNvSpPr txBox="1">
            <a:spLocks noGrp="1"/>
          </p:cNvSpPr>
          <p:nvPr>
            <p:ph type="title"/>
          </p:nvPr>
        </p:nvSpPr>
        <p:spPr>
          <a:xfrm>
            <a:off x="388796" y="274639"/>
            <a:ext cx="11600004"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Single-Bus Architecture Inside the Processor</a:t>
            </a:r>
            <a:endParaRPr/>
          </a:p>
        </p:txBody>
      </p:sp>
      <p:sp>
        <p:nvSpPr>
          <p:cNvPr id="370" name="Google Shape;370;p28"/>
          <p:cNvSpPr txBox="1">
            <a:spLocks noGrp="1"/>
          </p:cNvSpPr>
          <p:nvPr>
            <p:ph type="body" idx="1"/>
          </p:nvPr>
        </p:nvSpPr>
        <p:spPr>
          <a:xfrm>
            <a:off x="609600" y="1498601"/>
            <a:ext cx="11379200" cy="4470399"/>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chemeClr val="dk1"/>
              </a:buClr>
              <a:buSzPts val="2667"/>
              <a:buChar char="•"/>
            </a:pPr>
            <a:r>
              <a:rPr lang="en-US" sz="2667"/>
              <a:t>There is a single bus inside the processor.</a:t>
            </a:r>
            <a:endParaRPr/>
          </a:p>
          <a:p>
            <a:pPr marL="685800" lvl="1" indent="-228600" algn="l" rtl="0">
              <a:lnSpc>
                <a:spcPct val="110000"/>
              </a:lnSpc>
              <a:spcBef>
                <a:spcPts val="600"/>
              </a:spcBef>
              <a:spcAft>
                <a:spcPts val="0"/>
              </a:spcAft>
              <a:buClr>
                <a:schemeClr val="dk1"/>
              </a:buClr>
              <a:buSzPts val="2400"/>
              <a:buChar char="•"/>
            </a:pPr>
            <a:r>
              <a:rPr lang="en-US"/>
              <a:t>ALU and the registers are all connected via the single bus.</a:t>
            </a:r>
            <a:endParaRPr/>
          </a:p>
          <a:p>
            <a:pPr marL="685800" lvl="1" indent="-228600" algn="l" rtl="0">
              <a:lnSpc>
                <a:spcPct val="110000"/>
              </a:lnSpc>
              <a:spcBef>
                <a:spcPts val="600"/>
              </a:spcBef>
              <a:spcAft>
                <a:spcPts val="0"/>
              </a:spcAft>
              <a:buClr>
                <a:schemeClr val="dk1"/>
              </a:buClr>
              <a:buSzPts val="2400"/>
              <a:buChar char="•"/>
            </a:pPr>
            <a:r>
              <a:rPr lang="en-US"/>
              <a:t>This bus is internal to the processor and should not be confused with the external bus that connects the processor to the memory and I/O devices.</a:t>
            </a:r>
            <a:endParaRPr/>
          </a:p>
          <a:p>
            <a:pPr marL="228600" lvl="0" indent="-228600" algn="l" rtl="0">
              <a:lnSpc>
                <a:spcPct val="110000"/>
              </a:lnSpc>
              <a:spcBef>
                <a:spcPts val="600"/>
              </a:spcBef>
              <a:spcAft>
                <a:spcPts val="0"/>
              </a:spcAft>
              <a:buClr>
                <a:schemeClr val="dk1"/>
              </a:buClr>
              <a:buSzPts val="2667"/>
              <a:buChar char="•"/>
            </a:pPr>
            <a:r>
              <a:rPr lang="en-US" sz="2667"/>
              <a:t>A typical single-bus processor architecture is shown on the next slide.</a:t>
            </a:r>
            <a:endParaRPr/>
          </a:p>
          <a:p>
            <a:pPr marL="685800" lvl="1" indent="-228600" algn="l" rtl="0">
              <a:lnSpc>
                <a:spcPct val="110000"/>
              </a:lnSpc>
              <a:spcBef>
                <a:spcPts val="600"/>
              </a:spcBef>
              <a:spcAft>
                <a:spcPts val="0"/>
              </a:spcAft>
              <a:buClr>
                <a:schemeClr val="dk1"/>
              </a:buClr>
              <a:buSzPts val="2400"/>
              <a:buChar char="•"/>
            </a:pPr>
            <a:r>
              <a:rPr lang="en-US"/>
              <a:t>Two temporary registers </a:t>
            </a:r>
            <a:r>
              <a:rPr lang="en-US" i="1">
                <a:solidFill>
                  <a:srgbClr val="800000"/>
                </a:solidFill>
              </a:rPr>
              <a:t>Y</a:t>
            </a:r>
            <a:r>
              <a:rPr lang="en-US"/>
              <a:t> and </a:t>
            </a:r>
            <a:r>
              <a:rPr lang="en-US" i="1">
                <a:solidFill>
                  <a:srgbClr val="800000"/>
                </a:solidFill>
              </a:rPr>
              <a:t>Z</a:t>
            </a:r>
            <a:r>
              <a:rPr lang="en-US"/>
              <a:t> are also included.</a:t>
            </a:r>
            <a:endParaRPr/>
          </a:p>
          <a:p>
            <a:pPr marL="685800" lvl="1" indent="-228600" algn="l" rtl="0">
              <a:lnSpc>
                <a:spcPct val="110000"/>
              </a:lnSpc>
              <a:spcBef>
                <a:spcPts val="600"/>
              </a:spcBef>
              <a:spcAft>
                <a:spcPts val="0"/>
              </a:spcAft>
              <a:buClr>
                <a:schemeClr val="dk1"/>
              </a:buClr>
              <a:buSzPts val="2400"/>
              <a:buChar char="•"/>
            </a:pPr>
            <a:r>
              <a:rPr lang="en-US"/>
              <a:t>Register </a:t>
            </a:r>
            <a:r>
              <a:rPr lang="en-US" i="1">
                <a:solidFill>
                  <a:srgbClr val="800000"/>
                </a:solidFill>
              </a:rPr>
              <a:t>Y</a:t>
            </a:r>
            <a:r>
              <a:rPr lang="en-US"/>
              <a:t> temporarily holds one of the operands of the ALU.</a:t>
            </a:r>
            <a:endParaRPr/>
          </a:p>
          <a:p>
            <a:pPr marL="685800" lvl="1" indent="-228600" algn="l" rtl="0">
              <a:lnSpc>
                <a:spcPct val="110000"/>
              </a:lnSpc>
              <a:spcBef>
                <a:spcPts val="600"/>
              </a:spcBef>
              <a:spcAft>
                <a:spcPts val="0"/>
              </a:spcAft>
              <a:buClr>
                <a:schemeClr val="dk1"/>
              </a:buClr>
              <a:buSzPts val="2400"/>
              <a:buChar char="•"/>
            </a:pPr>
            <a:r>
              <a:rPr lang="en-US"/>
              <a:t>Register </a:t>
            </a:r>
            <a:r>
              <a:rPr lang="en-US" i="1">
                <a:solidFill>
                  <a:srgbClr val="800000"/>
                </a:solidFill>
              </a:rPr>
              <a:t>Z</a:t>
            </a:r>
            <a:r>
              <a:rPr lang="en-US"/>
              <a:t> temporarily holds the result of the ALU operation.</a:t>
            </a:r>
            <a:endParaRPr/>
          </a:p>
          <a:p>
            <a:pPr marL="685800" lvl="1" indent="-228600" algn="l" rtl="0">
              <a:lnSpc>
                <a:spcPct val="110000"/>
              </a:lnSpc>
              <a:spcBef>
                <a:spcPts val="600"/>
              </a:spcBef>
              <a:spcAft>
                <a:spcPts val="0"/>
              </a:spcAft>
              <a:buClr>
                <a:schemeClr val="dk1"/>
              </a:buClr>
              <a:buSzPts val="2400"/>
              <a:buChar char="•"/>
            </a:pPr>
            <a:r>
              <a:rPr lang="en-US"/>
              <a:t>The multiplexer selects a constant operand 4 during execution of the micro-operation: </a:t>
            </a:r>
            <a:r>
              <a:rPr lang="en-US" i="1">
                <a:solidFill>
                  <a:srgbClr val="800000"/>
                </a:solidFill>
              </a:rPr>
              <a:t>PC 🡨 PC + 4</a:t>
            </a:r>
            <a:r>
              <a:rPr lang="en-US"/>
              <a:t>.</a:t>
            </a:r>
            <a:endParaRPr/>
          </a:p>
          <a:p>
            <a:pPr marL="685800" lvl="1" indent="-93154" algn="l" rtl="0">
              <a:lnSpc>
                <a:spcPct val="110000"/>
              </a:lnSpc>
              <a:spcBef>
                <a:spcPts val="600"/>
              </a:spcBef>
              <a:spcAft>
                <a:spcPts val="0"/>
              </a:spcAft>
              <a:buClr>
                <a:schemeClr val="dk1"/>
              </a:buClr>
              <a:buSzPts val="2133"/>
              <a:buNone/>
            </a:pPr>
            <a:endParaRPr sz="2133"/>
          </a:p>
        </p:txBody>
      </p:sp>
      <p:sp>
        <p:nvSpPr>
          <p:cNvPr id="371" name="Google Shape;37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29"/>
          <p:cNvSpPr/>
          <p:nvPr/>
        </p:nvSpPr>
        <p:spPr>
          <a:xfrm rot="-5400000">
            <a:off x="3097337" y="3887663"/>
            <a:ext cx="612528" cy="1320803"/>
          </a:xfrm>
          <a:custGeom>
            <a:avLst/>
            <a:gdLst/>
            <a:ahLst/>
            <a:cxnLst/>
            <a:rect l="l" t="t" r="r" b="b"/>
            <a:pathLst>
              <a:path w="47" h="75" extrusionOk="0">
                <a:moveTo>
                  <a:pt x="47" y="0"/>
                </a:moveTo>
                <a:lnTo>
                  <a:pt x="47" y="33"/>
                </a:lnTo>
                <a:lnTo>
                  <a:pt x="38" y="37"/>
                </a:lnTo>
                <a:lnTo>
                  <a:pt x="47" y="42"/>
                </a:lnTo>
                <a:lnTo>
                  <a:pt x="47" y="75"/>
                </a:lnTo>
                <a:lnTo>
                  <a:pt x="0" y="60"/>
                </a:lnTo>
                <a:lnTo>
                  <a:pt x="0" y="14"/>
                </a:lnTo>
                <a:lnTo>
                  <a:pt x="47" y="0"/>
                </a:lnTo>
              </a:path>
            </a:pathLst>
          </a:custGeom>
          <a:solidFill>
            <a:srgbClr val="DDEAF6"/>
          </a:solidFill>
          <a:ln w="25400" cap="flat" cmpd="sng">
            <a:solidFill>
              <a:srgbClr val="800000"/>
            </a:solidFill>
            <a:prstDash val="solid"/>
            <a:round/>
            <a:headEnd type="none" w="med" len="med"/>
            <a:tailEnd type="none"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9"/>
          <p:cNvSpPr txBox="1"/>
          <p:nvPr/>
        </p:nvSpPr>
        <p:spPr>
          <a:xfrm>
            <a:off x="2743188" y="4241788"/>
            <a:ext cx="1320803" cy="61252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       </a:t>
            </a:r>
            <a:endParaRPr/>
          </a:p>
        </p:txBody>
      </p:sp>
      <p:sp>
        <p:nvSpPr>
          <p:cNvPr id="378" name="Google Shape;378;p29"/>
          <p:cNvSpPr txBox="1"/>
          <p:nvPr/>
        </p:nvSpPr>
        <p:spPr>
          <a:xfrm>
            <a:off x="3657600" y="381001"/>
            <a:ext cx="4064000" cy="50276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67" b="1">
                <a:solidFill>
                  <a:srgbClr val="800000"/>
                </a:solidFill>
                <a:latin typeface="Calibri"/>
                <a:ea typeface="Calibri"/>
                <a:cs typeface="Calibri"/>
                <a:sym typeface="Calibri"/>
              </a:rPr>
              <a:t>Internal Processor Bus</a:t>
            </a:r>
            <a:endParaRPr/>
          </a:p>
        </p:txBody>
      </p:sp>
      <p:grpSp>
        <p:nvGrpSpPr>
          <p:cNvPr id="379" name="Google Shape;379;p29"/>
          <p:cNvGrpSpPr/>
          <p:nvPr/>
        </p:nvGrpSpPr>
        <p:grpSpPr>
          <a:xfrm>
            <a:off x="406400" y="889000"/>
            <a:ext cx="11277600" cy="4978400"/>
            <a:chOff x="152400" y="666750"/>
            <a:chExt cx="8458200" cy="3733800"/>
          </a:xfrm>
        </p:grpSpPr>
        <p:sp>
          <p:nvSpPr>
            <p:cNvPr id="380" name="Google Shape;380;p29"/>
            <p:cNvSpPr/>
            <p:nvPr/>
          </p:nvSpPr>
          <p:spPr>
            <a:xfrm>
              <a:off x="3962400" y="666750"/>
              <a:ext cx="381000" cy="3733800"/>
            </a:xfrm>
            <a:prstGeom prst="upDownArrow">
              <a:avLst>
                <a:gd name="adj1" fmla="val 50000"/>
                <a:gd name="adj2" fmla="val 50000"/>
              </a:avLst>
            </a:prstGeom>
            <a:gradFill>
              <a:gsLst>
                <a:gs pos="0">
                  <a:srgbClr val="5F82CA"/>
                </a:gs>
                <a:gs pos="50000">
                  <a:srgbClr val="3D70C9"/>
                </a:gs>
                <a:gs pos="100000">
                  <a:srgbClr val="2D60B9"/>
                </a:gs>
              </a:gsLst>
              <a:lin ang="5400000" scaled="0"/>
            </a:gradFill>
            <a:ln w="952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81" name="Google Shape;381;p29"/>
            <p:cNvSpPr/>
            <p:nvPr/>
          </p:nvSpPr>
          <p:spPr>
            <a:xfrm>
              <a:off x="1981200" y="819150"/>
              <a:ext cx="914400" cy="3048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C0C0C"/>
                  </a:solidFill>
                  <a:latin typeface="Calibri"/>
                  <a:ea typeface="Calibri"/>
                  <a:cs typeface="Calibri"/>
                  <a:sym typeface="Calibri"/>
                </a:rPr>
                <a:t>PC</a:t>
              </a:r>
              <a:endParaRPr/>
            </a:p>
          </p:txBody>
        </p:sp>
        <p:sp>
          <p:nvSpPr>
            <p:cNvPr id="382" name="Google Shape;382;p29"/>
            <p:cNvSpPr/>
            <p:nvPr/>
          </p:nvSpPr>
          <p:spPr>
            <a:xfrm>
              <a:off x="1981200" y="1276350"/>
              <a:ext cx="914400" cy="3048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C0C0C"/>
                  </a:solidFill>
                  <a:latin typeface="Calibri"/>
                  <a:ea typeface="Calibri"/>
                  <a:cs typeface="Calibri"/>
                  <a:sym typeface="Calibri"/>
                </a:rPr>
                <a:t>MAR</a:t>
              </a:r>
              <a:endParaRPr/>
            </a:p>
          </p:txBody>
        </p:sp>
        <p:sp>
          <p:nvSpPr>
            <p:cNvPr id="383" name="Google Shape;383;p29"/>
            <p:cNvSpPr/>
            <p:nvPr/>
          </p:nvSpPr>
          <p:spPr>
            <a:xfrm>
              <a:off x="1981200" y="1733550"/>
              <a:ext cx="914400" cy="3048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C0C0C"/>
                  </a:solidFill>
                  <a:latin typeface="Calibri"/>
                  <a:ea typeface="Calibri"/>
                  <a:cs typeface="Calibri"/>
                  <a:sym typeface="Calibri"/>
                </a:rPr>
                <a:t>MDR</a:t>
              </a:r>
              <a:endParaRPr/>
            </a:p>
          </p:txBody>
        </p:sp>
        <p:sp>
          <p:nvSpPr>
            <p:cNvPr id="384" name="Google Shape;384;p29"/>
            <p:cNvSpPr/>
            <p:nvPr/>
          </p:nvSpPr>
          <p:spPr>
            <a:xfrm>
              <a:off x="1981200" y="2190750"/>
              <a:ext cx="914400" cy="3048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C0C0C"/>
                  </a:solidFill>
                  <a:latin typeface="Calibri"/>
                  <a:ea typeface="Calibri"/>
                  <a:cs typeface="Calibri"/>
                  <a:sym typeface="Calibri"/>
                </a:rPr>
                <a:t>Y</a:t>
              </a:r>
              <a:endParaRPr/>
            </a:p>
          </p:txBody>
        </p:sp>
        <p:sp>
          <p:nvSpPr>
            <p:cNvPr id="385" name="Google Shape;385;p29"/>
            <p:cNvSpPr/>
            <p:nvPr/>
          </p:nvSpPr>
          <p:spPr>
            <a:xfrm>
              <a:off x="5410200" y="1885950"/>
              <a:ext cx="914400" cy="3048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C0C0C"/>
                  </a:solidFill>
                  <a:latin typeface="Calibri"/>
                  <a:ea typeface="Calibri"/>
                  <a:cs typeface="Calibri"/>
                  <a:sym typeface="Calibri"/>
                </a:rPr>
                <a:t>IR</a:t>
              </a:r>
              <a:endParaRPr/>
            </a:p>
          </p:txBody>
        </p:sp>
        <p:sp>
          <p:nvSpPr>
            <p:cNvPr id="386" name="Google Shape;386;p29"/>
            <p:cNvSpPr/>
            <p:nvPr/>
          </p:nvSpPr>
          <p:spPr>
            <a:xfrm>
              <a:off x="5410200" y="2266950"/>
              <a:ext cx="914400" cy="3048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C0C0C"/>
                  </a:solidFill>
                  <a:latin typeface="Calibri"/>
                  <a:ea typeface="Calibri"/>
                  <a:cs typeface="Calibri"/>
                  <a:sym typeface="Calibri"/>
                </a:rPr>
                <a:t>R0</a:t>
              </a:r>
              <a:endParaRPr/>
            </a:p>
          </p:txBody>
        </p:sp>
        <p:sp>
          <p:nvSpPr>
            <p:cNvPr id="387" name="Google Shape;387;p29"/>
            <p:cNvSpPr/>
            <p:nvPr/>
          </p:nvSpPr>
          <p:spPr>
            <a:xfrm>
              <a:off x="5410200" y="2647950"/>
              <a:ext cx="914400" cy="3048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C0C0C"/>
                  </a:solidFill>
                  <a:latin typeface="Calibri"/>
                  <a:ea typeface="Calibri"/>
                  <a:cs typeface="Calibri"/>
                  <a:sym typeface="Calibri"/>
                </a:rPr>
                <a:t>R1</a:t>
              </a:r>
              <a:endParaRPr/>
            </a:p>
          </p:txBody>
        </p:sp>
        <p:sp>
          <p:nvSpPr>
            <p:cNvPr id="388" name="Google Shape;388;p29"/>
            <p:cNvSpPr/>
            <p:nvPr/>
          </p:nvSpPr>
          <p:spPr>
            <a:xfrm>
              <a:off x="5410200" y="3409950"/>
              <a:ext cx="914400" cy="3048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C0C0C"/>
                  </a:solidFill>
                  <a:latin typeface="Calibri"/>
                  <a:ea typeface="Calibri"/>
                  <a:cs typeface="Calibri"/>
                  <a:sym typeface="Calibri"/>
                </a:rPr>
                <a:t>R</a:t>
              </a:r>
              <a:r>
                <a:rPr lang="en-US" sz="2400" baseline="-25000">
                  <a:solidFill>
                    <a:srgbClr val="0C0C0C"/>
                  </a:solidFill>
                  <a:latin typeface="Calibri"/>
                  <a:ea typeface="Calibri"/>
                  <a:cs typeface="Calibri"/>
                  <a:sym typeface="Calibri"/>
                </a:rPr>
                <a:t>n-1</a:t>
              </a:r>
              <a:endParaRPr/>
            </a:p>
          </p:txBody>
        </p:sp>
        <p:sp>
          <p:nvSpPr>
            <p:cNvPr id="389" name="Google Shape;389;p29"/>
            <p:cNvSpPr/>
            <p:nvPr/>
          </p:nvSpPr>
          <p:spPr>
            <a:xfrm>
              <a:off x="5410200" y="819150"/>
              <a:ext cx="1752600" cy="8382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D0D0D"/>
                  </a:solidFill>
                  <a:latin typeface="Calibri"/>
                  <a:ea typeface="Calibri"/>
                  <a:cs typeface="Calibri"/>
                  <a:sym typeface="Calibri"/>
                </a:rPr>
                <a:t>Instruction Decoding and Control Unit</a:t>
              </a:r>
              <a:endParaRPr/>
            </a:p>
          </p:txBody>
        </p:sp>
        <p:sp>
          <p:nvSpPr>
            <p:cNvPr id="390" name="Google Shape;390;p29"/>
            <p:cNvSpPr/>
            <p:nvPr/>
          </p:nvSpPr>
          <p:spPr>
            <a:xfrm>
              <a:off x="1981200" y="3867150"/>
              <a:ext cx="914400" cy="3048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C0C0C"/>
                  </a:solidFill>
                  <a:latin typeface="Calibri"/>
                  <a:ea typeface="Calibri"/>
                  <a:cs typeface="Calibri"/>
                  <a:sym typeface="Calibri"/>
                </a:rPr>
                <a:t>Z</a:t>
              </a:r>
              <a:endParaRPr/>
            </a:p>
          </p:txBody>
        </p:sp>
        <p:sp>
          <p:nvSpPr>
            <p:cNvPr id="391" name="Google Shape;391;p29"/>
            <p:cNvSpPr/>
            <p:nvPr/>
          </p:nvSpPr>
          <p:spPr>
            <a:xfrm rot="10800000">
              <a:off x="1447800" y="2647950"/>
              <a:ext cx="838200" cy="304799"/>
            </a:xfrm>
            <a:prstGeom prst="trapezoid">
              <a:avLst>
                <a:gd name="adj" fmla="val 25000"/>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0D0D0D"/>
                </a:solidFill>
                <a:latin typeface="Calibri"/>
                <a:ea typeface="Calibri"/>
                <a:cs typeface="Calibri"/>
                <a:sym typeface="Calibri"/>
              </a:endParaRPr>
            </a:p>
          </p:txBody>
        </p:sp>
        <p:cxnSp>
          <p:nvCxnSpPr>
            <p:cNvPr id="392" name="Google Shape;392;p29"/>
            <p:cNvCxnSpPr>
              <a:stCxn id="381" idx="3"/>
            </p:cNvCxnSpPr>
            <p:nvPr/>
          </p:nvCxnSpPr>
          <p:spPr>
            <a:xfrm>
              <a:off x="2895600" y="971550"/>
              <a:ext cx="1143000" cy="0"/>
            </a:xfrm>
            <a:prstGeom prst="straightConnector1">
              <a:avLst/>
            </a:prstGeom>
            <a:noFill/>
            <a:ln w="12700" cap="flat" cmpd="sng">
              <a:solidFill>
                <a:srgbClr val="0C0C0C"/>
              </a:solidFill>
              <a:prstDash val="solid"/>
              <a:miter lim="8000"/>
              <a:headEnd type="stealth" w="med" len="med"/>
              <a:tailEnd type="stealth" w="med" len="med"/>
            </a:ln>
          </p:spPr>
        </p:cxnSp>
        <p:cxnSp>
          <p:nvCxnSpPr>
            <p:cNvPr id="393" name="Google Shape;393;p29"/>
            <p:cNvCxnSpPr>
              <a:endCxn id="382" idx="3"/>
            </p:cNvCxnSpPr>
            <p:nvPr/>
          </p:nvCxnSpPr>
          <p:spPr>
            <a:xfrm rot="10800000">
              <a:off x="2895600" y="1428750"/>
              <a:ext cx="1143000" cy="0"/>
            </a:xfrm>
            <a:prstGeom prst="straightConnector1">
              <a:avLst/>
            </a:prstGeom>
            <a:noFill/>
            <a:ln w="12700" cap="flat" cmpd="sng">
              <a:solidFill>
                <a:srgbClr val="0C0C0C"/>
              </a:solidFill>
              <a:prstDash val="solid"/>
              <a:miter lim="8000"/>
              <a:headEnd type="none" w="sm" len="sm"/>
              <a:tailEnd type="stealth" w="med" len="med"/>
            </a:ln>
          </p:spPr>
        </p:cxnSp>
        <p:cxnSp>
          <p:nvCxnSpPr>
            <p:cNvPr id="394" name="Google Shape;394;p29"/>
            <p:cNvCxnSpPr>
              <a:stCxn id="384" idx="3"/>
            </p:cNvCxnSpPr>
            <p:nvPr/>
          </p:nvCxnSpPr>
          <p:spPr>
            <a:xfrm>
              <a:off x="2895600" y="2343150"/>
              <a:ext cx="1143000" cy="0"/>
            </a:xfrm>
            <a:prstGeom prst="straightConnector1">
              <a:avLst/>
            </a:prstGeom>
            <a:noFill/>
            <a:ln w="12700" cap="flat" cmpd="sng">
              <a:solidFill>
                <a:srgbClr val="0C0C0C"/>
              </a:solidFill>
              <a:prstDash val="solid"/>
              <a:miter lim="8000"/>
              <a:headEnd type="stealth" w="med" len="med"/>
              <a:tailEnd type="stealth" w="med" len="med"/>
            </a:ln>
          </p:spPr>
        </p:cxnSp>
        <p:cxnSp>
          <p:nvCxnSpPr>
            <p:cNvPr id="395" name="Google Shape;395;p29"/>
            <p:cNvCxnSpPr>
              <a:stCxn id="388" idx="1"/>
            </p:cNvCxnSpPr>
            <p:nvPr/>
          </p:nvCxnSpPr>
          <p:spPr>
            <a:xfrm rot="10800000">
              <a:off x="4267200" y="3562350"/>
              <a:ext cx="1143000" cy="0"/>
            </a:xfrm>
            <a:prstGeom prst="straightConnector1">
              <a:avLst/>
            </a:prstGeom>
            <a:noFill/>
            <a:ln w="12700" cap="flat" cmpd="sng">
              <a:solidFill>
                <a:srgbClr val="0C0C0C"/>
              </a:solidFill>
              <a:prstDash val="solid"/>
              <a:miter lim="8000"/>
              <a:headEnd type="stealth" w="med" len="med"/>
              <a:tailEnd type="stealth" w="med" len="med"/>
            </a:ln>
          </p:spPr>
        </p:cxnSp>
        <p:cxnSp>
          <p:nvCxnSpPr>
            <p:cNvPr id="396" name="Google Shape;396;p29"/>
            <p:cNvCxnSpPr/>
            <p:nvPr/>
          </p:nvCxnSpPr>
          <p:spPr>
            <a:xfrm rot="10800000">
              <a:off x="4267200" y="2419350"/>
              <a:ext cx="1143000" cy="0"/>
            </a:xfrm>
            <a:prstGeom prst="straightConnector1">
              <a:avLst/>
            </a:prstGeom>
            <a:noFill/>
            <a:ln w="12700" cap="flat" cmpd="sng">
              <a:solidFill>
                <a:srgbClr val="0C0C0C"/>
              </a:solidFill>
              <a:prstDash val="solid"/>
              <a:miter lim="8000"/>
              <a:headEnd type="stealth" w="med" len="med"/>
              <a:tailEnd type="stealth" w="med" len="med"/>
            </a:ln>
          </p:spPr>
        </p:cxnSp>
        <p:cxnSp>
          <p:nvCxnSpPr>
            <p:cNvPr id="397" name="Google Shape;397;p29"/>
            <p:cNvCxnSpPr/>
            <p:nvPr/>
          </p:nvCxnSpPr>
          <p:spPr>
            <a:xfrm rot="10800000">
              <a:off x="4267200" y="2800350"/>
              <a:ext cx="1143000" cy="0"/>
            </a:xfrm>
            <a:prstGeom prst="straightConnector1">
              <a:avLst/>
            </a:prstGeom>
            <a:noFill/>
            <a:ln w="12700" cap="flat" cmpd="sng">
              <a:solidFill>
                <a:srgbClr val="0C0C0C"/>
              </a:solidFill>
              <a:prstDash val="solid"/>
              <a:miter lim="8000"/>
              <a:headEnd type="stealth" w="med" len="med"/>
              <a:tailEnd type="stealth" w="med" len="med"/>
            </a:ln>
          </p:spPr>
        </p:cxnSp>
        <p:cxnSp>
          <p:nvCxnSpPr>
            <p:cNvPr id="398" name="Google Shape;398;p29"/>
            <p:cNvCxnSpPr>
              <a:endCxn id="385" idx="1"/>
            </p:cNvCxnSpPr>
            <p:nvPr/>
          </p:nvCxnSpPr>
          <p:spPr>
            <a:xfrm>
              <a:off x="4267200" y="2038350"/>
              <a:ext cx="1143000" cy="0"/>
            </a:xfrm>
            <a:prstGeom prst="straightConnector1">
              <a:avLst/>
            </a:prstGeom>
            <a:noFill/>
            <a:ln w="12700" cap="flat" cmpd="sng">
              <a:solidFill>
                <a:srgbClr val="0C0C0C"/>
              </a:solidFill>
              <a:prstDash val="solid"/>
              <a:miter lim="8000"/>
              <a:headEnd type="none" w="sm" len="sm"/>
              <a:tailEnd type="stealth" w="med" len="med"/>
            </a:ln>
          </p:spPr>
        </p:cxnSp>
        <p:cxnSp>
          <p:nvCxnSpPr>
            <p:cNvPr id="399" name="Google Shape;399;p29"/>
            <p:cNvCxnSpPr>
              <a:stCxn id="389" idx="1"/>
            </p:cNvCxnSpPr>
            <p:nvPr/>
          </p:nvCxnSpPr>
          <p:spPr>
            <a:xfrm flipH="1">
              <a:off x="4267200" y="1238250"/>
              <a:ext cx="1143000" cy="3600"/>
            </a:xfrm>
            <a:prstGeom prst="straightConnector1">
              <a:avLst/>
            </a:prstGeom>
            <a:noFill/>
            <a:ln w="12700" cap="flat" cmpd="sng">
              <a:solidFill>
                <a:srgbClr val="0C0C0C"/>
              </a:solidFill>
              <a:prstDash val="solid"/>
              <a:miter lim="8000"/>
              <a:headEnd type="none" w="sm" len="sm"/>
              <a:tailEnd type="stealth" w="med" len="med"/>
            </a:ln>
          </p:spPr>
        </p:cxnSp>
        <p:cxnSp>
          <p:nvCxnSpPr>
            <p:cNvPr id="400" name="Google Shape;400;p29"/>
            <p:cNvCxnSpPr>
              <a:stCxn id="385" idx="0"/>
            </p:cNvCxnSpPr>
            <p:nvPr/>
          </p:nvCxnSpPr>
          <p:spPr>
            <a:xfrm rot="10800000">
              <a:off x="5867400" y="1657350"/>
              <a:ext cx="0" cy="228600"/>
            </a:xfrm>
            <a:prstGeom prst="straightConnector1">
              <a:avLst/>
            </a:prstGeom>
            <a:noFill/>
            <a:ln w="12700" cap="flat" cmpd="sng">
              <a:solidFill>
                <a:srgbClr val="0C0C0C"/>
              </a:solidFill>
              <a:prstDash val="solid"/>
              <a:miter lim="8000"/>
              <a:headEnd type="none" w="sm" len="sm"/>
              <a:tailEnd type="stealth" w="med" len="med"/>
            </a:ln>
          </p:spPr>
        </p:cxnSp>
        <p:cxnSp>
          <p:nvCxnSpPr>
            <p:cNvPr id="401" name="Google Shape;401;p29"/>
            <p:cNvCxnSpPr>
              <a:stCxn id="390" idx="3"/>
            </p:cNvCxnSpPr>
            <p:nvPr/>
          </p:nvCxnSpPr>
          <p:spPr>
            <a:xfrm>
              <a:off x="2895600" y="4019550"/>
              <a:ext cx="1143000" cy="0"/>
            </a:xfrm>
            <a:prstGeom prst="straightConnector1">
              <a:avLst/>
            </a:prstGeom>
            <a:noFill/>
            <a:ln w="12700" cap="flat" cmpd="sng">
              <a:solidFill>
                <a:srgbClr val="0C0C0C"/>
              </a:solidFill>
              <a:prstDash val="solid"/>
              <a:miter lim="8000"/>
              <a:headEnd type="none" w="sm" len="sm"/>
              <a:tailEnd type="stealth" w="med" len="med"/>
            </a:ln>
          </p:spPr>
        </p:cxnSp>
        <p:cxnSp>
          <p:nvCxnSpPr>
            <p:cNvPr id="402" name="Google Shape;402;p29"/>
            <p:cNvCxnSpPr>
              <a:endCxn id="390" idx="0"/>
            </p:cNvCxnSpPr>
            <p:nvPr/>
          </p:nvCxnSpPr>
          <p:spPr>
            <a:xfrm>
              <a:off x="2438400" y="3638550"/>
              <a:ext cx="0" cy="228600"/>
            </a:xfrm>
            <a:prstGeom prst="straightConnector1">
              <a:avLst/>
            </a:prstGeom>
            <a:noFill/>
            <a:ln w="12700" cap="flat" cmpd="sng">
              <a:solidFill>
                <a:srgbClr val="0C0C0C"/>
              </a:solidFill>
              <a:prstDash val="solid"/>
              <a:miter lim="8000"/>
              <a:headEnd type="none" w="sm" len="sm"/>
              <a:tailEnd type="stealth" w="med" len="med"/>
            </a:ln>
          </p:spPr>
        </p:cxnSp>
        <p:cxnSp>
          <p:nvCxnSpPr>
            <p:cNvPr id="403" name="Google Shape;403;p29"/>
            <p:cNvCxnSpPr/>
            <p:nvPr/>
          </p:nvCxnSpPr>
          <p:spPr>
            <a:xfrm rot="10800000">
              <a:off x="2819400" y="2724150"/>
              <a:ext cx="1219200" cy="0"/>
            </a:xfrm>
            <a:prstGeom prst="straightConnector1">
              <a:avLst/>
            </a:prstGeom>
            <a:noFill/>
            <a:ln w="12700" cap="flat" cmpd="sng">
              <a:solidFill>
                <a:srgbClr val="0C0C0C"/>
              </a:solidFill>
              <a:prstDash val="solid"/>
              <a:miter lim="8000"/>
              <a:headEnd type="none" w="sm" len="sm"/>
              <a:tailEnd type="none" w="sm" len="sm"/>
            </a:ln>
          </p:spPr>
        </p:cxnSp>
        <p:cxnSp>
          <p:nvCxnSpPr>
            <p:cNvPr id="404" name="Google Shape;404;p29"/>
            <p:cNvCxnSpPr/>
            <p:nvPr/>
          </p:nvCxnSpPr>
          <p:spPr>
            <a:xfrm>
              <a:off x="2819400" y="2724150"/>
              <a:ext cx="0" cy="457200"/>
            </a:xfrm>
            <a:prstGeom prst="straightConnector1">
              <a:avLst/>
            </a:prstGeom>
            <a:noFill/>
            <a:ln w="12700" cap="flat" cmpd="sng">
              <a:solidFill>
                <a:srgbClr val="0C0C0C"/>
              </a:solidFill>
              <a:prstDash val="solid"/>
              <a:miter lim="8000"/>
              <a:headEnd type="none" w="sm" len="sm"/>
              <a:tailEnd type="stealth" w="med" len="med"/>
            </a:ln>
          </p:spPr>
        </p:cxnSp>
        <p:cxnSp>
          <p:nvCxnSpPr>
            <p:cNvPr id="405" name="Google Shape;405;p29"/>
            <p:cNvCxnSpPr>
              <a:stCxn id="391" idx="0"/>
            </p:cNvCxnSpPr>
            <p:nvPr/>
          </p:nvCxnSpPr>
          <p:spPr>
            <a:xfrm>
              <a:off x="1866900" y="2952749"/>
              <a:ext cx="190500" cy="228600"/>
            </a:xfrm>
            <a:prstGeom prst="straightConnector1">
              <a:avLst/>
            </a:prstGeom>
            <a:noFill/>
            <a:ln w="12700" cap="flat" cmpd="sng">
              <a:solidFill>
                <a:srgbClr val="0C0C0C"/>
              </a:solidFill>
              <a:prstDash val="solid"/>
              <a:miter lim="8000"/>
              <a:headEnd type="none" w="sm" len="sm"/>
              <a:tailEnd type="stealth" w="med" len="med"/>
            </a:ln>
          </p:spPr>
        </p:cxnSp>
        <p:cxnSp>
          <p:nvCxnSpPr>
            <p:cNvPr id="406" name="Google Shape;406;p29"/>
            <p:cNvCxnSpPr/>
            <p:nvPr/>
          </p:nvCxnSpPr>
          <p:spPr>
            <a:xfrm>
              <a:off x="1524000" y="2419350"/>
              <a:ext cx="0" cy="228600"/>
            </a:xfrm>
            <a:prstGeom prst="straightConnector1">
              <a:avLst/>
            </a:prstGeom>
            <a:noFill/>
            <a:ln w="12700" cap="flat" cmpd="sng">
              <a:solidFill>
                <a:srgbClr val="0C0C0C"/>
              </a:solidFill>
              <a:prstDash val="solid"/>
              <a:miter lim="8000"/>
              <a:headEnd type="none" w="sm" len="sm"/>
              <a:tailEnd type="stealth" w="med" len="med"/>
            </a:ln>
          </p:spPr>
        </p:cxnSp>
        <p:cxnSp>
          <p:nvCxnSpPr>
            <p:cNvPr id="407" name="Google Shape;407;p29"/>
            <p:cNvCxnSpPr/>
            <p:nvPr/>
          </p:nvCxnSpPr>
          <p:spPr>
            <a:xfrm>
              <a:off x="2133600" y="2495550"/>
              <a:ext cx="0" cy="152400"/>
            </a:xfrm>
            <a:prstGeom prst="straightConnector1">
              <a:avLst/>
            </a:prstGeom>
            <a:noFill/>
            <a:ln w="12700" cap="flat" cmpd="sng">
              <a:solidFill>
                <a:srgbClr val="0C0C0C"/>
              </a:solidFill>
              <a:prstDash val="solid"/>
              <a:miter lim="8000"/>
              <a:headEnd type="none" w="sm" len="sm"/>
              <a:tailEnd type="stealth" w="med" len="med"/>
            </a:ln>
          </p:spPr>
        </p:cxnSp>
        <p:sp>
          <p:nvSpPr>
            <p:cNvPr id="408" name="Google Shape;408;p29"/>
            <p:cNvSpPr/>
            <p:nvPr/>
          </p:nvSpPr>
          <p:spPr>
            <a:xfrm>
              <a:off x="152400" y="1200150"/>
              <a:ext cx="1143000" cy="9144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C0C0C"/>
                  </a:solidFill>
                  <a:latin typeface="Calibri"/>
                  <a:ea typeface="Calibri"/>
                  <a:cs typeface="Calibri"/>
                  <a:sym typeface="Calibri"/>
                </a:rPr>
                <a:t>MEMORY</a:t>
              </a:r>
              <a:endParaRPr/>
            </a:p>
          </p:txBody>
        </p:sp>
        <p:cxnSp>
          <p:nvCxnSpPr>
            <p:cNvPr id="409" name="Google Shape;409;p29"/>
            <p:cNvCxnSpPr>
              <a:stCxn id="382" idx="1"/>
            </p:cNvCxnSpPr>
            <p:nvPr/>
          </p:nvCxnSpPr>
          <p:spPr>
            <a:xfrm rot="10800000">
              <a:off x="1295400" y="1428750"/>
              <a:ext cx="685800" cy="0"/>
            </a:xfrm>
            <a:prstGeom prst="straightConnector1">
              <a:avLst/>
            </a:prstGeom>
            <a:noFill/>
            <a:ln w="12700" cap="flat" cmpd="sng">
              <a:solidFill>
                <a:srgbClr val="0C0C0C"/>
              </a:solidFill>
              <a:prstDash val="solid"/>
              <a:miter lim="8000"/>
              <a:headEnd type="none" w="sm" len="sm"/>
              <a:tailEnd type="stealth" w="med" len="med"/>
            </a:ln>
          </p:spPr>
        </p:cxnSp>
        <p:cxnSp>
          <p:nvCxnSpPr>
            <p:cNvPr id="410" name="Google Shape;410;p29"/>
            <p:cNvCxnSpPr>
              <a:stCxn id="383" idx="1"/>
            </p:cNvCxnSpPr>
            <p:nvPr/>
          </p:nvCxnSpPr>
          <p:spPr>
            <a:xfrm rot="10800000">
              <a:off x="1295400" y="1885950"/>
              <a:ext cx="685800" cy="0"/>
            </a:xfrm>
            <a:prstGeom prst="straightConnector1">
              <a:avLst/>
            </a:prstGeom>
            <a:noFill/>
            <a:ln w="12700" cap="flat" cmpd="sng">
              <a:solidFill>
                <a:srgbClr val="0C0C0C"/>
              </a:solidFill>
              <a:prstDash val="solid"/>
              <a:miter lim="8000"/>
              <a:headEnd type="stealth" w="med" len="med"/>
              <a:tailEnd type="stealth" w="med" len="med"/>
            </a:ln>
          </p:spPr>
        </p:cxnSp>
        <p:sp>
          <p:nvSpPr>
            <p:cNvPr id="411" name="Google Shape;411;p29"/>
            <p:cNvSpPr txBox="1"/>
            <p:nvPr/>
          </p:nvSpPr>
          <p:spPr>
            <a:xfrm>
              <a:off x="1371600" y="2114550"/>
              <a:ext cx="304800"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cxnSp>
          <p:nvCxnSpPr>
            <p:cNvPr id="412" name="Google Shape;412;p29"/>
            <p:cNvCxnSpPr>
              <a:endCxn id="391" idx="3"/>
            </p:cNvCxnSpPr>
            <p:nvPr/>
          </p:nvCxnSpPr>
          <p:spPr>
            <a:xfrm>
              <a:off x="1143000" y="2800350"/>
              <a:ext cx="342900" cy="0"/>
            </a:xfrm>
            <a:prstGeom prst="straightConnector1">
              <a:avLst/>
            </a:prstGeom>
            <a:noFill/>
            <a:ln w="12700" cap="flat" cmpd="sng">
              <a:solidFill>
                <a:srgbClr val="0C0C0C"/>
              </a:solidFill>
              <a:prstDash val="solid"/>
              <a:miter lim="8000"/>
              <a:headEnd type="none" w="sm" len="sm"/>
              <a:tailEnd type="stealth" w="med" len="med"/>
            </a:ln>
          </p:spPr>
        </p:cxnSp>
        <p:cxnSp>
          <p:nvCxnSpPr>
            <p:cNvPr id="413" name="Google Shape;413;p29"/>
            <p:cNvCxnSpPr/>
            <p:nvPr/>
          </p:nvCxnSpPr>
          <p:spPr>
            <a:xfrm>
              <a:off x="1143000" y="3486150"/>
              <a:ext cx="914400" cy="0"/>
            </a:xfrm>
            <a:prstGeom prst="straightConnector1">
              <a:avLst/>
            </a:prstGeom>
            <a:noFill/>
            <a:ln w="12700" cap="flat" cmpd="sng">
              <a:solidFill>
                <a:srgbClr val="0C0C0C"/>
              </a:solidFill>
              <a:prstDash val="solid"/>
              <a:miter lim="8000"/>
              <a:headEnd type="none" w="sm" len="sm"/>
              <a:tailEnd type="stealth" w="med" len="med"/>
            </a:ln>
          </p:spPr>
        </p:cxnSp>
        <p:sp>
          <p:nvSpPr>
            <p:cNvPr id="414" name="Google Shape;414;p29"/>
            <p:cNvSpPr txBox="1"/>
            <p:nvPr/>
          </p:nvSpPr>
          <p:spPr>
            <a:xfrm>
              <a:off x="152400" y="3181350"/>
              <a:ext cx="1066800" cy="62324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Function select</a:t>
              </a:r>
              <a:endParaRPr/>
            </a:p>
          </p:txBody>
        </p:sp>
        <p:sp>
          <p:nvSpPr>
            <p:cNvPr id="415" name="Google Shape;415;p29"/>
            <p:cNvSpPr txBox="1"/>
            <p:nvPr/>
          </p:nvSpPr>
          <p:spPr>
            <a:xfrm>
              <a:off x="381000" y="2583418"/>
              <a:ext cx="914400"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Select</a:t>
              </a:r>
              <a:endParaRPr/>
            </a:p>
          </p:txBody>
        </p:sp>
        <p:sp>
          <p:nvSpPr>
            <p:cNvPr id="416" name="Google Shape;416;p29"/>
            <p:cNvSpPr txBox="1"/>
            <p:nvPr/>
          </p:nvSpPr>
          <p:spPr>
            <a:xfrm>
              <a:off x="2057400" y="3193018"/>
              <a:ext cx="685800" cy="34624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ALU</a:t>
              </a:r>
              <a:endParaRPr/>
            </a:p>
          </p:txBody>
        </p:sp>
        <p:cxnSp>
          <p:nvCxnSpPr>
            <p:cNvPr id="417" name="Google Shape;417;p29"/>
            <p:cNvCxnSpPr/>
            <p:nvPr/>
          </p:nvCxnSpPr>
          <p:spPr>
            <a:xfrm>
              <a:off x="7162800" y="971550"/>
              <a:ext cx="381000" cy="0"/>
            </a:xfrm>
            <a:prstGeom prst="straightConnector1">
              <a:avLst/>
            </a:prstGeom>
            <a:noFill/>
            <a:ln w="12700" cap="flat" cmpd="sng">
              <a:solidFill>
                <a:srgbClr val="0C0C0C"/>
              </a:solidFill>
              <a:prstDash val="solid"/>
              <a:miter lim="8000"/>
              <a:headEnd type="none" w="sm" len="sm"/>
              <a:tailEnd type="stealth" w="med" len="med"/>
            </a:ln>
          </p:spPr>
        </p:cxnSp>
        <p:cxnSp>
          <p:nvCxnSpPr>
            <p:cNvPr id="418" name="Google Shape;418;p29"/>
            <p:cNvCxnSpPr/>
            <p:nvPr/>
          </p:nvCxnSpPr>
          <p:spPr>
            <a:xfrm>
              <a:off x="7162800" y="1504950"/>
              <a:ext cx="381000" cy="0"/>
            </a:xfrm>
            <a:prstGeom prst="straightConnector1">
              <a:avLst/>
            </a:prstGeom>
            <a:noFill/>
            <a:ln w="12700" cap="flat" cmpd="sng">
              <a:solidFill>
                <a:srgbClr val="0C0C0C"/>
              </a:solidFill>
              <a:prstDash val="solid"/>
              <a:miter lim="8000"/>
              <a:headEnd type="none" w="sm" len="sm"/>
              <a:tailEnd type="stealth" w="med" len="med"/>
            </a:ln>
          </p:spPr>
        </p:cxnSp>
        <p:sp>
          <p:nvSpPr>
            <p:cNvPr id="419" name="Google Shape;419;p29"/>
            <p:cNvSpPr txBox="1"/>
            <p:nvPr/>
          </p:nvSpPr>
          <p:spPr>
            <a:xfrm>
              <a:off x="7543800" y="895350"/>
              <a:ext cx="1066800" cy="62324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Control signals</a:t>
              </a:r>
              <a:endParaRPr/>
            </a:p>
          </p:txBody>
        </p:sp>
        <p:sp>
          <p:nvSpPr>
            <p:cNvPr id="420" name="Google Shape;420;p29"/>
            <p:cNvSpPr txBox="1"/>
            <p:nvPr/>
          </p:nvSpPr>
          <p:spPr>
            <a:xfrm>
              <a:off x="1600200" y="2614196"/>
              <a:ext cx="6858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MUX</a:t>
              </a:r>
              <a:endParaRPr/>
            </a:p>
          </p:txBody>
        </p:sp>
        <p:sp>
          <p:nvSpPr>
            <p:cNvPr id="421" name="Google Shape;421;p29"/>
            <p:cNvSpPr txBox="1"/>
            <p:nvPr/>
          </p:nvSpPr>
          <p:spPr>
            <a:xfrm>
              <a:off x="5715000" y="2952750"/>
              <a:ext cx="381000" cy="455221"/>
            </a:xfrm>
            <a:prstGeom prst="rect">
              <a:avLst/>
            </a:prstGeom>
            <a:noFill/>
            <a:ln>
              <a:noFill/>
            </a:ln>
          </p:spPr>
          <p:txBody>
            <a:bodyPr spcFirstLastPara="1" wrap="square" lIns="91425" tIns="45700" rIns="91425" bIns="45700" anchor="t" anchorCtr="0">
              <a:spAutoFit/>
            </a:bodyPr>
            <a:lstStyle/>
            <a:p>
              <a:pPr marL="0" marR="0" lvl="0" indent="0" algn="l" rtl="0">
                <a:lnSpc>
                  <a:spcPct val="30000"/>
                </a:lnSpc>
                <a:spcBef>
                  <a:spcPts val="0"/>
                </a:spcBef>
                <a:spcAft>
                  <a:spcPts val="0"/>
                </a:spcAft>
                <a:buNone/>
              </a:pPr>
              <a:r>
                <a:rPr lang="en-US" sz="3200" b="1">
                  <a:solidFill>
                    <a:schemeClr val="dk1"/>
                  </a:solidFill>
                  <a:latin typeface="Calibri"/>
                  <a:ea typeface="Calibri"/>
                  <a:cs typeface="Calibri"/>
                  <a:sym typeface="Calibri"/>
                </a:rPr>
                <a:t>.</a:t>
              </a:r>
              <a:endParaRPr/>
            </a:p>
            <a:p>
              <a:pPr marL="0" marR="0" lvl="0" indent="0" algn="l" rtl="0">
                <a:lnSpc>
                  <a:spcPct val="30000"/>
                </a:lnSpc>
                <a:spcBef>
                  <a:spcPts val="0"/>
                </a:spcBef>
                <a:spcAft>
                  <a:spcPts val="0"/>
                </a:spcAft>
                <a:buNone/>
              </a:pPr>
              <a:r>
                <a:rPr lang="en-US" sz="3200" b="1">
                  <a:solidFill>
                    <a:schemeClr val="dk1"/>
                  </a:solidFill>
                  <a:latin typeface="Calibri"/>
                  <a:ea typeface="Calibri"/>
                  <a:cs typeface="Calibri"/>
                  <a:sym typeface="Calibri"/>
                </a:rPr>
                <a:t>.</a:t>
              </a:r>
              <a:endParaRPr/>
            </a:p>
            <a:p>
              <a:pPr marL="0" marR="0" lvl="0" indent="0" algn="l" rtl="0">
                <a:lnSpc>
                  <a:spcPct val="30000"/>
                </a:lnSpc>
                <a:spcBef>
                  <a:spcPts val="0"/>
                </a:spcBef>
                <a:spcAft>
                  <a:spcPts val="0"/>
                </a:spcAft>
                <a:buNone/>
              </a:pPr>
              <a:r>
                <a:rPr lang="en-US" sz="3200" b="1">
                  <a:solidFill>
                    <a:schemeClr val="dk1"/>
                  </a:solidFill>
                  <a:latin typeface="Calibri"/>
                  <a:ea typeface="Calibri"/>
                  <a:cs typeface="Calibri"/>
                  <a:sym typeface="Calibri"/>
                </a:rPr>
                <a:t>.</a:t>
              </a:r>
              <a:endParaRPr/>
            </a:p>
          </p:txBody>
        </p:sp>
        <p:sp>
          <p:nvSpPr>
            <p:cNvPr id="422" name="Google Shape;422;p29"/>
            <p:cNvSpPr txBox="1"/>
            <p:nvPr/>
          </p:nvSpPr>
          <p:spPr>
            <a:xfrm>
              <a:off x="7239000" y="1047750"/>
              <a:ext cx="381000" cy="455221"/>
            </a:xfrm>
            <a:prstGeom prst="rect">
              <a:avLst/>
            </a:prstGeom>
            <a:noFill/>
            <a:ln>
              <a:noFill/>
            </a:ln>
          </p:spPr>
          <p:txBody>
            <a:bodyPr spcFirstLastPara="1" wrap="square" lIns="91425" tIns="45700" rIns="91425" bIns="45700" anchor="t" anchorCtr="0">
              <a:spAutoFit/>
            </a:bodyPr>
            <a:lstStyle/>
            <a:p>
              <a:pPr marL="0" marR="0" lvl="0" indent="0" algn="l" rtl="0">
                <a:lnSpc>
                  <a:spcPct val="30000"/>
                </a:lnSpc>
                <a:spcBef>
                  <a:spcPts val="0"/>
                </a:spcBef>
                <a:spcAft>
                  <a:spcPts val="0"/>
                </a:spcAft>
                <a:buNone/>
              </a:pPr>
              <a:r>
                <a:rPr lang="en-US" sz="3200" b="1">
                  <a:solidFill>
                    <a:schemeClr val="dk1"/>
                  </a:solidFill>
                  <a:latin typeface="Calibri"/>
                  <a:ea typeface="Calibri"/>
                  <a:cs typeface="Calibri"/>
                  <a:sym typeface="Calibri"/>
                </a:rPr>
                <a:t>.</a:t>
              </a:r>
              <a:endParaRPr/>
            </a:p>
            <a:p>
              <a:pPr marL="0" marR="0" lvl="0" indent="0" algn="l" rtl="0">
                <a:lnSpc>
                  <a:spcPct val="30000"/>
                </a:lnSpc>
                <a:spcBef>
                  <a:spcPts val="0"/>
                </a:spcBef>
                <a:spcAft>
                  <a:spcPts val="0"/>
                </a:spcAft>
                <a:buNone/>
              </a:pPr>
              <a:r>
                <a:rPr lang="en-US" sz="3200" b="1">
                  <a:solidFill>
                    <a:schemeClr val="dk1"/>
                  </a:solidFill>
                  <a:latin typeface="Calibri"/>
                  <a:ea typeface="Calibri"/>
                  <a:cs typeface="Calibri"/>
                  <a:sym typeface="Calibri"/>
                </a:rPr>
                <a:t>.</a:t>
              </a:r>
              <a:endParaRPr/>
            </a:p>
            <a:p>
              <a:pPr marL="0" marR="0" lvl="0" indent="0" algn="l" rtl="0">
                <a:lnSpc>
                  <a:spcPct val="30000"/>
                </a:lnSpc>
                <a:spcBef>
                  <a:spcPts val="0"/>
                </a:spcBef>
                <a:spcAft>
                  <a:spcPts val="0"/>
                </a:spcAft>
                <a:buNone/>
              </a:pPr>
              <a:r>
                <a:rPr lang="en-US" sz="3200" b="1">
                  <a:solidFill>
                    <a:schemeClr val="dk1"/>
                  </a:solidFill>
                  <a:latin typeface="Calibri"/>
                  <a:ea typeface="Calibri"/>
                  <a:cs typeface="Calibri"/>
                  <a:sym typeface="Calibri"/>
                </a:rPr>
                <a:t>.</a:t>
              </a:r>
              <a:endParaRPr/>
            </a:p>
          </p:txBody>
        </p:sp>
      </p:grpSp>
      <p:cxnSp>
        <p:nvCxnSpPr>
          <p:cNvPr id="423" name="Google Shape;423;p29"/>
          <p:cNvCxnSpPr/>
          <p:nvPr/>
        </p:nvCxnSpPr>
        <p:spPr>
          <a:xfrm flipH="1">
            <a:off x="3860800" y="4648200"/>
            <a:ext cx="609600" cy="4800"/>
          </a:xfrm>
          <a:prstGeom prst="straightConnector1">
            <a:avLst/>
          </a:prstGeom>
          <a:noFill/>
          <a:ln w="12700" cap="flat" cmpd="sng">
            <a:solidFill>
              <a:srgbClr val="0C0C0C"/>
            </a:solidFill>
            <a:prstDash val="solid"/>
            <a:miter lim="8000"/>
            <a:headEnd type="none" w="sm" len="sm"/>
            <a:tailEnd type="stealth" w="med" len="med"/>
          </a:ln>
        </p:spPr>
      </p:cxnSp>
      <p:sp>
        <p:nvSpPr>
          <p:cNvPr id="424" name="Google Shape;424;p29"/>
          <p:cNvSpPr txBox="1"/>
          <p:nvPr/>
        </p:nvSpPr>
        <p:spPr>
          <a:xfrm>
            <a:off x="4165600" y="4603195"/>
            <a:ext cx="1524000" cy="4205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Carry-in</a:t>
            </a:r>
            <a:endParaRPr/>
          </a:p>
        </p:txBody>
      </p:sp>
      <p:sp>
        <p:nvSpPr>
          <p:cNvPr id="425" name="Google Shape;425;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Multi-Bus Architectures</a:t>
            </a:r>
            <a:endParaRPr/>
          </a:p>
        </p:txBody>
      </p:sp>
      <p:sp>
        <p:nvSpPr>
          <p:cNvPr id="431" name="Google Shape;431;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Modern processors have multiple buses that connect the registers and other functional units.</a:t>
            </a:r>
            <a:endParaRPr/>
          </a:p>
          <a:p>
            <a:pPr marL="685800" lvl="1" indent="-228600" algn="l" rtl="0">
              <a:lnSpc>
                <a:spcPct val="110000"/>
              </a:lnSpc>
              <a:spcBef>
                <a:spcPts val="600"/>
              </a:spcBef>
              <a:spcAft>
                <a:spcPts val="0"/>
              </a:spcAft>
              <a:buClr>
                <a:schemeClr val="dk1"/>
              </a:buClr>
              <a:buSzPts val="2400"/>
              <a:buChar char="•"/>
            </a:pPr>
            <a:r>
              <a:rPr lang="en-US"/>
              <a:t>Allows multiple data transfer micro-operations to be executed in the same clock cycle.</a:t>
            </a:r>
            <a:endParaRPr/>
          </a:p>
          <a:p>
            <a:pPr marL="685800" lvl="1" indent="-228600" algn="l" rtl="0">
              <a:lnSpc>
                <a:spcPct val="110000"/>
              </a:lnSpc>
              <a:spcBef>
                <a:spcPts val="600"/>
              </a:spcBef>
              <a:spcAft>
                <a:spcPts val="0"/>
              </a:spcAft>
              <a:buClr>
                <a:schemeClr val="dk1"/>
              </a:buClr>
              <a:buSzPts val="2400"/>
              <a:buChar char="•"/>
            </a:pPr>
            <a:r>
              <a:rPr lang="en-US"/>
              <a:t>Results in overall faster instruction execution.</a:t>
            </a:r>
            <a:endParaRPr/>
          </a:p>
          <a:p>
            <a:pPr marL="228600" lvl="0" indent="-228600" algn="l" rtl="0">
              <a:lnSpc>
                <a:spcPct val="110000"/>
              </a:lnSpc>
              <a:spcBef>
                <a:spcPts val="600"/>
              </a:spcBef>
              <a:spcAft>
                <a:spcPts val="0"/>
              </a:spcAft>
              <a:buClr>
                <a:schemeClr val="dk1"/>
              </a:buClr>
              <a:buSzPts val="2800"/>
              <a:buChar char="•"/>
            </a:pPr>
            <a:r>
              <a:rPr lang="en-US"/>
              <a:t>Also advantageous to have multiple shorter buses rather than a single long bus.</a:t>
            </a:r>
            <a:endParaRPr/>
          </a:p>
          <a:p>
            <a:pPr marL="685800" lvl="1" indent="-228600" algn="l" rtl="0">
              <a:lnSpc>
                <a:spcPct val="110000"/>
              </a:lnSpc>
              <a:spcBef>
                <a:spcPts val="600"/>
              </a:spcBef>
              <a:spcAft>
                <a:spcPts val="0"/>
              </a:spcAft>
              <a:buClr>
                <a:schemeClr val="dk1"/>
              </a:buClr>
              <a:buSzPts val="2400"/>
              <a:buChar char="•"/>
            </a:pPr>
            <a:r>
              <a:rPr lang="en-US"/>
              <a:t>Smaller parasitic capacitance, and hence smaller delay.</a:t>
            </a:r>
            <a:endParaRPr/>
          </a:p>
        </p:txBody>
      </p:sp>
      <p:sp>
        <p:nvSpPr>
          <p:cNvPr id="432" name="Google Shape;432;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3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000"/>
              <a:buFont typeface="Calibri"/>
              <a:buNone/>
            </a:pPr>
            <a:r>
              <a:rPr lang="en-US"/>
              <a:t>Memory Addressing Concepts</a:t>
            </a:r>
            <a:endParaRPr/>
          </a:p>
        </p:txBody>
      </p:sp>
      <p:sp>
        <p:nvSpPr>
          <p:cNvPr id="438" name="Google Shape;438;p3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110000"/>
              </a:lnSpc>
              <a:spcBef>
                <a:spcPts val="0"/>
              </a:spcBef>
              <a:spcAft>
                <a:spcPts val="0"/>
              </a:spcAft>
              <a:buClr>
                <a:schemeClr val="dk1"/>
              </a:buClr>
              <a:buSzPts val="2400"/>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Overview of Memory Organization</a:t>
            </a:r>
            <a:endParaRPr/>
          </a:p>
        </p:txBody>
      </p:sp>
      <p:sp>
        <p:nvSpPr>
          <p:cNvPr id="444" name="Google Shape;444;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10000"/>
              </a:lnSpc>
              <a:spcBef>
                <a:spcPts val="0"/>
              </a:spcBef>
              <a:spcAft>
                <a:spcPts val="0"/>
              </a:spcAft>
              <a:buClr>
                <a:schemeClr val="dk1"/>
              </a:buClr>
              <a:buSzPct val="100000"/>
              <a:buChar char="•"/>
            </a:pPr>
            <a:r>
              <a:rPr lang="en-US"/>
              <a:t>Memory is one of the most important sub-systems of a computer that determines the overall performance.</a:t>
            </a:r>
            <a:endParaRPr/>
          </a:p>
          <a:p>
            <a:pPr marL="228600" lvl="0" indent="-228600" algn="l" rtl="0">
              <a:lnSpc>
                <a:spcPct val="110000"/>
              </a:lnSpc>
              <a:spcBef>
                <a:spcPts val="600"/>
              </a:spcBef>
              <a:spcAft>
                <a:spcPts val="0"/>
              </a:spcAft>
              <a:buClr>
                <a:schemeClr val="dk1"/>
              </a:buClr>
              <a:buSzPct val="100000"/>
              <a:buChar char="•"/>
            </a:pPr>
            <a:r>
              <a:rPr lang="en-US"/>
              <a:t>Conceptual view of memory:</a:t>
            </a:r>
            <a:endParaRPr/>
          </a:p>
          <a:p>
            <a:pPr marL="685800" lvl="1" indent="-228600" algn="l" rtl="0">
              <a:lnSpc>
                <a:spcPct val="110000"/>
              </a:lnSpc>
              <a:spcBef>
                <a:spcPts val="600"/>
              </a:spcBef>
              <a:spcAft>
                <a:spcPts val="0"/>
              </a:spcAft>
              <a:buClr>
                <a:schemeClr val="dk1"/>
              </a:buClr>
              <a:buSzPct val="100000"/>
              <a:buChar char="•"/>
            </a:pPr>
            <a:r>
              <a:rPr lang="en-US"/>
              <a:t>Array of storage locations, with each storage location having a unique address.</a:t>
            </a:r>
            <a:endParaRPr/>
          </a:p>
          <a:p>
            <a:pPr marL="685800" lvl="1" indent="-228600" algn="l" rtl="0">
              <a:lnSpc>
                <a:spcPct val="110000"/>
              </a:lnSpc>
              <a:spcBef>
                <a:spcPts val="600"/>
              </a:spcBef>
              <a:spcAft>
                <a:spcPts val="0"/>
              </a:spcAft>
              <a:buClr>
                <a:schemeClr val="dk1"/>
              </a:buClr>
              <a:buSzPct val="100000"/>
              <a:buChar char="•"/>
            </a:pPr>
            <a:r>
              <a:rPr lang="en-US"/>
              <a:t>Each storage location can hold a fixed amount of information (multiple of bits, which is the basic unit of data storage).</a:t>
            </a:r>
            <a:endParaRPr/>
          </a:p>
          <a:p>
            <a:pPr marL="228600" lvl="0" indent="-228600" algn="l" rtl="0">
              <a:lnSpc>
                <a:spcPct val="110000"/>
              </a:lnSpc>
              <a:spcBef>
                <a:spcPts val="600"/>
              </a:spcBef>
              <a:spcAft>
                <a:spcPts val="0"/>
              </a:spcAft>
              <a:buClr>
                <a:schemeClr val="dk1"/>
              </a:buClr>
              <a:buSzPct val="100000"/>
              <a:buChar char="•"/>
            </a:pPr>
            <a:r>
              <a:rPr lang="en-US"/>
              <a:t>A memory system with </a:t>
            </a:r>
            <a:r>
              <a:rPr lang="en-US" i="1">
                <a:solidFill>
                  <a:srgbClr val="800000"/>
                </a:solidFill>
              </a:rPr>
              <a:t>M</a:t>
            </a:r>
            <a:r>
              <a:rPr lang="en-US"/>
              <a:t> locations and </a:t>
            </a:r>
            <a:r>
              <a:rPr lang="en-US" i="1">
                <a:solidFill>
                  <a:srgbClr val="800000"/>
                </a:solidFill>
              </a:rPr>
              <a:t>N</a:t>
            </a:r>
            <a:r>
              <a:rPr lang="en-US"/>
              <a:t> bits per location, is referred to as an </a:t>
            </a:r>
            <a:r>
              <a:rPr lang="en-US" i="1">
                <a:solidFill>
                  <a:srgbClr val="800000"/>
                </a:solidFill>
              </a:rPr>
              <a:t>M x N </a:t>
            </a:r>
            <a:r>
              <a:rPr lang="en-US"/>
              <a:t>memory.</a:t>
            </a:r>
            <a:endParaRPr/>
          </a:p>
          <a:p>
            <a:pPr marL="685800" lvl="1" indent="-228600" algn="l" rtl="0">
              <a:lnSpc>
                <a:spcPct val="110000"/>
              </a:lnSpc>
              <a:spcBef>
                <a:spcPts val="600"/>
              </a:spcBef>
              <a:spcAft>
                <a:spcPts val="0"/>
              </a:spcAft>
              <a:buClr>
                <a:schemeClr val="dk1"/>
              </a:buClr>
              <a:buSzPct val="100000"/>
              <a:buChar char="•"/>
            </a:pPr>
            <a:r>
              <a:rPr lang="en-US"/>
              <a:t>Both </a:t>
            </a:r>
            <a:r>
              <a:rPr lang="en-US" i="1">
                <a:solidFill>
                  <a:srgbClr val="800000"/>
                </a:solidFill>
              </a:rPr>
              <a:t>M</a:t>
            </a:r>
            <a:r>
              <a:rPr lang="en-US"/>
              <a:t> and </a:t>
            </a:r>
            <a:r>
              <a:rPr lang="en-US" i="1">
                <a:solidFill>
                  <a:srgbClr val="800000"/>
                </a:solidFill>
              </a:rPr>
              <a:t>N</a:t>
            </a:r>
            <a:r>
              <a:rPr lang="en-US"/>
              <a:t> are typically some powers of 2.</a:t>
            </a:r>
            <a:endParaRPr/>
          </a:p>
          <a:p>
            <a:pPr marL="685800" lvl="1" indent="-228600" algn="l" rtl="0">
              <a:lnSpc>
                <a:spcPct val="110000"/>
              </a:lnSpc>
              <a:spcBef>
                <a:spcPts val="600"/>
              </a:spcBef>
              <a:spcAft>
                <a:spcPts val="0"/>
              </a:spcAft>
              <a:buClr>
                <a:schemeClr val="dk1"/>
              </a:buClr>
              <a:buSzPct val="100000"/>
              <a:buChar char="•"/>
            </a:pPr>
            <a:r>
              <a:rPr lang="en-US"/>
              <a:t>Example: 1024 x 8, 65536 x 32, etc.</a:t>
            </a:r>
            <a:endParaRPr/>
          </a:p>
        </p:txBody>
      </p:sp>
      <p:sp>
        <p:nvSpPr>
          <p:cNvPr id="445" name="Google Shape;445;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Some Terminologies</a:t>
            </a:r>
            <a:endParaRPr/>
          </a:p>
        </p:txBody>
      </p:sp>
      <p:sp>
        <p:nvSpPr>
          <p:cNvPr id="451" name="Google Shape;451;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Bit: 		A single binary digit (0 or 1).</a:t>
            </a:r>
            <a:endParaRPr/>
          </a:p>
          <a:p>
            <a:pPr marL="228600" lvl="0" indent="-228600" algn="l" rtl="0">
              <a:lnSpc>
                <a:spcPct val="110000"/>
              </a:lnSpc>
              <a:spcBef>
                <a:spcPts val="600"/>
              </a:spcBef>
              <a:spcAft>
                <a:spcPts val="0"/>
              </a:spcAft>
              <a:buClr>
                <a:schemeClr val="dk1"/>
              </a:buClr>
              <a:buSzPts val="2800"/>
              <a:buChar char="•"/>
            </a:pPr>
            <a:r>
              <a:rPr lang="en-US"/>
              <a:t>Nibble: 	Collection of 4 bits.</a:t>
            </a:r>
            <a:endParaRPr/>
          </a:p>
          <a:p>
            <a:pPr marL="228600" lvl="0" indent="-228600" algn="l" rtl="0">
              <a:lnSpc>
                <a:spcPct val="110000"/>
              </a:lnSpc>
              <a:spcBef>
                <a:spcPts val="600"/>
              </a:spcBef>
              <a:spcAft>
                <a:spcPts val="0"/>
              </a:spcAft>
              <a:buClr>
                <a:schemeClr val="dk1"/>
              </a:buClr>
              <a:buSzPts val="2800"/>
              <a:buChar char="•"/>
            </a:pPr>
            <a:r>
              <a:rPr lang="en-US"/>
              <a:t>Byte: 	Collection of 8 bits.</a:t>
            </a:r>
            <a:endParaRPr/>
          </a:p>
          <a:p>
            <a:pPr marL="228600" lvl="0" indent="-228600" algn="l" rtl="0">
              <a:lnSpc>
                <a:spcPct val="110000"/>
              </a:lnSpc>
              <a:spcBef>
                <a:spcPts val="600"/>
              </a:spcBef>
              <a:spcAft>
                <a:spcPts val="0"/>
              </a:spcAft>
              <a:buClr>
                <a:schemeClr val="dk1"/>
              </a:buClr>
              <a:buSzPts val="2800"/>
              <a:buChar char="•"/>
            </a:pPr>
            <a:r>
              <a:rPr lang="en-US"/>
              <a:t>Word: 	Does not have a unique definition.</a:t>
            </a:r>
            <a:endParaRPr/>
          </a:p>
          <a:p>
            <a:pPr marL="685800" lvl="1" indent="-228600" algn="l" rtl="0">
              <a:lnSpc>
                <a:spcPct val="110000"/>
              </a:lnSpc>
              <a:spcBef>
                <a:spcPts val="600"/>
              </a:spcBef>
              <a:spcAft>
                <a:spcPts val="0"/>
              </a:spcAft>
              <a:buClr>
                <a:schemeClr val="dk1"/>
              </a:buClr>
              <a:buSzPts val="2400"/>
              <a:buChar char="•"/>
            </a:pPr>
            <a:r>
              <a:rPr lang="en-US"/>
              <a:t>Varies from one computer to another; typically 32 or 64 bits.</a:t>
            </a:r>
            <a:endParaRPr/>
          </a:p>
        </p:txBody>
      </p:sp>
      <p:sp>
        <p:nvSpPr>
          <p:cNvPr id="452" name="Google Shape;45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How is Memory Organized?</a:t>
            </a:r>
            <a:endParaRPr/>
          </a:p>
        </p:txBody>
      </p:sp>
      <p:sp>
        <p:nvSpPr>
          <p:cNvPr id="458" name="Google Shape;458;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Memory is often </a:t>
            </a:r>
            <a:r>
              <a:rPr lang="en-US" i="1">
                <a:solidFill>
                  <a:srgbClr val="800000"/>
                </a:solidFill>
              </a:rPr>
              <a:t>byte organized</a:t>
            </a:r>
            <a:r>
              <a:rPr lang="en-US"/>
              <a:t>.</a:t>
            </a:r>
            <a:endParaRPr/>
          </a:p>
          <a:p>
            <a:pPr marL="685800" lvl="1" indent="-228600" algn="l" rtl="0">
              <a:lnSpc>
                <a:spcPct val="110000"/>
              </a:lnSpc>
              <a:spcBef>
                <a:spcPts val="600"/>
              </a:spcBef>
              <a:spcAft>
                <a:spcPts val="0"/>
              </a:spcAft>
              <a:buClr>
                <a:schemeClr val="dk1"/>
              </a:buClr>
              <a:buSzPts val="2400"/>
              <a:buChar char="•"/>
            </a:pPr>
            <a:r>
              <a:rPr lang="en-US"/>
              <a:t>Every byte of the memory has a unique address.</a:t>
            </a:r>
            <a:endParaRPr/>
          </a:p>
          <a:p>
            <a:pPr marL="228600" lvl="0" indent="-228600" algn="l" rtl="0">
              <a:lnSpc>
                <a:spcPct val="110000"/>
              </a:lnSpc>
              <a:spcBef>
                <a:spcPts val="1800"/>
              </a:spcBef>
              <a:spcAft>
                <a:spcPts val="0"/>
              </a:spcAft>
              <a:buClr>
                <a:schemeClr val="dk1"/>
              </a:buClr>
              <a:buSzPts val="2800"/>
              <a:buChar char="•"/>
            </a:pPr>
            <a:r>
              <a:rPr lang="en-US"/>
              <a:t>Multiple bytes of data can be accessed by an instruction.</a:t>
            </a:r>
            <a:endParaRPr/>
          </a:p>
          <a:p>
            <a:pPr marL="685800" lvl="1" indent="-228600" algn="l" rtl="0">
              <a:lnSpc>
                <a:spcPct val="110000"/>
              </a:lnSpc>
              <a:spcBef>
                <a:spcPts val="600"/>
              </a:spcBef>
              <a:spcAft>
                <a:spcPts val="0"/>
              </a:spcAft>
              <a:buClr>
                <a:schemeClr val="dk1"/>
              </a:buClr>
              <a:buSzPts val="2400"/>
              <a:buChar char="•"/>
            </a:pPr>
            <a:r>
              <a:rPr lang="en-US"/>
              <a:t>Example: </a:t>
            </a:r>
            <a:r>
              <a:rPr lang="en-US" i="1">
                <a:solidFill>
                  <a:srgbClr val="800000"/>
                </a:solidFill>
              </a:rPr>
              <a:t>Half-word </a:t>
            </a:r>
            <a:r>
              <a:rPr lang="en-US"/>
              <a:t>(2 bytes), </a:t>
            </a:r>
            <a:r>
              <a:rPr lang="en-US" i="1">
                <a:solidFill>
                  <a:srgbClr val="800000"/>
                </a:solidFill>
              </a:rPr>
              <a:t>Word</a:t>
            </a:r>
            <a:r>
              <a:rPr lang="en-US"/>
              <a:t> (4 bytes), </a:t>
            </a:r>
            <a:r>
              <a:rPr lang="en-US" i="1">
                <a:solidFill>
                  <a:srgbClr val="800000"/>
                </a:solidFill>
              </a:rPr>
              <a:t>Long Word </a:t>
            </a:r>
            <a:r>
              <a:rPr lang="en-US"/>
              <a:t>(8 bytes).</a:t>
            </a:r>
            <a:endParaRPr/>
          </a:p>
          <a:p>
            <a:pPr marL="228600" lvl="0" indent="-228600" algn="l" rtl="0">
              <a:lnSpc>
                <a:spcPct val="110000"/>
              </a:lnSpc>
              <a:spcBef>
                <a:spcPts val="1800"/>
              </a:spcBef>
              <a:spcAft>
                <a:spcPts val="0"/>
              </a:spcAft>
              <a:buClr>
                <a:schemeClr val="dk1"/>
              </a:buClr>
              <a:buSzPts val="2800"/>
              <a:buChar char="•"/>
            </a:pPr>
            <a:r>
              <a:rPr lang="en-US"/>
              <a:t>For higher data transfer rate, memory is often organized such that multiple bytes can be read or written simultaneously.</a:t>
            </a:r>
            <a:endParaRPr/>
          </a:p>
          <a:p>
            <a:pPr marL="685800" lvl="1" indent="-228600" algn="l" rtl="0">
              <a:lnSpc>
                <a:spcPct val="110000"/>
              </a:lnSpc>
              <a:spcBef>
                <a:spcPts val="600"/>
              </a:spcBef>
              <a:spcAft>
                <a:spcPts val="0"/>
              </a:spcAft>
              <a:buClr>
                <a:schemeClr val="dk1"/>
              </a:buClr>
              <a:buSzPts val="2400"/>
              <a:buChar char="•"/>
            </a:pPr>
            <a:r>
              <a:rPr lang="en-US"/>
              <a:t>Necessary to bridge the processor-memory speed gap.</a:t>
            </a:r>
            <a:endParaRPr/>
          </a:p>
          <a:p>
            <a:pPr marL="685800" lvl="1" indent="-228600" algn="l" rtl="0">
              <a:lnSpc>
                <a:spcPct val="110000"/>
              </a:lnSpc>
              <a:spcBef>
                <a:spcPts val="600"/>
              </a:spcBef>
              <a:spcAft>
                <a:spcPts val="0"/>
              </a:spcAft>
              <a:buClr>
                <a:schemeClr val="dk1"/>
              </a:buClr>
              <a:buSzPts val="2400"/>
              <a:buChar char="•"/>
            </a:pPr>
            <a:r>
              <a:rPr lang="en-US"/>
              <a:t>Shall be discussed later in detail.</a:t>
            </a:r>
            <a:endParaRPr/>
          </a:p>
        </p:txBody>
      </p:sp>
      <p:sp>
        <p:nvSpPr>
          <p:cNvPr id="459" name="Google Shape;45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6"/>
          <p:cNvSpPr txBox="1">
            <a:spLocks noGrp="1"/>
          </p:cNvSpPr>
          <p:nvPr>
            <p:ph type="title"/>
          </p:nvPr>
        </p:nvSpPr>
        <p:spPr>
          <a:xfrm>
            <a:off x="609600" y="279401"/>
            <a:ext cx="10972800" cy="812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How do we Specify Memory Sizes?</a:t>
            </a:r>
            <a:endParaRPr/>
          </a:p>
        </p:txBody>
      </p:sp>
      <p:graphicFrame>
        <p:nvGraphicFramePr>
          <p:cNvPr id="472" name="Google Shape;472;p36"/>
          <p:cNvGraphicFramePr/>
          <p:nvPr/>
        </p:nvGraphicFramePr>
        <p:xfrm>
          <a:off x="1828802" y="1193800"/>
          <a:ext cx="8636000" cy="7077990"/>
        </p:xfrm>
        <a:graphic>
          <a:graphicData uri="http://schemas.openxmlformats.org/drawingml/2006/table">
            <a:tbl>
              <a:tblPr firstRow="1" bandRow="1">
                <a:noFill/>
                <a:tableStyleId>{C27E9FFD-D140-43D9-9319-91134215A3CE}</a:tableStyleId>
              </a:tblPr>
              <a:tblGrid>
                <a:gridCol w="2321500">
                  <a:extLst>
                    <a:ext uri="{9D8B030D-6E8A-4147-A177-3AD203B41FA5}">
                      <a16:colId xmlns:a16="http://schemas.microsoft.com/office/drawing/2014/main" val="20000"/>
                    </a:ext>
                  </a:extLst>
                </a:gridCol>
                <a:gridCol w="3672900">
                  <a:extLst>
                    <a:ext uri="{9D8B030D-6E8A-4147-A177-3AD203B41FA5}">
                      <a16:colId xmlns:a16="http://schemas.microsoft.com/office/drawing/2014/main" val="20001"/>
                    </a:ext>
                  </a:extLst>
                </a:gridCol>
                <a:gridCol w="2641600">
                  <a:extLst>
                    <a:ext uri="{9D8B030D-6E8A-4147-A177-3AD203B41FA5}">
                      <a16:colId xmlns:a16="http://schemas.microsoft.com/office/drawing/2014/main" val="20002"/>
                    </a:ext>
                  </a:extLst>
                </a:gridCol>
              </a:tblGrid>
              <a:tr h="609600">
                <a:tc>
                  <a:txBody>
                    <a:bodyPr/>
                    <a:lstStyle/>
                    <a:p>
                      <a:pPr marL="0" marR="0" lvl="0" indent="0" algn="ctr" rtl="0">
                        <a:spcBef>
                          <a:spcPts val="0"/>
                        </a:spcBef>
                        <a:spcAft>
                          <a:spcPts val="0"/>
                        </a:spcAft>
                        <a:buNone/>
                      </a:pPr>
                      <a:r>
                        <a:rPr lang="en-US" sz="3200" b="1">
                          <a:solidFill>
                            <a:srgbClr val="800000"/>
                          </a:solidFill>
                        </a:rPr>
                        <a:t>Unit</a:t>
                      </a:r>
                      <a:endParaRPr/>
                    </a:p>
                  </a:txBody>
                  <a:tcPr marL="121925" marR="121925" marT="60950" marB="60950">
                    <a:solidFill>
                      <a:srgbClr val="E1EFD8"/>
                    </a:solidFill>
                  </a:tcPr>
                </a:tc>
                <a:tc>
                  <a:txBody>
                    <a:bodyPr/>
                    <a:lstStyle/>
                    <a:p>
                      <a:pPr marL="0" marR="0" lvl="0" indent="0" algn="ctr" rtl="0">
                        <a:spcBef>
                          <a:spcPts val="0"/>
                        </a:spcBef>
                        <a:spcAft>
                          <a:spcPts val="0"/>
                        </a:spcAft>
                        <a:buNone/>
                      </a:pPr>
                      <a:r>
                        <a:rPr lang="en-US" sz="3200" b="1">
                          <a:solidFill>
                            <a:srgbClr val="800000"/>
                          </a:solidFill>
                        </a:rPr>
                        <a:t>Bytes</a:t>
                      </a:r>
                      <a:endParaRPr/>
                    </a:p>
                  </a:txBody>
                  <a:tcPr marL="121925" marR="121925" marT="60950" marB="60950">
                    <a:solidFill>
                      <a:srgbClr val="E1EFD8"/>
                    </a:solidFill>
                  </a:tcPr>
                </a:tc>
                <a:tc>
                  <a:txBody>
                    <a:bodyPr/>
                    <a:lstStyle/>
                    <a:p>
                      <a:pPr marL="0" marR="0" lvl="0" indent="0" algn="ctr" rtl="0">
                        <a:spcBef>
                          <a:spcPts val="0"/>
                        </a:spcBef>
                        <a:spcAft>
                          <a:spcPts val="0"/>
                        </a:spcAft>
                        <a:buNone/>
                      </a:pPr>
                      <a:r>
                        <a:rPr lang="en-US" sz="3200" b="1">
                          <a:solidFill>
                            <a:srgbClr val="800000"/>
                          </a:solidFill>
                        </a:rPr>
                        <a:t>In Decimal</a:t>
                      </a:r>
                      <a:endParaRPr/>
                    </a:p>
                  </a:txBody>
                  <a:tcPr marL="121925" marR="121925" marT="60950" marB="60950">
                    <a:solidFill>
                      <a:srgbClr val="E1EFD8"/>
                    </a:solidFill>
                  </a:tcPr>
                </a:tc>
                <a:extLst>
                  <a:ext uri="{0D108BD9-81ED-4DB2-BD59-A6C34878D82A}">
                    <a16:rowId xmlns:a16="http://schemas.microsoft.com/office/drawing/2014/main" val="10000"/>
                  </a:ext>
                </a:extLst>
              </a:tr>
              <a:tr h="494450">
                <a:tc>
                  <a:txBody>
                    <a:bodyPr/>
                    <a:lstStyle/>
                    <a:p>
                      <a:pPr marL="0" marR="0" lvl="0" indent="0" algn="l" rtl="0">
                        <a:spcBef>
                          <a:spcPts val="0"/>
                        </a:spcBef>
                        <a:spcAft>
                          <a:spcPts val="0"/>
                        </a:spcAft>
                        <a:buNone/>
                      </a:pPr>
                      <a:r>
                        <a:rPr lang="en-US" sz="2400"/>
                        <a:t>8 bits          (B)</a:t>
                      </a:r>
                      <a:endParaRPr/>
                    </a:p>
                  </a:txBody>
                  <a:tcPr marL="121925" marR="121925" marT="60950" marB="60950">
                    <a:solidFill>
                      <a:srgbClr val="DDEAF6"/>
                    </a:solidFill>
                  </a:tcPr>
                </a:tc>
                <a:tc>
                  <a:txBody>
                    <a:bodyPr/>
                    <a:lstStyle/>
                    <a:p>
                      <a:pPr marL="0" marR="0" lvl="0" indent="0" algn="ctr" rtl="0">
                        <a:spcBef>
                          <a:spcPts val="0"/>
                        </a:spcBef>
                        <a:spcAft>
                          <a:spcPts val="0"/>
                        </a:spcAft>
                        <a:buNone/>
                      </a:pPr>
                      <a:r>
                        <a:rPr lang="en-US" sz="2400"/>
                        <a:t>1 or 2</a:t>
                      </a:r>
                      <a:r>
                        <a:rPr lang="en-US" sz="2400" baseline="30000"/>
                        <a:t>0</a:t>
                      </a:r>
                      <a:endParaRPr/>
                    </a:p>
                  </a:txBody>
                  <a:tcPr marL="121925" marR="121925" marT="60950" marB="60950">
                    <a:solidFill>
                      <a:srgbClr val="DDEAF6"/>
                    </a:solidFill>
                  </a:tcPr>
                </a:tc>
                <a:tc>
                  <a:txBody>
                    <a:bodyPr/>
                    <a:lstStyle/>
                    <a:p>
                      <a:pPr marL="0" marR="0" lvl="0" indent="0" algn="ctr" rtl="0">
                        <a:spcBef>
                          <a:spcPts val="0"/>
                        </a:spcBef>
                        <a:spcAft>
                          <a:spcPts val="0"/>
                        </a:spcAft>
                        <a:buNone/>
                      </a:pPr>
                      <a:r>
                        <a:rPr lang="en-US" sz="2400"/>
                        <a:t>10</a:t>
                      </a:r>
                      <a:r>
                        <a:rPr lang="en-US" sz="2400" baseline="30000"/>
                        <a:t>0</a:t>
                      </a:r>
                      <a:endParaRPr/>
                    </a:p>
                  </a:txBody>
                  <a:tcPr marL="121925" marR="121925" marT="60950" marB="60950">
                    <a:solidFill>
                      <a:srgbClr val="DDEAF6"/>
                    </a:solidFill>
                  </a:tcPr>
                </a:tc>
                <a:extLst>
                  <a:ext uri="{0D108BD9-81ED-4DB2-BD59-A6C34878D82A}">
                    <a16:rowId xmlns:a16="http://schemas.microsoft.com/office/drawing/2014/main" val="10001"/>
                  </a:ext>
                </a:extLst>
              </a:tr>
              <a:tr h="494450">
                <a:tc>
                  <a:txBody>
                    <a:bodyPr/>
                    <a:lstStyle/>
                    <a:p>
                      <a:pPr marL="0" marR="0" lvl="0" indent="0" algn="l" rtl="0">
                        <a:spcBef>
                          <a:spcPts val="0"/>
                        </a:spcBef>
                        <a:spcAft>
                          <a:spcPts val="0"/>
                        </a:spcAft>
                        <a:buNone/>
                      </a:pPr>
                      <a:r>
                        <a:rPr lang="en-US" sz="2400"/>
                        <a:t>Kilobyte     (KB)</a:t>
                      </a:r>
                      <a:endParaRPr/>
                    </a:p>
                  </a:txBody>
                  <a:tcPr marL="121925" marR="121925" marT="60950" marB="60950">
                    <a:solidFill>
                      <a:srgbClr val="DDEAF6"/>
                    </a:solidFill>
                  </a:tcPr>
                </a:tc>
                <a:tc>
                  <a:txBody>
                    <a:bodyPr/>
                    <a:lstStyle/>
                    <a:p>
                      <a:pPr marL="0" marR="0" lvl="0" indent="0" algn="ctr" rtl="0">
                        <a:spcBef>
                          <a:spcPts val="0"/>
                        </a:spcBef>
                        <a:spcAft>
                          <a:spcPts val="0"/>
                        </a:spcAft>
                        <a:buNone/>
                      </a:pPr>
                      <a:r>
                        <a:rPr lang="en-US" sz="2400"/>
                        <a:t>1024 or 2</a:t>
                      </a:r>
                      <a:r>
                        <a:rPr lang="en-US" sz="2400" baseline="30000"/>
                        <a:t>10</a:t>
                      </a:r>
                      <a:endParaRPr/>
                    </a:p>
                  </a:txBody>
                  <a:tcPr marL="121925" marR="121925" marT="60950" marB="60950">
                    <a:solidFill>
                      <a:srgbClr val="DDEAF6"/>
                    </a:solidFill>
                  </a:tcPr>
                </a:tc>
                <a:tc>
                  <a:txBody>
                    <a:bodyPr/>
                    <a:lstStyle/>
                    <a:p>
                      <a:pPr marL="0" marR="0" lvl="0" indent="0" algn="ctr" rtl="0">
                        <a:spcBef>
                          <a:spcPts val="0"/>
                        </a:spcBef>
                        <a:spcAft>
                          <a:spcPts val="0"/>
                        </a:spcAft>
                        <a:buNone/>
                      </a:pPr>
                      <a:r>
                        <a:rPr lang="en-US" sz="2400"/>
                        <a:t>10</a:t>
                      </a:r>
                      <a:r>
                        <a:rPr lang="en-US" sz="2400" baseline="30000"/>
                        <a:t>3</a:t>
                      </a:r>
                      <a:endParaRPr/>
                    </a:p>
                  </a:txBody>
                  <a:tcPr marL="121925" marR="121925" marT="60950" marB="60950">
                    <a:solidFill>
                      <a:srgbClr val="DDEAF6"/>
                    </a:solidFill>
                  </a:tcPr>
                </a:tc>
                <a:extLst>
                  <a:ext uri="{0D108BD9-81ED-4DB2-BD59-A6C34878D82A}">
                    <a16:rowId xmlns:a16="http://schemas.microsoft.com/office/drawing/2014/main" val="10002"/>
                  </a:ext>
                </a:extLst>
              </a:tr>
              <a:tr h="494450">
                <a:tc>
                  <a:txBody>
                    <a:bodyPr/>
                    <a:lstStyle/>
                    <a:p>
                      <a:pPr marL="0" marR="0" lvl="0" indent="0" algn="l" rtl="0">
                        <a:spcBef>
                          <a:spcPts val="0"/>
                        </a:spcBef>
                        <a:spcAft>
                          <a:spcPts val="0"/>
                        </a:spcAft>
                        <a:buNone/>
                      </a:pPr>
                      <a:r>
                        <a:rPr lang="en-US" sz="2400"/>
                        <a:t>Megabyte  (MB)</a:t>
                      </a:r>
                      <a:endParaRPr/>
                    </a:p>
                  </a:txBody>
                  <a:tcPr marL="121925" marR="121925" marT="60950" marB="60950">
                    <a:solidFill>
                      <a:srgbClr val="DDEAF6"/>
                    </a:solidFill>
                  </a:tcPr>
                </a:tc>
                <a:tc>
                  <a:txBody>
                    <a:bodyPr/>
                    <a:lstStyle/>
                    <a:p>
                      <a:pPr marL="0" marR="0" lvl="0" indent="0" algn="ctr" rtl="0">
                        <a:spcBef>
                          <a:spcPts val="0"/>
                        </a:spcBef>
                        <a:spcAft>
                          <a:spcPts val="0"/>
                        </a:spcAft>
                        <a:buNone/>
                      </a:pPr>
                      <a:r>
                        <a:rPr lang="en-US" sz="2400"/>
                        <a:t>1,048,576 or 2</a:t>
                      </a:r>
                      <a:r>
                        <a:rPr lang="en-US" sz="2400" baseline="30000"/>
                        <a:t>20</a:t>
                      </a:r>
                      <a:endParaRPr/>
                    </a:p>
                  </a:txBody>
                  <a:tcPr marL="121925" marR="121925" marT="60950" marB="60950">
                    <a:solidFill>
                      <a:srgbClr val="DDEAF6"/>
                    </a:solidFill>
                  </a:tcPr>
                </a:tc>
                <a:tc>
                  <a:txBody>
                    <a:bodyPr/>
                    <a:lstStyle/>
                    <a:p>
                      <a:pPr marL="0" marR="0" lvl="0" indent="0" algn="ctr" rtl="0">
                        <a:spcBef>
                          <a:spcPts val="0"/>
                        </a:spcBef>
                        <a:spcAft>
                          <a:spcPts val="0"/>
                        </a:spcAft>
                        <a:buNone/>
                      </a:pPr>
                      <a:r>
                        <a:rPr lang="en-US" sz="2400"/>
                        <a:t>10</a:t>
                      </a:r>
                      <a:r>
                        <a:rPr lang="en-US" sz="2400" baseline="30000"/>
                        <a:t>6</a:t>
                      </a:r>
                      <a:endParaRPr/>
                    </a:p>
                  </a:txBody>
                  <a:tcPr marL="121925" marR="121925" marT="60950" marB="60950">
                    <a:solidFill>
                      <a:srgbClr val="DDEAF6"/>
                    </a:solidFill>
                  </a:tcPr>
                </a:tc>
                <a:extLst>
                  <a:ext uri="{0D108BD9-81ED-4DB2-BD59-A6C34878D82A}">
                    <a16:rowId xmlns:a16="http://schemas.microsoft.com/office/drawing/2014/main" val="10003"/>
                  </a:ext>
                </a:extLst>
              </a:tr>
              <a:tr h="494450">
                <a:tc>
                  <a:txBody>
                    <a:bodyPr/>
                    <a:lstStyle/>
                    <a:p>
                      <a:pPr marL="0" marR="0" lvl="0" indent="0" algn="l" rtl="0">
                        <a:spcBef>
                          <a:spcPts val="0"/>
                        </a:spcBef>
                        <a:spcAft>
                          <a:spcPts val="0"/>
                        </a:spcAft>
                        <a:buNone/>
                      </a:pPr>
                      <a:r>
                        <a:rPr lang="en-US" sz="2400"/>
                        <a:t>Gigabyte    (GB)</a:t>
                      </a:r>
                      <a:endParaRPr/>
                    </a:p>
                  </a:txBody>
                  <a:tcPr marL="121925" marR="121925" marT="60950" marB="60950">
                    <a:solidFill>
                      <a:srgbClr val="DDEAF6"/>
                    </a:solidFill>
                  </a:tcPr>
                </a:tc>
                <a:tc>
                  <a:txBody>
                    <a:bodyPr/>
                    <a:lstStyle/>
                    <a:p>
                      <a:pPr marL="0" marR="0" lvl="0" indent="0" algn="ctr" rtl="0">
                        <a:spcBef>
                          <a:spcPts val="0"/>
                        </a:spcBef>
                        <a:spcAft>
                          <a:spcPts val="0"/>
                        </a:spcAft>
                        <a:buNone/>
                      </a:pPr>
                      <a:r>
                        <a:rPr lang="en-US" sz="2400"/>
                        <a:t>1,073,741,824 or 2</a:t>
                      </a:r>
                      <a:r>
                        <a:rPr lang="en-US" sz="2400" baseline="30000"/>
                        <a:t>30</a:t>
                      </a:r>
                      <a:endParaRPr/>
                    </a:p>
                  </a:txBody>
                  <a:tcPr marL="121925" marR="121925" marT="60950" marB="60950">
                    <a:solidFill>
                      <a:srgbClr val="DDEAF6"/>
                    </a:solidFill>
                  </a:tcPr>
                </a:tc>
                <a:tc>
                  <a:txBody>
                    <a:bodyPr/>
                    <a:lstStyle/>
                    <a:p>
                      <a:pPr marL="0" marR="0" lvl="0" indent="0" algn="ctr" rtl="0">
                        <a:spcBef>
                          <a:spcPts val="0"/>
                        </a:spcBef>
                        <a:spcAft>
                          <a:spcPts val="0"/>
                        </a:spcAft>
                        <a:buNone/>
                      </a:pPr>
                      <a:r>
                        <a:rPr lang="en-US" sz="2400"/>
                        <a:t>10</a:t>
                      </a:r>
                      <a:r>
                        <a:rPr lang="en-US" sz="2400" baseline="30000"/>
                        <a:t>9</a:t>
                      </a:r>
                      <a:endParaRPr/>
                    </a:p>
                  </a:txBody>
                  <a:tcPr marL="121925" marR="121925" marT="60950" marB="60950">
                    <a:solidFill>
                      <a:srgbClr val="DDEAF6"/>
                    </a:solidFill>
                  </a:tcPr>
                </a:tc>
                <a:extLst>
                  <a:ext uri="{0D108BD9-81ED-4DB2-BD59-A6C34878D82A}">
                    <a16:rowId xmlns:a16="http://schemas.microsoft.com/office/drawing/2014/main" val="10004"/>
                  </a:ext>
                </a:extLst>
              </a:tr>
              <a:tr h="494450">
                <a:tc>
                  <a:txBody>
                    <a:bodyPr/>
                    <a:lstStyle/>
                    <a:p>
                      <a:pPr marL="0" marR="0" lvl="0" indent="0" algn="l" rtl="0">
                        <a:spcBef>
                          <a:spcPts val="0"/>
                        </a:spcBef>
                        <a:spcAft>
                          <a:spcPts val="0"/>
                        </a:spcAft>
                        <a:buNone/>
                      </a:pPr>
                      <a:r>
                        <a:rPr lang="en-US" sz="2400"/>
                        <a:t>Terabyte     (TB)</a:t>
                      </a:r>
                      <a:endParaRPr/>
                    </a:p>
                  </a:txBody>
                  <a:tcPr marL="121925" marR="121925" marT="60950" marB="60950">
                    <a:solidFill>
                      <a:srgbClr val="DDEAF6"/>
                    </a:solidFill>
                  </a:tcPr>
                </a:tc>
                <a:tc>
                  <a:txBody>
                    <a:bodyPr/>
                    <a:lstStyle/>
                    <a:p>
                      <a:pPr marL="0" marR="0" lvl="0" indent="0" algn="ctr" rtl="0">
                        <a:spcBef>
                          <a:spcPts val="0"/>
                        </a:spcBef>
                        <a:spcAft>
                          <a:spcPts val="0"/>
                        </a:spcAft>
                        <a:buNone/>
                      </a:pPr>
                      <a:r>
                        <a:rPr lang="en-US" sz="2400"/>
                        <a:t>1,099,511,627,776 or 2</a:t>
                      </a:r>
                      <a:r>
                        <a:rPr lang="en-US" sz="2400" baseline="30000"/>
                        <a:t>40</a:t>
                      </a:r>
                      <a:endParaRPr/>
                    </a:p>
                  </a:txBody>
                  <a:tcPr marL="121925" marR="121925" marT="60950" marB="60950">
                    <a:solidFill>
                      <a:srgbClr val="DDEAF6"/>
                    </a:solidFill>
                  </a:tcPr>
                </a:tc>
                <a:tc>
                  <a:txBody>
                    <a:bodyPr/>
                    <a:lstStyle/>
                    <a:p>
                      <a:pPr marL="0" marR="0" lvl="0" indent="0" algn="ctr" rtl="0">
                        <a:spcBef>
                          <a:spcPts val="0"/>
                        </a:spcBef>
                        <a:spcAft>
                          <a:spcPts val="0"/>
                        </a:spcAft>
                        <a:buNone/>
                      </a:pPr>
                      <a:r>
                        <a:rPr lang="en-US" sz="2400"/>
                        <a:t>10</a:t>
                      </a:r>
                      <a:r>
                        <a:rPr lang="en-US" sz="2400" baseline="30000"/>
                        <a:t>12</a:t>
                      </a:r>
                      <a:endParaRPr/>
                    </a:p>
                  </a:txBody>
                  <a:tcPr marL="121925" marR="121925" marT="60950" marB="60950">
                    <a:solidFill>
                      <a:srgbClr val="DDEAF6"/>
                    </a:solidFill>
                  </a:tcPr>
                </a:tc>
                <a:extLst>
                  <a:ext uri="{0D108BD9-81ED-4DB2-BD59-A6C34878D82A}">
                    <a16:rowId xmlns:a16="http://schemas.microsoft.com/office/drawing/2014/main" val="10005"/>
                  </a:ext>
                </a:extLst>
              </a:tr>
              <a:tr h="494450">
                <a:tc>
                  <a:txBody>
                    <a:bodyPr/>
                    <a:lstStyle/>
                    <a:p>
                      <a:pPr marL="0" marR="0" lvl="0" indent="0" algn="l" rtl="0">
                        <a:spcBef>
                          <a:spcPts val="0"/>
                        </a:spcBef>
                        <a:spcAft>
                          <a:spcPts val="0"/>
                        </a:spcAft>
                        <a:buNone/>
                      </a:pPr>
                      <a:r>
                        <a:rPr lang="en-US" sz="2400"/>
                        <a:t>Petabyte     (PB)</a:t>
                      </a:r>
                      <a:endParaRPr/>
                    </a:p>
                  </a:txBody>
                  <a:tcPr marL="121925" marR="121925" marT="60950" marB="60950">
                    <a:solidFill>
                      <a:srgbClr val="DDEAF6"/>
                    </a:solidFill>
                  </a:tcPr>
                </a:tc>
                <a:tc>
                  <a:txBody>
                    <a:bodyPr/>
                    <a:lstStyle/>
                    <a:p>
                      <a:pPr marL="0" marR="0" lvl="0" indent="0" algn="ctr" rtl="0">
                        <a:lnSpc>
                          <a:spcPct val="100000"/>
                        </a:lnSpc>
                        <a:spcBef>
                          <a:spcPts val="0"/>
                        </a:spcBef>
                        <a:spcAft>
                          <a:spcPts val="0"/>
                        </a:spcAft>
                        <a:buClr>
                          <a:schemeClr val="dk1"/>
                        </a:buClr>
                        <a:buSzPts val="2400"/>
                        <a:buFont typeface="Calibri"/>
                        <a:buNone/>
                      </a:pPr>
                      <a:r>
                        <a:rPr lang="en-US" sz="2400"/>
                        <a:t>2</a:t>
                      </a:r>
                      <a:r>
                        <a:rPr lang="en-US" sz="2400" baseline="30000"/>
                        <a:t>50</a:t>
                      </a:r>
                      <a:endParaRPr/>
                    </a:p>
                  </a:txBody>
                  <a:tcPr marL="121925" marR="121925" marT="60950" marB="60950">
                    <a:solidFill>
                      <a:srgbClr val="DDEAF6"/>
                    </a:solidFill>
                  </a:tcPr>
                </a:tc>
                <a:tc>
                  <a:txBody>
                    <a:bodyPr/>
                    <a:lstStyle/>
                    <a:p>
                      <a:pPr marL="0" marR="0" lvl="0" indent="0" algn="ctr" rtl="0">
                        <a:lnSpc>
                          <a:spcPct val="100000"/>
                        </a:lnSpc>
                        <a:spcBef>
                          <a:spcPts val="0"/>
                        </a:spcBef>
                        <a:spcAft>
                          <a:spcPts val="0"/>
                        </a:spcAft>
                        <a:buClr>
                          <a:schemeClr val="dk1"/>
                        </a:buClr>
                        <a:buSzPts val="2400"/>
                        <a:buFont typeface="Calibri"/>
                        <a:buNone/>
                      </a:pPr>
                      <a:r>
                        <a:rPr lang="en-US" sz="2400"/>
                        <a:t>10</a:t>
                      </a:r>
                      <a:r>
                        <a:rPr lang="en-US" sz="2400" baseline="30000"/>
                        <a:t>15</a:t>
                      </a:r>
                      <a:endParaRPr/>
                    </a:p>
                  </a:txBody>
                  <a:tcPr marL="121925" marR="121925" marT="60950" marB="60950">
                    <a:solidFill>
                      <a:srgbClr val="DDEAF6"/>
                    </a:solidFill>
                  </a:tcPr>
                </a:tc>
                <a:extLst>
                  <a:ext uri="{0D108BD9-81ED-4DB2-BD59-A6C34878D82A}">
                    <a16:rowId xmlns:a16="http://schemas.microsoft.com/office/drawing/2014/main" val="10006"/>
                  </a:ext>
                </a:extLst>
              </a:tr>
              <a:tr h="494450">
                <a:tc>
                  <a:txBody>
                    <a:bodyPr/>
                    <a:lstStyle/>
                    <a:p>
                      <a:pPr marL="0" marR="0" lvl="0" indent="0" algn="l" rtl="0">
                        <a:spcBef>
                          <a:spcPts val="0"/>
                        </a:spcBef>
                        <a:spcAft>
                          <a:spcPts val="0"/>
                        </a:spcAft>
                        <a:buNone/>
                      </a:pPr>
                      <a:r>
                        <a:rPr lang="en-US" sz="2400"/>
                        <a:t>Exabyte       (EB)</a:t>
                      </a:r>
                      <a:endParaRPr/>
                    </a:p>
                  </a:txBody>
                  <a:tcPr marL="121925" marR="121925" marT="60950" marB="60950">
                    <a:solidFill>
                      <a:srgbClr val="DDEAF6"/>
                    </a:solidFill>
                  </a:tcPr>
                </a:tc>
                <a:tc>
                  <a:txBody>
                    <a:bodyPr/>
                    <a:lstStyle/>
                    <a:p>
                      <a:pPr marL="0" marR="0" lvl="0" indent="0" algn="ctr" rtl="0">
                        <a:lnSpc>
                          <a:spcPct val="100000"/>
                        </a:lnSpc>
                        <a:spcBef>
                          <a:spcPts val="0"/>
                        </a:spcBef>
                        <a:spcAft>
                          <a:spcPts val="0"/>
                        </a:spcAft>
                        <a:buClr>
                          <a:schemeClr val="dk1"/>
                        </a:buClr>
                        <a:buSzPts val="2400"/>
                        <a:buFont typeface="Calibri"/>
                        <a:buNone/>
                      </a:pPr>
                      <a:r>
                        <a:rPr lang="en-US" sz="2400"/>
                        <a:t>2</a:t>
                      </a:r>
                      <a:r>
                        <a:rPr lang="en-US" sz="2400" baseline="30000"/>
                        <a:t>60</a:t>
                      </a:r>
                      <a:endParaRPr/>
                    </a:p>
                  </a:txBody>
                  <a:tcPr marL="121925" marR="121925" marT="60950" marB="60950">
                    <a:solidFill>
                      <a:srgbClr val="DDEAF6"/>
                    </a:solidFill>
                  </a:tcPr>
                </a:tc>
                <a:tc>
                  <a:txBody>
                    <a:bodyPr/>
                    <a:lstStyle/>
                    <a:p>
                      <a:pPr marL="0" marR="0" lvl="0" indent="0" algn="ctr" rtl="0">
                        <a:lnSpc>
                          <a:spcPct val="100000"/>
                        </a:lnSpc>
                        <a:spcBef>
                          <a:spcPts val="0"/>
                        </a:spcBef>
                        <a:spcAft>
                          <a:spcPts val="0"/>
                        </a:spcAft>
                        <a:buClr>
                          <a:schemeClr val="dk1"/>
                        </a:buClr>
                        <a:buSzPts val="2400"/>
                        <a:buFont typeface="Calibri"/>
                        <a:buNone/>
                      </a:pPr>
                      <a:r>
                        <a:rPr lang="en-US" sz="2400"/>
                        <a:t>10</a:t>
                      </a:r>
                      <a:r>
                        <a:rPr lang="en-US" sz="2400" baseline="30000"/>
                        <a:t>18</a:t>
                      </a:r>
                      <a:endParaRPr/>
                    </a:p>
                  </a:txBody>
                  <a:tcPr marL="121925" marR="121925" marT="60950" marB="60950">
                    <a:solidFill>
                      <a:srgbClr val="DDEAF6"/>
                    </a:solidFill>
                  </a:tcPr>
                </a:tc>
                <a:extLst>
                  <a:ext uri="{0D108BD9-81ED-4DB2-BD59-A6C34878D82A}">
                    <a16:rowId xmlns:a16="http://schemas.microsoft.com/office/drawing/2014/main" val="10007"/>
                  </a:ext>
                </a:extLst>
              </a:tr>
              <a:tr h="494450">
                <a:tc>
                  <a:txBody>
                    <a:bodyPr/>
                    <a:lstStyle/>
                    <a:p>
                      <a:pPr marL="0" marR="0" lvl="0" indent="0" algn="l" rtl="0">
                        <a:spcBef>
                          <a:spcPts val="0"/>
                        </a:spcBef>
                        <a:spcAft>
                          <a:spcPts val="0"/>
                        </a:spcAft>
                        <a:buNone/>
                      </a:pPr>
                      <a:r>
                        <a:rPr lang="en-US" sz="2400"/>
                        <a:t>Zettabyte    (ZB)</a:t>
                      </a:r>
                      <a:endParaRPr/>
                    </a:p>
                  </a:txBody>
                  <a:tcPr marL="121925" marR="121925" marT="60950" marB="60950">
                    <a:solidFill>
                      <a:srgbClr val="DDEAF6"/>
                    </a:solidFill>
                  </a:tcPr>
                </a:tc>
                <a:tc>
                  <a:txBody>
                    <a:bodyPr/>
                    <a:lstStyle/>
                    <a:p>
                      <a:pPr marL="0" marR="0" lvl="0" indent="0" algn="ctr" rtl="0">
                        <a:lnSpc>
                          <a:spcPct val="100000"/>
                        </a:lnSpc>
                        <a:spcBef>
                          <a:spcPts val="0"/>
                        </a:spcBef>
                        <a:spcAft>
                          <a:spcPts val="0"/>
                        </a:spcAft>
                        <a:buClr>
                          <a:schemeClr val="dk1"/>
                        </a:buClr>
                        <a:buSzPts val="2400"/>
                        <a:buFont typeface="Calibri"/>
                        <a:buNone/>
                      </a:pPr>
                      <a:r>
                        <a:rPr lang="en-US" sz="2400"/>
                        <a:t>2</a:t>
                      </a:r>
                      <a:r>
                        <a:rPr lang="en-US" sz="2400" baseline="30000"/>
                        <a:t>70</a:t>
                      </a:r>
                      <a:endParaRPr/>
                    </a:p>
                  </a:txBody>
                  <a:tcPr marL="121925" marR="121925" marT="60950" marB="60950">
                    <a:solidFill>
                      <a:srgbClr val="DDEAF6"/>
                    </a:solidFill>
                  </a:tcPr>
                </a:tc>
                <a:tc>
                  <a:txBody>
                    <a:bodyPr/>
                    <a:lstStyle/>
                    <a:p>
                      <a:pPr marL="0" marR="0" lvl="0" indent="0" algn="ctr" rtl="0">
                        <a:lnSpc>
                          <a:spcPct val="100000"/>
                        </a:lnSpc>
                        <a:spcBef>
                          <a:spcPts val="0"/>
                        </a:spcBef>
                        <a:spcAft>
                          <a:spcPts val="0"/>
                        </a:spcAft>
                        <a:buClr>
                          <a:schemeClr val="dk1"/>
                        </a:buClr>
                        <a:buSzPts val="2400"/>
                        <a:buFont typeface="Calibri"/>
                        <a:buNone/>
                      </a:pPr>
                      <a:r>
                        <a:rPr lang="en-US" sz="2400"/>
                        <a:t>10</a:t>
                      </a:r>
                      <a:r>
                        <a:rPr lang="en-US" sz="2400" baseline="30000"/>
                        <a:t>21</a:t>
                      </a:r>
                      <a:endParaRPr/>
                    </a:p>
                  </a:txBody>
                  <a:tcPr marL="121925" marR="121925" marT="60950" marB="60950">
                    <a:solidFill>
                      <a:srgbClr val="DDEAF6"/>
                    </a:solidFill>
                  </a:tcPr>
                </a:tc>
                <a:extLst>
                  <a:ext uri="{0D108BD9-81ED-4DB2-BD59-A6C34878D82A}">
                    <a16:rowId xmlns:a16="http://schemas.microsoft.com/office/drawing/2014/main" val="10008"/>
                  </a:ext>
                </a:extLst>
              </a:tr>
            </a:tbl>
          </a:graphicData>
        </a:graphic>
      </p:graphicFrame>
      <p:sp>
        <p:nvSpPr>
          <p:cNvPr id="473" name="Google Shape;47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37"/>
          <p:cNvSpPr txBox="1">
            <a:spLocks noGrp="1"/>
          </p:cNvSpPr>
          <p:nvPr>
            <p:ph type="body" idx="1"/>
          </p:nvPr>
        </p:nvSpPr>
        <p:spPr>
          <a:xfrm>
            <a:off x="406400" y="787400"/>
            <a:ext cx="5181600" cy="477520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chemeClr val="dk1"/>
              </a:buClr>
              <a:buSzPts val="2667"/>
              <a:buChar char="•"/>
            </a:pPr>
            <a:r>
              <a:rPr lang="en-US" sz="2667"/>
              <a:t>If there are </a:t>
            </a:r>
            <a:r>
              <a:rPr lang="en-US" sz="2667" i="1">
                <a:solidFill>
                  <a:srgbClr val="800000"/>
                </a:solidFill>
              </a:rPr>
              <a:t>n</a:t>
            </a:r>
            <a:r>
              <a:rPr lang="en-US" sz="2667"/>
              <a:t> bits in the address, the maximum number of storage locations can be </a:t>
            </a:r>
            <a:r>
              <a:rPr lang="en-US" sz="2667" i="1">
                <a:solidFill>
                  <a:srgbClr val="800000"/>
                </a:solidFill>
              </a:rPr>
              <a:t>2</a:t>
            </a:r>
            <a:r>
              <a:rPr lang="en-US" sz="2667" i="1" baseline="30000">
                <a:solidFill>
                  <a:srgbClr val="800000"/>
                </a:solidFill>
              </a:rPr>
              <a:t>n</a:t>
            </a:r>
            <a:r>
              <a:rPr lang="en-US" sz="2667"/>
              <a:t>.</a:t>
            </a:r>
            <a:endParaRPr/>
          </a:p>
          <a:p>
            <a:pPr marL="685800" lvl="1" indent="-228600" algn="l" rtl="0">
              <a:lnSpc>
                <a:spcPct val="110000"/>
              </a:lnSpc>
              <a:spcBef>
                <a:spcPts val="600"/>
              </a:spcBef>
              <a:spcAft>
                <a:spcPts val="0"/>
              </a:spcAft>
              <a:buClr>
                <a:schemeClr val="dk1"/>
              </a:buClr>
              <a:buSzPts val="2400"/>
              <a:buChar char="•"/>
            </a:pPr>
            <a:r>
              <a:rPr lang="en-US"/>
              <a:t>For n=8, 256 locations.</a:t>
            </a:r>
            <a:endParaRPr/>
          </a:p>
          <a:p>
            <a:pPr marL="685800" lvl="1" indent="-228600" algn="l" rtl="0">
              <a:lnSpc>
                <a:spcPct val="110000"/>
              </a:lnSpc>
              <a:spcBef>
                <a:spcPts val="600"/>
              </a:spcBef>
              <a:spcAft>
                <a:spcPts val="0"/>
              </a:spcAft>
              <a:buClr>
                <a:schemeClr val="dk1"/>
              </a:buClr>
              <a:buSzPts val="2400"/>
              <a:buChar char="•"/>
            </a:pPr>
            <a:r>
              <a:rPr lang="en-US"/>
              <a:t>For n=16, 64K locations.</a:t>
            </a:r>
            <a:endParaRPr/>
          </a:p>
          <a:p>
            <a:pPr marL="685800" lvl="1" indent="-228600" algn="l" rtl="0">
              <a:lnSpc>
                <a:spcPct val="110000"/>
              </a:lnSpc>
              <a:spcBef>
                <a:spcPts val="600"/>
              </a:spcBef>
              <a:spcAft>
                <a:spcPts val="0"/>
              </a:spcAft>
              <a:buClr>
                <a:schemeClr val="dk1"/>
              </a:buClr>
              <a:buSzPts val="2400"/>
              <a:buChar char="•"/>
            </a:pPr>
            <a:r>
              <a:rPr lang="en-US"/>
              <a:t>For n=20, 1M locations.</a:t>
            </a:r>
            <a:endParaRPr/>
          </a:p>
          <a:p>
            <a:pPr marL="685800" lvl="1" indent="-228600" algn="l" rtl="0">
              <a:lnSpc>
                <a:spcPct val="110000"/>
              </a:lnSpc>
              <a:spcBef>
                <a:spcPts val="600"/>
              </a:spcBef>
              <a:spcAft>
                <a:spcPts val="0"/>
              </a:spcAft>
              <a:buClr>
                <a:schemeClr val="dk1"/>
              </a:buClr>
              <a:buSzPts val="2400"/>
              <a:buChar char="•"/>
            </a:pPr>
            <a:r>
              <a:rPr lang="en-US"/>
              <a:t>For n=32, 4G locations.</a:t>
            </a:r>
            <a:endParaRPr/>
          </a:p>
          <a:p>
            <a:pPr marL="228600" lvl="0" indent="-228600" algn="l" rtl="0">
              <a:lnSpc>
                <a:spcPct val="110000"/>
              </a:lnSpc>
              <a:spcBef>
                <a:spcPts val="800"/>
              </a:spcBef>
              <a:spcAft>
                <a:spcPts val="0"/>
              </a:spcAft>
              <a:buClr>
                <a:schemeClr val="dk1"/>
              </a:buClr>
              <a:buSzPts val="2667"/>
              <a:buChar char="•"/>
            </a:pPr>
            <a:r>
              <a:rPr lang="en-US" sz="2667"/>
              <a:t>Modern-day memory chips can store several Gigabits of data.</a:t>
            </a:r>
            <a:endParaRPr/>
          </a:p>
          <a:p>
            <a:pPr marL="685800" lvl="1" indent="-228600" algn="l" rtl="0">
              <a:lnSpc>
                <a:spcPct val="110000"/>
              </a:lnSpc>
              <a:spcBef>
                <a:spcPts val="600"/>
              </a:spcBef>
              <a:spcAft>
                <a:spcPts val="0"/>
              </a:spcAft>
              <a:buClr>
                <a:schemeClr val="dk1"/>
              </a:buClr>
              <a:buSzPts val="2400"/>
              <a:buChar char="•"/>
            </a:pPr>
            <a:r>
              <a:rPr lang="en-US"/>
              <a:t>Dynamic RAM (DRAM).</a:t>
            </a:r>
            <a:endParaRPr/>
          </a:p>
          <a:p>
            <a:pPr marL="228600" lvl="0" indent="-59246" algn="l" rtl="0">
              <a:lnSpc>
                <a:spcPct val="110000"/>
              </a:lnSpc>
              <a:spcBef>
                <a:spcPts val="600"/>
              </a:spcBef>
              <a:spcAft>
                <a:spcPts val="0"/>
              </a:spcAft>
              <a:buClr>
                <a:schemeClr val="dk1"/>
              </a:buClr>
              <a:buSzPts val="2667"/>
              <a:buNone/>
            </a:pPr>
            <a:endParaRPr sz="2667"/>
          </a:p>
        </p:txBody>
      </p:sp>
      <p:sp>
        <p:nvSpPr>
          <p:cNvPr id="479" name="Google Shape;479;p37"/>
          <p:cNvSpPr/>
          <p:nvPr/>
        </p:nvSpPr>
        <p:spPr>
          <a:xfrm>
            <a:off x="8432800" y="1905000"/>
            <a:ext cx="2336800" cy="22352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a:solidFill>
                  <a:srgbClr val="0C0C0C"/>
                </a:solidFill>
                <a:latin typeface="Calibri"/>
                <a:ea typeface="Calibri"/>
                <a:cs typeface="Calibri"/>
                <a:sym typeface="Calibri"/>
              </a:rPr>
              <a:t>MEMORY</a:t>
            </a:r>
            <a:endParaRPr/>
          </a:p>
        </p:txBody>
      </p:sp>
      <p:sp>
        <p:nvSpPr>
          <p:cNvPr id="480" name="Google Shape;480;p37"/>
          <p:cNvSpPr/>
          <p:nvPr/>
        </p:nvSpPr>
        <p:spPr>
          <a:xfrm>
            <a:off x="7518400" y="2413000"/>
            <a:ext cx="914400" cy="406400"/>
          </a:xfrm>
          <a:prstGeom prst="rightArrow">
            <a:avLst>
              <a:gd name="adj1" fmla="val 50000"/>
              <a:gd name="adj2" fmla="val 50000"/>
            </a:avLst>
          </a:prstGeom>
          <a:solidFill>
            <a:srgbClr val="D0CECE"/>
          </a:solidFill>
          <a:ln w="9525"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81" name="Google Shape;481;p37"/>
          <p:cNvSpPr/>
          <p:nvPr/>
        </p:nvSpPr>
        <p:spPr>
          <a:xfrm>
            <a:off x="7518400" y="3124200"/>
            <a:ext cx="914400" cy="406400"/>
          </a:xfrm>
          <a:prstGeom prst="leftRightArrow">
            <a:avLst>
              <a:gd name="adj1" fmla="val 50000"/>
              <a:gd name="adj2" fmla="val 50000"/>
            </a:avLst>
          </a:prstGeom>
          <a:solidFill>
            <a:srgbClr val="D0CECE"/>
          </a:solidFill>
          <a:ln w="9525"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82" name="Google Shape;482;p37"/>
          <p:cNvSpPr txBox="1"/>
          <p:nvPr/>
        </p:nvSpPr>
        <p:spPr>
          <a:xfrm>
            <a:off x="6197600" y="2160826"/>
            <a:ext cx="14224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Address (n bits)</a:t>
            </a:r>
            <a:endParaRPr/>
          </a:p>
        </p:txBody>
      </p:sp>
      <p:sp>
        <p:nvSpPr>
          <p:cNvPr id="483" name="Google Shape;483;p37"/>
          <p:cNvSpPr txBox="1"/>
          <p:nvPr/>
        </p:nvSpPr>
        <p:spPr>
          <a:xfrm>
            <a:off x="6400800" y="2921001"/>
            <a:ext cx="12192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Data  (m bits)</a:t>
            </a:r>
            <a:endParaRPr/>
          </a:p>
        </p:txBody>
      </p:sp>
      <p:cxnSp>
        <p:nvCxnSpPr>
          <p:cNvPr id="484" name="Google Shape;484;p37"/>
          <p:cNvCxnSpPr/>
          <p:nvPr/>
        </p:nvCxnSpPr>
        <p:spPr>
          <a:xfrm rot="10800000">
            <a:off x="9042400" y="4140200"/>
            <a:ext cx="0" cy="508000"/>
          </a:xfrm>
          <a:prstGeom prst="straightConnector1">
            <a:avLst/>
          </a:prstGeom>
          <a:noFill/>
          <a:ln w="12700" cap="flat" cmpd="sng">
            <a:solidFill>
              <a:srgbClr val="0C0C0C"/>
            </a:solidFill>
            <a:prstDash val="solid"/>
            <a:miter lim="8000"/>
            <a:headEnd type="none" w="sm" len="sm"/>
            <a:tailEnd type="stealth" w="med" len="med"/>
          </a:ln>
        </p:spPr>
      </p:cxnSp>
      <p:cxnSp>
        <p:nvCxnSpPr>
          <p:cNvPr id="485" name="Google Shape;485;p37"/>
          <p:cNvCxnSpPr/>
          <p:nvPr/>
        </p:nvCxnSpPr>
        <p:spPr>
          <a:xfrm rot="10800000">
            <a:off x="9652000" y="4140200"/>
            <a:ext cx="0" cy="508000"/>
          </a:xfrm>
          <a:prstGeom prst="straightConnector1">
            <a:avLst/>
          </a:prstGeom>
          <a:noFill/>
          <a:ln w="12700" cap="flat" cmpd="sng">
            <a:solidFill>
              <a:srgbClr val="0C0C0C"/>
            </a:solidFill>
            <a:prstDash val="solid"/>
            <a:miter lim="8000"/>
            <a:headEnd type="none" w="sm" len="sm"/>
            <a:tailEnd type="stealth" w="med" len="med"/>
          </a:ln>
        </p:spPr>
      </p:cxnSp>
      <p:cxnSp>
        <p:nvCxnSpPr>
          <p:cNvPr id="486" name="Google Shape;486;p37"/>
          <p:cNvCxnSpPr/>
          <p:nvPr/>
        </p:nvCxnSpPr>
        <p:spPr>
          <a:xfrm rot="10800000">
            <a:off x="10261600" y="4140200"/>
            <a:ext cx="0" cy="508000"/>
          </a:xfrm>
          <a:prstGeom prst="straightConnector1">
            <a:avLst/>
          </a:prstGeom>
          <a:noFill/>
          <a:ln w="12700" cap="flat" cmpd="sng">
            <a:solidFill>
              <a:srgbClr val="0C0C0C"/>
            </a:solidFill>
            <a:prstDash val="solid"/>
            <a:miter lim="8000"/>
            <a:headEnd type="none" w="sm" len="sm"/>
            <a:tailEnd type="stealth" w="med" len="med"/>
          </a:ln>
        </p:spPr>
      </p:cxnSp>
      <p:sp>
        <p:nvSpPr>
          <p:cNvPr id="487" name="Google Shape;487;p37"/>
          <p:cNvSpPr txBox="1"/>
          <p:nvPr/>
        </p:nvSpPr>
        <p:spPr>
          <a:xfrm>
            <a:off x="8737600" y="4648201"/>
            <a:ext cx="609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RD</a:t>
            </a:r>
            <a:endParaRPr/>
          </a:p>
        </p:txBody>
      </p:sp>
      <p:sp>
        <p:nvSpPr>
          <p:cNvPr id="488" name="Google Shape;488;p37"/>
          <p:cNvSpPr txBox="1"/>
          <p:nvPr/>
        </p:nvSpPr>
        <p:spPr>
          <a:xfrm>
            <a:off x="9347200" y="4648201"/>
            <a:ext cx="7112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WR</a:t>
            </a:r>
            <a:endParaRPr/>
          </a:p>
        </p:txBody>
      </p:sp>
      <p:sp>
        <p:nvSpPr>
          <p:cNvPr id="489" name="Google Shape;489;p37"/>
          <p:cNvSpPr txBox="1"/>
          <p:nvPr/>
        </p:nvSpPr>
        <p:spPr>
          <a:xfrm>
            <a:off x="10058400" y="4648201"/>
            <a:ext cx="609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EN</a:t>
            </a:r>
            <a:endParaRPr/>
          </a:p>
        </p:txBody>
      </p:sp>
      <p:sp>
        <p:nvSpPr>
          <p:cNvPr id="490" name="Google Shape;490;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graphicFrame>
        <p:nvGraphicFramePr>
          <p:cNvPr id="495" name="Google Shape;495;p38"/>
          <p:cNvGraphicFramePr/>
          <p:nvPr/>
        </p:nvGraphicFramePr>
        <p:xfrm>
          <a:off x="2743200" y="1417639"/>
          <a:ext cx="7315200" cy="1977800"/>
        </p:xfrm>
        <a:graphic>
          <a:graphicData uri="http://schemas.openxmlformats.org/drawingml/2006/table">
            <a:tbl>
              <a:tblPr firstRow="1" bandRow="1">
                <a:noFill/>
                <a:tableStyleId>{C27E9FFD-D140-43D9-9319-91134215A3CE}</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94450">
                <a:tc>
                  <a:txBody>
                    <a:bodyPr/>
                    <a:lstStyle/>
                    <a:p>
                      <a:pPr marL="0" marR="0" lvl="0" indent="0" algn="ctr" rtl="0">
                        <a:spcBef>
                          <a:spcPts val="0"/>
                        </a:spcBef>
                        <a:spcAft>
                          <a:spcPts val="0"/>
                        </a:spcAft>
                        <a:buNone/>
                      </a:pPr>
                      <a:r>
                        <a:rPr lang="en-US" sz="2400"/>
                        <a:t>Address</a:t>
                      </a:r>
                      <a:endParaRPr/>
                    </a:p>
                  </a:txBody>
                  <a:tcPr marL="121925" marR="121925" marT="60950" marB="60950"/>
                </a:tc>
                <a:tc>
                  <a:txBody>
                    <a:bodyPr/>
                    <a:lstStyle/>
                    <a:p>
                      <a:pPr marL="0" marR="0" lvl="0" indent="0" algn="ctr" rtl="0">
                        <a:spcBef>
                          <a:spcPts val="0"/>
                        </a:spcBef>
                        <a:spcAft>
                          <a:spcPts val="0"/>
                        </a:spcAft>
                        <a:buNone/>
                      </a:pPr>
                      <a:r>
                        <a:rPr lang="en-US" sz="2400"/>
                        <a:t> Contents</a:t>
                      </a:r>
                      <a:endParaRPr/>
                    </a:p>
                  </a:txBody>
                  <a:tcPr marL="121925" marR="121925" marT="60950" marB="60950"/>
                </a:tc>
                <a:extLst>
                  <a:ext uri="{0D108BD9-81ED-4DB2-BD59-A6C34878D82A}">
                    <a16:rowId xmlns:a16="http://schemas.microsoft.com/office/drawing/2014/main" val="10000"/>
                  </a:ext>
                </a:extLst>
              </a:tr>
              <a:tr h="494450">
                <a:tc>
                  <a:txBody>
                    <a:bodyPr/>
                    <a:lstStyle/>
                    <a:p>
                      <a:pPr marL="0" marR="0" lvl="0" indent="0" algn="ctr" rtl="0">
                        <a:spcBef>
                          <a:spcPts val="0"/>
                        </a:spcBef>
                        <a:spcAft>
                          <a:spcPts val="0"/>
                        </a:spcAft>
                        <a:buNone/>
                      </a:pPr>
                      <a:r>
                        <a:rPr lang="en-US" sz="2400">
                          <a:solidFill>
                            <a:srgbClr val="FF0000"/>
                          </a:solidFill>
                        </a:rPr>
                        <a:t>0000 0000</a:t>
                      </a:r>
                      <a:endParaRPr/>
                    </a:p>
                  </a:txBody>
                  <a:tcPr marL="121925" marR="121925" marT="60950" marB="60950"/>
                </a:tc>
                <a:tc>
                  <a:txBody>
                    <a:bodyPr/>
                    <a:lstStyle/>
                    <a:p>
                      <a:pPr marL="0" marR="0" lvl="0" indent="0" algn="ctr" rtl="0">
                        <a:spcBef>
                          <a:spcPts val="0"/>
                        </a:spcBef>
                        <a:spcAft>
                          <a:spcPts val="0"/>
                        </a:spcAft>
                        <a:buNone/>
                      </a:pPr>
                      <a:r>
                        <a:rPr lang="en-US" sz="2400">
                          <a:solidFill>
                            <a:srgbClr val="7030A0"/>
                          </a:solidFill>
                        </a:rPr>
                        <a:t>0000 0000 0000 0001</a:t>
                      </a:r>
                      <a:endParaRPr sz="2400">
                        <a:solidFill>
                          <a:srgbClr val="7030A0"/>
                        </a:solidFill>
                      </a:endParaRPr>
                    </a:p>
                  </a:txBody>
                  <a:tcPr marL="121925" marR="121925" marT="60950" marB="60950"/>
                </a:tc>
                <a:extLst>
                  <a:ext uri="{0D108BD9-81ED-4DB2-BD59-A6C34878D82A}">
                    <a16:rowId xmlns:a16="http://schemas.microsoft.com/office/drawing/2014/main" val="10001"/>
                  </a:ext>
                </a:extLst>
              </a:tr>
              <a:tr h="494450">
                <a:tc>
                  <a:txBody>
                    <a:bodyPr/>
                    <a:lstStyle/>
                    <a:p>
                      <a:pPr marL="0" marR="0" lvl="0" indent="0" algn="ctr" rtl="0">
                        <a:spcBef>
                          <a:spcPts val="0"/>
                        </a:spcBef>
                        <a:spcAft>
                          <a:spcPts val="0"/>
                        </a:spcAft>
                        <a:buNone/>
                      </a:pPr>
                      <a:r>
                        <a:rPr lang="en-US" sz="2400">
                          <a:solidFill>
                            <a:srgbClr val="FF0000"/>
                          </a:solidFill>
                        </a:rPr>
                        <a:t>0000 0001</a:t>
                      </a:r>
                      <a:endParaRPr sz="2400">
                        <a:solidFill>
                          <a:srgbClr val="FF0000"/>
                        </a:solidFill>
                      </a:endParaRPr>
                    </a:p>
                  </a:txBody>
                  <a:tcPr marL="121925" marR="121925" marT="60950" marB="60950"/>
                </a:tc>
                <a:tc>
                  <a:txBody>
                    <a:bodyPr/>
                    <a:lstStyle/>
                    <a:p>
                      <a:pPr marL="0" marR="0" lvl="0" indent="0" algn="ctr" rtl="0">
                        <a:spcBef>
                          <a:spcPts val="0"/>
                        </a:spcBef>
                        <a:spcAft>
                          <a:spcPts val="0"/>
                        </a:spcAft>
                        <a:buNone/>
                      </a:pPr>
                      <a:r>
                        <a:rPr lang="en-US" sz="2400">
                          <a:solidFill>
                            <a:srgbClr val="7030A0"/>
                          </a:solidFill>
                        </a:rPr>
                        <a:t>0000 0100 0101 0000</a:t>
                      </a:r>
                      <a:endParaRPr/>
                    </a:p>
                  </a:txBody>
                  <a:tcPr marL="121925" marR="121925" marT="60950" marB="60950"/>
                </a:tc>
                <a:extLst>
                  <a:ext uri="{0D108BD9-81ED-4DB2-BD59-A6C34878D82A}">
                    <a16:rowId xmlns:a16="http://schemas.microsoft.com/office/drawing/2014/main" val="10002"/>
                  </a:ext>
                </a:extLst>
              </a:tr>
              <a:tr h="494450">
                <a:tc>
                  <a:txBody>
                    <a:bodyPr/>
                    <a:lstStyle/>
                    <a:p>
                      <a:pPr marL="0" marR="0" lvl="0" indent="0" algn="ctr" rtl="0">
                        <a:spcBef>
                          <a:spcPts val="0"/>
                        </a:spcBef>
                        <a:spcAft>
                          <a:spcPts val="0"/>
                        </a:spcAft>
                        <a:buNone/>
                      </a:pPr>
                      <a:r>
                        <a:rPr lang="en-US" sz="2400">
                          <a:solidFill>
                            <a:srgbClr val="FF0000"/>
                          </a:solidFill>
                        </a:rPr>
                        <a:t>0000 0010</a:t>
                      </a:r>
                      <a:endParaRPr sz="2400">
                        <a:solidFill>
                          <a:srgbClr val="FF0000"/>
                        </a:solidFill>
                      </a:endParaRPr>
                    </a:p>
                  </a:txBody>
                  <a:tcPr marL="121925" marR="121925" marT="60950" marB="60950"/>
                </a:tc>
                <a:tc>
                  <a:txBody>
                    <a:bodyPr/>
                    <a:lstStyle/>
                    <a:p>
                      <a:pPr marL="0" marR="0" lvl="0" indent="0" algn="ctr" rtl="0">
                        <a:spcBef>
                          <a:spcPts val="0"/>
                        </a:spcBef>
                        <a:spcAft>
                          <a:spcPts val="0"/>
                        </a:spcAft>
                        <a:buNone/>
                      </a:pPr>
                      <a:r>
                        <a:rPr lang="en-US" sz="2400">
                          <a:solidFill>
                            <a:srgbClr val="7030A0"/>
                          </a:solidFill>
                        </a:rPr>
                        <a:t>1010 1000 0000 0000</a:t>
                      </a:r>
                      <a:endParaRPr/>
                    </a:p>
                  </a:txBody>
                  <a:tcPr marL="121925" marR="121925" marT="60950" marB="60950"/>
                </a:tc>
                <a:extLst>
                  <a:ext uri="{0D108BD9-81ED-4DB2-BD59-A6C34878D82A}">
                    <a16:rowId xmlns:a16="http://schemas.microsoft.com/office/drawing/2014/main" val="10003"/>
                  </a:ext>
                </a:extLst>
              </a:tr>
            </a:tbl>
          </a:graphicData>
        </a:graphic>
      </p:graphicFrame>
      <p:sp>
        <p:nvSpPr>
          <p:cNvPr id="496" name="Google Shape;496;p38"/>
          <p:cNvSpPr txBox="1"/>
          <p:nvPr/>
        </p:nvSpPr>
        <p:spPr>
          <a:xfrm>
            <a:off x="609600" y="4953001"/>
            <a:ext cx="111760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a:solidFill>
                  <a:schemeClr val="dk1"/>
                </a:solidFill>
                <a:latin typeface="Calibri"/>
                <a:ea typeface="Calibri"/>
                <a:cs typeface="Calibri"/>
                <a:sym typeface="Calibri"/>
              </a:rPr>
              <a:t>An example:  2</a:t>
            </a:r>
            <a:r>
              <a:rPr lang="en-US" sz="3200" baseline="30000">
                <a:solidFill>
                  <a:schemeClr val="dk1"/>
                </a:solidFill>
                <a:latin typeface="Calibri"/>
                <a:ea typeface="Calibri"/>
                <a:cs typeface="Calibri"/>
                <a:sym typeface="Calibri"/>
              </a:rPr>
              <a:t>8</a:t>
            </a:r>
            <a:r>
              <a:rPr lang="en-US" sz="3200">
                <a:solidFill>
                  <a:schemeClr val="dk1"/>
                </a:solidFill>
                <a:latin typeface="Calibri"/>
                <a:ea typeface="Calibri"/>
                <a:cs typeface="Calibri"/>
                <a:sym typeface="Calibri"/>
              </a:rPr>
              <a:t> x 16 memory</a:t>
            </a:r>
            <a:endParaRPr/>
          </a:p>
        </p:txBody>
      </p:sp>
      <p:graphicFrame>
        <p:nvGraphicFramePr>
          <p:cNvPr id="497" name="Google Shape;497;p38"/>
          <p:cNvGraphicFramePr/>
          <p:nvPr/>
        </p:nvGraphicFramePr>
        <p:xfrm>
          <a:off x="2743200" y="4251191"/>
          <a:ext cx="7315200" cy="494450"/>
        </p:xfrm>
        <a:graphic>
          <a:graphicData uri="http://schemas.openxmlformats.org/drawingml/2006/table">
            <a:tbl>
              <a:tblPr firstRow="1" bandRow="1">
                <a:noFill/>
                <a:tableStyleId>{C27E9FFD-D140-43D9-9319-91134215A3CE}</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94450">
                <a:tc>
                  <a:txBody>
                    <a:bodyPr/>
                    <a:lstStyle/>
                    <a:p>
                      <a:pPr marL="0" marR="0" lvl="0" indent="0" algn="ctr" rtl="0">
                        <a:spcBef>
                          <a:spcPts val="0"/>
                        </a:spcBef>
                        <a:spcAft>
                          <a:spcPts val="0"/>
                        </a:spcAft>
                        <a:buNone/>
                      </a:pPr>
                      <a:r>
                        <a:rPr lang="en-US" sz="2400">
                          <a:solidFill>
                            <a:srgbClr val="FF0000"/>
                          </a:solidFill>
                        </a:rPr>
                        <a:t>1111 1111</a:t>
                      </a:r>
                      <a:endParaRPr/>
                    </a:p>
                  </a:txBody>
                  <a:tcPr marL="121925" marR="121925" marT="60950" marB="60950"/>
                </a:tc>
                <a:tc>
                  <a:txBody>
                    <a:bodyPr/>
                    <a:lstStyle/>
                    <a:p>
                      <a:pPr marL="0" marR="0" lvl="0" indent="0" algn="ctr" rtl="0">
                        <a:lnSpc>
                          <a:spcPct val="100000"/>
                        </a:lnSpc>
                        <a:spcBef>
                          <a:spcPts val="0"/>
                        </a:spcBef>
                        <a:spcAft>
                          <a:spcPts val="0"/>
                        </a:spcAft>
                        <a:buClr>
                          <a:srgbClr val="7030A0"/>
                        </a:buClr>
                        <a:buSzPts val="2400"/>
                        <a:buFont typeface="Calibri"/>
                        <a:buNone/>
                      </a:pPr>
                      <a:r>
                        <a:rPr lang="en-US" sz="2400">
                          <a:solidFill>
                            <a:srgbClr val="7030A0"/>
                          </a:solidFill>
                        </a:rPr>
                        <a:t>1011 0000 0000 1010</a:t>
                      </a:r>
                      <a:endParaRPr/>
                    </a:p>
                  </a:txBody>
                  <a:tcPr marL="121925" marR="121925" marT="60950" marB="60950"/>
                </a:tc>
                <a:extLst>
                  <a:ext uri="{0D108BD9-81ED-4DB2-BD59-A6C34878D82A}">
                    <a16:rowId xmlns:a16="http://schemas.microsoft.com/office/drawing/2014/main" val="10000"/>
                  </a:ext>
                </a:extLst>
              </a:tr>
            </a:tbl>
          </a:graphicData>
        </a:graphic>
      </p:graphicFrame>
      <p:sp>
        <p:nvSpPr>
          <p:cNvPr id="498" name="Google Shape;498;p38"/>
          <p:cNvSpPr txBox="1"/>
          <p:nvPr/>
        </p:nvSpPr>
        <p:spPr>
          <a:xfrm>
            <a:off x="4368800" y="3393583"/>
            <a:ext cx="2032000" cy="14876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a:solidFill>
                  <a:srgbClr val="FF0000"/>
                </a:solidFill>
                <a:latin typeface="Calibri"/>
                <a:ea typeface="Calibri"/>
                <a:cs typeface="Calibri"/>
                <a:sym typeface="Calibri"/>
              </a:rPr>
              <a:t>:</a:t>
            </a:r>
            <a:endParaRPr sz="4267" b="1">
              <a:solidFill>
                <a:srgbClr val="FF0000"/>
              </a:solidFill>
              <a:latin typeface="Calibri"/>
              <a:ea typeface="Calibri"/>
              <a:cs typeface="Calibri"/>
              <a:sym typeface="Calibri"/>
            </a:endParaRPr>
          </a:p>
          <a:p>
            <a:pPr marL="0" marR="0" lvl="0" indent="0" algn="l" rtl="0">
              <a:spcBef>
                <a:spcPts val="0"/>
              </a:spcBef>
              <a:spcAft>
                <a:spcPts val="0"/>
              </a:spcAft>
              <a:buNone/>
            </a:pPr>
            <a:endParaRPr sz="4267" b="1">
              <a:solidFill>
                <a:schemeClr val="dk1"/>
              </a:solidFill>
              <a:latin typeface="Calibri"/>
              <a:ea typeface="Calibri"/>
              <a:cs typeface="Calibri"/>
              <a:sym typeface="Calibri"/>
            </a:endParaRPr>
          </a:p>
        </p:txBody>
      </p:sp>
      <p:sp>
        <p:nvSpPr>
          <p:cNvPr id="499" name="Google Shape;499;p38"/>
          <p:cNvSpPr txBox="1"/>
          <p:nvPr/>
        </p:nvSpPr>
        <p:spPr>
          <a:xfrm>
            <a:off x="7823200" y="3343979"/>
            <a:ext cx="2032000" cy="14876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a:solidFill>
                  <a:srgbClr val="7030A0"/>
                </a:solidFill>
                <a:latin typeface="Calibri"/>
                <a:ea typeface="Calibri"/>
                <a:cs typeface="Calibri"/>
                <a:sym typeface="Calibri"/>
              </a:rPr>
              <a:t>:</a:t>
            </a:r>
            <a:endParaRPr sz="4267" b="1">
              <a:solidFill>
                <a:srgbClr val="7030A0"/>
              </a:solidFill>
              <a:latin typeface="Calibri"/>
              <a:ea typeface="Calibri"/>
              <a:cs typeface="Calibri"/>
              <a:sym typeface="Calibri"/>
            </a:endParaRPr>
          </a:p>
          <a:p>
            <a:pPr marL="0" marR="0" lvl="0" indent="0" algn="l" rtl="0">
              <a:spcBef>
                <a:spcPts val="0"/>
              </a:spcBef>
              <a:spcAft>
                <a:spcPts val="0"/>
              </a:spcAft>
              <a:buNone/>
            </a:pPr>
            <a:endParaRPr sz="4267" b="1">
              <a:solidFill>
                <a:schemeClr val="dk1"/>
              </a:solidFill>
              <a:latin typeface="Calibri"/>
              <a:ea typeface="Calibri"/>
              <a:cs typeface="Calibri"/>
              <a:sym typeface="Calibri"/>
            </a:endParaRPr>
          </a:p>
        </p:txBody>
      </p:sp>
      <p:sp>
        <p:nvSpPr>
          <p:cNvPr id="500" name="Google Shape;500;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Some Examples</a:t>
            </a:r>
            <a:endParaRPr/>
          </a:p>
        </p:txBody>
      </p:sp>
      <p:sp>
        <p:nvSpPr>
          <p:cNvPr id="506" name="Google Shape;506;p39"/>
          <p:cNvSpPr txBox="1">
            <a:spLocks noGrp="1"/>
          </p:cNvSpPr>
          <p:nvPr>
            <p:ph type="body" idx="1"/>
          </p:nvPr>
        </p:nvSpPr>
        <p:spPr>
          <a:xfrm>
            <a:off x="609600" y="1397001"/>
            <a:ext cx="10972800" cy="4470400"/>
          </a:xfrm>
          <a:prstGeom prst="rect">
            <a:avLst/>
          </a:prstGeom>
          <a:noFill/>
          <a:ln>
            <a:noFill/>
          </a:ln>
        </p:spPr>
        <p:txBody>
          <a:bodyPr spcFirstLastPara="1" wrap="square" lIns="91425" tIns="45700" rIns="91425" bIns="45700" anchor="t" anchorCtr="0">
            <a:normAutofit fontScale="92500" lnSpcReduction="10000"/>
          </a:bodyPr>
          <a:lstStyle/>
          <a:p>
            <a:pPr marL="609585" lvl="0" indent="-609647" algn="l" rtl="0">
              <a:lnSpc>
                <a:spcPct val="110000"/>
              </a:lnSpc>
              <a:spcBef>
                <a:spcPts val="0"/>
              </a:spcBef>
              <a:spcAft>
                <a:spcPts val="0"/>
              </a:spcAft>
              <a:buClr>
                <a:schemeClr val="dk1"/>
              </a:buClr>
              <a:buSzPct val="100000"/>
              <a:buFont typeface="Calibri"/>
              <a:buAutoNum type="arabicPeriod"/>
            </a:pPr>
            <a:r>
              <a:rPr lang="en-US" sz="2667"/>
              <a:t>A computer has 64 MB (megabytes) of byte-addressable memory. How many bits are needed in the memory address?</a:t>
            </a:r>
            <a:endParaRPr/>
          </a:p>
          <a:p>
            <a:pPr marL="685800" lvl="1" indent="-228600" algn="l" rtl="0">
              <a:lnSpc>
                <a:spcPct val="110000"/>
              </a:lnSpc>
              <a:spcBef>
                <a:spcPts val="600"/>
              </a:spcBef>
              <a:spcAft>
                <a:spcPts val="0"/>
              </a:spcAft>
              <a:buClr>
                <a:schemeClr val="dk1"/>
              </a:buClr>
              <a:buSzPct val="100000"/>
              <a:buChar char="•"/>
            </a:pPr>
            <a:r>
              <a:rPr lang="en-US"/>
              <a:t>Address Space = 64 MB = 2</a:t>
            </a:r>
            <a:r>
              <a:rPr lang="en-US" baseline="30000"/>
              <a:t>6 </a:t>
            </a:r>
            <a:r>
              <a:rPr lang="en-US"/>
              <a:t>X 2</a:t>
            </a:r>
            <a:r>
              <a:rPr lang="en-US" baseline="30000"/>
              <a:t>20  </a:t>
            </a:r>
            <a:r>
              <a:rPr lang="en-US"/>
              <a:t>B = 2</a:t>
            </a:r>
            <a:r>
              <a:rPr lang="en-US" baseline="30000"/>
              <a:t>26</a:t>
            </a:r>
            <a:r>
              <a:rPr lang="en-US"/>
              <a:t> B</a:t>
            </a:r>
            <a:endParaRPr baseline="30000"/>
          </a:p>
          <a:p>
            <a:pPr marL="685800" lvl="1" indent="-228600" algn="l" rtl="0">
              <a:lnSpc>
                <a:spcPct val="110000"/>
              </a:lnSpc>
              <a:spcBef>
                <a:spcPts val="600"/>
              </a:spcBef>
              <a:spcAft>
                <a:spcPts val="0"/>
              </a:spcAft>
              <a:buClr>
                <a:schemeClr val="dk1"/>
              </a:buClr>
              <a:buSzPct val="112518"/>
              <a:buChar char="•"/>
            </a:pPr>
            <a:r>
              <a:rPr lang="en-US"/>
              <a:t> If the memory is byte addressable, we need 26 bits of address.</a:t>
            </a:r>
            <a:r>
              <a:rPr lang="en-US" baseline="30000"/>
              <a:t> </a:t>
            </a:r>
            <a:endParaRPr sz="2133"/>
          </a:p>
          <a:p>
            <a:pPr marL="609585" lvl="0" indent="-609647" algn="l" rtl="0">
              <a:lnSpc>
                <a:spcPct val="110000"/>
              </a:lnSpc>
              <a:spcBef>
                <a:spcPts val="1400"/>
              </a:spcBef>
              <a:spcAft>
                <a:spcPts val="0"/>
              </a:spcAft>
              <a:buClr>
                <a:schemeClr val="dk1"/>
              </a:buClr>
              <a:buSzPct val="100000"/>
              <a:buFont typeface="Calibri"/>
              <a:buAutoNum type="arabicPeriod"/>
            </a:pPr>
            <a:r>
              <a:rPr lang="en-US" sz="2667"/>
              <a:t>A computer has 1 GB of memory. Each word in this computer is 32 bits. How many bits are needed to address any single word in memory?</a:t>
            </a:r>
            <a:endParaRPr/>
          </a:p>
          <a:p>
            <a:pPr marL="685800" lvl="1" indent="-228600" algn="l" rtl="0">
              <a:lnSpc>
                <a:spcPct val="110000"/>
              </a:lnSpc>
              <a:spcBef>
                <a:spcPts val="600"/>
              </a:spcBef>
              <a:spcAft>
                <a:spcPts val="0"/>
              </a:spcAft>
              <a:buClr>
                <a:schemeClr val="dk1"/>
              </a:buClr>
              <a:buSzPct val="100000"/>
              <a:buChar char="•"/>
            </a:pPr>
            <a:r>
              <a:rPr lang="en-US"/>
              <a:t>Address Space = 1 GB = 2</a:t>
            </a:r>
            <a:r>
              <a:rPr lang="en-US" baseline="30000"/>
              <a:t>30 </a:t>
            </a:r>
            <a:r>
              <a:rPr lang="en-US"/>
              <a:t>B</a:t>
            </a:r>
            <a:endParaRPr baseline="30000"/>
          </a:p>
          <a:p>
            <a:pPr marL="685800" lvl="1" indent="-228600" algn="l" rtl="0">
              <a:lnSpc>
                <a:spcPct val="110000"/>
              </a:lnSpc>
              <a:spcBef>
                <a:spcPts val="600"/>
              </a:spcBef>
              <a:spcAft>
                <a:spcPts val="0"/>
              </a:spcAft>
              <a:buClr>
                <a:schemeClr val="dk1"/>
              </a:buClr>
              <a:buSzPct val="100000"/>
              <a:buChar char="•"/>
            </a:pPr>
            <a:r>
              <a:rPr lang="en-US"/>
              <a:t>1 word = 32 bits = 4 B </a:t>
            </a:r>
            <a:r>
              <a:rPr lang="en-US" baseline="30000"/>
              <a:t> </a:t>
            </a:r>
            <a:endParaRPr/>
          </a:p>
          <a:p>
            <a:pPr marL="685800" lvl="1" indent="-228600" algn="l" rtl="0">
              <a:lnSpc>
                <a:spcPct val="110000"/>
              </a:lnSpc>
              <a:spcBef>
                <a:spcPts val="600"/>
              </a:spcBef>
              <a:spcAft>
                <a:spcPts val="0"/>
              </a:spcAft>
              <a:buClr>
                <a:schemeClr val="dk1"/>
              </a:buClr>
              <a:buSzPct val="100000"/>
              <a:buChar char="•"/>
            </a:pPr>
            <a:r>
              <a:rPr lang="en-US"/>
              <a:t> We have 2</a:t>
            </a:r>
            <a:r>
              <a:rPr lang="en-US" baseline="30000"/>
              <a:t>30 </a:t>
            </a:r>
            <a:r>
              <a:rPr lang="en-US"/>
              <a:t>/ 4</a:t>
            </a:r>
            <a:r>
              <a:rPr lang="en-US" baseline="30000"/>
              <a:t> </a:t>
            </a:r>
            <a:r>
              <a:rPr lang="en-US"/>
              <a:t> = 2</a:t>
            </a:r>
            <a:r>
              <a:rPr lang="en-US" baseline="30000"/>
              <a:t>28 </a:t>
            </a:r>
            <a:r>
              <a:rPr lang="en-US"/>
              <a:t> words</a:t>
            </a:r>
            <a:endParaRPr/>
          </a:p>
          <a:p>
            <a:pPr marL="685800" lvl="1" indent="-228600" algn="l" rtl="0">
              <a:lnSpc>
                <a:spcPct val="110000"/>
              </a:lnSpc>
              <a:spcBef>
                <a:spcPts val="600"/>
              </a:spcBef>
              <a:spcAft>
                <a:spcPts val="0"/>
              </a:spcAft>
              <a:buClr>
                <a:schemeClr val="dk1"/>
              </a:buClr>
              <a:buSzPct val="100000"/>
              <a:buChar char="•"/>
            </a:pPr>
            <a:r>
              <a:rPr lang="en-US"/>
              <a:t>Thus, we require 28 bits to address each word.</a:t>
            </a:r>
            <a:endParaRPr/>
          </a:p>
          <a:p>
            <a:pPr marL="609585" lvl="0" indent="-452994" algn="l" rtl="0">
              <a:lnSpc>
                <a:spcPct val="110000"/>
              </a:lnSpc>
              <a:spcBef>
                <a:spcPts val="600"/>
              </a:spcBef>
              <a:spcAft>
                <a:spcPts val="0"/>
              </a:spcAft>
              <a:buClr>
                <a:schemeClr val="dk1"/>
              </a:buClr>
              <a:buSzPct val="100000"/>
              <a:buFont typeface="Calibri"/>
              <a:buNone/>
            </a:pPr>
            <a:endParaRPr sz="2667"/>
          </a:p>
          <a:p>
            <a:pPr marL="609585" lvl="0" indent="-445120" algn="l" rtl="0">
              <a:lnSpc>
                <a:spcPct val="110000"/>
              </a:lnSpc>
              <a:spcBef>
                <a:spcPts val="600"/>
              </a:spcBef>
              <a:spcAft>
                <a:spcPts val="0"/>
              </a:spcAft>
              <a:buClr>
                <a:schemeClr val="dk1"/>
              </a:buClr>
              <a:buSzPct val="100000"/>
              <a:buFont typeface="Calibri"/>
              <a:buNone/>
            </a:pPr>
            <a:endParaRPr/>
          </a:p>
        </p:txBody>
      </p:sp>
      <p:sp>
        <p:nvSpPr>
          <p:cNvPr id="507" name="Google Shape;507;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40"/>
          <p:cNvSpPr txBox="1">
            <a:spLocks noGrp="1"/>
          </p:cNvSpPr>
          <p:nvPr>
            <p:ph type="title"/>
          </p:nvPr>
        </p:nvSpPr>
        <p:spPr>
          <a:xfrm>
            <a:off x="46236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Byte Ordering Conventions</a:t>
            </a:r>
            <a:endParaRPr/>
          </a:p>
        </p:txBody>
      </p:sp>
      <p:sp>
        <p:nvSpPr>
          <p:cNvPr id="513" name="Google Shape;513;p40"/>
          <p:cNvSpPr txBox="1">
            <a:spLocks noGrp="1"/>
          </p:cNvSpPr>
          <p:nvPr>
            <p:ph type="body" idx="1"/>
          </p:nvPr>
        </p:nvSpPr>
        <p:spPr>
          <a:xfrm>
            <a:off x="304800" y="1600202"/>
            <a:ext cx="6604000" cy="4267199"/>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2400"/>
              <a:buChar char="•"/>
            </a:pPr>
            <a:r>
              <a:rPr lang="en-US" sz="2400"/>
              <a:t>Many data items require multiple bytes for storage.</a:t>
            </a:r>
            <a:endParaRPr/>
          </a:p>
          <a:p>
            <a:pPr marL="228600" lvl="0" indent="-228600" algn="l" rtl="0">
              <a:lnSpc>
                <a:spcPct val="100000"/>
              </a:lnSpc>
              <a:spcBef>
                <a:spcPts val="600"/>
              </a:spcBef>
              <a:spcAft>
                <a:spcPts val="0"/>
              </a:spcAft>
              <a:buClr>
                <a:schemeClr val="dk1"/>
              </a:buClr>
              <a:buSzPts val="2400"/>
              <a:buChar char="•"/>
            </a:pPr>
            <a:r>
              <a:rPr lang="en-US" sz="2400"/>
              <a:t>Different computers use different data ordering conventions.</a:t>
            </a:r>
            <a:endParaRPr/>
          </a:p>
          <a:p>
            <a:pPr marL="685800" lvl="1" indent="-228600" algn="l" rtl="0">
              <a:lnSpc>
                <a:spcPct val="100000"/>
              </a:lnSpc>
              <a:spcBef>
                <a:spcPts val="600"/>
              </a:spcBef>
              <a:spcAft>
                <a:spcPts val="0"/>
              </a:spcAft>
              <a:buClr>
                <a:schemeClr val="dk1"/>
              </a:buClr>
              <a:buSzPts val="2400"/>
              <a:buChar char="•"/>
            </a:pPr>
            <a:r>
              <a:rPr lang="en-US"/>
              <a:t>Low-order byte first</a:t>
            </a:r>
            <a:endParaRPr/>
          </a:p>
          <a:p>
            <a:pPr marL="685800" lvl="1" indent="-228600" algn="l" rtl="0">
              <a:lnSpc>
                <a:spcPct val="100000"/>
              </a:lnSpc>
              <a:spcBef>
                <a:spcPts val="600"/>
              </a:spcBef>
              <a:spcAft>
                <a:spcPts val="0"/>
              </a:spcAft>
              <a:buClr>
                <a:schemeClr val="dk1"/>
              </a:buClr>
              <a:buSzPts val="2400"/>
              <a:buChar char="•"/>
            </a:pPr>
            <a:r>
              <a:rPr lang="en-US"/>
              <a:t>High-order byte first</a:t>
            </a:r>
            <a:endParaRPr/>
          </a:p>
          <a:p>
            <a:pPr marL="228600" lvl="0" indent="-228600" algn="l" rtl="0">
              <a:lnSpc>
                <a:spcPct val="100000"/>
              </a:lnSpc>
              <a:spcBef>
                <a:spcPts val="600"/>
              </a:spcBef>
              <a:spcAft>
                <a:spcPts val="0"/>
              </a:spcAft>
              <a:buClr>
                <a:schemeClr val="dk1"/>
              </a:buClr>
              <a:buSzPts val="2400"/>
              <a:buChar char="•"/>
            </a:pPr>
            <a:r>
              <a:rPr lang="en-US" sz="2400"/>
              <a:t>Thus a 16-bit number </a:t>
            </a:r>
            <a:r>
              <a:rPr lang="en-US" sz="2400">
                <a:solidFill>
                  <a:srgbClr val="0000FF"/>
                </a:solidFill>
              </a:rPr>
              <a:t>11001100</a:t>
            </a:r>
            <a:r>
              <a:rPr lang="en-US" sz="2400"/>
              <a:t> </a:t>
            </a:r>
            <a:r>
              <a:rPr lang="en-US" sz="2400">
                <a:solidFill>
                  <a:srgbClr val="FF6600"/>
                </a:solidFill>
              </a:rPr>
              <a:t>00101010</a:t>
            </a:r>
            <a:r>
              <a:rPr lang="en-US" sz="2400"/>
              <a:t> can be stored as either:</a:t>
            </a:r>
            <a:endParaRPr/>
          </a:p>
          <a:p>
            <a:pPr marL="685800" lvl="1" indent="-76200" algn="l" rtl="0">
              <a:lnSpc>
                <a:spcPct val="110000"/>
              </a:lnSpc>
              <a:spcBef>
                <a:spcPts val="600"/>
              </a:spcBef>
              <a:spcAft>
                <a:spcPts val="0"/>
              </a:spcAft>
              <a:buClr>
                <a:schemeClr val="dk1"/>
              </a:buClr>
              <a:buSzPts val="2400"/>
              <a:buNone/>
            </a:pPr>
            <a:endParaRPr/>
          </a:p>
          <a:p>
            <a:pPr marL="457200" lvl="1" indent="0" algn="l" rtl="0">
              <a:lnSpc>
                <a:spcPct val="110000"/>
              </a:lnSpc>
              <a:spcBef>
                <a:spcPts val="600"/>
              </a:spcBef>
              <a:spcAft>
                <a:spcPts val="0"/>
              </a:spcAft>
              <a:buClr>
                <a:schemeClr val="dk1"/>
              </a:buClr>
              <a:buSzPts val="2400"/>
              <a:buNone/>
            </a:pPr>
            <a:endParaRPr/>
          </a:p>
          <a:p>
            <a:pPr marL="685800" lvl="1" indent="-76200" algn="l" rtl="0">
              <a:lnSpc>
                <a:spcPct val="110000"/>
              </a:lnSpc>
              <a:spcBef>
                <a:spcPts val="600"/>
              </a:spcBef>
              <a:spcAft>
                <a:spcPts val="0"/>
              </a:spcAft>
              <a:buClr>
                <a:schemeClr val="dk1"/>
              </a:buClr>
              <a:buSzPts val="2400"/>
              <a:buNone/>
            </a:pPr>
            <a:endParaRPr/>
          </a:p>
        </p:txBody>
      </p:sp>
      <p:graphicFrame>
        <p:nvGraphicFramePr>
          <p:cNvPr id="514" name="Google Shape;514;p40"/>
          <p:cNvGraphicFramePr/>
          <p:nvPr/>
        </p:nvGraphicFramePr>
        <p:xfrm>
          <a:off x="7518400" y="1701800"/>
          <a:ext cx="4368800" cy="2734375"/>
        </p:xfrm>
        <a:graphic>
          <a:graphicData uri="http://schemas.openxmlformats.org/drawingml/2006/table">
            <a:tbl>
              <a:tblPr firstRow="1" bandRow="1">
                <a:noFill/>
                <a:tableStyleId>{234F84DE-0EA6-4230-9EEA-1D2B58DE24B1}</a:tableStyleId>
              </a:tblPr>
              <a:tblGrid>
                <a:gridCol w="2184400">
                  <a:extLst>
                    <a:ext uri="{9D8B030D-6E8A-4147-A177-3AD203B41FA5}">
                      <a16:colId xmlns:a16="http://schemas.microsoft.com/office/drawing/2014/main" val="20000"/>
                    </a:ext>
                  </a:extLst>
                </a:gridCol>
                <a:gridCol w="2184400">
                  <a:extLst>
                    <a:ext uri="{9D8B030D-6E8A-4147-A177-3AD203B41FA5}">
                      <a16:colId xmlns:a16="http://schemas.microsoft.com/office/drawing/2014/main" val="20001"/>
                    </a:ext>
                  </a:extLst>
                </a:gridCol>
              </a:tblGrid>
              <a:tr h="487675">
                <a:tc>
                  <a:txBody>
                    <a:bodyPr/>
                    <a:lstStyle/>
                    <a:p>
                      <a:pPr marL="0" marR="0" lvl="0" indent="0" algn="ctr" rtl="0">
                        <a:spcBef>
                          <a:spcPts val="0"/>
                        </a:spcBef>
                        <a:spcAft>
                          <a:spcPts val="0"/>
                        </a:spcAft>
                        <a:buNone/>
                      </a:pPr>
                      <a:r>
                        <a:rPr lang="en-US" sz="2400"/>
                        <a:t>Data Type</a:t>
                      </a:r>
                      <a:endParaRPr/>
                    </a:p>
                  </a:txBody>
                  <a:tcPr marL="121925" marR="121925" marT="60950" marB="60950"/>
                </a:tc>
                <a:tc>
                  <a:txBody>
                    <a:bodyPr/>
                    <a:lstStyle/>
                    <a:p>
                      <a:pPr marL="0" marR="0" lvl="0" indent="0" algn="ctr" rtl="0">
                        <a:spcBef>
                          <a:spcPts val="0"/>
                        </a:spcBef>
                        <a:spcAft>
                          <a:spcPts val="0"/>
                        </a:spcAft>
                        <a:buNone/>
                      </a:pPr>
                      <a:r>
                        <a:rPr lang="en-US" sz="2400"/>
                        <a:t>Size (in Bytes)</a:t>
                      </a:r>
                      <a:endParaRPr/>
                    </a:p>
                  </a:txBody>
                  <a:tcPr marL="121925" marR="121925" marT="60950" marB="60950"/>
                </a:tc>
                <a:extLst>
                  <a:ext uri="{0D108BD9-81ED-4DB2-BD59-A6C34878D82A}">
                    <a16:rowId xmlns:a16="http://schemas.microsoft.com/office/drawing/2014/main" val="10000"/>
                  </a:ext>
                </a:extLst>
              </a:tr>
              <a:tr h="447050">
                <a:tc>
                  <a:txBody>
                    <a:bodyPr/>
                    <a:lstStyle/>
                    <a:p>
                      <a:pPr marL="0" marR="0" lvl="0" indent="0" algn="ctr" rtl="0">
                        <a:spcBef>
                          <a:spcPts val="0"/>
                        </a:spcBef>
                        <a:spcAft>
                          <a:spcPts val="0"/>
                        </a:spcAft>
                        <a:buNone/>
                      </a:pPr>
                      <a:r>
                        <a:rPr lang="en-US" sz="2100"/>
                        <a:t>Character</a:t>
                      </a:r>
                      <a:endParaRPr/>
                    </a:p>
                  </a:txBody>
                  <a:tcPr marL="121925" marR="121925" marT="60950" marB="60950"/>
                </a:tc>
                <a:tc>
                  <a:txBody>
                    <a:bodyPr/>
                    <a:lstStyle/>
                    <a:p>
                      <a:pPr marL="0" marR="0" lvl="0" indent="0" algn="ctr" rtl="0">
                        <a:spcBef>
                          <a:spcPts val="0"/>
                        </a:spcBef>
                        <a:spcAft>
                          <a:spcPts val="0"/>
                        </a:spcAft>
                        <a:buNone/>
                      </a:pPr>
                      <a:r>
                        <a:rPr lang="en-US" sz="2100"/>
                        <a:t>1</a:t>
                      </a:r>
                      <a:endParaRPr/>
                    </a:p>
                  </a:txBody>
                  <a:tcPr marL="121925" marR="121925" marT="60950" marB="60950"/>
                </a:tc>
                <a:extLst>
                  <a:ext uri="{0D108BD9-81ED-4DB2-BD59-A6C34878D82A}">
                    <a16:rowId xmlns:a16="http://schemas.microsoft.com/office/drawing/2014/main" val="10001"/>
                  </a:ext>
                </a:extLst>
              </a:tr>
              <a:tr h="447050">
                <a:tc>
                  <a:txBody>
                    <a:bodyPr/>
                    <a:lstStyle/>
                    <a:p>
                      <a:pPr marL="0" marR="0" lvl="0" indent="0" algn="ctr" rtl="0">
                        <a:spcBef>
                          <a:spcPts val="0"/>
                        </a:spcBef>
                        <a:spcAft>
                          <a:spcPts val="0"/>
                        </a:spcAft>
                        <a:buNone/>
                      </a:pPr>
                      <a:r>
                        <a:rPr lang="en-US" sz="2100"/>
                        <a:t>Integer</a:t>
                      </a:r>
                      <a:endParaRPr/>
                    </a:p>
                  </a:txBody>
                  <a:tcPr marL="121925" marR="121925" marT="60950" marB="60950"/>
                </a:tc>
                <a:tc>
                  <a:txBody>
                    <a:bodyPr/>
                    <a:lstStyle/>
                    <a:p>
                      <a:pPr marL="0" marR="0" lvl="0" indent="0" algn="ctr" rtl="0">
                        <a:spcBef>
                          <a:spcPts val="0"/>
                        </a:spcBef>
                        <a:spcAft>
                          <a:spcPts val="0"/>
                        </a:spcAft>
                        <a:buNone/>
                      </a:pPr>
                      <a:r>
                        <a:rPr lang="en-US" sz="2100"/>
                        <a:t>4</a:t>
                      </a:r>
                      <a:endParaRPr/>
                    </a:p>
                  </a:txBody>
                  <a:tcPr marL="121925" marR="121925" marT="60950" marB="60950"/>
                </a:tc>
                <a:extLst>
                  <a:ext uri="{0D108BD9-81ED-4DB2-BD59-A6C34878D82A}">
                    <a16:rowId xmlns:a16="http://schemas.microsoft.com/office/drawing/2014/main" val="10002"/>
                  </a:ext>
                </a:extLst>
              </a:tr>
              <a:tr h="447050">
                <a:tc>
                  <a:txBody>
                    <a:bodyPr/>
                    <a:lstStyle/>
                    <a:p>
                      <a:pPr marL="0" marR="0" lvl="0" indent="0" algn="ctr" rtl="0">
                        <a:spcBef>
                          <a:spcPts val="0"/>
                        </a:spcBef>
                        <a:spcAft>
                          <a:spcPts val="0"/>
                        </a:spcAft>
                        <a:buNone/>
                      </a:pPr>
                      <a:r>
                        <a:rPr lang="en-US" sz="2100"/>
                        <a:t>Long integer</a:t>
                      </a:r>
                      <a:endParaRPr/>
                    </a:p>
                  </a:txBody>
                  <a:tcPr marL="121925" marR="121925" marT="60950" marB="60950"/>
                </a:tc>
                <a:tc>
                  <a:txBody>
                    <a:bodyPr/>
                    <a:lstStyle/>
                    <a:p>
                      <a:pPr marL="0" marR="0" lvl="0" indent="0" algn="ctr" rtl="0">
                        <a:spcBef>
                          <a:spcPts val="0"/>
                        </a:spcBef>
                        <a:spcAft>
                          <a:spcPts val="0"/>
                        </a:spcAft>
                        <a:buNone/>
                      </a:pPr>
                      <a:r>
                        <a:rPr lang="en-US" sz="2100"/>
                        <a:t>8</a:t>
                      </a:r>
                      <a:endParaRPr/>
                    </a:p>
                  </a:txBody>
                  <a:tcPr marL="121925" marR="121925" marT="60950" marB="60950"/>
                </a:tc>
                <a:extLst>
                  <a:ext uri="{0D108BD9-81ED-4DB2-BD59-A6C34878D82A}">
                    <a16:rowId xmlns:a16="http://schemas.microsoft.com/office/drawing/2014/main" val="10003"/>
                  </a:ext>
                </a:extLst>
              </a:tr>
              <a:tr h="452775">
                <a:tc>
                  <a:txBody>
                    <a:bodyPr/>
                    <a:lstStyle/>
                    <a:p>
                      <a:pPr marL="0" marR="0" lvl="0" indent="0" algn="ctr" rtl="0">
                        <a:spcBef>
                          <a:spcPts val="0"/>
                        </a:spcBef>
                        <a:spcAft>
                          <a:spcPts val="0"/>
                        </a:spcAft>
                        <a:buNone/>
                      </a:pPr>
                      <a:r>
                        <a:rPr lang="en-US" sz="2100"/>
                        <a:t>Floating-point</a:t>
                      </a:r>
                      <a:endParaRPr/>
                    </a:p>
                  </a:txBody>
                  <a:tcPr marL="121925" marR="121925" marT="60950" marB="60950"/>
                </a:tc>
                <a:tc>
                  <a:txBody>
                    <a:bodyPr/>
                    <a:lstStyle/>
                    <a:p>
                      <a:pPr marL="0" marR="0" lvl="0" indent="0" algn="ctr" rtl="0">
                        <a:spcBef>
                          <a:spcPts val="0"/>
                        </a:spcBef>
                        <a:spcAft>
                          <a:spcPts val="0"/>
                        </a:spcAft>
                        <a:buNone/>
                      </a:pPr>
                      <a:r>
                        <a:rPr lang="en-US" sz="2100"/>
                        <a:t>4</a:t>
                      </a:r>
                      <a:endParaRPr/>
                    </a:p>
                  </a:txBody>
                  <a:tcPr marL="121925" marR="121925" marT="60950" marB="60950"/>
                </a:tc>
                <a:extLst>
                  <a:ext uri="{0D108BD9-81ED-4DB2-BD59-A6C34878D82A}">
                    <a16:rowId xmlns:a16="http://schemas.microsoft.com/office/drawing/2014/main" val="10004"/>
                  </a:ext>
                </a:extLst>
              </a:tr>
              <a:tr h="452775">
                <a:tc>
                  <a:txBody>
                    <a:bodyPr/>
                    <a:lstStyle/>
                    <a:p>
                      <a:pPr marL="0" marR="0" lvl="0" indent="0" algn="ctr" rtl="0">
                        <a:spcBef>
                          <a:spcPts val="0"/>
                        </a:spcBef>
                        <a:spcAft>
                          <a:spcPts val="0"/>
                        </a:spcAft>
                        <a:buNone/>
                      </a:pPr>
                      <a:r>
                        <a:rPr lang="en-US" sz="2100"/>
                        <a:t>Double-precision</a:t>
                      </a:r>
                      <a:endParaRPr/>
                    </a:p>
                  </a:txBody>
                  <a:tcPr marL="121925" marR="121925" marT="60950" marB="60950"/>
                </a:tc>
                <a:tc>
                  <a:txBody>
                    <a:bodyPr/>
                    <a:lstStyle/>
                    <a:p>
                      <a:pPr marL="0" marR="0" lvl="0" indent="0" algn="ctr" rtl="0">
                        <a:spcBef>
                          <a:spcPts val="0"/>
                        </a:spcBef>
                        <a:spcAft>
                          <a:spcPts val="0"/>
                        </a:spcAft>
                        <a:buNone/>
                      </a:pPr>
                      <a:r>
                        <a:rPr lang="en-US" sz="2100"/>
                        <a:t>8</a:t>
                      </a:r>
                      <a:endParaRPr/>
                    </a:p>
                  </a:txBody>
                  <a:tcPr marL="121925" marR="121925" marT="60950" marB="60950"/>
                </a:tc>
                <a:extLst>
                  <a:ext uri="{0D108BD9-81ED-4DB2-BD59-A6C34878D82A}">
                    <a16:rowId xmlns:a16="http://schemas.microsoft.com/office/drawing/2014/main" val="10005"/>
                  </a:ext>
                </a:extLst>
              </a:tr>
            </a:tbl>
          </a:graphicData>
        </a:graphic>
      </p:graphicFrame>
      <p:sp>
        <p:nvSpPr>
          <p:cNvPr id="515" name="Google Shape;515;p40"/>
          <p:cNvSpPr txBox="1"/>
          <p:nvPr/>
        </p:nvSpPr>
        <p:spPr>
          <a:xfrm>
            <a:off x="7924800" y="4445001"/>
            <a:ext cx="37592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Typical data sizes</a:t>
            </a:r>
            <a:endParaRPr/>
          </a:p>
        </p:txBody>
      </p:sp>
      <p:sp>
        <p:nvSpPr>
          <p:cNvPr id="516" name="Google Shape;516;p40"/>
          <p:cNvSpPr txBox="1"/>
          <p:nvPr/>
        </p:nvSpPr>
        <p:spPr>
          <a:xfrm>
            <a:off x="812800" y="5257801"/>
            <a:ext cx="1524000" cy="461665"/>
          </a:xfrm>
          <a:prstGeom prst="rect">
            <a:avLst/>
          </a:prstGeom>
          <a:solidFill>
            <a:srgbClr val="DDEAF6"/>
          </a:solidFill>
          <a:ln w="9525" cap="flat" cmpd="sng">
            <a:solidFill>
              <a:srgbClr val="0C0C0C"/>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00FF"/>
                </a:solidFill>
                <a:latin typeface="Calibri"/>
                <a:ea typeface="Calibri"/>
                <a:cs typeface="Calibri"/>
                <a:sym typeface="Calibri"/>
              </a:rPr>
              <a:t>11001100</a:t>
            </a:r>
            <a:endParaRPr/>
          </a:p>
        </p:txBody>
      </p:sp>
      <p:sp>
        <p:nvSpPr>
          <p:cNvPr id="517" name="Google Shape;517;p40"/>
          <p:cNvSpPr txBox="1"/>
          <p:nvPr/>
        </p:nvSpPr>
        <p:spPr>
          <a:xfrm>
            <a:off x="2336800" y="5257801"/>
            <a:ext cx="1524000" cy="461665"/>
          </a:xfrm>
          <a:prstGeom prst="rect">
            <a:avLst/>
          </a:prstGeom>
          <a:solidFill>
            <a:srgbClr val="DDEAF6"/>
          </a:solidFill>
          <a:ln w="9525" cap="flat" cmpd="sng">
            <a:solidFill>
              <a:srgbClr val="0C0C0C"/>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6600"/>
                </a:solidFill>
                <a:latin typeface="Calibri"/>
                <a:ea typeface="Calibri"/>
                <a:cs typeface="Calibri"/>
                <a:sym typeface="Calibri"/>
              </a:rPr>
              <a:t>00101010</a:t>
            </a:r>
            <a:endParaRPr/>
          </a:p>
        </p:txBody>
      </p:sp>
      <p:sp>
        <p:nvSpPr>
          <p:cNvPr id="518" name="Google Shape;518;p40"/>
          <p:cNvSpPr txBox="1"/>
          <p:nvPr/>
        </p:nvSpPr>
        <p:spPr>
          <a:xfrm>
            <a:off x="4470400" y="5257801"/>
            <a:ext cx="1524000" cy="461665"/>
          </a:xfrm>
          <a:prstGeom prst="rect">
            <a:avLst/>
          </a:prstGeom>
          <a:solidFill>
            <a:srgbClr val="DDEAF6"/>
          </a:solidFill>
          <a:ln w="9525" cap="flat" cmpd="sng">
            <a:solidFill>
              <a:srgbClr val="0C0C0C"/>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6600"/>
                </a:solidFill>
                <a:latin typeface="Calibri"/>
                <a:ea typeface="Calibri"/>
                <a:cs typeface="Calibri"/>
                <a:sym typeface="Calibri"/>
              </a:rPr>
              <a:t>00101010</a:t>
            </a:r>
            <a:endParaRPr/>
          </a:p>
        </p:txBody>
      </p:sp>
      <p:sp>
        <p:nvSpPr>
          <p:cNvPr id="519" name="Google Shape;519;p40"/>
          <p:cNvSpPr txBox="1"/>
          <p:nvPr/>
        </p:nvSpPr>
        <p:spPr>
          <a:xfrm>
            <a:off x="5994400" y="5257801"/>
            <a:ext cx="1524000" cy="461665"/>
          </a:xfrm>
          <a:prstGeom prst="rect">
            <a:avLst/>
          </a:prstGeom>
          <a:solidFill>
            <a:srgbClr val="DDEAF6"/>
          </a:solidFill>
          <a:ln w="9525" cap="flat" cmpd="sng">
            <a:solidFill>
              <a:srgbClr val="0C0C0C"/>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00FF"/>
                </a:solidFill>
                <a:latin typeface="Calibri"/>
                <a:ea typeface="Calibri"/>
                <a:cs typeface="Calibri"/>
                <a:sym typeface="Calibri"/>
              </a:rPr>
              <a:t>11001100</a:t>
            </a:r>
            <a:endParaRPr/>
          </a:p>
        </p:txBody>
      </p:sp>
      <p:sp>
        <p:nvSpPr>
          <p:cNvPr id="520" name="Google Shape;520;p40"/>
          <p:cNvSpPr txBox="1"/>
          <p:nvPr/>
        </p:nvSpPr>
        <p:spPr>
          <a:xfrm>
            <a:off x="3860800" y="5257801"/>
            <a:ext cx="609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or</a:t>
            </a:r>
            <a:endParaRPr/>
          </a:p>
        </p:txBody>
      </p:sp>
      <p:sp>
        <p:nvSpPr>
          <p:cNvPr id="521" name="Google Shape;521;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41"/>
          <p:cNvSpPr txBox="1">
            <a:spLocks noGrp="1"/>
          </p:cNvSpPr>
          <p:nvPr>
            <p:ph type="body" idx="1"/>
          </p:nvPr>
        </p:nvSpPr>
        <p:spPr>
          <a:xfrm>
            <a:off x="609600" y="1092201"/>
            <a:ext cx="11480800" cy="47752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The two conventions have been named as:</a:t>
            </a:r>
            <a:endParaRPr/>
          </a:p>
          <a:p>
            <a:pPr marL="1081590" lvl="1" indent="-472006" algn="l" rtl="0">
              <a:lnSpc>
                <a:spcPct val="110000"/>
              </a:lnSpc>
              <a:spcBef>
                <a:spcPts val="600"/>
              </a:spcBef>
              <a:spcAft>
                <a:spcPts val="0"/>
              </a:spcAft>
              <a:buClr>
                <a:srgbClr val="800000"/>
              </a:buClr>
              <a:buSzPts val="2400"/>
              <a:buFont typeface="Calibri"/>
              <a:buAutoNum type="alphaLcParenR"/>
            </a:pPr>
            <a:r>
              <a:rPr lang="en-US" b="1">
                <a:solidFill>
                  <a:srgbClr val="800000"/>
                </a:solidFill>
              </a:rPr>
              <a:t>Little Endian</a:t>
            </a:r>
            <a:endParaRPr/>
          </a:p>
          <a:p>
            <a:pPr marL="1614977" lvl="2" indent="-472006" algn="l" rtl="0">
              <a:lnSpc>
                <a:spcPct val="110000"/>
              </a:lnSpc>
              <a:spcBef>
                <a:spcPts val="600"/>
              </a:spcBef>
              <a:spcAft>
                <a:spcPts val="0"/>
              </a:spcAft>
              <a:buClr>
                <a:schemeClr val="dk1"/>
              </a:buClr>
              <a:buSzPts val="2000"/>
              <a:buChar char="•"/>
            </a:pPr>
            <a:r>
              <a:rPr lang="en-US"/>
              <a:t>The least significant byte is stored at lower address  followed by the most significant byte. Examples: Intel processors, DEC alpha, etc.</a:t>
            </a:r>
            <a:endParaRPr/>
          </a:p>
          <a:p>
            <a:pPr marL="1614977" lvl="2" indent="-472006" algn="l" rtl="0">
              <a:lnSpc>
                <a:spcPct val="110000"/>
              </a:lnSpc>
              <a:spcBef>
                <a:spcPts val="600"/>
              </a:spcBef>
              <a:spcAft>
                <a:spcPts val="0"/>
              </a:spcAft>
              <a:buClr>
                <a:schemeClr val="dk1"/>
              </a:buClr>
              <a:buSzPts val="2000"/>
              <a:buChar char="•"/>
            </a:pPr>
            <a:r>
              <a:rPr lang="en-US"/>
              <a:t>Same concept followed for arbitrary multi-byte data.</a:t>
            </a:r>
            <a:endParaRPr/>
          </a:p>
          <a:p>
            <a:pPr marL="1081590" lvl="1" indent="-472006" algn="l" rtl="0">
              <a:lnSpc>
                <a:spcPct val="110000"/>
              </a:lnSpc>
              <a:spcBef>
                <a:spcPts val="800"/>
              </a:spcBef>
              <a:spcAft>
                <a:spcPts val="0"/>
              </a:spcAft>
              <a:buClr>
                <a:srgbClr val="800000"/>
              </a:buClr>
              <a:buSzPts val="2400"/>
              <a:buFont typeface="Calibri"/>
              <a:buAutoNum type="alphaLcParenR"/>
            </a:pPr>
            <a:r>
              <a:rPr lang="en-US" b="1">
                <a:solidFill>
                  <a:srgbClr val="800000"/>
                </a:solidFill>
              </a:rPr>
              <a:t>Big Endian</a:t>
            </a:r>
            <a:endParaRPr/>
          </a:p>
          <a:p>
            <a:pPr marL="1614977" lvl="2" indent="-472006" algn="l" rtl="0">
              <a:lnSpc>
                <a:spcPct val="110000"/>
              </a:lnSpc>
              <a:spcBef>
                <a:spcPts val="600"/>
              </a:spcBef>
              <a:spcAft>
                <a:spcPts val="0"/>
              </a:spcAft>
              <a:buClr>
                <a:schemeClr val="dk1"/>
              </a:buClr>
              <a:buSzPts val="2000"/>
              <a:buChar char="•"/>
            </a:pPr>
            <a:r>
              <a:rPr lang="en-US"/>
              <a:t>The most significant byte is stored at lower address followed by the least significant byte. Examples: IBM’s 370 mainframes, Motorola microprocessors, TCP/IP, etc. </a:t>
            </a:r>
            <a:endParaRPr/>
          </a:p>
          <a:p>
            <a:pPr marL="1614977" lvl="2" indent="-472006" algn="l" rtl="0">
              <a:lnSpc>
                <a:spcPct val="110000"/>
              </a:lnSpc>
              <a:spcBef>
                <a:spcPts val="600"/>
              </a:spcBef>
              <a:spcAft>
                <a:spcPts val="0"/>
              </a:spcAft>
              <a:buClr>
                <a:schemeClr val="dk1"/>
              </a:buClr>
              <a:buSzPts val="2000"/>
              <a:buChar char="•"/>
            </a:pPr>
            <a:r>
              <a:rPr lang="en-US"/>
              <a:t>Same concept followed for arbitrary multi-byte data.</a:t>
            </a:r>
            <a:endParaRPr/>
          </a:p>
        </p:txBody>
      </p:sp>
      <p:sp>
        <p:nvSpPr>
          <p:cNvPr id="527" name="Google Shape;527;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An Example</a:t>
            </a:r>
            <a:endParaRPr/>
          </a:p>
        </p:txBody>
      </p:sp>
      <p:sp>
        <p:nvSpPr>
          <p:cNvPr id="533" name="Google Shape;533;p42"/>
          <p:cNvSpPr txBox="1">
            <a:spLocks noGrp="1"/>
          </p:cNvSpPr>
          <p:nvPr>
            <p:ph type="body" idx="1"/>
          </p:nvPr>
        </p:nvSpPr>
        <p:spPr>
          <a:xfrm>
            <a:off x="609600" y="1397001"/>
            <a:ext cx="11176000" cy="44704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400"/>
              <a:buChar char="•"/>
            </a:pPr>
            <a:r>
              <a:rPr lang="en-US" sz="2400"/>
              <a:t>Represent the following 32-bit number in both Little-Endian and Big-Endian in memory from address 2000 onwards:</a:t>
            </a:r>
            <a:endParaRPr/>
          </a:p>
          <a:p>
            <a:pPr marL="1066773" lvl="2" indent="0" algn="l" rtl="0">
              <a:lnSpc>
                <a:spcPct val="110000"/>
              </a:lnSpc>
              <a:spcBef>
                <a:spcPts val="600"/>
              </a:spcBef>
              <a:spcAft>
                <a:spcPts val="0"/>
              </a:spcAft>
              <a:buClr>
                <a:schemeClr val="dk1"/>
              </a:buClr>
              <a:buSzPts val="2400"/>
              <a:buNone/>
            </a:pPr>
            <a:r>
              <a:rPr lang="en-US" sz="2400"/>
              <a:t>01010101 00110011 00001111 11000011</a:t>
            </a:r>
            <a:endParaRPr/>
          </a:p>
        </p:txBody>
      </p:sp>
      <p:graphicFrame>
        <p:nvGraphicFramePr>
          <p:cNvPr id="534" name="Google Shape;534;p42"/>
          <p:cNvGraphicFramePr/>
          <p:nvPr/>
        </p:nvGraphicFramePr>
        <p:xfrm>
          <a:off x="6299200" y="2853267"/>
          <a:ext cx="3657600" cy="2926050"/>
        </p:xfrm>
        <a:graphic>
          <a:graphicData uri="http://schemas.openxmlformats.org/drawingml/2006/table">
            <a:tbl>
              <a:tblPr firstRow="1" bandRow="1">
                <a:noFill/>
                <a:tableStyleId>{234F84DE-0EA6-4230-9EEA-1D2B58DE24B1}</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87675">
                <a:tc gridSpan="2">
                  <a:txBody>
                    <a:bodyPr/>
                    <a:lstStyle/>
                    <a:p>
                      <a:pPr marL="0" marR="0" lvl="0" indent="0" algn="ctr" rtl="0">
                        <a:spcBef>
                          <a:spcPts val="0"/>
                        </a:spcBef>
                        <a:spcAft>
                          <a:spcPts val="0"/>
                        </a:spcAft>
                        <a:buNone/>
                      </a:pPr>
                      <a:r>
                        <a:rPr lang="en-US" sz="2400"/>
                        <a:t>Big Endian</a:t>
                      </a:r>
                      <a:endParaRPr/>
                    </a:p>
                  </a:txBody>
                  <a:tcPr marL="121925" marR="121925" marT="60950" marB="60950"/>
                </a:tc>
                <a:tc hMerge="1">
                  <a:txBody>
                    <a:bodyPr/>
                    <a:lstStyle/>
                    <a:p>
                      <a:endParaRPr lang="en-US"/>
                    </a:p>
                  </a:txBody>
                  <a:tcPr/>
                </a:tc>
                <a:extLst>
                  <a:ext uri="{0D108BD9-81ED-4DB2-BD59-A6C34878D82A}">
                    <a16:rowId xmlns:a16="http://schemas.microsoft.com/office/drawing/2014/main" val="10000"/>
                  </a:ext>
                </a:extLst>
              </a:tr>
              <a:tr h="487675">
                <a:tc>
                  <a:txBody>
                    <a:bodyPr/>
                    <a:lstStyle/>
                    <a:p>
                      <a:pPr marL="0" marR="0" lvl="0" indent="0" algn="ctr" rtl="0">
                        <a:spcBef>
                          <a:spcPts val="0"/>
                        </a:spcBef>
                        <a:spcAft>
                          <a:spcPts val="0"/>
                        </a:spcAft>
                        <a:buNone/>
                      </a:pPr>
                      <a:r>
                        <a:rPr lang="en-US" sz="2400"/>
                        <a:t>Address</a:t>
                      </a:r>
                      <a:endParaRPr/>
                    </a:p>
                  </a:txBody>
                  <a:tcPr marL="121925" marR="121925" marT="60950" marB="60950"/>
                </a:tc>
                <a:tc>
                  <a:txBody>
                    <a:bodyPr/>
                    <a:lstStyle/>
                    <a:p>
                      <a:pPr marL="0" marR="0" lvl="0" indent="0" algn="ctr" rtl="0">
                        <a:spcBef>
                          <a:spcPts val="0"/>
                        </a:spcBef>
                        <a:spcAft>
                          <a:spcPts val="0"/>
                        </a:spcAft>
                        <a:buNone/>
                      </a:pPr>
                      <a:r>
                        <a:rPr lang="en-US" sz="2400"/>
                        <a:t>Data</a:t>
                      </a:r>
                      <a:endParaRPr/>
                    </a:p>
                  </a:txBody>
                  <a:tcPr marL="121925" marR="121925" marT="60950" marB="60950"/>
                </a:tc>
                <a:extLst>
                  <a:ext uri="{0D108BD9-81ED-4DB2-BD59-A6C34878D82A}">
                    <a16:rowId xmlns:a16="http://schemas.microsoft.com/office/drawing/2014/main" val="10001"/>
                  </a:ext>
                </a:extLst>
              </a:tr>
              <a:tr h="487675">
                <a:tc>
                  <a:txBody>
                    <a:bodyPr/>
                    <a:lstStyle/>
                    <a:p>
                      <a:pPr marL="0" marR="0" lvl="0" indent="0" algn="ctr" rtl="0">
                        <a:spcBef>
                          <a:spcPts val="0"/>
                        </a:spcBef>
                        <a:spcAft>
                          <a:spcPts val="0"/>
                        </a:spcAft>
                        <a:buNone/>
                      </a:pPr>
                      <a:r>
                        <a:rPr lang="en-US" sz="2400"/>
                        <a:t>2000</a:t>
                      </a:r>
                      <a:endParaRPr/>
                    </a:p>
                  </a:txBody>
                  <a:tcPr marL="121925" marR="121925" marT="60950" marB="60950"/>
                </a:tc>
                <a:tc>
                  <a:txBody>
                    <a:bodyPr/>
                    <a:lstStyle/>
                    <a:p>
                      <a:pPr marL="0" marR="0" lvl="0" indent="0" algn="ctr" rtl="0">
                        <a:spcBef>
                          <a:spcPts val="0"/>
                        </a:spcBef>
                        <a:spcAft>
                          <a:spcPts val="0"/>
                        </a:spcAft>
                        <a:buNone/>
                      </a:pPr>
                      <a:r>
                        <a:rPr lang="en-US" sz="2400"/>
                        <a:t>01010101</a:t>
                      </a:r>
                      <a:endParaRPr/>
                    </a:p>
                  </a:txBody>
                  <a:tcPr marL="121925" marR="121925" marT="60950" marB="60950"/>
                </a:tc>
                <a:extLst>
                  <a:ext uri="{0D108BD9-81ED-4DB2-BD59-A6C34878D82A}">
                    <a16:rowId xmlns:a16="http://schemas.microsoft.com/office/drawing/2014/main" val="10002"/>
                  </a:ext>
                </a:extLst>
              </a:tr>
              <a:tr h="487675">
                <a:tc>
                  <a:txBody>
                    <a:bodyPr/>
                    <a:lstStyle/>
                    <a:p>
                      <a:pPr marL="0" marR="0" lvl="0" indent="0" algn="ctr" rtl="0">
                        <a:spcBef>
                          <a:spcPts val="0"/>
                        </a:spcBef>
                        <a:spcAft>
                          <a:spcPts val="0"/>
                        </a:spcAft>
                        <a:buNone/>
                      </a:pPr>
                      <a:r>
                        <a:rPr lang="en-US" sz="2400"/>
                        <a:t>2001</a:t>
                      </a:r>
                      <a:endParaRPr/>
                    </a:p>
                  </a:txBody>
                  <a:tcPr marL="121925" marR="121925" marT="60950" marB="60950"/>
                </a:tc>
                <a:tc>
                  <a:txBody>
                    <a:bodyPr/>
                    <a:lstStyle/>
                    <a:p>
                      <a:pPr marL="0" marR="0" lvl="0" indent="0" algn="ctr" rtl="0">
                        <a:spcBef>
                          <a:spcPts val="0"/>
                        </a:spcBef>
                        <a:spcAft>
                          <a:spcPts val="0"/>
                        </a:spcAft>
                        <a:buNone/>
                      </a:pPr>
                      <a:r>
                        <a:rPr lang="en-US" sz="2400"/>
                        <a:t>00110011</a:t>
                      </a:r>
                      <a:endParaRPr/>
                    </a:p>
                  </a:txBody>
                  <a:tcPr marL="121925" marR="121925" marT="60950" marB="60950"/>
                </a:tc>
                <a:extLst>
                  <a:ext uri="{0D108BD9-81ED-4DB2-BD59-A6C34878D82A}">
                    <a16:rowId xmlns:a16="http://schemas.microsoft.com/office/drawing/2014/main" val="10003"/>
                  </a:ext>
                </a:extLst>
              </a:tr>
              <a:tr h="487675">
                <a:tc>
                  <a:txBody>
                    <a:bodyPr/>
                    <a:lstStyle/>
                    <a:p>
                      <a:pPr marL="0" marR="0" lvl="0" indent="0" algn="ctr" rtl="0">
                        <a:spcBef>
                          <a:spcPts val="0"/>
                        </a:spcBef>
                        <a:spcAft>
                          <a:spcPts val="0"/>
                        </a:spcAft>
                        <a:buNone/>
                      </a:pPr>
                      <a:r>
                        <a:rPr lang="en-US" sz="2400"/>
                        <a:t>2002</a:t>
                      </a:r>
                      <a:endParaRPr/>
                    </a:p>
                  </a:txBody>
                  <a:tcPr marL="121925" marR="121925" marT="60950" marB="60950"/>
                </a:tc>
                <a:tc>
                  <a:txBody>
                    <a:bodyPr/>
                    <a:lstStyle/>
                    <a:p>
                      <a:pPr marL="0" marR="0" lvl="0" indent="0" algn="ctr" rtl="0">
                        <a:spcBef>
                          <a:spcPts val="0"/>
                        </a:spcBef>
                        <a:spcAft>
                          <a:spcPts val="0"/>
                        </a:spcAft>
                        <a:buNone/>
                      </a:pPr>
                      <a:r>
                        <a:rPr lang="en-US" sz="2400"/>
                        <a:t>00001111</a:t>
                      </a:r>
                      <a:endParaRPr/>
                    </a:p>
                  </a:txBody>
                  <a:tcPr marL="121925" marR="121925" marT="60950" marB="60950"/>
                </a:tc>
                <a:extLst>
                  <a:ext uri="{0D108BD9-81ED-4DB2-BD59-A6C34878D82A}">
                    <a16:rowId xmlns:a16="http://schemas.microsoft.com/office/drawing/2014/main" val="10004"/>
                  </a:ext>
                </a:extLst>
              </a:tr>
              <a:tr h="487675">
                <a:tc>
                  <a:txBody>
                    <a:bodyPr/>
                    <a:lstStyle/>
                    <a:p>
                      <a:pPr marL="0" marR="0" lvl="0" indent="0" algn="ctr" rtl="0">
                        <a:spcBef>
                          <a:spcPts val="0"/>
                        </a:spcBef>
                        <a:spcAft>
                          <a:spcPts val="0"/>
                        </a:spcAft>
                        <a:buNone/>
                      </a:pPr>
                      <a:r>
                        <a:rPr lang="en-US" sz="2400"/>
                        <a:t>2003</a:t>
                      </a:r>
                      <a:endParaRPr/>
                    </a:p>
                  </a:txBody>
                  <a:tcPr marL="121925" marR="121925" marT="60950" marB="60950"/>
                </a:tc>
                <a:tc>
                  <a:txBody>
                    <a:bodyPr/>
                    <a:lstStyle/>
                    <a:p>
                      <a:pPr marL="0" marR="0" lvl="0" indent="0" algn="ctr" rtl="0">
                        <a:spcBef>
                          <a:spcPts val="0"/>
                        </a:spcBef>
                        <a:spcAft>
                          <a:spcPts val="0"/>
                        </a:spcAft>
                        <a:buNone/>
                      </a:pPr>
                      <a:r>
                        <a:rPr lang="en-US" sz="2400"/>
                        <a:t>11000011</a:t>
                      </a:r>
                      <a:endParaRPr/>
                    </a:p>
                  </a:txBody>
                  <a:tcPr marL="121925" marR="121925" marT="60950" marB="60950"/>
                </a:tc>
                <a:extLst>
                  <a:ext uri="{0D108BD9-81ED-4DB2-BD59-A6C34878D82A}">
                    <a16:rowId xmlns:a16="http://schemas.microsoft.com/office/drawing/2014/main" val="10005"/>
                  </a:ext>
                </a:extLst>
              </a:tr>
            </a:tbl>
          </a:graphicData>
        </a:graphic>
      </p:graphicFrame>
      <p:graphicFrame>
        <p:nvGraphicFramePr>
          <p:cNvPr id="535" name="Google Shape;535;p42"/>
          <p:cNvGraphicFramePr/>
          <p:nvPr/>
        </p:nvGraphicFramePr>
        <p:xfrm>
          <a:off x="1727200" y="2853267"/>
          <a:ext cx="3657600" cy="2926050"/>
        </p:xfrm>
        <a:graphic>
          <a:graphicData uri="http://schemas.openxmlformats.org/drawingml/2006/table">
            <a:tbl>
              <a:tblPr firstRow="1" bandRow="1">
                <a:noFill/>
                <a:tableStyleId>{234F84DE-0EA6-4230-9EEA-1D2B58DE24B1}</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87675">
                <a:tc gridSpan="2">
                  <a:txBody>
                    <a:bodyPr/>
                    <a:lstStyle/>
                    <a:p>
                      <a:pPr marL="0" marR="0" lvl="0" indent="0" algn="ctr" rtl="0">
                        <a:spcBef>
                          <a:spcPts val="0"/>
                        </a:spcBef>
                        <a:spcAft>
                          <a:spcPts val="0"/>
                        </a:spcAft>
                        <a:buNone/>
                      </a:pPr>
                      <a:r>
                        <a:rPr lang="en-US" sz="2400"/>
                        <a:t>Little Endian</a:t>
                      </a:r>
                      <a:endParaRPr/>
                    </a:p>
                  </a:txBody>
                  <a:tcPr marL="121925" marR="121925" marT="60950" marB="60950"/>
                </a:tc>
                <a:tc hMerge="1">
                  <a:txBody>
                    <a:bodyPr/>
                    <a:lstStyle/>
                    <a:p>
                      <a:endParaRPr lang="en-US"/>
                    </a:p>
                  </a:txBody>
                  <a:tcPr/>
                </a:tc>
                <a:extLst>
                  <a:ext uri="{0D108BD9-81ED-4DB2-BD59-A6C34878D82A}">
                    <a16:rowId xmlns:a16="http://schemas.microsoft.com/office/drawing/2014/main" val="10000"/>
                  </a:ext>
                </a:extLst>
              </a:tr>
              <a:tr h="487675">
                <a:tc>
                  <a:txBody>
                    <a:bodyPr/>
                    <a:lstStyle/>
                    <a:p>
                      <a:pPr marL="0" marR="0" lvl="0" indent="0" algn="ctr" rtl="0">
                        <a:spcBef>
                          <a:spcPts val="0"/>
                        </a:spcBef>
                        <a:spcAft>
                          <a:spcPts val="0"/>
                        </a:spcAft>
                        <a:buNone/>
                      </a:pPr>
                      <a:r>
                        <a:rPr lang="en-US" sz="2400"/>
                        <a:t>Address</a:t>
                      </a:r>
                      <a:endParaRPr/>
                    </a:p>
                  </a:txBody>
                  <a:tcPr marL="121925" marR="121925" marT="60950" marB="60950"/>
                </a:tc>
                <a:tc>
                  <a:txBody>
                    <a:bodyPr/>
                    <a:lstStyle/>
                    <a:p>
                      <a:pPr marL="0" marR="0" lvl="0" indent="0" algn="ctr" rtl="0">
                        <a:spcBef>
                          <a:spcPts val="0"/>
                        </a:spcBef>
                        <a:spcAft>
                          <a:spcPts val="0"/>
                        </a:spcAft>
                        <a:buNone/>
                      </a:pPr>
                      <a:r>
                        <a:rPr lang="en-US" sz="2400"/>
                        <a:t>Data</a:t>
                      </a:r>
                      <a:endParaRPr/>
                    </a:p>
                  </a:txBody>
                  <a:tcPr marL="121925" marR="121925" marT="60950" marB="60950"/>
                </a:tc>
                <a:extLst>
                  <a:ext uri="{0D108BD9-81ED-4DB2-BD59-A6C34878D82A}">
                    <a16:rowId xmlns:a16="http://schemas.microsoft.com/office/drawing/2014/main" val="10001"/>
                  </a:ext>
                </a:extLst>
              </a:tr>
              <a:tr h="487675">
                <a:tc>
                  <a:txBody>
                    <a:bodyPr/>
                    <a:lstStyle/>
                    <a:p>
                      <a:pPr marL="0" marR="0" lvl="0" indent="0" algn="ctr" rtl="0">
                        <a:spcBef>
                          <a:spcPts val="0"/>
                        </a:spcBef>
                        <a:spcAft>
                          <a:spcPts val="0"/>
                        </a:spcAft>
                        <a:buNone/>
                      </a:pPr>
                      <a:r>
                        <a:rPr lang="en-US" sz="2400"/>
                        <a:t>2000</a:t>
                      </a:r>
                      <a:endParaRPr/>
                    </a:p>
                  </a:txBody>
                  <a:tcPr marL="121925" marR="121925" marT="60950" marB="60950"/>
                </a:tc>
                <a:tc>
                  <a:txBody>
                    <a:bodyPr/>
                    <a:lstStyle/>
                    <a:p>
                      <a:pPr marL="0" marR="0" lvl="0" indent="0" algn="ctr" rtl="0">
                        <a:spcBef>
                          <a:spcPts val="0"/>
                        </a:spcBef>
                        <a:spcAft>
                          <a:spcPts val="0"/>
                        </a:spcAft>
                        <a:buNone/>
                      </a:pPr>
                      <a:r>
                        <a:rPr lang="en-US" sz="2400"/>
                        <a:t>11000011</a:t>
                      </a:r>
                      <a:endParaRPr/>
                    </a:p>
                  </a:txBody>
                  <a:tcPr marL="121925" marR="121925" marT="60950" marB="60950"/>
                </a:tc>
                <a:extLst>
                  <a:ext uri="{0D108BD9-81ED-4DB2-BD59-A6C34878D82A}">
                    <a16:rowId xmlns:a16="http://schemas.microsoft.com/office/drawing/2014/main" val="10002"/>
                  </a:ext>
                </a:extLst>
              </a:tr>
              <a:tr h="487675">
                <a:tc>
                  <a:txBody>
                    <a:bodyPr/>
                    <a:lstStyle/>
                    <a:p>
                      <a:pPr marL="0" marR="0" lvl="0" indent="0" algn="ctr" rtl="0">
                        <a:spcBef>
                          <a:spcPts val="0"/>
                        </a:spcBef>
                        <a:spcAft>
                          <a:spcPts val="0"/>
                        </a:spcAft>
                        <a:buNone/>
                      </a:pPr>
                      <a:r>
                        <a:rPr lang="en-US" sz="2400"/>
                        <a:t>2001</a:t>
                      </a:r>
                      <a:endParaRPr/>
                    </a:p>
                  </a:txBody>
                  <a:tcPr marL="121925" marR="121925" marT="60950" marB="60950"/>
                </a:tc>
                <a:tc>
                  <a:txBody>
                    <a:bodyPr/>
                    <a:lstStyle/>
                    <a:p>
                      <a:pPr marL="0" marR="0" lvl="0" indent="0" algn="ctr" rtl="0">
                        <a:spcBef>
                          <a:spcPts val="0"/>
                        </a:spcBef>
                        <a:spcAft>
                          <a:spcPts val="0"/>
                        </a:spcAft>
                        <a:buNone/>
                      </a:pPr>
                      <a:r>
                        <a:rPr lang="en-US" sz="2400"/>
                        <a:t>00001111</a:t>
                      </a:r>
                      <a:endParaRPr/>
                    </a:p>
                  </a:txBody>
                  <a:tcPr marL="121925" marR="121925" marT="60950" marB="60950"/>
                </a:tc>
                <a:extLst>
                  <a:ext uri="{0D108BD9-81ED-4DB2-BD59-A6C34878D82A}">
                    <a16:rowId xmlns:a16="http://schemas.microsoft.com/office/drawing/2014/main" val="10003"/>
                  </a:ext>
                </a:extLst>
              </a:tr>
              <a:tr h="487675">
                <a:tc>
                  <a:txBody>
                    <a:bodyPr/>
                    <a:lstStyle/>
                    <a:p>
                      <a:pPr marL="0" marR="0" lvl="0" indent="0" algn="ctr" rtl="0">
                        <a:spcBef>
                          <a:spcPts val="0"/>
                        </a:spcBef>
                        <a:spcAft>
                          <a:spcPts val="0"/>
                        </a:spcAft>
                        <a:buNone/>
                      </a:pPr>
                      <a:r>
                        <a:rPr lang="en-US" sz="2400"/>
                        <a:t>2002</a:t>
                      </a:r>
                      <a:endParaRPr/>
                    </a:p>
                  </a:txBody>
                  <a:tcPr marL="121925" marR="121925" marT="60950" marB="60950"/>
                </a:tc>
                <a:tc>
                  <a:txBody>
                    <a:bodyPr/>
                    <a:lstStyle/>
                    <a:p>
                      <a:pPr marL="0" marR="0" lvl="0" indent="0" algn="ctr" rtl="0">
                        <a:spcBef>
                          <a:spcPts val="0"/>
                        </a:spcBef>
                        <a:spcAft>
                          <a:spcPts val="0"/>
                        </a:spcAft>
                        <a:buNone/>
                      </a:pPr>
                      <a:r>
                        <a:rPr lang="en-US" sz="2400"/>
                        <a:t>00110011</a:t>
                      </a:r>
                      <a:endParaRPr/>
                    </a:p>
                  </a:txBody>
                  <a:tcPr marL="121925" marR="121925" marT="60950" marB="60950"/>
                </a:tc>
                <a:extLst>
                  <a:ext uri="{0D108BD9-81ED-4DB2-BD59-A6C34878D82A}">
                    <a16:rowId xmlns:a16="http://schemas.microsoft.com/office/drawing/2014/main" val="10004"/>
                  </a:ext>
                </a:extLst>
              </a:tr>
              <a:tr h="487675">
                <a:tc>
                  <a:txBody>
                    <a:bodyPr/>
                    <a:lstStyle/>
                    <a:p>
                      <a:pPr marL="0" marR="0" lvl="0" indent="0" algn="ctr" rtl="0">
                        <a:spcBef>
                          <a:spcPts val="0"/>
                        </a:spcBef>
                        <a:spcAft>
                          <a:spcPts val="0"/>
                        </a:spcAft>
                        <a:buNone/>
                      </a:pPr>
                      <a:r>
                        <a:rPr lang="en-US" sz="2400"/>
                        <a:t>2003</a:t>
                      </a:r>
                      <a:endParaRPr/>
                    </a:p>
                  </a:txBody>
                  <a:tcPr marL="121925" marR="121925" marT="60950" marB="60950"/>
                </a:tc>
                <a:tc>
                  <a:txBody>
                    <a:bodyPr/>
                    <a:lstStyle/>
                    <a:p>
                      <a:pPr marL="0" marR="0" lvl="0" indent="0" algn="ctr" rtl="0">
                        <a:spcBef>
                          <a:spcPts val="0"/>
                        </a:spcBef>
                        <a:spcAft>
                          <a:spcPts val="0"/>
                        </a:spcAft>
                        <a:buNone/>
                      </a:pPr>
                      <a:r>
                        <a:rPr lang="en-US" sz="2400"/>
                        <a:t>01010101</a:t>
                      </a:r>
                      <a:endParaRPr/>
                    </a:p>
                  </a:txBody>
                  <a:tcPr marL="121925" marR="121925" marT="60950" marB="60950"/>
                </a:tc>
                <a:extLst>
                  <a:ext uri="{0D108BD9-81ED-4DB2-BD59-A6C34878D82A}">
                    <a16:rowId xmlns:a16="http://schemas.microsoft.com/office/drawing/2014/main" val="10005"/>
                  </a:ext>
                </a:extLst>
              </a:tr>
            </a:tbl>
          </a:graphicData>
        </a:graphic>
      </p:graphicFrame>
      <p:sp>
        <p:nvSpPr>
          <p:cNvPr id="536" name="Google Shape;536;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Memory Access by Instructions</a:t>
            </a:r>
            <a:endParaRPr/>
          </a:p>
        </p:txBody>
      </p:sp>
      <p:sp>
        <p:nvSpPr>
          <p:cNvPr id="542" name="Google Shape;542;p43"/>
          <p:cNvSpPr txBox="1">
            <a:spLocks noGrp="1"/>
          </p:cNvSpPr>
          <p:nvPr>
            <p:ph type="body" idx="1"/>
          </p:nvPr>
        </p:nvSpPr>
        <p:spPr>
          <a:xfrm>
            <a:off x="609600" y="1600202"/>
            <a:ext cx="11277600" cy="4267199"/>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The program instructions and data are stored in memory.</a:t>
            </a:r>
            <a:endParaRPr/>
          </a:p>
          <a:p>
            <a:pPr marL="685800" lvl="1" indent="-228600" algn="l" rtl="0">
              <a:lnSpc>
                <a:spcPct val="110000"/>
              </a:lnSpc>
              <a:spcBef>
                <a:spcPts val="600"/>
              </a:spcBef>
              <a:spcAft>
                <a:spcPts val="0"/>
              </a:spcAft>
              <a:buClr>
                <a:schemeClr val="dk1"/>
              </a:buClr>
              <a:buSzPts val="2400"/>
              <a:buChar char="•"/>
            </a:pPr>
            <a:r>
              <a:rPr lang="en-US"/>
              <a:t>In </a:t>
            </a:r>
            <a:r>
              <a:rPr lang="en-US" i="1">
                <a:solidFill>
                  <a:srgbClr val="800000"/>
                </a:solidFill>
              </a:rPr>
              <a:t>von-Neumann architecture</a:t>
            </a:r>
            <a:r>
              <a:rPr lang="en-US"/>
              <a:t>, they are stored in the same memory.</a:t>
            </a:r>
            <a:endParaRPr/>
          </a:p>
          <a:p>
            <a:pPr marL="685800" lvl="1" indent="-228600" algn="l" rtl="0">
              <a:lnSpc>
                <a:spcPct val="110000"/>
              </a:lnSpc>
              <a:spcBef>
                <a:spcPts val="600"/>
              </a:spcBef>
              <a:spcAft>
                <a:spcPts val="0"/>
              </a:spcAft>
              <a:buClr>
                <a:schemeClr val="dk1"/>
              </a:buClr>
              <a:buSzPts val="2400"/>
              <a:buChar char="•"/>
            </a:pPr>
            <a:r>
              <a:rPr lang="en-US"/>
              <a:t>In </a:t>
            </a:r>
            <a:r>
              <a:rPr lang="en-US" i="1">
                <a:solidFill>
                  <a:srgbClr val="800000"/>
                </a:solidFill>
              </a:rPr>
              <a:t>Harvard architecture</a:t>
            </a:r>
            <a:r>
              <a:rPr lang="en-US"/>
              <a:t>, they are stored in different memories.</a:t>
            </a:r>
            <a:endParaRPr/>
          </a:p>
          <a:p>
            <a:pPr marL="228600" lvl="0" indent="-228600" algn="l" rtl="0">
              <a:lnSpc>
                <a:spcPct val="110000"/>
              </a:lnSpc>
              <a:spcBef>
                <a:spcPts val="1800"/>
              </a:spcBef>
              <a:spcAft>
                <a:spcPts val="0"/>
              </a:spcAft>
              <a:buClr>
                <a:schemeClr val="dk1"/>
              </a:buClr>
              <a:buSzPts val="2800"/>
              <a:buChar char="•"/>
            </a:pPr>
            <a:r>
              <a:rPr lang="en-US"/>
              <a:t>For executing the program, two basic operations are required.</a:t>
            </a:r>
            <a:endParaRPr/>
          </a:p>
          <a:p>
            <a:pPr marL="1081590" lvl="1" indent="-472006" algn="l" rtl="0">
              <a:lnSpc>
                <a:spcPct val="110000"/>
              </a:lnSpc>
              <a:spcBef>
                <a:spcPts val="600"/>
              </a:spcBef>
              <a:spcAft>
                <a:spcPts val="0"/>
              </a:spcAft>
              <a:buClr>
                <a:srgbClr val="0000FF"/>
              </a:buClr>
              <a:buSzPts val="2400"/>
              <a:buFont typeface="Calibri"/>
              <a:buAutoNum type="alphaLcParenR"/>
            </a:pPr>
            <a:r>
              <a:rPr lang="en-US" b="1">
                <a:solidFill>
                  <a:srgbClr val="0000FF"/>
                </a:solidFill>
              </a:rPr>
              <a:t>Load</a:t>
            </a:r>
            <a:r>
              <a:rPr lang="en-US"/>
              <a:t>: The contents of a specified memory location is read into a processor register.			</a:t>
            </a:r>
            <a:r>
              <a:rPr lang="en-US" i="1">
                <a:solidFill>
                  <a:srgbClr val="000090"/>
                </a:solidFill>
              </a:rPr>
              <a:t>LOAD  R1, 2000</a:t>
            </a:r>
            <a:endParaRPr/>
          </a:p>
          <a:p>
            <a:pPr marL="1081590" lvl="1" indent="-472006" algn="l" rtl="0">
              <a:lnSpc>
                <a:spcPct val="110000"/>
              </a:lnSpc>
              <a:spcBef>
                <a:spcPts val="600"/>
              </a:spcBef>
              <a:spcAft>
                <a:spcPts val="0"/>
              </a:spcAft>
              <a:buClr>
                <a:srgbClr val="0000FF"/>
              </a:buClr>
              <a:buSzPts val="2400"/>
              <a:buFont typeface="Calibri"/>
              <a:buAutoNum type="alphaLcParenR"/>
            </a:pPr>
            <a:r>
              <a:rPr lang="en-US" b="1">
                <a:solidFill>
                  <a:srgbClr val="0000FF"/>
                </a:solidFill>
              </a:rPr>
              <a:t>Store</a:t>
            </a:r>
            <a:r>
              <a:rPr lang="en-US"/>
              <a:t>: The contents of a processor register is written into a specified memory location.			</a:t>
            </a:r>
            <a:r>
              <a:rPr lang="en-US" i="1">
                <a:solidFill>
                  <a:srgbClr val="000090"/>
                </a:solidFill>
              </a:rPr>
              <a:t>STORE  2020, R3</a:t>
            </a:r>
            <a:endParaRPr/>
          </a:p>
          <a:p>
            <a:pPr marL="228600" lvl="0" indent="-50800" algn="l" rtl="0">
              <a:lnSpc>
                <a:spcPct val="110000"/>
              </a:lnSpc>
              <a:spcBef>
                <a:spcPts val="600"/>
              </a:spcBef>
              <a:spcAft>
                <a:spcPts val="0"/>
              </a:spcAft>
              <a:buClr>
                <a:schemeClr val="dk1"/>
              </a:buClr>
              <a:buSzPts val="2800"/>
              <a:buNone/>
            </a:pPr>
            <a:endParaRPr/>
          </a:p>
        </p:txBody>
      </p:sp>
      <p:sp>
        <p:nvSpPr>
          <p:cNvPr id="543" name="Google Shape;543;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An Example</a:t>
            </a:r>
            <a:endParaRPr/>
          </a:p>
        </p:txBody>
      </p:sp>
      <p:sp>
        <p:nvSpPr>
          <p:cNvPr id="549" name="Google Shape;549;p44"/>
          <p:cNvSpPr txBox="1">
            <a:spLocks noGrp="1"/>
          </p:cNvSpPr>
          <p:nvPr>
            <p:ph type="body" idx="1"/>
          </p:nvPr>
        </p:nvSpPr>
        <p:spPr>
          <a:xfrm>
            <a:off x="609600" y="1397001"/>
            <a:ext cx="10972800" cy="44704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u="sng"/>
              <a:t>Compute S = (A + B) – (C – D) </a:t>
            </a:r>
            <a:endParaRPr/>
          </a:p>
          <a:p>
            <a:pPr marL="609585" lvl="1" indent="0" algn="l" rtl="0">
              <a:lnSpc>
                <a:spcPct val="110000"/>
              </a:lnSpc>
              <a:spcBef>
                <a:spcPts val="800"/>
              </a:spcBef>
              <a:spcAft>
                <a:spcPts val="0"/>
              </a:spcAft>
              <a:buClr>
                <a:schemeClr val="dk1"/>
              </a:buClr>
              <a:buSzPts val="2400"/>
              <a:buNone/>
            </a:pPr>
            <a:r>
              <a:rPr lang="en-US"/>
              <a:t>   LOAD    R1,A</a:t>
            </a:r>
            <a:endParaRPr/>
          </a:p>
          <a:p>
            <a:pPr marL="609585" lvl="1" indent="0" algn="l" rtl="0">
              <a:lnSpc>
                <a:spcPct val="110000"/>
              </a:lnSpc>
              <a:spcBef>
                <a:spcPts val="600"/>
              </a:spcBef>
              <a:spcAft>
                <a:spcPts val="0"/>
              </a:spcAft>
              <a:buClr>
                <a:schemeClr val="dk1"/>
              </a:buClr>
              <a:buSzPts val="2400"/>
              <a:buNone/>
            </a:pPr>
            <a:r>
              <a:rPr lang="en-US"/>
              <a:t>   LOAD    R2,B</a:t>
            </a:r>
            <a:endParaRPr/>
          </a:p>
          <a:p>
            <a:pPr marL="609585" lvl="1" indent="0" algn="l" rtl="0">
              <a:lnSpc>
                <a:spcPct val="110000"/>
              </a:lnSpc>
              <a:spcBef>
                <a:spcPts val="600"/>
              </a:spcBef>
              <a:spcAft>
                <a:spcPts val="0"/>
              </a:spcAft>
              <a:buClr>
                <a:schemeClr val="dk1"/>
              </a:buClr>
              <a:buSzPts val="2400"/>
              <a:buNone/>
            </a:pPr>
            <a:r>
              <a:rPr lang="en-US"/>
              <a:t>   ADD      R3,R1,R2	// R3 = A + B</a:t>
            </a:r>
            <a:endParaRPr/>
          </a:p>
          <a:p>
            <a:pPr marL="609585" lvl="1" indent="0" algn="l" rtl="0">
              <a:lnSpc>
                <a:spcPct val="110000"/>
              </a:lnSpc>
              <a:spcBef>
                <a:spcPts val="600"/>
              </a:spcBef>
              <a:spcAft>
                <a:spcPts val="0"/>
              </a:spcAft>
              <a:buClr>
                <a:schemeClr val="dk1"/>
              </a:buClr>
              <a:buSzPts val="2400"/>
              <a:buNone/>
            </a:pPr>
            <a:r>
              <a:rPr lang="en-US"/>
              <a:t>   LOAD    R1,C</a:t>
            </a:r>
            <a:endParaRPr/>
          </a:p>
          <a:p>
            <a:pPr marL="609585" lvl="1" indent="0" algn="l" rtl="0">
              <a:lnSpc>
                <a:spcPct val="110000"/>
              </a:lnSpc>
              <a:spcBef>
                <a:spcPts val="600"/>
              </a:spcBef>
              <a:spcAft>
                <a:spcPts val="0"/>
              </a:spcAft>
              <a:buClr>
                <a:schemeClr val="dk1"/>
              </a:buClr>
              <a:buSzPts val="2400"/>
              <a:buNone/>
            </a:pPr>
            <a:r>
              <a:rPr lang="en-US"/>
              <a:t>   LOAD    R2,D</a:t>
            </a:r>
            <a:endParaRPr/>
          </a:p>
          <a:p>
            <a:pPr marL="609585" lvl="1" indent="0" algn="l" rtl="0">
              <a:lnSpc>
                <a:spcPct val="110000"/>
              </a:lnSpc>
              <a:spcBef>
                <a:spcPts val="600"/>
              </a:spcBef>
              <a:spcAft>
                <a:spcPts val="0"/>
              </a:spcAft>
              <a:buClr>
                <a:schemeClr val="dk1"/>
              </a:buClr>
              <a:buSzPts val="2400"/>
              <a:buNone/>
            </a:pPr>
            <a:r>
              <a:rPr lang="en-US"/>
              <a:t>   SUB      R4,R1,R2	// R4 = C – D </a:t>
            </a:r>
            <a:endParaRPr/>
          </a:p>
          <a:p>
            <a:pPr marL="609585" lvl="1" indent="0" algn="l" rtl="0">
              <a:lnSpc>
                <a:spcPct val="110000"/>
              </a:lnSpc>
              <a:spcBef>
                <a:spcPts val="600"/>
              </a:spcBef>
              <a:spcAft>
                <a:spcPts val="0"/>
              </a:spcAft>
              <a:buClr>
                <a:schemeClr val="dk1"/>
              </a:buClr>
              <a:buSzPts val="2400"/>
              <a:buNone/>
            </a:pPr>
            <a:r>
              <a:rPr lang="en-US"/>
              <a:t>   SUB      R3,R3,R4	// R3 = R3 – R4</a:t>
            </a:r>
            <a:endParaRPr/>
          </a:p>
          <a:p>
            <a:pPr marL="609585" lvl="1" indent="0" algn="l" rtl="0">
              <a:lnSpc>
                <a:spcPct val="110000"/>
              </a:lnSpc>
              <a:spcBef>
                <a:spcPts val="600"/>
              </a:spcBef>
              <a:spcAft>
                <a:spcPts val="0"/>
              </a:spcAft>
              <a:buClr>
                <a:schemeClr val="dk1"/>
              </a:buClr>
              <a:buSzPts val="2400"/>
              <a:buNone/>
            </a:pPr>
            <a:r>
              <a:rPr lang="en-US"/>
              <a:t>   STORE  S,R3</a:t>
            </a:r>
            <a:endParaRPr/>
          </a:p>
        </p:txBody>
      </p:sp>
      <p:sp>
        <p:nvSpPr>
          <p:cNvPr id="550" name="Google Shape;550;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Classification of Computer Architecture</a:t>
            </a:r>
            <a:endParaRPr/>
          </a:p>
        </p:txBody>
      </p:sp>
      <p:sp>
        <p:nvSpPr>
          <p:cNvPr id="556" name="Google Shape;556;p45"/>
          <p:cNvSpPr txBox="1">
            <a:spLocks noGrp="1"/>
          </p:cNvSpPr>
          <p:nvPr>
            <p:ph type="body" idx="1"/>
          </p:nvPr>
        </p:nvSpPr>
        <p:spPr>
          <a:xfrm>
            <a:off x="609600" y="1600202"/>
            <a:ext cx="11379200" cy="4267199"/>
          </a:xfrm>
          <a:prstGeom prst="rect">
            <a:avLst/>
          </a:prstGeom>
          <a:noFill/>
          <a:ln>
            <a:noFill/>
          </a:ln>
        </p:spPr>
        <p:txBody>
          <a:bodyPr spcFirstLastPara="1" wrap="square" lIns="91425" tIns="45700" rIns="91425" bIns="45700" anchor="t" anchorCtr="0">
            <a:normAutofit/>
          </a:bodyPr>
          <a:lstStyle/>
          <a:p>
            <a:pPr marL="364058" lvl="0" indent="-364058" algn="l" rtl="0">
              <a:lnSpc>
                <a:spcPct val="110000"/>
              </a:lnSpc>
              <a:spcBef>
                <a:spcPts val="0"/>
              </a:spcBef>
              <a:spcAft>
                <a:spcPts val="0"/>
              </a:spcAft>
              <a:buClr>
                <a:schemeClr val="dk1"/>
              </a:buClr>
              <a:buSzPts val="2800"/>
              <a:buChar char="•"/>
            </a:pPr>
            <a:r>
              <a:rPr lang="en-US"/>
              <a:t>Broadly can be classified into two types:</a:t>
            </a:r>
            <a:endParaRPr/>
          </a:p>
          <a:p>
            <a:pPr marL="1219170" lvl="1" indent="-609585" algn="l" rtl="0">
              <a:lnSpc>
                <a:spcPct val="110000"/>
              </a:lnSpc>
              <a:spcBef>
                <a:spcPts val="600"/>
              </a:spcBef>
              <a:spcAft>
                <a:spcPts val="0"/>
              </a:spcAft>
              <a:buClr>
                <a:schemeClr val="dk1"/>
              </a:buClr>
              <a:buSzPts val="2400"/>
              <a:buFont typeface="Calibri"/>
              <a:buAutoNum type="alphaLcParenR"/>
            </a:pPr>
            <a:r>
              <a:rPr lang="en-US"/>
              <a:t>Von-Neumann architecture</a:t>
            </a:r>
            <a:endParaRPr/>
          </a:p>
          <a:p>
            <a:pPr marL="1219170" lvl="1" indent="-609585" algn="l" rtl="0">
              <a:lnSpc>
                <a:spcPct val="110000"/>
              </a:lnSpc>
              <a:spcBef>
                <a:spcPts val="600"/>
              </a:spcBef>
              <a:spcAft>
                <a:spcPts val="0"/>
              </a:spcAft>
              <a:buClr>
                <a:schemeClr val="dk1"/>
              </a:buClr>
              <a:buSzPts val="2400"/>
              <a:buFont typeface="Calibri"/>
              <a:buAutoNum type="alphaLcParenR"/>
            </a:pPr>
            <a:r>
              <a:rPr lang="en-US"/>
              <a:t>Harvard architecture</a:t>
            </a:r>
            <a:endParaRPr/>
          </a:p>
          <a:p>
            <a:pPr marL="364058" lvl="0" indent="-364058" algn="l" rtl="0">
              <a:lnSpc>
                <a:spcPct val="110000"/>
              </a:lnSpc>
              <a:spcBef>
                <a:spcPts val="600"/>
              </a:spcBef>
              <a:spcAft>
                <a:spcPts val="0"/>
              </a:spcAft>
              <a:buClr>
                <a:schemeClr val="dk1"/>
              </a:buClr>
              <a:buSzPts val="2800"/>
              <a:buChar char="•"/>
            </a:pPr>
            <a:r>
              <a:rPr lang="en-US"/>
              <a:t>How is a computer different from a calculator?</a:t>
            </a:r>
            <a:endParaRPr/>
          </a:p>
          <a:p>
            <a:pPr marL="897444" lvl="1" indent="-364058" algn="l" rtl="0">
              <a:lnSpc>
                <a:spcPct val="110000"/>
              </a:lnSpc>
              <a:spcBef>
                <a:spcPts val="600"/>
              </a:spcBef>
              <a:spcAft>
                <a:spcPts val="0"/>
              </a:spcAft>
              <a:buClr>
                <a:schemeClr val="dk1"/>
              </a:buClr>
              <a:buSzPts val="2400"/>
              <a:buChar char="•"/>
            </a:pPr>
            <a:r>
              <a:rPr lang="en-US"/>
              <a:t>They have similar circuitry inside (e.g. for doing arithmetic).</a:t>
            </a:r>
            <a:endParaRPr/>
          </a:p>
          <a:p>
            <a:pPr marL="897444" lvl="1" indent="-364058" algn="l" rtl="0">
              <a:lnSpc>
                <a:spcPct val="110000"/>
              </a:lnSpc>
              <a:spcBef>
                <a:spcPts val="600"/>
              </a:spcBef>
              <a:spcAft>
                <a:spcPts val="0"/>
              </a:spcAft>
              <a:buClr>
                <a:schemeClr val="dk1"/>
              </a:buClr>
              <a:buSzPts val="2400"/>
              <a:buChar char="•"/>
            </a:pPr>
            <a:r>
              <a:rPr lang="en-US"/>
              <a:t>In a calculator, user has to interactively give the sequence of commands.</a:t>
            </a:r>
            <a:endParaRPr/>
          </a:p>
          <a:p>
            <a:pPr marL="897444" lvl="1" indent="-364058" algn="l" rtl="0">
              <a:lnSpc>
                <a:spcPct val="110000"/>
              </a:lnSpc>
              <a:spcBef>
                <a:spcPts val="600"/>
              </a:spcBef>
              <a:spcAft>
                <a:spcPts val="0"/>
              </a:spcAft>
              <a:buClr>
                <a:schemeClr val="dk1"/>
              </a:buClr>
              <a:buSzPts val="2400"/>
              <a:buChar char="•"/>
            </a:pPr>
            <a:r>
              <a:rPr lang="en-US"/>
              <a:t>In contrast, a computer works using the </a:t>
            </a:r>
            <a:r>
              <a:rPr lang="en-US" i="1">
                <a:solidFill>
                  <a:srgbClr val="800000"/>
                </a:solidFill>
              </a:rPr>
              <a:t>stored-program </a:t>
            </a:r>
            <a:r>
              <a:rPr lang="en-US"/>
              <a:t>concept.</a:t>
            </a:r>
            <a:endParaRPr/>
          </a:p>
          <a:p>
            <a:pPr marL="897444" lvl="1" indent="-364058" algn="l" rtl="0">
              <a:lnSpc>
                <a:spcPct val="110000"/>
              </a:lnSpc>
              <a:spcBef>
                <a:spcPts val="600"/>
              </a:spcBef>
              <a:spcAft>
                <a:spcPts val="0"/>
              </a:spcAft>
              <a:buClr>
                <a:schemeClr val="dk1"/>
              </a:buClr>
              <a:buSzPts val="2400"/>
              <a:buChar char="•"/>
            </a:pPr>
            <a:r>
              <a:rPr lang="en-US"/>
              <a:t>Write a program, store it in memory, and run it in one go.</a:t>
            </a:r>
            <a:endParaRPr/>
          </a:p>
        </p:txBody>
      </p:sp>
      <p:sp>
        <p:nvSpPr>
          <p:cNvPr id="557" name="Google Shape;557;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46"/>
          <p:cNvSpPr txBox="1">
            <a:spLocks noGrp="1"/>
          </p:cNvSpPr>
          <p:nvPr>
            <p:ph type="title"/>
          </p:nvPr>
        </p:nvSpPr>
        <p:spPr>
          <a:xfrm>
            <a:off x="570840" y="35175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Von-Neumann Architecture</a:t>
            </a:r>
            <a:endParaRPr/>
          </a:p>
        </p:txBody>
      </p:sp>
      <p:sp>
        <p:nvSpPr>
          <p:cNvPr id="563" name="Google Shape;563;p46"/>
          <p:cNvSpPr txBox="1">
            <a:spLocks noGrp="1"/>
          </p:cNvSpPr>
          <p:nvPr>
            <p:ph type="body" idx="1"/>
          </p:nvPr>
        </p:nvSpPr>
        <p:spPr>
          <a:xfrm>
            <a:off x="406400" y="1461161"/>
            <a:ext cx="6197600" cy="4673601"/>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400"/>
              <a:buChar char="•"/>
            </a:pPr>
            <a:r>
              <a:rPr lang="en-US" sz="2400"/>
              <a:t>Instructions and data are stored in the </a:t>
            </a:r>
            <a:r>
              <a:rPr lang="en-US" sz="2400" i="1">
                <a:solidFill>
                  <a:srgbClr val="800000"/>
                </a:solidFill>
              </a:rPr>
              <a:t>same</a:t>
            </a:r>
            <a:r>
              <a:rPr lang="en-US" sz="2400"/>
              <a:t> memory module.</a:t>
            </a:r>
            <a:endParaRPr/>
          </a:p>
          <a:p>
            <a:pPr marL="228600" lvl="0" indent="-228600" algn="l" rtl="0">
              <a:lnSpc>
                <a:spcPct val="110000"/>
              </a:lnSpc>
              <a:spcBef>
                <a:spcPts val="600"/>
              </a:spcBef>
              <a:spcAft>
                <a:spcPts val="0"/>
              </a:spcAft>
              <a:buClr>
                <a:schemeClr val="dk1"/>
              </a:buClr>
              <a:buSzPts val="2400"/>
              <a:buChar char="•"/>
            </a:pPr>
            <a:r>
              <a:rPr lang="en-US" sz="2400"/>
              <a:t>More flexible and easier to implement.</a:t>
            </a:r>
            <a:endParaRPr/>
          </a:p>
          <a:p>
            <a:pPr marL="228600" lvl="0" indent="-228600" algn="l" rtl="0">
              <a:lnSpc>
                <a:spcPct val="110000"/>
              </a:lnSpc>
              <a:spcBef>
                <a:spcPts val="600"/>
              </a:spcBef>
              <a:spcAft>
                <a:spcPts val="0"/>
              </a:spcAft>
              <a:buClr>
                <a:schemeClr val="dk1"/>
              </a:buClr>
              <a:buSzPts val="2400"/>
              <a:buChar char="•"/>
            </a:pPr>
            <a:r>
              <a:rPr lang="en-US" sz="2400"/>
              <a:t>Suitable for most of the general purpose processors.</a:t>
            </a:r>
            <a:endParaRPr/>
          </a:p>
          <a:p>
            <a:pPr marL="228600" lvl="0" indent="-228600" algn="l" rtl="0">
              <a:lnSpc>
                <a:spcPct val="110000"/>
              </a:lnSpc>
              <a:spcBef>
                <a:spcPts val="600"/>
              </a:spcBef>
              <a:spcAft>
                <a:spcPts val="0"/>
              </a:spcAft>
              <a:buClr>
                <a:schemeClr val="dk1"/>
              </a:buClr>
              <a:buSzPts val="2400"/>
              <a:buChar char="•"/>
            </a:pPr>
            <a:r>
              <a:rPr lang="en-US" sz="2400"/>
              <a:t>General disadvantage:</a:t>
            </a:r>
            <a:endParaRPr/>
          </a:p>
          <a:p>
            <a:pPr marL="685800" lvl="1" indent="-228600" algn="l" rtl="0">
              <a:lnSpc>
                <a:spcPct val="110000"/>
              </a:lnSpc>
              <a:spcBef>
                <a:spcPts val="600"/>
              </a:spcBef>
              <a:spcAft>
                <a:spcPts val="0"/>
              </a:spcAft>
              <a:buClr>
                <a:schemeClr val="dk1"/>
              </a:buClr>
              <a:buSzPts val="2000"/>
              <a:buChar char="•"/>
            </a:pPr>
            <a:r>
              <a:rPr lang="en-US" sz="2000"/>
              <a:t>The processor-memory bus acts as the bottleneck.</a:t>
            </a:r>
            <a:endParaRPr/>
          </a:p>
          <a:p>
            <a:pPr marL="685800" lvl="1" indent="-228600" algn="l" rtl="0">
              <a:lnSpc>
                <a:spcPct val="110000"/>
              </a:lnSpc>
              <a:spcBef>
                <a:spcPts val="600"/>
              </a:spcBef>
              <a:spcAft>
                <a:spcPts val="0"/>
              </a:spcAft>
              <a:buClr>
                <a:schemeClr val="dk1"/>
              </a:buClr>
              <a:buSzPts val="2000"/>
              <a:buChar char="•"/>
            </a:pPr>
            <a:r>
              <a:rPr lang="en-US" sz="2000"/>
              <a:t>All instructions and data are moved back and forth through the pipe.</a:t>
            </a:r>
            <a:endParaRPr/>
          </a:p>
        </p:txBody>
      </p:sp>
      <p:sp>
        <p:nvSpPr>
          <p:cNvPr id="564" name="Google Shape;564;p46"/>
          <p:cNvSpPr/>
          <p:nvPr/>
        </p:nvSpPr>
        <p:spPr>
          <a:xfrm>
            <a:off x="7112000" y="1905000"/>
            <a:ext cx="1524000" cy="25400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Processor</a:t>
            </a:r>
            <a:endParaRPr/>
          </a:p>
        </p:txBody>
      </p:sp>
      <p:sp>
        <p:nvSpPr>
          <p:cNvPr id="565" name="Google Shape;565;p46"/>
          <p:cNvSpPr/>
          <p:nvPr/>
        </p:nvSpPr>
        <p:spPr>
          <a:xfrm>
            <a:off x="10160000" y="2514600"/>
            <a:ext cx="1625600" cy="12192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Program / Data</a:t>
            </a:r>
            <a:endParaRPr/>
          </a:p>
          <a:p>
            <a:pPr marL="0" marR="0" lvl="0" indent="0" algn="ctr" rtl="0">
              <a:spcBef>
                <a:spcPts val="0"/>
              </a:spcBef>
              <a:spcAft>
                <a:spcPts val="0"/>
              </a:spcAft>
              <a:buNone/>
            </a:pPr>
            <a:r>
              <a:rPr lang="en-US" sz="2400">
                <a:solidFill>
                  <a:schemeClr val="dk1"/>
                </a:solidFill>
                <a:latin typeface="Calibri"/>
                <a:ea typeface="Calibri"/>
                <a:cs typeface="Calibri"/>
                <a:sym typeface="Calibri"/>
              </a:rPr>
              <a:t>Memory</a:t>
            </a:r>
            <a:endParaRPr/>
          </a:p>
        </p:txBody>
      </p:sp>
      <p:sp>
        <p:nvSpPr>
          <p:cNvPr id="566" name="Google Shape;566;p46"/>
          <p:cNvSpPr/>
          <p:nvPr/>
        </p:nvSpPr>
        <p:spPr>
          <a:xfrm>
            <a:off x="8636001" y="2971800"/>
            <a:ext cx="1517151" cy="355600"/>
          </a:xfrm>
          <a:prstGeom prst="leftRightArrow">
            <a:avLst>
              <a:gd name="adj1" fmla="val 50000"/>
              <a:gd name="adj2" fmla="val 50000"/>
            </a:avLst>
          </a:prstGeom>
          <a:solidFill>
            <a:srgbClr val="E1EFD8"/>
          </a:solidFill>
          <a:ln w="127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67" name="Google Shape;567;p46"/>
          <p:cNvSpPr/>
          <p:nvPr/>
        </p:nvSpPr>
        <p:spPr>
          <a:xfrm>
            <a:off x="8636001" y="2971800"/>
            <a:ext cx="1517151" cy="355600"/>
          </a:xfrm>
          <a:prstGeom prst="leftRightArrow">
            <a:avLst>
              <a:gd name="adj1" fmla="val 50000"/>
              <a:gd name="adj2" fmla="val 50000"/>
            </a:avLst>
          </a:prstGeom>
          <a:solidFill>
            <a:srgbClr val="FF0000"/>
          </a:solidFill>
          <a:ln w="127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68" name="Google Shape;568;p46"/>
          <p:cNvSpPr txBox="1"/>
          <p:nvPr/>
        </p:nvSpPr>
        <p:spPr>
          <a:xfrm>
            <a:off x="12968068" y="5013297"/>
            <a:ext cx="18473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569" name="Google Shape;569;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7"/>
                                        </p:tgtEl>
                                        <p:attrNameLst>
                                          <p:attrName>style.visibility</p:attrName>
                                        </p:attrNameLst>
                                      </p:cBhvr>
                                      <p:to>
                                        <p:strVal val="visible"/>
                                      </p:to>
                                    </p:set>
                                    <p:animEffect transition="in" filter="fade">
                                      <p:cBhvr>
                                        <p:cTn id="7" dur="500"/>
                                        <p:tgtEl>
                                          <p:spTgt spid="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47"/>
          <p:cNvSpPr txBox="1">
            <a:spLocks noGrp="1"/>
          </p:cNvSpPr>
          <p:nvPr>
            <p:ph type="title"/>
          </p:nvPr>
        </p:nvSpPr>
        <p:spPr>
          <a:xfrm>
            <a:off x="55308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Harvard Architecture </a:t>
            </a:r>
            <a:endParaRPr/>
          </a:p>
        </p:txBody>
      </p:sp>
      <p:sp>
        <p:nvSpPr>
          <p:cNvPr id="575" name="Google Shape;575;p47"/>
          <p:cNvSpPr txBox="1">
            <a:spLocks noGrp="1"/>
          </p:cNvSpPr>
          <p:nvPr>
            <p:ph type="body" idx="1"/>
          </p:nvPr>
        </p:nvSpPr>
        <p:spPr>
          <a:xfrm>
            <a:off x="388796" y="1626118"/>
            <a:ext cx="6418404" cy="4267199"/>
          </a:xfrm>
          <a:prstGeom prst="rect">
            <a:avLst/>
          </a:prstGeom>
          <a:noFill/>
          <a:ln>
            <a:noFill/>
          </a:ln>
        </p:spPr>
        <p:txBody>
          <a:bodyPr spcFirstLastPara="1" wrap="square" lIns="91425" tIns="45700" rIns="91425" bIns="45700" anchor="t" anchorCtr="0">
            <a:normAutofit fontScale="92500"/>
          </a:bodyPr>
          <a:lstStyle/>
          <a:p>
            <a:pPr marL="364058" lvl="0" indent="-364120" algn="l" rtl="0">
              <a:lnSpc>
                <a:spcPct val="110000"/>
              </a:lnSpc>
              <a:spcBef>
                <a:spcPts val="0"/>
              </a:spcBef>
              <a:spcAft>
                <a:spcPts val="0"/>
              </a:spcAft>
              <a:buClr>
                <a:schemeClr val="dk1"/>
              </a:buClr>
              <a:buSzPct val="100000"/>
              <a:buChar char="•"/>
            </a:pPr>
            <a:r>
              <a:rPr lang="en-US" sz="2667"/>
              <a:t>Separate memory for program and data.</a:t>
            </a:r>
            <a:endParaRPr/>
          </a:p>
          <a:p>
            <a:pPr marL="685800" lvl="1" indent="-228600" algn="l" rtl="0">
              <a:lnSpc>
                <a:spcPct val="110000"/>
              </a:lnSpc>
              <a:spcBef>
                <a:spcPts val="600"/>
              </a:spcBef>
              <a:spcAft>
                <a:spcPts val="0"/>
              </a:spcAft>
              <a:buClr>
                <a:schemeClr val="dk1"/>
              </a:buClr>
              <a:buSzPct val="100000"/>
              <a:buChar char="•"/>
            </a:pPr>
            <a:r>
              <a:rPr lang="en-US"/>
              <a:t>Instructions are stored in program memory and data are stored in data memory.</a:t>
            </a:r>
            <a:endParaRPr/>
          </a:p>
          <a:p>
            <a:pPr marL="364058" lvl="0" indent="-364120" algn="l" rtl="0">
              <a:lnSpc>
                <a:spcPct val="110000"/>
              </a:lnSpc>
              <a:spcBef>
                <a:spcPts val="600"/>
              </a:spcBef>
              <a:spcAft>
                <a:spcPts val="0"/>
              </a:spcAft>
              <a:buClr>
                <a:schemeClr val="dk1"/>
              </a:buClr>
              <a:buSzPct val="100000"/>
              <a:buChar char="•"/>
            </a:pPr>
            <a:r>
              <a:rPr lang="en-US" sz="2667"/>
              <a:t>Instruction and data accesses can be done in parallel.</a:t>
            </a:r>
            <a:endParaRPr/>
          </a:p>
          <a:p>
            <a:pPr marL="364058" lvl="0" indent="-364120" algn="l" rtl="0">
              <a:lnSpc>
                <a:spcPct val="110000"/>
              </a:lnSpc>
              <a:spcBef>
                <a:spcPts val="600"/>
              </a:spcBef>
              <a:spcAft>
                <a:spcPts val="0"/>
              </a:spcAft>
              <a:buClr>
                <a:schemeClr val="dk1"/>
              </a:buClr>
              <a:buSzPct val="100000"/>
              <a:buChar char="•"/>
            </a:pPr>
            <a:r>
              <a:rPr lang="en-US" sz="2667"/>
              <a:t>Some microcontrollers and pipelines with separate instruction and data caches follow this concept.</a:t>
            </a:r>
            <a:endParaRPr/>
          </a:p>
          <a:p>
            <a:pPr marL="364058" lvl="0" indent="-364120" algn="l" rtl="0">
              <a:lnSpc>
                <a:spcPct val="110000"/>
              </a:lnSpc>
              <a:spcBef>
                <a:spcPts val="600"/>
              </a:spcBef>
              <a:spcAft>
                <a:spcPts val="0"/>
              </a:spcAft>
              <a:buClr>
                <a:schemeClr val="dk1"/>
              </a:buClr>
              <a:buSzPct val="100000"/>
              <a:buChar char="•"/>
            </a:pPr>
            <a:r>
              <a:rPr lang="en-US" sz="2667"/>
              <a:t>The processor-memory bottleneck remains.</a:t>
            </a:r>
            <a:endParaRPr/>
          </a:p>
        </p:txBody>
      </p:sp>
      <p:sp>
        <p:nvSpPr>
          <p:cNvPr id="576" name="Google Shape;576;p47"/>
          <p:cNvSpPr/>
          <p:nvPr/>
        </p:nvSpPr>
        <p:spPr>
          <a:xfrm>
            <a:off x="7213600" y="1803400"/>
            <a:ext cx="1524000" cy="25400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Processor</a:t>
            </a:r>
            <a:endParaRPr/>
          </a:p>
        </p:txBody>
      </p:sp>
      <p:sp>
        <p:nvSpPr>
          <p:cNvPr id="577" name="Google Shape;577;p47"/>
          <p:cNvSpPr/>
          <p:nvPr/>
        </p:nvSpPr>
        <p:spPr>
          <a:xfrm>
            <a:off x="10261600" y="1905000"/>
            <a:ext cx="1625600" cy="9144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Program</a:t>
            </a:r>
            <a:endParaRPr/>
          </a:p>
          <a:p>
            <a:pPr marL="0" marR="0" lvl="0" indent="0" algn="ctr" rtl="0">
              <a:spcBef>
                <a:spcPts val="0"/>
              </a:spcBef>
              <a:spcAft>
                <a:spcPts val="0"/>
              </a:spcAft>
              <a:buNone/>
            </a:pPr>
            <a:r>
              <a:rPr lang="en-US" sz="2400">
                <a:solidFill>
                  <a:schemeClr val="dk1"/>
                </a:solidFill>
                <a:latin typeface="Calibri"/>
                <a:ea typeface="Calibri"/>
                <a:cs typeface="Calibri"/>
                <a:sym typeface="Calibri"/>
              </a:rPr>
              <a:t>Memory</a:t>
            </a:r>
            <a:endParaRPr/>
          </a:p>
        </p:txBody>
      </p:sp>
      <p:sp>
        <p:nvSpPr>
          <p:cNvPr id="578" name="Google Shape;578;p47"/>
          <p:cNvSpPr/>
          <p:nvPr/>
        </p:nvSpPr>
        <p:spPr>
          <a:xfrm>
            <a:off x="10254751" y="3225800"/>
            <a:ext cx="1625600" cy="914400"/>
          </a:xfrm>
          <a:prstGeom prst="rect">
            <a:avLst/>
          </a:prstGeom>
          <a:solidFill>
            <a:srgbClr val="DDEAF6"/>
          </a:solidFill>
          <a:ln w="127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Data Memory</a:t>
            </a:r>
            <a:endParaRPr/>
          </a:p>
        </p:txBody>
      </p:sp>
      <p:sp>
        <p:nvSpPr>
          <p:cNvPr id="579" name="Google Shape;579;p47"/>
          <p:cNvSpPr/>
          <p:nvPr/>
        </p:nvSpPr>
        <p:spPr>
          <a:xfrm>
            <a:off x="8737601" y="2209800"/>
            <a:ext cx="1517151" cy="355600"/>
          </a:xfrm>
          <a:prstGeom prst="leftRightArrow">
            <a:avLst>
              <a:gd name="adj1" fmla="val 50000"/>
              <a:gd name="adj2" fmla="val 50000"/>
            </a:avLst>
          </a:prstGeom>
          <a:solidFill>
            <a:srgbClr val="E1EFD8"/>
          </a:solidFill>
          <a:ln w="127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80" name="Google Shape;580;p47"/>
          <p:cNvSpPr/>
          <p:nvPr/>
        </p:nvSpPr>
        <p:spPr>
          <a:xfrm>
            <a:off x="8753584" y="3505200"/>
            <a:ext cx="1501168" cy="355600"/>
          </a:xfrm>
          <a:prstGeom prst="leftRightArrow">
            <a:avLst>
              <a:gd name="adj1" fmla="val 50000"/>
              <a:gd name="adj2" fmla="val 50000"/>
            </a:avLst>
          </a:prstGeom>
          <a:solidFill>
            <a:srgbClr val="E1EFD8"/>
          </a:solidFill>
          <a:ln w="127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81" name="Google Shape;581;p47"/>
          <p:cNvSpPr/>
          <p:nvPr/>
        </p:nvSpPr>
        <p:spPr>
          <a:xfrm>
            <a:off x="8737601" y="2209800"/>
            <a:ext cx="1517151" cy="355600"/>
          </a:xfrm>
          <a:prstGeom prst="leftRightArrow">
            <a:avLst>
              <a:gd name="adj1" fmla="val 50000"/>
              <a:gd name="adj2" fmla="val 50000"/>
            </a:avLst>
          </a:prstGeom>
          <a:solidFill>
            <a:srgbClr val="FF0000"/>
          </a:solidFill>
          <a:ln w="127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82" name="Google Shape;582;p47"/>
          <p:cNvSpPr/>
          <p:nvPr/>
        </p:nvSpPr>
        <p:spPr>
          <a:xfrm>
            <a:off x="8737601" y="3530600"/>
            <a:ext cx="1517151" cy="355600"/>
          </a:xfrm>
          <a:prstGeom prst="leftRightArrow">
            <a:avLst>
              <a:gd name="adj1" fmla="val 50000"/>
              <a:gd name="adj2" fmla="val 50000"/>
            </a:avLst>
          </a:prstGeom>
          <a:solidFill>
            <a:srgbClr val="FF0000"/>
          </a:solidFill>
          <a:ln w="127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83" name="Google Shape;58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2"/>
                                        </p:tgtEl>
                                        <p:attrNameLst>
                                          <p:attrName>style.visibility</p:attrName>
                                        </p:attrNameLst>
                                      </p:cBhvr>
                                      <p:to>
                                        <p:strVal val="visible"/>
                                      </p:to>
                                    </p:set>
                                    <p:animEffect transition="in" filter="fade">
                                      <p:cBhvr>
                                        <p:cTn id="7" dur="500"/>
                                        <p:tgtEl>
                                          <p:spTgt spid="582"/>
                                        </p:tgtEl>
                                      </p:cBhvr>
                                    </p:animEffect>
                                  </p:childTnLst>
                                </p:cTn>
                              </p:par>
                              <p:par>
                                <p:cTn id="8" presetID="10" presetClass="entr" presetSubtype="0" fill="hold" nodeType="withEffect">
                                  <p:stCondLst>
                                    <p:cond delay="0"/>
                                  </p:stCondLst>
                                  <p:childTnLst>
                                    <p:set>
                                      <p:cBhvr>
                                        <p:cTn id="9" dur="1" fill="hold">
                                          <p:stCondLst>
                                            <p:cond delay="0"/>
                                          </p:stCondLst>
                                        </p:cTn>
                                        <p:tgtEl>
                                          <p:spTgt spid="581"/>
                                        </p:tgtEl>
                                        <p:attrNameLst>
                                          <p:attrName>style.visibility</p:attrName>
                                        </p:attrNameLst>
                                      </p:cBhvr>
                                      <p:to>
                                        <p:strVal val="visible"/>
                                      </p:to>
                                    </p:set>
                                    <p:animEffect transition="in" filter="fade">
                                      <p:cBhvr>
                                        <p:cTn id="10" dur="500"/>
                                        <p:tgtEl>
                                          <p:spTgt spid="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4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000"/>
              <a:buFont typeface="Calibri"/>
              <a:buNone/>
            </a:pPr>
            <a:r>
              <a:rPr lang="en-US"/>
              <a:t>Instruction Set Architecture</a:t>
            </a:r>
            <a:endParaRPr/>
          </a:p>
        </p:txBody>
      </p:sp>
      <p:sp>
        <p:nvSpPr>
          <p:cNvPr id="589" name="Google Shape;589;p4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110000"/>
              </a:lnSpc>
              <a:spcBef>
                <a:spcPts val="0"/>
              </a:spcBef>
              <a:spcAft>
                <a:spcPts val="0"/>
              </a:spcAft>
              <a:buClr>
                <a:schemeClr val="dk1"/>
              </a:buClr>
              <a:buSzPts val="2400"/>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Introduction</a:t>
            </a:r>
            <a:endParaRPr/>
          </a:p>
        </p:txBody>
      </p:sp>
      <p:sp>
        <p:nvSpPr>
          <p:cNvPr id="595" name="Google Shape;595;p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Instruction Set Architecture (ISA)</a:t>
            </a:r>
            <a:endParaRPr/>
          </a:p>
          <a:p>
            <a:pPr marL="685800" lvl="1" indent="-228600" algn="l" rtl="0">
              <a:lnSpc>
                <a:spcPct val="110000"/>
              </a:lnSpc>
              <a:spcBef>
                <a:spcPts val="600"/>
              </a:spcBef>
              <a:spcAft>
                <a:spcPts val="0"/>
              </a:spcAft>
              <a:buClr>
                <a:schemeClr val="dk1"/>
              </a:buClr>
              <a:buSzPts val="2400"/>
              <a:buChar char="•"/>
            </a:pPr>
            <a:r>
              <a:rPr lang="en-US"/>
              <a:t>Serves as an interface between software and hardware.</a:t>
            </a:r>
            <a:endParaRPr/>
          </a:p>
          <a:p>
            <a:pPr marL="685800" lvl="1" indent="-228600" algn="l" rtl="0">
              <a:lnSpc>
                <a:spcPct val="110000"/>
              </a:lnSpc>
              <a:spcBef>
                <a:spcPts val="600"/>
              </a:spcBef>
              <a:spcAft>
                <a:spcPts val="0"/>
              </a:spcAft>
              <a:buClr>
                <a:schemeClr val="dk1"/>
              </a:buClr>
              <a:buSzPts val="2400"/>
              <a:buChar char="•"/>
            </a:pPr>
            <a:r>
              <a:rPr lang="en-US"/>
              <a:t>Typically consists of information regarding the programmer’s view of the architecture (i.e. the registers, address and data buses, etc.).</a:t>
            </a:r>
            <a:endParaRPr/>
          </a:p>
          <a:p>
            <a:pPr marL="685800" lvl="1" indent="-228600" algn="l" rtl="0">
              <a:lnSpc>
                <a:spcPct val="110000"/>
              </a:lnSpc>
              <a:spcBef>
                <a:spcPts val="600"/>
              </a:spcBef>
              <a:spcAft>
                <a:spcPts val="0"/>
              </a:spcAft>
              <a:buClr>
                <a:schemeClr val="dk1"/>
              </a:buClr>
              <a:buSzPts val="2400"/>
              <a:buChar char="•"/>
            </a:pPr>
            <a:r>
              <a:rPr lang="en-US"/>
              <a:t>Also consists of the instruction set.</a:t>
            </a:r>
            <a:endParaRPr/>
          </a:p>
          <a:p>
            <a:pPr marL="228600" lvl="0" indent="-228600" algn="l" rtl="0">
              <a:lnSpc>
                <a:spcPct val="110000"/>
              </a:lnSpc>
              <a:spcBef>
                <a:spcPts val="600"/>
              </a:spcBef>
              <a:spcAft>
                <a:spcPts val="0"/>
              </a:spcAft>
              <a:buClr>
                <a:schemeClr val="dk1"/>
              </a:buClr>
              <a:buSzPts val="2800"/>
              <a:buChar char="•"/>
            </a:pPr>
            <a:r>
              <a:rPr lang="en-US"/>
              <a:t>Many ISA’s are not specific to a particular computer architecture.</a:t>
            </a:r>
            <a:endParaRPr/>
          </a:p>
          <a:p>
            <a:pPr marL="685800" lvl="1" indent="-228600" algn="l" rtl="0">
              <a:lnSpc>
                <a:spcPct val="110000"/>
              </a:lnSpc>
              <a:spcBef>
                <a:spcPts val="600"/>
              </a:spcBef>
              <a:spcAft>
                <a:spcPts val="0"/>
              </a:spcAft>
              <a:buClr>
                <a:schemeClr val="dk1"/>
              </a:buClr>
              <a:buSzPts val="2400"/>
              <a:buChar char="•"/>
            </a:pPr>
            <a:r>
              <a:rPr lang="en-US"/>
              <a:t>They survive across generations.</a:t>
            </a:r>
            <a:endParaRPr/>
          </a:p>
          <a:p>
            <a:pPr marL="685800" lvl="1" indent="-228600" algn="l" rtl="0">
              <a:lnSpc>
                <a:spcPct val="110000"/>
              </a:lnSpc>
              <a:spcBef>
                <a:spcPts val="600"/>
              </a:spcBef>
              <a:spcAft>
                <a:spcPts val="0"/>
              </a:spcAft>
              <a:buClr>
                <a:schemeClr val="dk1"/>
              </a:buClr>
              <a:buSzPts val="2400"/>
              <a:buChar char="•"/>
            </a:pPr>
            <a:r>
              <a:rPr lang="en-US"/>
              <a:t>Classic examples: IBM 360 series, Intel x86 series, etc.</a:t>
            </a:r>
            <a:endParaRPr/>
          </a:p>
        </p:txBody>
      </p:sp>
      <p:sp>
        <p:nvSpPr>
          <p:cNvPr id="596" name="Google Shape;59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Instruction Set Design Issues</a:t>
            </a:r>
            <a:endParaRPr/>
          </a:p>
        </p:txBody>
      </p:sp>
      <p:sp>
        <p:nvSpPr>
          <p:cNvPr id="602" name="Google Shape;602;p50"/>
          <p:cNvSpPr txBox="1">
            <a:spLocks noGrp="1"/>
          </p:cNvSpPr>
          <p:nvPr>
            <p:ph type="body" idx="1"/>
          </p:nvPr>
        </p:nvSpPr>
        <p:spPr>
          <a:xfrm>
            <a:off x="838200" y="1825624"/>
            <a:ext cx="10515600" cy="4530725"/>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110000"/>
              </a:lnSpc>
              <a:spcBef>
                <a:spcPts val="0"/>
              </a:spcBef>
              <a:spcAft>
                <a:spcPts val="0"/>
              </a:spcAft>
              <a:buClr>
                <a:schemeClr val="dk1"/>
              </a:buClr>
              <a:buSzPct val="100000"/>
              <a:buChar char="•"/>
            </a:pPr>
            <a:r>
              <a:rPr lang="en-US"/>
              <a:t>Number of explicit operands:</a:t>
            </a:r>
            <a:endParaRPr/>
          </a:p>
          <a:p>
            <a:pPr marL="685800" lvl="1" indent="-228600" algn="l" rtl="0">
              <a:lnSpc>
                <a:spcPct val="110000"/>
              </a:lnSpc>
              <a:spcBef>
                <a:spcPts val="600"/>
              </a:spcBef>
              <a:spcAft>
                <a:spcPts val="0"/>
              </a:spcAft>
              <a:buClr>
                <a:schemeClr val="dk1"/>
              </a:buClr>
              <a:buSzPct val="100000"/>
              <a:buChar char="•"/>
            </a:pPr>
            <a:r>
              <a:rPr lang="en-US"/>
              <a:t>0, 1, 2 or 3.</a:t>
            </a:r>
            <a:endParaRPr/>
          </a:p>
          <a:p>
            <a:pPr marL="228600" lvl="0" indent="-228600" algn="l" rtl="0">
              <a:lnSpc>
                <a:spcPct val="110000"/>
              </a:lnSpc>
              <a:spcBef>
                <a:spcPts val="1200"/>
              </a:spcBef>
              <a:spcAft>
                <a:spcPts val="0"/>
              </a:spcAft>
              <a:buClr>
                <a:schemeClr val="dk1"/>
              </a:buClr>
              <a:buSzPct val="100000"/>
              <a:buChar char="•"/>
            </a:pPr>
            <a:r>
              <a:rPr lang="en-US"/>
              <a:t>Location of the operands:</a:t>
            </a:r>
            <a:endParaRPr/>
          </a:p>
          <a:p>
            <a:pPr marL="685800" lvl="1" indent="-228600" algn="l" rtl="0">
              <a:lnSpc>
                <a:spcPct val="110000"/>
              </a:lnSpc>
              <a:spcBef>
                <a:spcPts val="600"/>
              </a:spcBef>
              <a:spcAft>
                <a:spcPts val="0"/>
              </a:spcAft>
              <a:buClr>
                <a:schemeClr val="dk1"/>
              </a:buClr>
              <a:buSzPct val="100000"/>
              <a:buChar char="•"/>
            </a:pPr>
            <a:r>
              <a:rPr lang="en-US"/>
              <a:t>Registers, accumulator, memory.</a:t>
            </a:r>
            <a:endParaRPr/>
          </a:p>
          <a:p>
            <a:pPr marL="228600" lvl="0" indent="-228600" algn="l" rtl="0">
              <a:lnSpc>
                <a:spcPct val="110000"/>
              </a:lnSpc>
              <a:spcBef>
                <a:spcPts val="1200"/>
              </a:spcBef>
              <a:spcAft>
                <a:spcPts val="0"/>
              </a:spcAft>
              <a:buClr>
                <a:schemeClr val="dk1"/>
              </a:buClr>
              <a:buSzPct val="100000"/>
              <a:buChar char="•"/>
            </a:pPr>
            <a:r>
              <a:rPr lang="en-US"/>
              <a:t>Specification of operand locations:</a:t>
            </a:r>
            <a:endParaRPr/>
          </a:p>
          <a:p>
            <a:pPr marL="685800" lvl="1" indent="-228600" algn="l" rtl="0">
              <a:lnSpc>
                <a:spcPct val="110000"/>
              </a:lnSpc>
              <a:spcBef>
                <a:spcPts val="600"/>
              </a:spcBef>
              <a:spcAft>
                <a:spcPts val="0"/>
              </a:spcAft>
              <a:buClr>
                <a:srgbClr val="800000"/>
              </a:buClr>
              <a:buSzPct val="100000"/>
              <a:buChar char="•"/>
            </a:pPr>
            <a:r>
              <a:rPr lang="en-US">
                <a:solidFill>
                  <a:srgbClr val="800000"/>
                </a:solidFill>
              </a:rPr>
              <a:t>Addressing modes</a:t>
            </a:r>
            <a:r>
              <a:rPr lang="en-US"/>
              <a:t>: register, immediate, indirect, relative, etc.</a:t>
            </a:r>
            <a:endParaRPr/>
          </a:p>
          <a:p>
            <a:pPr marL="228600" lvl="0" indent="-228600" algn="l" rtl="0">
              <a:lnSpc>
                <a:spcPct val="110000"/>
              </a:lnSpc>
              <a:spcBef>
                <a:spcPts val="1200"/>
              </a:spcBef>
              <a:spcAft>
                <a:spcPts val="0"/>
              </a:spcAft>
              <a:buClr>
                <a:schemeClr val="dk1"/>
              </a:buClr>
              <a:buSzPct val="100000"/>
              <a:buChar char="•"/>
            </a:pPr>
            <a:r>
              <a:rPr lang="en-US"/>
              <a:t>Sizes of operands supported:</a:t>
            </a:r>
            <a:endParaRPr/>
          </a:p>
          <a:p>
            <a:pPr marL="685800" lvl="1" indent="-228600" algn="l" rtl="0">
              <a:lnSpc>
                <a:spcPct val="110000"/>
              </a:lnSpc>
              <a:spcBef>
                <a:spcPts val="600"/>
              </a:spcBef>
              <a:spcAft>
                <a:spcPts val="0"/>
              </a:spcAft>
              <a:buClr>
                <a:schemeClr val="dk1"/>
              </a:buClr>
              <a:buSzPct val="100000"/>
              <a:buChar char="•"/>
            </a:pPr>
            <a:r>
              <a:rPr lang="en-US"/>
              <a:t>Byte (8-bits), Half-word (16-bits), Word (32-bits), Double (64-bits), etc.</a:t>
            </a:r>
            <a:endParaRPr/>
          </a:p>
          <a:p>
            <a:pPr marL="228600" lvl="0" indent="-228600" algn="l" rtl="0">
              <a:lnSpc>
                <a:spcPct val="110000"/>
              </a:lnSpc>
              <a:spcBef>
                <a:spcPts val="1200"/>
              </a:spcBef>
              <a:spcAft>
                <a:spcPts val="0"/>
              </a:spcAft>
              <a:buClr>
                <a:schemeClr val="dk1"/>
              </a:buClr>
              <a:buSzPct val="100000"/>
              <a:buChar char="•"/>
            </a:pPr>
            <a:r>
              <a:rPr lang="en-US"/>
              <a:t>Supported operations:</a:t>
            </a:r>
            <a:endParaRPr/>
          </a:p>
          <a:p>
            <a:pPr marL="685800" lvl="1" indent="-228600" algn="l" rtl="0">
              <a:lnSpc>
                <a:spcPct val="110000"/>
              </a:lnSpc>
              <a:spcBef>
                <a:spcPts val="600"/>
              </a:spcBef>
              <a:spcAft>
                <a:spcPts val="0"/>
              </a:spcAft>
              <a:buClr>
                <a:schemeClr val="dk1"/>
              </a:buClr>
              <a:buSzPct val="100000"/>
              <a:buChar char="•"/>
            </a:pPr>
            <a:r>
              <a:rPr lang="en-US"/>
              <a:t>ADD, SUB, MUL, AND, OR, CMP, MOVE, JMP, etc.</a:t>
            </a:r>
            <a:endParaRPr/>
          </a:p>
        </p:txBody>
      </p:sp>
      <p:sp>
        <p:nvSpPr>
          <p:cNvPr id="603" name="Google Shape;603;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2">
                                            <p:txEl>
                                              <p:pRg st="0" end="0"/>
                                            </p:txEl>
                                          </p:spTgt>
                                        </p:tgtEl>
                                        <p:attrNameLst>
                                          <p:attrName>style.visibility</p:attrName>
                                        </p:attrNameLst>
                                      </p:cBhvr>
                                      <p:to>
                                        <p:strVal val="visible"/>
                                      </p:to>
                                    </p:set>
                                    <p:animEffect transition="in" filter="fade">
                                      <p:cBhvr>
                                        <p:cTn id="7" dur="500"/>
                                        <p:tgtEl>
                                          <p:spTgt spid="6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2">
                                            <p:txEl>
                                              <p:pRg st="1" end="1"/>
                                            </p:txEl>
                                          </p:spTgt>
                                        </p:tgtEl>
                                        <p:attrNameLst>
                                          <p:attrName>style.visibility</p:attrName>
                                        </p:attrNameLst>
                                      </p:cBhvr>
                                      <p:to>
                                        <p:strVal val="visible"/>
                                      </p:to>
                                    </p:set>
                                    <p:animEffect transition="in" filter="fade">
                                      <p:cBhvr>
                                        <p:cTn id="12" dur="500"/>
                                        <p:tgtEl>
                                          <p:spTgt spid="6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02">
                                            <p:txEl>
                                              <p:pRg st="2" end="2"/>
                                            </p:txEl>
                                          </p:spTgt>
                                        </p:tgtEl>
                                        <p:attrNameLst>
                                          <p:attrName>style.visibility</p:attrName>
                                        </p:attrNameLst>
                                      </p:cBhvr>
                                      <p:to>
                                        <p:strVal val="visible"/>
                                      </p:to>
                                    </p:set>
                                    <p:animEffect transition="in" filter="fade">
                                      <p:cBhvr>
                                        <p:cTn id="17" dur="500"/>
                                        <p:tgtEl>
                                          <p:spTgt spid="60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02">
                                            <p:txEl>
                                              <p:pRg st="3" end="3"/>
                                            </p:txEl>
                                          </p:spTgt>
                                        </p:tgtEl>
                                        <p:attrNameLst>
                                          <p:attrName>style.visibility</p:attrName>
                                        </p:attrNameLst>
                                      </p:cBhvr>
                                      <p:to>
                                        <p:strVal val="visible"/>
                                      </p:to>
                                    </p:set>
                                    <p:animEffect transition="in" filter="fade">
                                      <p:cBhvr>
                                        <p:cTn id="22" dur="500"/>
                                        <p:tgtEl>
                                          <p:spTgt spid="60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02">
                                            <p:txEl>
                                              <p:pRg st="4" end="4"/>
                                            </p:txEl>
                                          </p:spTgt>
                                        </p:tgtEl>
                                        <p:attrNameLst>
                                          <p:attrName>style.visibility</p:attrName>
                                        </p:attrNameLst>
                                      </p:cBhvr>
                                      <p:to>
                                        <p:strVal val="visible"/>
                                      </p:to>
                                    </p:set>
                                    <p:animEffect transition="in" filter="fade">
                                      <p:cBhvr>
                                        <p:cTn id="27" dur="500"/>
                                        <p:tgtEl>
                                          <p:spTgt spid="60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2">
                                            <p:txEl>
                                              <p:pRg st="5" end="5"/>
                                            </p:txEl>
                                          </p:spTgt>
                                        </p:tgtEl>
                                        <p:attrNameLst>
                                          <p:attrName>style.visibility</p:attrName>
                                        </p:attrNameLst>
                                      </p:cBhvr>
                                      <p:to>
                                        <p:strVal val="visible"/>
                                      </p:to>
                                    </p:set>
                                    <p:animEffect transition="in" filter="fade">
                                      <p:cBhvr>
                                        <p:cTn id="32" dur="500"/>
                                        <p:tgtEl>
                                          <p:spTgt spid="60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02">
                                            <p:txEl>
                                              <p:pRg st="6" end="6"/>
                                            </p:txEl>
                                          </p:spTgt>
                                        </p:tgtEl>
                                        <p:attrNameLst>
                                          <p:attrName>style.visibility</p:attrName>
                                        </p:attrNameLst>
                                      </p:cBhvr>
                                      <p:to>
                                        <p:strVal val="visible"/>
                                      </p:to>
                                    </p:set>
                                    <p:animEffect transition="in" filter="fade">
                                      <p:cBhvr>
                                        <p:cTn id="37" dur="500"/>
                                        <p:tgtEl>
                                          <p:spTgt spid="60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02">
                                            <p:txEl>
                                              <p:pRg st="7" end="7"/>
                                            </p:txEl>
                                          </p:spTgt>
                                        </p:tgtEl>
                                        <p:attrNameLst>
                                          <p:attrName>style.visibility</p:attrName>
                                        </p:attrNameLst>
                                      </p:cBhvr>
                                      <p:to>
                                        <p:strVal val="visible"/>
                                      </p:to>
                                    </p:set>
                                    <p:animEffect transition="in" filter="fade">
                                      <p:cBhvr>
                                        <p:cTn id="42" dur="500"/>
                                        <p:tgtEl>
                                          <p:spTgt spid="60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02">
                                            <p:txEl>
                                              <p:pRg st="8" end="8"/>
                                            </p:txEl>
                                          </p:spTgt>
                                        </p:tgtEl>
                                        <p:attrNameLst>
                                          <p:attrName>style.visibility</p:attrName>
                                        </p:attrNameLst>
                                      </p:cBhvr>
                                      <p:to>
                                        <p:strVal val="visible"/>
                                      </p:to>
                                    </p:set>
                                    <p:animEffect transition="in" filter="fade">
                                      <p:cBhvr>
                                        <p:cTn id="47" dur="500"/>
                                        <p:tgtEl>
                                          <p:spTgt spid="60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02">
                                            <p:txEl>
                                              <p:pRg st="9" end="9"/>
                                            </p:txEl>
                                          </p:spTgt>
                                        </p:tgtEl>
                                        <p:attrNameLst>
                                          <p:attrName>style.visibility</p:attrName>
                                        </p:attrNameLst>
                                      </p:cBhvr>
                                      <p:to>
                                        <p:strVal val="visible"/>
                                      </p:to>
                                    </p:set>
                                    <p:animEffect transition="in" filter="fade">
                                      <p:cBhvr>
                                        <p:cTn id="52" dur="500"/>
                                        <p:tgtEl>
                                          <p:spTgt spid="60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51"/>
          <p:cNvSpPr txBox="1">
            <a:spLocks noGrp="1"/>
          </p:cNvSpPr>
          <p:nvPr>
            <p:ph type="title"/>
          </p:nvPr>
        </p:nvSpPr>
        <p:spPr>
          <a:xfrm>
            <a:off x="609600" y="381000"/>
            <a:ext cx="10972800" cy="7112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Evolution of Instruction Sets</a:t>
            </a:r>
            <a:endParaRPr/>
          </a:p>
        </p:txBody>
      </p:sp>
      <p:sp>
        <p:nvSpPr>
          <p:cNvPr id="609" name="Google Shape;609;p51"/>
          <p:cNvSpPr txBox="1">
            <a:spLocks noGrp="1"/>
          </p:cNvSpPr>
          <p:nvPr>
            <p:ph type="body" idx="1"/>
          </p:nvPr>
        </p:nvSpPr>
        <p:spPr>
          <a:xfrm>
            <a:off x="609600" y="1092201"/>
            <a:ext cx="11379200" cy="4165599"/>
          </a:xfrm>
          <a:prstGeom prst="rect">
            <a:avLst/>
          </a:prstGeom>
          <a:noFill/>
          <a:ln>
            <a:noFill/>
          </a:ln>
        </p:spPr>
        <p:txBody>
          <a:bodyPr spcFirstLastPara="1" wrap="square" lIns="91425" tIns="45700" rIns="91425" bIns="45700" anchor="t" anchorCtr="0">
            <a:normAutofit/>
          </a:bodyPr>
          <a:lstStyle/>
          <a:p>
            <a:pPr marL="609585" lvl="0" indent="-609585" algn="l" rtl="0">
              <a:lnSpc>
                <a:spcPct val="100000"/>
              </a:lnSpc>
              <a:spcBef>
                <a:spcPts val="0"/>
              </a:spcBef>
              <a:spcAft>
                <a:spcPts val="0"/>
              </a:spcAft>
              <a:buClr>
                <a:schemeClr val="dk1"/>
              </a:buClr>
              <a:buSzPts val="2400"/>
              <a:buFont typeface="Calibri"/>
              <a:buAutoNum type="arabicPeriod"/>
            </a:pPr>
            <a:r>
              <a:rPr lang="en-US" sz="2400"/>
              <a:t>Accumulator based:		1960’s 			(EDSAC, IBM 1130)</a:t>
            </a:r>
            <a:endParaRPr/>
          </a:p>
          <a:p>
            <a:pPr marL="609585" lvl="0" indent="-609585" algn="l" rtl="0">
              <a:lnSpc>
                <a:spcPct val="100000"/>
              </a:lnSpc>
              <a:spcBef>
                <a:spcPts val="600"/>
              </a:spcBef>
              <a:spcAft>
                <a:spcPts val="0"/>
              </a:spcAft>
              <a:buClr>
                <a:schemeClr val="dk1"/>
              </a:buClr>
              <a:buSzPts val="2400"/>
              <a:buFont typeface="Calibri"/>
              <a:buAutoNum type="arabicPeriod"/>
            </a:pPr>
            <a:r>
              <a:rPr lang="en-US" sz="2400"/>
              <a:t>Stack based:			1960-70		(Burroughs 5000)</a:t>
            </a:r>
            <a:endParaRPr/>
          </a:p>
          <a:p>
            <a:pPr marL="609585" lvl="0" indent="-609585" algn="l" rtl="0">
              <a:lnSpc>
                <a:spcPct val="100000"/>
              </a:lnSpc>
              <a:spcBef>
                <a:spcPts val="600"/>
              </a:spcBef>
              <a:spcAft>
                <a:spcPts val="0"/>
              </a:spcAft>
              <a:buClr>
                <a:schemeClr val="dk1"/>
              </a:buClr>
              <a:buSzPts val="2400"/>
              <a:buFont typeface="Calibri"/>
              <a:buAutoNum type="arabicPeriod"/>
            </a:pPr>
            <a:r>
              <a:rPr lang="en-US" sz="2400"/>
              <a:t>Memory-Memory based:	1970-80		(IBM 360)</a:t>
            </a:r>
            <a:endParaRPr/>
          </a:p>
          <a:p>
            <a:pPr marL="609585" lvl="0" indent="-609585" algn="l" rtl="0">
              <a:lnSpc>
                <a:spcPct val="100000"/>
              </a:lnSpc>
              <a:spcBef>
                <a:spcPts val="600"/>
              </a:spcBef>
              <a:spcAft>
                <a:spcPts val="0"/>
              </a:spcAft>
              <a:buClr>
                <a:schemeClr val="dk1"/>
              </a:buClr>
              <a:buSzPts val="2400"/>
              <a:buFont typeface="Calibri"/>
              <a:buAutoNum type="arabicPeriod"/>
            </a:pPr>
            <a:r>
              <a:rPr lang="en-US" sz="2400"/>
              <a:t>Register-Memory based:	1970-present		(Intel x86)</a:t>
            </a:r>
            <a:endParaRPr/>
          </a:p>
          <a:p>
            <a:pPr marL="609585" lvl="0" indent="-609585" algn="l" rtl="0">
              <a:lnSpc>
                <a:spcPct val="100000"/>
              </a:lnSpc>
              <a:spcBef>
                <a:spcPts val="600"/>
              </a:spcBef>
              <a:spcAft>
                <a:spcPts val="0"/>
              </a:spcAft>
              <a:buClr>
                <a:schemeClr val="dk1"/>
              </a:buClr>
              <a:buSzPts val="2400"/>
              <a:buFont typeface="Calibri"/>
              <a:buAutoNum type="arabicPeriod"/>
            </a:pPr>
            <a:r>
              <a:rPr lang="en-US" sz="2400"/>
              <a:t>Register-Register based:		1960-present		(MIPS, CDC 6600, SPARC)</a:t>
            </a:r>
            <a:endParaRPr/>
          </a:p>
        </p:txBody>
      </p:sp>
      <p:sp>
        <p:nvSpPr>
          <p:cNvPr id="610" name="Google Shape;610;p51"/>
          <p:cNvSpPr txBox="1"/>
          <p:nvPr/>
        </p:nvSpPr>
        <p:spPr>
          <a:xfrm>
            <a:off x="101600" y="3830699"/>
            <a:ext cx="4775200" cy="830997"/>
          </a:xfrm>
          <a:prstGeom prst="rect">
            <a:avLst/>
          </a:prstGeom>
          <a:solidFill>
            <a:srgbClr val="DDEAF6"/>
          </a:solidFill>
          <a:ln w="9525" cap="flat" cmpd="sng">
            <a:solidFill>
              <a:srgbClr val="80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 1-address instructions:</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     ADD  X   🡪   ACC = ACC + Mem[X]</a:t>
            </a:r>
            <a:endParaRPr sz="2400">
              <a:solidFill>
                <a:schemeClr val="dk1"/>
              </a:solidFill>
              <a:latin typeface="Calibri"/>
              <a:ea typeface="Calibri"/>
              <a:cs typeface="Calibri"/>
              <a:sym typeface="Calibri"/>
            </a:endParaRPr>
          </a:p>
        </p:txBody>
      </p:sp>
      <p:sp>
        <p:nvSpPr>
          <p:cNvPr id="611" name="Google Shape;611;p51"/>
          <p:cNvSpPr txBox="1"/>
          <p:nvPr/>
        </p:nvSpPr>
        <p:spPr>
          <a:xfrm>
            <a:off x="101600" y="4745099"/>
            <a:ext cx="4775200" cy="830997"/>
          </a:xfrm>
          <a:prstGeom prst="rect">
            <a:avLst/>
          </a:prstGeom>
          <a:solidFill>
            <a:srgbClr val="DDEAF6"/>
          </a:solidFill>
          <a:ln w="9525" cap="flat" cmpd="sng">
            <a:solidFill>
              <a:srgbClr val="80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 0-address instructions:</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     ADD   🡪   TOS = TOS + NEXT</a:t>
            </a:r>
            <a:endParaRPr sz="2400">
              <a:solidFill>
                <a:schemeClr val="dk1"/>
              </a:solidFill>
              <a:latin typeface="Calibri"/>
              <a:ea typeface="Calibri"/>
              <a:cs typeface="Calibri"/>
              <a:sym typeface="Calibri"/>
            </a:endParaRPr>
          </a:p>
        </p:txBody>
      </p:sp>
      <p:sp>
        <p:nvSpPr>
          <p:cNvPr id="612" name="Google Shape;612;p51"/>
          <p:cNvSpPr txBox="1"/>
          <p:nvPr/>
        </p:nvSpPr>
        <p:spPr>
          <a:xfrm>
            <a:off x="5080000" y="3830698"/>
            <a:ext cx="6807200" cy="1200329"/>
          </a:xfrm>
          <a:prstGeom prst="rect">
            <a:avLst/>
          </a:prstGeom>
          <a:solidFill>
            <a:srgbClr val="DDEAF6"/>
          </a:solidFill>
          <a:ln w="9525" cap="flat" cmpd="sng">
            <a:solidFill>
              <a:srgbClr val="80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 2- or 3-address instructions:</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     ADD  A,B    🡪   Mem[A] = Mem[A] + Mem[B]</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     ADD  A,B,C 🡪  Mem[A] = Mem[B] + Mem[C]</a:t>
            </a:r>
            <a:endParaRPr/>
          </a:p>
        </p:txBody>
      </p:sp>
      <p:sp>
        <p:nvSpPr>
          <p:cNvPr id="613" name="Google Shape;613;p51"/>
          <p:cNvSpPr txBox="1"/>
          <p:nvPr/>
        </p:nvSpPr>
        <p:spPr>
          <a:xfrm>
            <a:off x="3048000" y="5564884"/>
            <a:ext cx="4775200" cy="830997"/>
          </a:xfrm>
          <a:prstGeom prst="rect">
            <a:avLst/>
          </a:prstGeom>
          <a:solidFill>
            <a:srgbClr val="DDEAF6"/>
          </a:solidFill>
          <a:ln w="9525" cap="flat" cmpd="sng">
            <a:solidFill>
              <a:srgbClr val="80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 2-address instructions:</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     LOAD  R1,X   🡪   R1 = Mem[X]</a:t>
            </a:r>
            <a:endParaRPr sz="2400">
              <a:solidFill>
                <a:schemeClr val="dk1"/>
              </a:solidFill>
              <a:latin typeface="Calibri"/>
              <a:ea typeface="Calibri"/>
              <a:cs typeface="Calibri"/>
              <a:sym typeface="Calibri"/>
            </a:endParaRPr>
          </a:p>
        </p:txBody>
      </p:sp>
      <p:sp>
        <p:nvSpPr>
          <p:cNvPr id="614" name="Google Shape;614;p51"/>
          <p:cNvSpPr txBox="1"/>
          <p:nvPr/>
        </p:nvSpPr>
        <p:spPr>
          <a:xfrm>
            <a:off x="7416800" y="5151499"/>
            <a:ext cx="4673600" cy="830997"/>
          </a:xfrm>
          <a:prstGeom prst="rect">
            <a:avLst/>
          </a:prstGeom>
          <a:solidFill>
            <a:srgbClr val="DDEAF6"/>
          </a:solidFill>
          <a:ln w="9525" cap="flat" cmpd="sng">
            <a:solidFill>
              <a:srgbClr val="80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5: 3-address instructions:</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     ADD  R1,R2,R3   🡪   R1 = R2 + R3</a:t>
            </a:r>
            <a:endParaRPr sz="2400">
              <a:solidFill>
                <a:schemeClr val="dk1"/>
              </a:solidFill>
              <a:latin typeface="Calibri"/>
              <a:ea typeface="Calibri"/>
              <a:cs typeface="Calibri"/>
              <a:sym typeface="Calibri"/>
            </a:endParaRPr>
          </a:p>
        </p:txBody>
      </p:sp>
      <p:sp>
        <p:nvSpPr>
          <p:cNvPr id="615" name="Google Shape;615;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0"/>
                                        </p:tgtEl>
                                        <p:attrNameLst>
                                          <p:attrName>style.visibility</p:attrName>
                                        </p:attrNameLst>
                                      </p:cBhvr>
                                      <p:to>
                                        <p:strVal val="visible"/>
                                      </p:to>
                                    </p:set>
                                    <p:animEffect transition="in" filter="fade">
                                      <p:cBhvr>
                                        <p:cTn id="7" dur="500"/>
                                        <p:tgtEl>
                                          <p:spTgt spid="6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1"/>
                                        </p:tgtEl>
                                        <p:attrNameLst>
                                          <p:attrName>style.visibility</p:attrName>
                                        </p:attrNameLst>
                                      </p:cBhvr>
                                      <p:to>
                                        <p:strVal val="visible"/>
                                      </p:to>
                                    </p:set>
                                    <p:animEffect transition="in" filter="fade">
                                      <p:cBhvr>
                                        <p:cTn id="12" dur="500"/>
                                        <p:tgtEl>
                                          <p:spTgt spid="6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2"/>
                                        </p:tgtEl>
                                        <p:attrNameLst>
                                          <p:attrName>style.visibility</p:attrName>
                                        </p:attrNameLst>
                                      </p:cBhvr>
                                      <p:to>
                                        <p:strVal val="visible"/>
                                      </p:to>
                                    </p:set>
                                    <p:animEffect transition="in" filter="fade">
                                      <p:cBhvr>
                                        <p:cTn id="17" dur="500"/>
                                        <p:tgtEl>
                                          <p:spTgt spid="6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3"/>
                                        </p:tgtEl>
                                        <p:attrNameLst>
                                          <p:attrName>style.visibility</p:attrName>
                                        </p:attrNameLst>
                                      </p:cBhvr>
                                      <p:to>
                                        <p:strVal val="visible"/>
                                      </p:to>
                                    </p:set>
                                    <p:animEffect transition="in" filter="fade">
                                      <p:cBhvr>
                                        <p:cTn id="22" dur="500"/>
                                        <p:tgtEl>
                                          <p:spTgt spid="6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14"/>
                                        </p:tgtEl>
                                        <p:attrNameLst>
                                          <p:attrName>style.visibility</p:attrName>
                                        </p:attrNameLst>
                                      </p:cBhvr>
                                      <p:to>
                                        <p:strVal val="visible"/>
                                      </p:to>
                                    </p:set>
                                    <p:animEffect transition="in" filter="fade">
                                      <p:cBhvr>
                                        <p:cTn id="27" dur="500"/>
                                        <p:tgtEl>
                                          <p:spTgt spid="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Example Code Sequence for Z = X + Y</a:t>
            </a:r>
            <a:endParaRPr/>
          </a:p>
        </p:txBody>
      </p:sp>
      <p:sp>
        <p:nvSpPr>
          <p:cNvPr id="621" name="Google Shape;621;p52"/>
          <p:cNvSpPr txBox="1">
            <a:spLocks noGrp="1"/>
          </p:cNvSpPr>
          <p:nvPr>
            <p:ph type="body" idx="1"/>
          </p:nvPr>
        </p:nvSpPr>
        <p:spPr>
          <a:xfrm>
            <a:off x="406400" y="1600202"/>
            <a:ext cx="5791200" cy="4267199"/>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b="1" u="sng"/>
              <a:t>Stack machine:</a:t>
            </a:r>
            <a:endParaRPr/>
          </a:p>
          <a:p>
            <a:pPr marL="0" lvl="0" indent="0" algn="l" rtl="0">
              <a:lnSpc>
                <a:spcPct val="110000"/>
              </a:lnSpc>
              <a:spcBef>
                <a:spcPts val="600"/>
              </a:spcBef>
              <a:spcAft>
                <a:spcPts val="0"/>
              </a:spcAft>
              <a:buClr>
                <a:schemeClr val="dk1"/>
              </a:buClr>
              <a:buSzPts val="2800"/>
              <a:buNone/>
            </a:pPr>
            <a:r>
              <a:rPr lang="en-US"/>
              <a:t>	</a:t>
            </a:r>
            <a:r>
              <a:rPr lang="en-US" sz="2667" b="1">
                <a:solidFill>
                  <a:srgbClr val="000090"/>
                </a:solidFill>
              </a:rPr>
              <a:t>PUSH 	X</a:t>
            </a:r>
            <a:endParaRPr/>
          </a:p>
          <a:p>
            <a:pPr marL="0" lvl="0" indent="0" algn="l" rtl="0">
              <a:lnSpc>
                <a:spcPct val="110000"/>
              </a:lnSpc>
              <a:spcBef>
                <a:spcPts val="600"/>
              </a:spcBef>
              <a:spcAft>
                <a:spcPts val="0"/>
              </a:spcAft>
              <a:buClr>
                <a:srgbClr val="000090"/>
              </a:buClr>
              <a:buSzPts val="2667"/>
              <a:buNone/>
            </a:pPr>
            <a:r>
              <a:rPr lang="en-US" sz="2667" b="1">
                <a:solidFill>
                  <a:srgbClr val="000090"/>
                </a:solidFill>
              </a:rPr>
              <a:t>	PUSH	Y</a:t>
            </a:r>
            <a:endParaRPr/>
          </a:p>
          <a:p>
            <a:pPr marL="0" lvl="0" indent="0" algn="l" rtl="0">
              <a:lnSpc>
                <a:spcPct val="110000"/>
              </a:lnSpc>
              <a:spcBef>
                <a:spcPts val="600"/>
              </a:spcBef>
              <a:spcAft>
                <a:spcPts val="0"/>
              </a:spcAft>
              <a:buClr>
                <a:srgbClr val="000090"/>
              </a:buClr>
              <a:buSzPts val="2667"/>
              <a:buNone/>
            </a:pPr>
            <a:r>
              <a:rPr lang="en-US" sz="2667" b="1">
                <a:solidFill>
                  <a:srgbClr val="000090"/>
                </a:solidFill>
              </a:rPr>
              <a:t>	ADD</a:t>
            </a:r>
            <a:endParaRPr/>
          </a:p>
          <a:p>
            <a:pPr marL="0" lvl="0" indent="0" algn="l" rtl="0">
              <a:lnSpc>
                <a:spcPct val="110000"/>
              </a:lnSpc>
              <a:spcBef>
                <a:spcPts val="600"/>
              </a:spcBef>
              <a:spcAft>
                <a:spcPts val="0"/>
              </a:spcAft>
              <a:buClr>
                <a:srgbClr val="000090"/>
              </a:buClr>
              <a:buSzPts val="2667"/>
              <a:buNone/>
            </a:pPr>
            <a:r>
              <a:rPr lang="en-US" sz="2667" b="1">
                <a:solidFill>
                  <a:srgbClr val="000090"/>
                </a:solidFill>
              </a:rPr>
              <a:t>	POP	Z</a:t>
            </a:r>
            <a:endParaRPr/>
          </a:p>
          <a:p>
            <a:pPr marL="228600" lvl="0" indent="-228600" algn="l" rtl="0">
              <a:lnSpc>
                <a:spcPct val="110000"/>
              </a:lnSpc>
              <a:spcBef>
                <a:spcPts val="600"/>
              </a:spcBef>
              <a:spcAft>
                <a:spcPts val="0"/>
              </a:spcAft>
              <a:buClr>
                <a:schemeClr val="dk1"/>
              </a:buClr>
              <a:buSzPts val="2800"/>
              <a:buChar char="•"/>
            </a:pPr>
            <a:r>
              <a:rPr lang="en-US"/>
              <a:t>The ADD instruction pops two elements from stack, adds them, and pushes back result.</a:t>
            </a:r>
            <a:endParaRPr/>
          </a:p>
        </p:txBody>
      </p:sp>
      <p:grpSp>
        <p:nvGrpSpPr>
          <p:cNvPr id="622" name="Google Shape;622;p52"/>
          <p:cNvGrpSpPr/>
          <p:nvPr/>
        </p:nvGrpSpPr>
        <p:grpSpPr>
          <a:xfrm>
            <a:off x="6807202" y="1498601"/>
            <a:ext cx="5047925" cy="4267312"/>
            <a:chOff x="7435798" y="1572516"/>
            <a:chExt cx="4209576" cy="3902990"/>
          </a:xfrm>
        </p:grpSpPr>
        <p:grpSp>
          <p:nvGrpSpPr>
            <p:cNvPr id="623" name="Google Shape;623;p52"/>
            <p:cNvGrpSpPr/>
            <p:nvPr/>
          </p:nvGrpSpPr>
          <p:grpSpPr>
            <a:xfrm>
              <a:off x="10120459" y="1701396"/>
              <a:ext cx="1203363" cy="1619420"/>
              <a:chOff x="9030201" y="1773285"/>
              <a:chExt cx="1203363" cy="1619420"/>
            </a:xfrm>
          </p:grpSpPr>
          <p:sp>
            <p:nvSpPr>
              <p:cNvPr id="624" name="Google Shape;624;p52"/>
              <p:cNvSpPr/>
              <p:nvPr/>
            </p:nvSpPr>
            <p:spPr>
              <a:xfrm>
                <a:off x="9033552" y="1773285"/>
                <a:ext cx="1186103" cy="407376"/>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5" name="Google Shape;625;p52"/>
              <p:cNvSpPr/>
              <p:nvPr/>
            </p:nvSpPr>
            <p:spPr>
              <a:xfrm>
                <a:off x="9030201" y="2165318"/>
                <a:ext cx="1186103" cy="407376"/>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6" name="Google Shape;626;p52"/>
              <p:cNvSpPr/>
              <p:nvPr/>
            </p:nvSpPr>
            <p:spPr>
              <a:xfrm>
                <a:off x="9038832" y="2581305"/>
                <a:ext cx="1186103" cy="407376"/>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7" name="Google Shape;627;p52"/>
              <p:cNvSpPr/>
              <p:nvPr/>
            </p:nvSpPr>
            <p:spPr>
              <a:xfrm>
                <a:off x="9047461" y="2985329"/>
                <a:ext cx="1186103" cy="407376"/>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sp>
          <p:nvSpPr>
            <p:cNvPr id="628" name="Google Shape;628;p52"/>
            <p:cNvSpPr/>
            <p:nvPr/>
          </p:nvSpPr>
          <p:spPr>
            <a:xfrm>
              <a:off x="7435798" y="1572516"/>
              <a:ext cx="1885294" cy="551155"/>
            </a:xfrm>
            <a:prstGeom prst="rect">
              <a:avLst/>
            </a:prstGeom>
            <a:solidFill>
              <a:srgbClr val="E1EFD8"/>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Top Of Stack</a:t>
              </a:r>
              <a:endParaRPr/>
            </a:p>
          </p:txBody>
        </p:sp>
        <p:cxnSp>
          <p:nvCxnSpPr>
            <p:cNvPr id="629" name="Google Shape;629;p52"/>
            <p:cNvCxnSpPr>
              <a:stCxn id="628" idx="3"/>
              <a:endCxn id="624" idx="1"/>
            </p:cNvCxnSpPr>
            <p:nvPr/>
          </p:nvCxnSpPr>
          <p:spPr>
            <a:xfrm>
              <a:off x="9321092" y="1848094"/>
              <a:ext cx="802800" cy="57000"/>
            </a:xfrm>
            <a:prstGeom prst="straightConnector1">
              <a:avLst/>
            </a:prstGeom>
            <a:noFill/>
            <a:ln w="12700" cap="flat" cmpd="sng">
              <a:solidFill>
                <a:srgbClr val="0C0C0C"/>
              </a:solidFill>
              <a:prstDash val="solid"/>
              <a:miter lim="8000"/>
              <a:headEnd type="none" w="sm" len="sm"/>
              <a:tailEnd type="stealth" w="med" len="med"/>
            </a:ln>
          </p:spPr>
        </p:cxnSp>
        <p:sp>
          <p:nvSpPr>
            <p:cNvPr id="630" name="Google Shape;630;p52"/>
            <p:cNvSpPr/>
            <p:nvPr/>
          </p:nvSpPr>
          <p:spPr>
            <a:xfrm>
              <a:off x="9992019" y="3977910"/>
              <a:ext cx="1653355" cy="982496"/>
            </a:xfrm>
            <a:prstGeom prst="bevel">
              <a:avLst>
                <a:gd name="adj" fmla="val 12500"/>
              </a:avLst>
            </a:prstGeom>
            <a:solidFill>
              <a:srgbClr val="FEF2CC"/>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a:solidFill>
                    <a:srgbClr val="000090"/>
                  </a:solidFill>
                  <a:latin typeface="Calibri"/>
                  <a:ea typeface="Calibri"/>
                  <a:cs typeface="Calibri"/>
                  <a:sym typeface="Calibri"/>
                </a:rPr>
                <a:t>ALU</a:t>
              </a:r>
              <a:endParaRPr/>
            </a:p>
          </p:txBody>
        </p:sp>
        <p:cxnSp>
          <p:nvCxnSpPr>
            <p:cNvPr id="631" name="Google Shape;631;p52"/>
            <p:cNvCxnSpPr/>
            <p:nvPr/>
          </p:nvCxnSpPr>
          <p:spPr>
            <a:xfrm>
              <a:off x="10411348" y="1941028"/>
              <a:ext cx="11981" cy="2048863"/>
            </a:xfrm>
            <a:prstGeom prst="straightConnector1">
              <a:avLst/>
            </a:prstGeom>
            <a:noFill/>
            <a:ln w="50800" cap="flat" cmpd="sng">
              <a:solidFill>
                <a:srgbClr val="0C0C0C"/>
              </a:solidFill>
              <a:prstDash val="solid"/>
              <a:miter lim="8000"/>
              <a:headEnd type="none" w="sm" len="sm"/>
              <a:tailEnd type="stealth" w="med" len="med"/>
            </a:ln>
          </p:spPr>
        </p:cxnSp>
        <p:cxnSp>
          <p:nvCxnSpPr>
            <p:cNvPr id="632" name="Google Shape;632;p52"/>
            <p:cNvCxnSpPr/>
            <p:nvPr/>
          </p:nvCxnSpPr>
          <p:spPr>
            <a:xfrm>
              <a:off x="10974447" y="2336423"/>
              <a:ext cx="11981" cy="1653468"/>
            </a:xfrm>
            <a:prstGeom prst="straightConnector1">
              <a:avLst/>
            </a:prstGeom>
            <a:noFill/>
            <a:ln w="50800" cap="flat" cmpd="sng">
              <a:solidFill>
                <a:srgbClr val="0C0C0C"/>
              </a:solidFill>
              <a:prstDash val="solid"/>
              <a:miter lim="8000"/>
              <a:headEnd type="none" w="sm" len="sm"/>
              <a:tailEnd type="stealth" w="med" len="med"/>
            </a:ln>
          </p:spPr>
        </p:cxnSp>
        <p:cxnSp>
          <p:nvCxnSpPr>
            <p:cNvPr id="633" name="Google Shape;633;p52"/>
            <p:cNvCxnSpPr>
              <a:stCxn id="630" idx="2"/>
            </p:cNvCxnSpPr>
            <p:nvPr/>
          </p:nvCxnSpPr>
          <p:spPr>
            <a:xfrm>
              <a:off x="10818697" y="4960406"/>
              <a:ext cx="0" cy="515100"/>
            </a:xfrm>
            <a:prstGeom prst="straightConnector1">
              <a:avLst/>
            </a:prstGeom>
            <a:noFill/>
            <a:ln w="50800" cap="flat" cmpd="sng">
              <a:solidFill>
                <a:srgbClr val="0C0C0C"/>
              </a:solidFill>
              <a:prstDash val="solid"/>
              <a:miter lim="8000"/>
              <a:headEnd type="none" w="sm" len="sm"/>
              <a:tailEnd type="none" w="sm" len="sm"/>
            </a:ln>
          </p:spPr>
        </p:cxnSp>
        <p:cxnSp>
          <p:nvCxnSpPr>
            <p:cNvPr id="634" name="Google Shape;634;p52"/>
            <p:cNvCxnSpPr/>
            <p:nvPr/>
          </p:nvCxnSpPr>
          <p:spPr>
            <a:xfrm rot="10800000">
              <a:off x="9261188" y="5427690"/>
              <a:ext cx="1521566" cy="11982"/>
            </a:xfrm>
            <a:prstGeom prst="straightConnector1">
              <a:avLst/>
            </a:prstGeom>
            <a:noFill/>
            <a:ln w="50800" cap="flat" cmpd="sng">
              <a:solidFill>
                <a:srgbClr val="0C0C0C"/>
              </a:solidFill>
              <a:prstDash val="solid"/>
              <a:miter lim="8000"/>
              <a:headEnd type="none" w="sm" len="sm"/>
              <a:tailEnd type="none" w="sm" len="sm"/>
            </a:ln>
          </p:spPr>
        </p:cxnSp>
        <p:cxnSp>
          <p:nvCxnSpPr>
            <p:cNvPr id="635" name="Google Shape;635;p52"/>
            <p:cNvCxnSpPr/>
            <p:nvPr/>
          </p:nvCxnSpPr>
          <p:spPr>
            <a:xfrm rot="10800000">
              <a:off x="9249207" y="2300478"/>
              <a:ext cx="0" cy="3127213"/>
            </a:xfrm>
            <a:prstGeom prst="straightConnector1">
              <a:avLst/>
            </a:prstGeom>
            <a:noFill/>
            <a:ln w="50800" cap="flat" cmpd="sng">
              <a:solidFill>
                <a:srgbClr val="0C0C0C"/>
              </a:solidFill>
              <a:prstDash val="solid"/>
              <a:miter lim="8000"/>
              <a:headEnd type="none" w="sm" len="sm"/>
              <a:tailEnd type="none" w="sm" len="sm"/>
            </a:ln>
          </p:spPr>
        </p:cxnSp>
        <p:cxnSp>
          <p:nvCxnSpPr>
            <p:cNvPr id="636" name="Google Shape;636;p52"/>
            <p:cNvCxnSpPr>
              <a:endCxn id="625" idx="1"/>
            </p:cNvCxnSpPr>
            <p:nvPr/>
          </p:nvCxnSpPr>
          <p:spPr>
            <a:xfrm>
              <a:off x="9249259" y="2297117"/>
              <a:ext cx="871200" cy="0"/>
            </a:xfrm>
            <a:prstGeom prst="straightConnector1">
              <a:avLst/>
            </a:prstGeom>
            <a:noFill/>
            <a:ln w="50800" cap="flat" cmpd="sng">
              <a:solidFill>
                <a:srgbClr val="0C0C0C"/>
              </a:solidFill>
              <a:prstDash val="solid"/>
              <a:miter lim="8000"/>
              <a:headEnd type="none" w="sm" len="sm"/>
              <a:tailEnd type="stealth" w="med" len="med"/>
            </a:ln>
          </p:spPr>
        </p:cxnSp>
      </p:grpSp>
      <p:sp>
        <p:nvSpPr>
          <p:cNvPr id="637" name="Google Shape;637;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endParaRPr/>
          </a:p>
        </p:txBody>
      </p:sp>
      <p:sp>
        <p:nvSpPr>
          <p:cNvPr id="643" name="Google Shape;643;p53"/>
          <p:cNvSpPr txBox="1">
            <a:spLocks noGrp="1"/>
          </p:cNvSpPr>
          <p:nvPr>
            <p:ph type="body" idx="1"/>
          </p:nvPr>
        </p:nvSpPr>
        <p:spPr>
          <a:xfrm>
            <a:off x="406400" y="1600202"/>
            <a:ext cx="7213600" cy="4267199"/>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b="1" u="sng"/>
              <a:t>Accumulator based machine:</a:t>
            </a:r>
            <a:endParaRPr/>
          </a:p>
          <a:p>
            <a:pPr marL="0" lvl="0" indent="0" algn="l" rtl="0">
              <a:lnSpc>
                <a:spcPct val="110000"/>
              </a:lnSpc>
              <a:spcBef>
                <a:spcPts val="600"/>
              </a:spcBef>
              <a:spcAft>
                <a:spcPts val="0"/>
              </a:spcAft>
              <a:buClr>
                <a:schemeClr val="dk1"/>
              </a:buClr>
              <a:buSzPts val="2800"/>
              <a:buNone/>
            </a:pPr>
            <a:r>
              <a:rPr lang="en-US"/>
              <a:t>	</a:t>
            </a:r>
            <a:r>
              <a:rPr lang="en-US" sz="2667" b="1">
                <a:solidFill>
                  <a:srgbClr val="800000"/>
                </a:solidFill>
              </a:rPr>
              <a:t>LOAD	  X</a:t>
            </a:r>
            <a:r>
              <a:rPr lang="en-US" sz="2667" b="1">
                <a:solidFill>
                  <a:srgbClr val="000090"/>
                </a:solidFill>
              </a:rPr>
              <a:t>	</a:t>
            </a:r>
            <a:r>
              <a:rPr lang="en-US" sz="2667" b="1">
                <a:solidFill>
                  <a:srgbClr val="0000FF"/>
                </a:solidFill>
              </a:rPr>
              <a:t>//  ACC = Mem[X]</a:t>
            </a:r>
            <a:endParaRPr/>
          </a:p>
          <a:p>
            <a:pPr marL="0" lvl="0" indent="0" algn="l" rtl="0">
              <a:lnSpc>
                <a:spcPct val="110000"/>
              </a:lnSpc>
              <a:spcBef>
                <a:spcPts val="600"/>
              </a:spcBef>
              <a:spcAft>
                <a:spcPts val="0"/>
              </a:spcAft>
              <a:buClr>
                <a:srgbClr val="000090"/>
              </a:buClr>
              <a:buSzPts val="2667"/>
              <a:buNone/>
            </a:pPr>
            <a:r>
              <a:rPr lang="en-US" sz="2667" b="1">
                <a:solidFill>
                  <a:srgbClr val="000090"/>
                </a:solidFill>
              </a:rPr>
              <a:t>	</a:t>
            </a:r>
            <a:r>
              <a:rPr lang="en-US" sz="2667" b="1">
                <a:solidFill>
                  <a:srgbClr val="800000"/>
                </a:solidFill>
              </a:rPr>
              <a:t>ADD	  Y</a:t>
            </a:r>
            <a:r>
              <a:rPr lang="en-US" sz="2667" b="1">
                <a:solidFill>
                  <a:srgbClr val="000090"/>
                </a:solidFill>
              </a:rPr>
              <a:t>	</a:t>
            </a:r>
            <a:r>
              <a:rPr lang="en-US" sz="2667" b="1">
                <a:solidFill>
                  <a:srgbClr val="0000FF"/>
                </a:solidFill>
              </a:rPr>
              <a:t>// ACC = ACC + Mem[Y]</a:t>
            </a:r>
            <a:endParaRPr/>
          </a:p>
          <a:p>
            <a:pPr marL="0" lvl="0" indent="0" algn="l" rtl="0">
              <a:lnSpc>
                <a:spcPct val="110000"/>
              </a:lnSpc>
              <a:spcBef>
                <a:spcPts val="600"/>
              </a:spcBef>
              <a:spcAft>
                <a:spcPts val="0"/>
              </a:spcAft>
              <a:buClr>
                <a:srgbClr val="000090"/>
              </a:buClr>
              <a:buSzPts val="2667"/>
              <a:buNone/>
            </a:pPr>
            <a:r>
              <a:rPr lang="en-US" sz="2667" b="1">
                <a:solidFill>
                  <a:srgbClr val="000090"/>
                </a:solidFill>
              </a:rPr>
              <a:t>	</a:t>
            </a:r>
            <a:r>
              <a:rPr lang="en-US" sz="2667" b="1">
                <a:solidFill>
                  <a:srgbClr val="800000"/>
                </a:solidFill>
              </a:rPr>
              <a:t>STORE	  Z</a:t>
            </a:r>
            <a:r>
              <a:rPr lang="en-US" sz="2667" b="1">
                <a:solidFill>
                  <a:srgbClr val="000090"/>
                </a:solidFill>
              </a:rPr>
              <a:t>	</a:t>
            </a:r>
            <a:r>
              <a:rPr lang="en-US" sz="2667" b="1">
                <a:solidFill>
                  <a:srgbClr val="0000FF"/>
                </a:solidFill>
              </a:rPr>
              <a:t>// Mem[Z] = ACC</a:t>
            </a:r>
            <a:endParaRPr/>
          </a:p>
          <a:p>
            <a:pPr marL="228600" lvl="0" indent="-228600" algn="l" rtl="0">
              <a:lnSpc>
                <a:spcPct val="110000"/>
              </a:lnSpc>
              <a:spcBef>
                <a:spcPts val="600"/>
              </a:spcBef>
              <a:spcAft>
                <a:spcPts val="0"/>
              </a:spcAft>
              <a:buClr>
                <a:schemeClr val="dk1"/>
              </a:buClr>
              <a:buSzPts val="2800"/>
              <a:buChar char="•"/>
            </a:pPr>
            <a:r>
              <a:rPr lang="en-US"/>
              <a:t>All instructions assume that one of the operands (and also the result) is in a special register called </a:t>
            </a:r>
            <a:r>
              <a:rPr lang="en-US" i="1">
                <a:solidFill>
                  <a:srgbClr val="800000"/>
                </a:solidFill>
              </a:rPr>
              <a:t>accumulator</a:t>
            </a:r>
            <a:r>
              <a:rPr lang="en-US"/>
              <a:t>.</a:t>
            </a:r>
            <a:endParaRPr/>
          </a:p>
        </p:txBody>
      </p:sp>
      <p:grpSp>
        <p:nvGrpSpPr>
          <p:cNvPr id="644" name="Google Shape;644;p53"/>
          <p:cNvGrpSpPr/>
          <p:nvPr/>
        </p:nvGrpSpPr>
        <p:grpSpPr>
          <a:xfrm>
            <a:off x="7924801" y="1600201"/>
            <a:ext cx="4281153" cy="3961995"/>
            <a:chOff x="8877801" y="2889476"/>
            <a:chExt cx="3210865" cy="2971496"/>
          </a:xfrm>
        </p:grpSpPr>
        <p:grpSp>
          <p:nvGrpSpPr>
            <p:cNvPr id="645" name="Google Shape;645;p53"/>
            <p:cNvGrpSpPr/>
            <p:nvPr/>
          </p:nvGrpSpPr>
          <p:grpSpPr>
            <a:xfrm>
              <a:off x="8877801" y="2889476"/>
              <a:ext cx="2396167" cy="2562066"/>
              <a:chOff x="9249207" y="2913440"/>
              <a:chExt cx="2396167" cy="2562066"/>
            </a:xfrm>
          </p:grpSpPr>
          <p:sp>
            <p:nvSpPr>
              <p:cNvPr id="646" name="Google Shape;646;p53"/>
              <p:cNvSpPr/>
              <p:nvPr/>
            </p:nvSpPr>
            <p:spPr>
              <a:xfrm>
                <a:off x="10137719" y="2913440"/>
                <a:ext cx="1186103" cy="407376"/>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ACC</a:t>
                </a:r>
                <a:endParaRPr/>
              </a:p>
            </p:txBody>
          </p:sp>
          <p:sp>
            <p:nvSpPr>
              <p:cNvPr id="647" name="Google Shape;647;p53"/>
              <p:cNvSpPr/>
              <p:nvPr/>
            </p:nvSpPr>
            <p:spPr>
              <a:xfrm>
                <a:off x="9992019" y="3977910"/>
                <a:ext cx="1653355" cy="982496"/>
              </a:xfrm>
              <a:prstGeom prst="bevel">
                <a:avLst>
                  <a:gd name="adj" fmla="val 12500"/>
                </a:avLst>
              </a:prstGeom>
              <a:solidFill>
                <a:srgbClr val="FEF2CC"/>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a:solidFill>
                      <a:srgbClr val="000090"/>
                    </a:solidFill>
                    <a:latin typeface="Calibri"/>
                    <a:ea typeface="Calibri"/>
                    <a:cs typeface="Calibri"/>
                    <a:sym typeface="Calibri"/>
                  </a:rPr>
                  <a:t>ALU</a:t>
                </a:r>
                <a:endParaRPr/>
              </a:p>
            </p:txBody>
          </p:sp>
          <p:cxnSp>
            <p:nvCxnSpPr>
              <p:cNvPr id="648" name="Google Shape;648;p53"/>
              <p:cNvCxnSpPr/>
              <p:nvPr/>
            </p:nvCxnSpPr>
            <p:spPr>
              <a:xfrm>
                <a:off x="10411348" y="3330901"/>
                <a:ext cx="11981" cy="658990"/>
              </a:xfrm>
              <a:prstGeom prst="straightConnector1">
                <a:avLst/>
              </a:prstGeom>
              <a:noFill/>
              <a:ln w="50800" cap="flat" cmpd="sng">
                <a:solidFill>
                  <a:srgbClr val="0C0C0C"/>
                </a:solidFill>
                <a:prstDash val="solid"/>
                <a:miter lim="8000"/>
                <a:headEnd type="none" w="sm" len="sm"/>
                <a:tailEnd type="stealth" w="med" len="med"/>
              </a:ln>
            </p:spPr>
          </p:cxnSp>
          <p:cxnSp>
            <p:nvCxnSpPr>
              <p:cNvPr id="649" name="Google Shape;649;p53"/>
              <p:cNvCxnSpPr/>
              <p:nvPr/>
            </p:nvCxnSpPr>
            <p:spPr>
              <a:xfrm>
                <a:off x="10986428" y="3498644"/>
                <a:ext cx="0" cy="491247"/>
              </a:xfrm>
              <a:prstGeom prst="straightConnector1">
                <a:avLst/>
              </a:prstGeom>
              <a:noFill/>
              <a:ln w="50800" cap="flat" cmpd="sng">
                <a:solidFill>
                  <a:srgbClr val="0C0C0C"/>
                </a:solidFill>
                <a:prstDash val="solid"/>
                <a:miter lim="8000"/>
                <a:headEnd type="none" w="sm" len="sm"/>
                <a:tailEnd type="stealth" w="med" len="med"/>
              </a:ln>
            </p:spPr>
          </p:cxnSp>
          <p:cxnSp>
            <p:nvCxnSpPr>
              <p:cNvPr id="650" name="Google Shape;650;p53"/>
              <p:cNvCxnSpPr>
                <a:stCxn id="647" idx="2"/>
              </p:cNvCxnSpPr>
              <p:nvPr/>
            </p:nvCxnSpPr>
            <p:spPr>
              <a:xfrm>
                <a:off x="10818697" y="4960406"/>
                <a:ext cx="0" cy="515100"/>
              </a:xfrm>
              <a:prstGeom prst="straightConnector1">
                <a:avLst/>
              </a:prstGeom>
              <a:noFill/>
              <a:ln w="50800" cap="flat" cmpd="sng">
                <a:solidFill>
                  <a:srgbClr val="0C0C0C"/>
                </a:solidFill>
                <a:prstDash val="solid"/>
                <a:miter lim="8000"/>
                <a:headEnd type="none" w="sm" len="sm"/>
                <a:tailEnd type="none" w="sm" len="sm"/>
              </a:ln>
            </p:spPr>
          </p:cxnSp>
          <p:cxnSp>
            <p:nvCxnSpPr>
              <p:cNvPr id="651" name="Google Shape;651;p53"/>
              <p:cNvCxnSpPr/>
              <p:nvPr/>
            </p:nvCxnSpPr>
            <p:spPr>
              <a:xfrm rot="10800000">
                <a:off x="9261188" y="5427690"/>
                <a:ext cx="1521566" cy="11982"/>
              </a:xfrm>
              <a:prstGeom prst="straightConnector1">
                <a:avLst/>
              </a:prstGeom>
              <a:noFill/>
              <a:ln w="50800" cap="flat" cmpd="sng">
                <a:solidFill>
                  <a:srgbClr val="0C0C0C"/>
                </a:solidFill>
                <a:prstDash val="solid"/>
                <a:miter lim="8000"/>
                <a:headEnd type="none" w="sm" len="sm"/>
                <a:tailEnd type="none" w="sm" len="sm"/>
              </a:ln>
            </p:spPr>
          </p:cxnSp>
          <p:cxnSp>
            <p:nvCxnSpPr>
              <p:cNvPr id="652" name="Google Shape;652;p53"/>
              <p:cNvCxnSpPr/>
              <p:nvPr/>
            </p:nvCxnSpPr>
            <p:spPr>
              <a:xfrm rot="10800000">
                <a:off x="9249207" y="3055323"/>
                <a:ext cx="0" cy="2372369"/>
              </a:xfrm>
              <a:prstGeom prst="straightConnector1">
                <a:avLst/>
              </a:prstGeom>
              <a:noFill/>
              <a:ln w="50800" cap="flat" cmpd="sng">
                <a:solidFill>
                  <a:srgbClr val="0C0C0C"/>
                </a:solidFill>
                <a:prstDash val="solid"/>
                <a:miter lim="8000"/>
                <a:headEnd type="none" w="sm" len="sm"/>
                <a:tailEnd type="none" w="sm" len="sm"/>
              </a:ln>
            </p:spPr>
          </p:cxnSp>
          <p:cxnSp>
            <p:nvCxnSpPr>
              <p:cNvPr id="653" name="Google Shape;653;p53"/>
              <p:cNvCxnSpPr/>
              <p:nvPr/>
            </p:nvCxnSpPr>
            <p:spPr>
              <a:xfrm>
                <a:off x="9249207" y="3063965"/>
                <a:ext cx="871252" cy="0"/>
              </a:xfrm>
              <a:prstGeom prst="straightConnector1">
                <a:avLst/>
              </a:prstGeom>
              <a:noFill/>
              <a:ln w="50800" cap="flat" cmpd="sng">
                <a:solidFill>
                  <a:srgbClr val="0C0C0C"/>
                </a:solidFill>
                <a:prstDash val="solid"/>
                <a:miter lim="8000"/>
                <a:headEnd type="none" w="sm" len="sm"/>
                <a:tailEnd type="stealth" w="med" len="med"/>
              </a:ln>
            </p:spPr>
          </p:cxnSp>
        </p:grpSp>
        <p:cxnSp>
          <p:nvCxnSpPr>
            <p:cNvPr id="654" name="Google Shape;654;p53"/>
            <p:cNvCxnSpPr/>
            <p:nvPr/>
          </p:nvCxnSpPr>
          <p:spPr>
            <a:xfrm>
              <a:off x="10615022" y="3486662"/>
              <a:ext cx="934506" cy="0"/>
            </a:xfrm>
            <a:prstGeom prst="straightConnector1">
              <a:avLst/>
            </a:prstGeom>
            <a:noFill/>
            <a:ln w="50800" cap="flat" cmpd="sng">
              <a:solidFill>
                <a:srgbClr val="0C0C0C"/>
              </a:solidFill>
              <a:prstDash val="solid"/>
              <a:miter lim="8000"/>
              <a:headEnd type="none" w="sm" len="sm"/>
              <a:tailEnd type="none" w="sm" len="sm"/>
            </a:ln>
          </p:spPr>
        </p:cxnSp>
        <p:cxnSp>
          <p:nvCxnSpPr>
            <p:cNvPr id="655" name="Google Shape;655;p53"/>
            <p:cNvCxnSpPr/>
            <p:nvPr/>
          </p:nvCxnSpPr>
          <p:spPr>
            <a:xfrm flipH="1">
              <a:off x="11549528" y="3486662"/>
              <a:ext cx="11980" cy="1701395"/>
            </a:xfrm>
            <a:prstGeom prst="straightConnector1">
              <a:avLst/>
            </a:prstGeom>
            <a:noFill/>
            <a:ln w="50800" cap="flat" cmpd="sng">
              <a:solidFill>
                <a:srgbClr val="0C0C0C"/>
              </a:solidFill>
              <a:prstDash val="solid"/>
              <a:miter lim="8000"/>
              <a:headEnd type="none" w="sm" len="sm"/>
              <a:tailEnd type="none" w="sm" len="sm"/>
            </a:ln>
          </p:spPr>
        </p:cxnSp>
        <p:sp>
          <p:nvSpPr>
            <p:cNvPr id="656" name="Google Shape;656;p53"/>
            <p:cNvSpPr txBox="1"/>
            <p:nvPr/>
          </p:nvSpPr>
          <p:spPr>
            <a:xfrm>
              <a:off x="10926525" y="5176073"/>
              <a:ext cx="1162141" cy="6848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67">
                  <a:solidFill>
                    <a:srgbClr val="000090"/>
                  </a:solidFill>
                  <a:latin typeface="Calibri"/>
                  <a:ea typeface="Calibri"/>
                  <a:cs typeface="Calibri"/>
                  <a:sym typeface="Calibri"/>
                </a:rPr>
                <a:t>From memory</a:t>
              </a:r>
              <a:endParaRPr/>
            </a:p>
          </p:txBody>
        </p:sp>
      </p:grpSp>
      <p:sp>
        <p:nvSpPr>
          <p:cNvPr id="657" name="Google Shape;657;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54"/>
          <p:cNvSpPr txBox="1">
            <a:spLocks noGrp="1"/>
          </p:cNvSpPr>
          <p:nvPr>
            <p:ph type="body" idx="1"/>
          </p:nvPr>
        </p:nvSpPr>
        <p:spPr>
          <a:xfrm>
            <a:off x="609600" y="1600202"/>
            <a:ext cx="7347762" cy="4267199"/>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b="1" u="sng"/>
              <a:t>Register-Memory machine:</a:t>
            </a:r>
            <a:endParaRPr/>
          </a:p>
          <a:p>
            <a:pPr marL="0" lvl="0" indent="0" algn="l" rtl="0">
              <a:lnSpc>
                <a:spcPct val="110000"/>
              </a:lnSpc>
              <a:spcBef>
                <a:spcPts val="600"/>
              </a:spcBef>
              <a:spcAft>
                <a:spcPts val="0"/>
              </a:spcAft>
              <a:buClr>
                <a:schemeClr val="dk1"/>
              </a:buClr>
              <a:buSzPts val="2800"/>
              <a:buNone/>
            </a:pPr>
            <a:r>
              <a:rPr lang="en-US"/>
              <a:t>	</a:t>
            </a:r>
            <a:r>
              <a:rPr lang="en-US" sz="2667" b="1">
                <a:solidFill>
                  <a:srgbClr val="800000"/>
                </a:solidFill>
              </a:rPr>
              <a:t>LOAD	 R2,X</a:t>
            </a:r>
            <a:r>
              <a:rPr lang="en-US" sz="2667" b="1">
                <a:solidFill>
                  <a:srgbClr val="000090"/>
                </a:solidFill>
              </a:rPr>
              <a:t>.    </a:t>
            </a:r>
            <a:r>
              <a:rPr lang="en-US" sz="2667" b="1">
                <a:solidFill>
                  <a:srgbClr val="0000FF"/>
                </a:solidFill>
              </a:rPr>
              <a:t>// R2 = Mem[X]</a:t>
            </a:r>
            <a:endParaRPr/>
          </a:p>
          <a:p>
            <a:pPr marL="0" lvl="0" indent="0" algn="l" rtl="0">
              <a:lnSpc>
                <a:spcPct val="110000"/>
              </a:lnSpc>
              <a:spcBef>
                <a:spcPts val="600"/>
              </a:spcBef>
              <a:spcAft>
                <a:spcPts val="0"/>
              </a:spcAft>
              <a:buClr>
                <a:srgbClr val="000090"/>
              </a:buClr>
              <a:buSzPts val="2667"/>
              <a:buNone/>
            </a:pPr>
            <a:r>
              <a:rPr lang="en-US" sz="2667" b="1">
                <a:solidFill>
                  <a:srgbClr val="000090"/>
                </a:solidFill>
              </a:rPr>
              <a:t>	</a:t>
            </a:r>
            <a:r>
              <a:rPr lang="en-US" sz="2667" b="1">
                <a:solidFill>
                  <a:srgbClr val="800000"/>
                </a:solidFill>
              </a:rPr>
              <a:t>ADD	 R2,Y</a:t>
            </a:r>
            <a:r>
              <a:rPr lang="en-US" sz="2667" b="1">
                <a:solidFill>
                  <a:srgbClr val="000090"/>
                </a:solidFill>
              </a:rPr>
              <a:t>	   </a:t>
            </a:r>
            <a:r>
              <a:rPr lang="en-US" sz="2667" b="1">
                <a:solidFill>
                  <a:srgbClr val="0000FF"/>
                </a:solidFill>
              </a:rPr>
              <a:t>// R2 = R2 + Mem[Y]</a:t>
            </a:r>
            <a:endParaRPr/>
          </a:p>
          <a:p>
            <a:pPr marL="0" lvl="0" indent="0" algn="l" rtl="0">
              <a:lnSpc>
                <a:spcPct val="110000"/>
              </a:lnSpc>
              <a:spcBef>
                <a:spcPts val="600"/>
              </a:spcBef>
              <a:spcAft>
                <a:spcPts val="0"/>
              </a:spcAft>
              <a:buClr>
                <a:srgbClr val="000090"/>
              </a:buClr>
              <a:buSzPts val="2667"/>
              <a:buNone/>
            </a:pPr>
            <a:r>
              <a:rPr lang="en-US" sz="2667" b="1">
                <a:solidFill>
                  <a:srgbClr val="000090"/>
                </a:solidFill>
              </a:rPr>
              <a:t>	</a:t>
            </a:r>
            <a:r>
              <a:rPr lang="en-US" sz="2667" b="1">
                <a:solidFill>
                  <a:srgbClr val="800000"/>
                </a:solidFill>
              </a:rPr>
              <a:t>STORE	 Z,R2</a:t>
            </a:r>
            <a:r>
              <a:rPr lang="en-US" sz="2667" b="1">
                <a:solidFill>
                  <a:srgbClr val="000090"/>
                </a:solidFill>
              </a:rPr>
              <a:t>	   </a:t>
            </a:r>
            <a:r>
              <a:rPr lang="en-US" sz="2667" b="1">
                <a:solidFill>
                  <a:srgbClr val="0000FF"/>
                </a:solidFill>
              </a:rPr>
              <a:t>// Mem[Z] = R2</a:t>
            </a:r>
            <a:endParaRPr/>
          </a:p>
          <a:p>
            <a:pPr marL="228600" lvl="0" indent="-228600" algn="l" rtl="0">
              <a:lnSpc>
                <a:spcPct val="110000"/>
              </a:lnSpc>
              <a:spcBef>
                <a:spcPts val="600"/>
              </a:spcBef>
              <a:spcAft>
                <a:spcPts val="0"/>
              </a:spcAft>
              <a:buClr>
                <a:schemeClr val="dk1"/>
              </a:buClr>
              <a:buSzPts val="2800"/>
              <a:buChar char="•"/>
            </a:pPr>
            <a:r>
              <a:rPr lang="en-US"/>
              <a:t>One of the operands is assumed to be in register and another in memory.</a:t>
            </a:r>
            <a:endParaRPr/>
          </a:p>
        </p:txBody>
      </p:sp>
      <p:grpSp>
        <p:nvGrpSpPr>
          <p:cNvPr id="663" name="Google Shape;663;p54"/>
          <p:cNvGrpSpPr/>
          <p:nvPr/>
        </p:nvGrpSpPr>
        <p:grpSpPr>
          <a:xfrm>
            <a:off x="8128001" y="461898"/>
            <a:ext cx="4077953" cy="5409049"/>
            <a:chOff x="8877801" y="1677432"/>
            <a:chExt cx="3210865" cy="4209287"/>
          </a:xfrm>
        </p:grpSpPr>
        <p:grpSp>
          <p:nvGrpSpPr>
            <p:cNvPr id="664" name="Google Shape;664;p54"/>
            <p:cNvGrpSpPr/>
            <p:nvPr/>
          </p:nvGrpSpPr>
          <p:grpSpPr>
            <a:xfrm>
              <a:off x="8877801" y="1677432"/>
              <a:ext cx="2396167" cy="3774110"/>
              <a:chOff x="9249207" y="1701396"/>
              <a:chExt cx="2396167" cy="3774110"/>
            </a:xfrm>
          </p:grpSpPr>
          <p:grpSp>
            <p:nvGrpSpPr>
              <p:cNvPr id="665" name="Google Shape;665;p54"/>
              <p:cNvGrpSpPr/>
              <p:nvPr/>
            </p:nvGrpSpPr>
            <p:grpSpPr>
              <a:xfrm>
                <a:off x="10120459" y="1701396"/>
                <a:ext cx="1203363" cy="1619420"/>
                <a:chOff x="9030201" y="1773285"/>
                <a:chExt cx="1203363" cy="1619420"/>
              </a:xfrm>
            </p:grpSpPr>
            <p:sp>
              <p:nvSpPr>
                <p:cNvPr id="666" name="Google Shape;666;p54"/>
                <p:cNvSpPr/>
                <p:nvPr/>
              </p:nvSpPr>
              <p:spPr>
                <a:xfrm>
                  <a:off x="9033552" y="1773285"/>
                  <a:ext cx="1186103" cy="407376"/>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67" name="Google Shape;667;p54"/>
                <p:cNvSpPr/>
                <p:nvPr/>
              </p:nvSpPr>
              <p:spPr>
                <a:xfrm>
                  <a:off x="9030201" y="2165318"/>
                  <a:ext cx="1186103" cy="407376"/>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68" name="Google Shape;668;p54"/>
                <p:cNvSpPr/>
                <p:nvPr/>
              </p:nvSpPr>
              <p:spPr>
                <a:xfrm>
                  <a:off x="9038832" y="2581305"/>
                  <a:ext cx="1186103" cy="407376"/>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69" name="Google Shape;669;p54"/>
                <p:cNvSpPr/>
                <p:nvPr/>
              </p:nvSpPr>
              <p:spPr>
                <a:xfrm>
                  <a:off x="9047461" y="2985329"/>
                  <a:ext cx="1186103" cy="407376"/>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sp>
            <p:nvSpPr>
              <p:cNvPr id="670" name="Google Shape;670;p54"/>
              <p:cNvSpPr/>
              <p:nvPr/>
            </p:nvSpPr>
            <p:spPr>
              <a:xfrm>
                <a:off x="9992019" y="3977910"/>
                <a:ext cx="1653355" cy="982496"/>
              </a:xfrm>
              <a:prstGeom prst="bevel">
                <a:avLst>
                  <a:gd name="adj" fmla="val 12500"/>
                </a:avLst>
              </a:prstGeom>
              <a:solidFill>
                <a:srgbClr val="FEF2CC"/>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a:solidFill>
                      <a:srgbClr val="000090"/>
                    </a:solidFill>
                    <a:latin typeface="Calibri"/>
                    <a:ea typeface="Calibri"/>
                    <a:cs typeface="Calibri"/>
                    <a:sym typeface="Calibri"/>
                  </a:rPr>
                  <a:t>ALU</a:t>
                </a:r>
                <a:endParaRPr/>
              </a:p>
            </p:txBody>
          </p:sp>
          <p:cxnSp>
            <p:nvCxnSpPr>
              <p:cNvPr id="671" name="Google Shape;671;p54"/>
              <p:cNvCxnSpPr/>
              <p:nvPr/>
            </p:nvCxnSpPr>
            <p:spPr>
              <a:xfrm>
                <a:off x="10411348" y="1941028"/>
                <a:ext cx="11981" cy="2048863"/>
              </a:xfrm>
              <a:prstGeom prst="straightConnector1">
                <a:avLst/>
              </a:prstGeom>
              <a:noFill/>
              <a:ln w="50800" cap="flat" cmpd="sng">
                <a:solidFill>
                  <a:srgbClr val="0C0C0C"/>
                </a:solidFill>
                <a:prstDash val="solid"/>
                <a:miter lim="8000"/>
                <a:headEnd type="none" w="sm" len="sm"/>
                <a:tailEnd type="stealth" w="med" len="med"/>
              </a:ln>
            </p:spPr>
          </p:cxnSp>
          <p:cxnSp>
            <p:nvCxnSpPr>
              <p:cNvPr id="672" name="Google Shape;672;p54"/>
              <p:cNvCxnSpPr/>
              <p:nvPr/>
            </p:nvCxnSpPr>
            <p:spPr>
              <a:xfrm>
                <a:off x="10986428" y="3498644"/>
                <a:ext cx="0" cy="491247"/>
              </a:xfrm>
              <a:prstGeom prst="straightConnector1">
                <a:avLst/>
              </a:prstGeom>
              <a:noFill/>
              <a:ln w="50800" cap="flat" cmpd="sng">
                <a:solidFill>
                  <a:srgbClr val="0C0C0C"/>
                </a:solidFill>
                <a:prstDash val="solid"/>
                <a:miter lim="8000"/>
                <a:headEnd type="none" w="sm" len="sm"/>
                <a:tailEnd type="stealth" w="med" len="med"/>
              </a:ln>
            </p:spPr>
          </p:cxnSp>
          <p:cxnSp>
            <p:nvCxnSpPr>
              <p:cNvPr id="673" name="Google Shape;673;p54"/>
              <p:cNvCxnSpPr>
                <a:stCxn id="670" idx="2"/>
              </p:cNvCxnSpPr>
              <p:nvPr/>
            </p:nvCxnSpPr>
            <p:spPr>
              <a:xfrm>
                <a:off x="10818697" y="4960406"/>
                <a:ext cx="0" cy="515100"/>
              </a:xfrm>
              <a:prstGeom prst="straightConnector1">
                <a:avLst/>
              </a:prstGeom>
              <a:noFill/>
              <a:ln w="50800" cap="flat" cmpd="sng">
                <a:solidFill>
                  <a:srgbClr val="0C0C0C"/>
                </a:solidFill>
                <a:prstDash val="solid"/>
                <a:miter lim="8000"/>
                <a:headEnd type="none" w="sm" len="sm"/>
                <a:tailEnd type="none" w="sm" len="sm"/>
              </a:ln>
            </p:spPr>
          </p:cxnSp>
          <p:cxnSp>
            <p:nvCxnSpPr>
              <p:cNvPr id="674" name="Google Shape;674;p54"/>
              <p:cNvCxnSpPr/>
              <p:nvPr/>
            </p:nvCxnSpPr>
            <p:spPr>
              <a:xfrm rot="10800000">
                <a:off x="9261188" y="5427690"/>
                <a:ext cx="1521566" cy="11982"/>
              </a:xfrm>
              <a:prstGeom prst="straightConnector1">
                <a:avLst/>
              </a:prstGeom>
              <a:noFill/>
              <a:ln w="50800" cap="flat" cmpd="sng">
                <a:solidFill>
                  <a:srgbClr val="0C0C0C"/>
                </a:solidFill>
                <a:prstDash val="solid"/>
                <a:miter lim="8000"/>
                <a:headEnd type="none" w="sm" len="sm"/>
                <a:tailEnd type="none" w="sm" len="sm"/>
              </a:ln>
            </p:spPr>
          </p:cxnSp>
          <p:cxnSp>
            <p:nvCxnSpPr>
              <p:cNvPr id="675" name="Google Shape;675;p54"/>
              <p:cNvCxnSpPr/>
              <p:nvPr/>
            </p:nvCxnSpPr>
            <p:spPr>
              <a:xfrm rot="10800000">
                <a:off x="9249207" y="3055323"/>
                <a:ext cx="0" cy="2372369"/>
              </a:xfrm>
              <a:prstGeom prst="straightConnector1">
                <a:avLst/>
              </a:prstGeom>
              <a:noFill/>
              <a:ln w="50800" cap="flat" cmpd="sng">
                <a:solidFill>
                  <a:srgbClr val="0C0C0C"/>
                </a:solidFill>
                <a:prstDash val="solid"/>
                <a:miter lim="8000"/>
                <a:headEnd type="none" w="sm" len="sm"/>
                <a:tailEnd type="none" w="sm" len="sm"/>
              </a:ln>
            </p:spPr>
          </p:cxnSp>
          <p:cxnSp>
            <p:nvCxnSpPr>
              <p:cNvPr id="676" name="Google Shape;676;p54"/>
              <p:cNvCxnSpPr/>
              <p:nvPr/>
            </p:nvCxnSpPr>
            <p:spPr>
              <a:xfrm>
                <a:off x="9249207" y="3063965"/>
                <a:ext cx="871252" cy="0"/>
              </a:xfrm>
              <a:prstGeom prst="straightConnector1">
                <a:avLst/>
              </a:prstGeom>
              <a:noFill/>
              <a:ln w="50800" cap="flat" cmpd="sng">
                <a:solidFill>
                  <a:srgbClr val="0C0C0C"/>
                </a:solidFill>
                <a:prstDash val="solid"/>
                <a:miter lim="8000"/>
                <a:headEnd type="none" w="sm" len="sm"/>
                <a:tailEnd type="stealth" w="med" len="med"/>
              </a:ln>
            </p:spPr>
          </p:cxnSp>
        </p:grpSp>
        <p:cxnSp>
          <p:nvCxnSpPr>
            <p:cNvPr id="677" name="Google Shape;677;p54"/>
            <p:cNvCxnSpPr/>
            <p:nvPr/>
          </p:nvCxnSpPr>
          <p:spPr>
            <a:xfrm>
              <a:off x="10615022" y="3486662"/>
              <a:ext cx="934506" cy="0"/>
            </a:xfrm>
            <a:prstGeom prst="straightConnector1">
              <a:avLst/>
            </a:prstGeom>
            <a:noFill/>
            <a:ln w="50800" cap="flat" cmpd="sng">
              <a:solidFill>
                <a:srgbClr val="0C0C0C"/>
              </a:solidFill>
              <a:prstDash val="solid"/>
              <a:miter lim="8000"/>
              <a:headEnd type="none" w="sm" len="sm"/>
              <a:tailEnd type="none" w="sm" len="sm"/>
            </a:ln>
          </p:spPr>
        </p:cxnSp>
        <p:cxnSp>
          <p:nvCxnSpPr>
            <p:cNvPr id="678" name="Google Shape;678;p54"/>
            <p:cNvCxnSpPr/>
            <p:nvPr/>
          </p:nvCxnSpPr>
          <p:spPr>
            <a:xfrm flipH="1">
              <a:off x="11549528" y="3486662"/>
              <a:ext cx="11980" cy="1701395"/>
            </a:xfrm>
            <a:prstGeom prst="straightConnector1">
              <a:avLst/>
            </a:prstGeom>
            <a:noFill/>
            <a:ln w="50800" cap="flat" cmpd="sng">
              <a:solidFill>
                <a:srgbClr val="0C0C0C"/>
              </a:solidFill>
              <a:prstDash val="solid"/>
              <a:miter lim="8000"/>
              <a:headEnd type="none" w="sm" len="sm"/>
              <a:tailEnd type="none" w="sm" len="sm"/>
            </a:ln>
          </p:spPr>
        </p:cxnSp>
        <p:sp>
          <p:nvSpPr>
            <p:cNvPr id="679" name="Google Shape;679;p54"/>
            <p:cNvSpPr txBox="1"/>
            <p:nvPr/>
          </p:nvSpPr>
          <p:spPr>
            <a:xfrm>
              <a:off x="10926525" y="5176073"/>
              <a:ext cx="1162141" cy="7106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67">
                  <a:solidFill>
                    <a:schemeClr val="dk1"/>
                  </a:solidFill>
                  <a:latin typeface="Calibri"/>
                  <a:ea typeface="Calibri"/>
                  <a:cs typeface="Calibri"/>
                  <a:sym typeface="Calibri"/>
                </a:rPr>
                <a:t>From memory</a:t>
              </a:r>
              <a:endParaRPr/>
            </a:p>
          </p:txBody>
        </p:sp>
      </p:grpSp>
      <p:sp>
        <p:nvSpPr>
          <p:cNvPr id="680" name="Google Shape;680;p54"/>
          <p:cNvSpPr txBox="1"/>
          <p:nvPr/>
        </p:nvSpPr>
        <p:spPr>
          <a:xfrm>
            <a:off x="7315200" y="990600"/>
            <a:ext cx="2336800" cy="50276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67">
                <a:solidFill>
                  <a:srgbClr val="000090"/>
                </a:solidFill>
                <a:latin typeface="Calibri"/>
                <a:ea typeface="Calibri"/>
                <a:cs typeface="Calibri"/>
                <a:sym typeface="Calibri"/>
              </a:rPr>
              <a:t>Registers</a:t>
            </a:r>
            <a:endParaRPr/>
          </a:p>
        </p:txBody>
      </p:sp>
      <p:sp>
        <p:nvSpPr>
          <p:cNvPr id="681" name="Google Shape;681;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55"/>
          <p:cNvSpPr txBox="1">
            <a:spLocks noGrp="1"/>
          </p:cNvSpPr>
          <p:nvPr>
            <p:ph type="body" idx="1"/>
          </p:nvPr>
        </p:nvSpPr>
        <p:spPr>
          <a:xfrm>
            <a:off x="609600" y="1600202"/>
            <a:ext cx="7416800" cy="4267199"/>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b="1" u="sng"/>
              <a:t>Register-Register machine:</a:t>
            </a:r>
            <a:endParaRPr/>
          </a:p>
          <a:p>
            <a:pPr marL="0" lvl="0" indent="0" algn="l" rtl="0">
              <a:lnSpc>
                <a:spcPct val="110000"/>
              </a:lnSpc>
              <a:spcBef>
                <a:spcPts val="600"/>
              </a:spcBef>
              <a:spcAft>
                <a:spcPts val="0"/>
              </a:spcAft>
              <a:buClr>
                <a:schemeClr val="dk1"/>
              </a:buClr>
              <a:buSzPts val="2800"/>
              <a:buNone/>
            </a:pPr>
            <a:r>
              <a:rPr lang="en-US"/>
              <a:t>	</a:t>
            </a:r>
            <a:r>
              <a:rPr lang="en-US" sz="2667" b="1">
                <a:solidFill>
                  <a:srgbClr val="800000"/>
                </a:solidFill>
              </a:rPr>
              <a:t>LOAD	R1,X</a:t>
            </a:r>
            <a:r>
              <a:rPr lang="en-US" sz="2667" b="1">
                <a:solidFill>
                  <a:srgbClr val="000090"/>
                </a:solidFill>
              </a:rPr>
              <a:t>	         </a:t>
            </a:r>
            <a:r>
              <a:rPr lang="en-US" sz="2667" b="1">
                <a:solidFill>
                  <a:srgbClr val="0000FF"/>
                </a:solidFill>
              </a:rPr>
              <a:t>// R1 = Mem[X]</a:t>
            </a:r>
            <a:endParaRPr/>
          </a:p>
          <a:p>
            <a:pPr marL="0" lvl="0" indent="0" algn="l" rtl="0">
              <a:lnSpc>
                <a:spcPct val="110000"/>
              </a:lnSpc>
              <a:spcBef>
                <a:spcPts val="600"/>
              </a:spcBef>
              <a:spcAft>
                <a:spcPts val="0"/>
              </a:spcAft>
              <a:buClr>
                <a:srgbClr val="000090"/>
              </a:buClr>
              <a:buSzPts val="2667"/>
              <a:buNone/>
            </a:pPr>
            <a:r>
              <a:rPr lang="en-US" sz="2667" b="1">
                <a:solidFill>
                  <a:srgbClr val="000090"/>
                </a:solidFill>
              </a:rPr>
              <a:t>	</a:t>
            </a:r>
            <a:r>
              <a:rPr lang="en-US" sz="2667" b="1">
                <a:solidFill>
                  <a:srgbClr val="800000"/>
                </a:solidFill>
              </a:rPr>
              <a:t>LOAD	R2,Y</a:t>
            </a:r>
            <a:r>
              <a:rPr lang="en-US" sz="2667" b="1">
                <a:solidFill>
                  <a:srgbClr val="000090"/>
                </a:solidFill>
              </a:rPr>
              <a:t>	         </a:t>
            </a:r>
            <a:r>
              <a:rPr lang="en-US" sz="2667" b="1">
                <a:solidFill>
                  <a:srgbClr val="0000FF"/>
                </a:solidFill>
              </a:rPr>
              <a:t>// R2 = Mem[Y]</a:t>
            </a:r>
            <a:endParaRPr/>
          </a:p>
          <a:p>
            <a:pPr marL="0" lvl="0" indent="0" algn="l" rtl="0">
              <a:lnSpc>
                <a:spcPct val="110000"/>
              </a:lnSpc>
              <a:spcBef>
                <a:spcPts val="600"/>
              </a:spcBef>
              <a:spcAft>
                <a:spcPts val="0"/>
              </a:spcAft>
              <a:buClr>
                <a:srgbClr val="000090"/>
              </a:buClr>
              <a:buSzPts val="2667"/>
              <a:buNone/>
            </a:pPr>
            <a:r>
              <a:rPr lang="en-US" sz="2667" b="1">
                <a:solidFill>
                  <a:srgbClr val="000090"/>
                </a:solidFill>
              </a:rPr>
              <a:t>	</a:t>
            </a:r>
            <a:r>
              <a:rPr lang="en-US" sz="2667" b="1">
                <a:solidFill>
                  <a:srgbClr val="800000"/>
                </a:solidFill>
              </a:rPr>
              <a:t>ADD	R3,R1,R2    </a:t>
            </a:r>
            <a:r>
              <a:rPr lang="en-US" sz="2667" b="1">
                <a:solidFill>
                  <a:srgbClr val="0000FF"/>
                </a:solidFill>
              </a:rPr>
              <a:t>// R3 = R1 + R2</a:t>
            </a:r>
            <a:endParaRPr/>
          </a:p>
          <a:p>
            <a:pPr marL="0" lvl="0" indent="0" algn="l" rtl="0">
              <a:lnSpc>
                <a:spcPct val="110000"/>
              </a:lnSpc>
              <a:spcBef>
                <a:spcPts val="600"/>
              </a:spcBef>
              <a:spcAft>
                <a:spcPts val="0"/>
              </a:spcAft>
              <a:buClr>
                <a:srgbClr val="000090"/>
              </a:buClr>
              <a:buSzPts val="2667"/>
              <a:buNone/>
            </a:pPr>
            <a:r>
              <a:rPr lang="en-US" sz="2667" b="1">
                <a:solidFill>
                  <a:srgbClr val="000090"/>
                </a:solidFill>
              </a:rPr>
              <a:t>	</a:t>
            </a:r>
            <a:r>
              <a:rPr lang="en-US" sz="2667" b="1">
                <a:solidFill>
                  <a:srgbClr val="800000"/>
                </a:solidFill>
              </a:rPr>
              <a:t>STORE	 Z,R3</a:t>
            </a:r>
            <a:r>
              <a:rPr lang="en-US" sz="2667" b="1">
                <a:solidFill>
                  <a:srgbClr val="000090"/>
                </a:solidFill>
              </a:rPr>
              <a:t>	        </a:t>
            </a:r>
            <a:r>
              <a:rPr lang="en-US" sz="2667" b="1">
                <a:solidFill>
                  <a:srgbClr val="0000FF"/>
                </a:solidFill>
              </a:rPr>
              <a:t>// Mem[Z] = R3</a:t>
            </a:r>
            <a:endParaRPr/>
          </a:p>
          <a:p>
            <a:pPr marL="228600" lvl="0" indent="-228600" algn="l" rtl="0">
              <a:lnSpc>
                <a:spcPct val="110000"/>
              </a:lnSpc>
              <a:spcBef>
                <a:spcPts val="1800"/>
              </a:spcBef>
              <a:spcAft>
                <a:spcPts val="0"/>
              </a:spcAft>
              <a:buClr>
                <a:schemeClr val="dk1"/>
              </a:buClr>
              <a:buSzPts val="2800"/>
              <a:buChar char="•"/>
            </a:pPr>
            <a:r>
              <a:rPr lang="en-US"/>
              <a:t>Also called </a:t>
            </a:r>
            <a:r>
              <a:rPr lang="en-US" i="1">
                <a:solidFill>
                  <a:srgbClr val="800000"/>
                </a:solidFill>
              </a:rPr>
              <a:t>load-store architecture</a:t>
            </a:r>
            <a:r>
              <a:rPr lang="en-US"/>
              <a:t>, as only LOAD and STORE instructions can access memory.</a:t>
            </a:r>
            <a:endParaRPr/>
          </a:p>
          <a:p>
            <a:pPr marL="228600" lvl="0" indent="-50800" algn="l" rtl="0">
              <a:lnSpc>
                <a:spcPct val="110000"/>
              </a:lnSpc>
              <a:spcBef>
                <a:spcPts val="600"/>
              </a:spcBef>
              <a:spcAft>
                <a:spcPts val="0"/>
              </a:spcAft>
              <a:buClr>
                <a:schemeClr val="dk1"/>
              </a:buClr>
              <a:buSzPts val="2800"/>
              <a:buNone/>
            </a:pPr>
            <a:endParaRPr/>
          </a:p>
          <a:p>
            <a:pPr marL="228600" lvl="0" indent="-50800" algn="l" rtl="0">
              <a:lnSpc>
                <a:spcPct val="110000"/>
              </a:lnSpc>
              <a:spcBef>
                <a:spcPts val="600"/>
              </a:spcBef>
              <a:spcAft>
                <a:spcPts val="0"/>
              </a:spcAft>
              <a:buClr>
                <a:schemeClr val="dk1"/>
              </a:buClr>
              <a:buSzPts val="2800"/>
              <a:buNone/>
            </a:pPr>
            <a:endParaRPr/>
          </a:p>
          <a:p>
            <a:pPr marL="228600" lvl="0" indent="-50800" algn="l" rtl="0">
              <a:lnSpc>
                <a:spcPct val="110000"/>
              </a:lnSpc>
              <a:spcBef>
                <a:spcPts val="600"/>
              </a:spcBef>
              <a:spcAft>
                <a:spcPts val="0"/>
              </a:spcAft>
              <a:buClr>
                <a:schemeClr val="dk1"/>
              </a:buClr>
              <a:buSzPts val="2800"/>
              <a:buNone/>
            </a:pPr>
            <a:endParaRPr/>
          </a:p>
        </p:txBody>
      </p:sp>
      <p:grpSp>
        <p:nvGrpSpPr>
          <p:cNvPr id="687" name="Google Shape;687;p55"/>
          <p:cNvGrpSpPr/>
          <p:nvPr/>
        </p:nvGrpSpPr>
        <p:grpSpPr>
          <a:xfrm>
            <a:off x="8737601" y="685801"/>
            <a:ext cx="3194889" cy="5032147"/>
            <a:chOff x="9249207" y="1701396"/>
            <a:chExt cx="2396167" cy="3774110"/>
          </a:xfrm>
        </p:grpSpPr>
        <p:grpSp>
          <p:nvGrpSpPr>
            <p:cNvPr id="688" name="Google Shape;688;p55"/>
            <p:cNvGrpSpPr/>
            <p:nvPr/>
          </p:nvGrpSpPr>
          <p:grpSpPr>
            <a:xfrm>
              <a:off x="10120459" y="1701396"/>
              <a:ext cx="1203363" cy="1619420"/>
              <a:chOff x="9030201" y="1773285"/>
              <a:chExt cx="1203363" cy="1619420"/>
            </a:xfrm>
          </p:grpSpPr>
          <p:sp>
            <p:nvSpPr>
              <p:cNvPr id="689" name="Google Shape;689;p55"/>
              <p:cNvSpPr/>
              <p:nvPr/>
            </p:nvSpPr>
            <p:spPr>
              <a:xfrm>
                <a:off x="9033552" y="1773285"/>
                <a:ext cx="1186103" cy="407376"/>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90" name="Google Shape;690;p55"/>
              <p:cNvSpPr/>
              <p:nvPr/>
            </p:nvSpPr>
            <p:spPr>
              <a:xfrm>
                <a:off x="9030201" y="2165318"/>
                <a:ext cx="1186103" cy="407376"/>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91" name="Google Shape;691;p55"/>
              <p:cNvSpPr/>
              <p:nvPr/>
            </p:nvSpPr>
            <p:spPr>
              <a:xfrm>
                <a:off x="9038832" y="2581305"/>
                <a:ext cx="1186103" cy="407376"/>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92" name="Google Shape;692;p55"/>
              <p:cNvSpPr/>
              <p:nvPr/>
            </p:nvSpPr>
            <p:spPr>
              <a:xfrm>
                <a:off x="9047461" y="2985329"/>
                <a:ext cx="1186103" cy="407376"/>
              </a:xfrm>
              <a:prstGeom prst="rect">
                <a:avLst/>
              </a:prstGeom>
              <a:solidFill>
                <a:srgbClr val="DDEAF6"/>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sp>
          <p:nvSpPr>
            <p:cNvPr id="693" name="Google Shape;693;p55"/>
            <p:cNvSpPr/>
            <p:nvPr/>
          </p:nvSpPr>
          <p:spPr>
            <a:xfrm>
              <a:off x="9992019" y="3977910"/>
              <a:ext cx="1653355" cy="982496"/>
            </a:xfrm>
            <a:prstGeom prst="bevel">
              <a:avLst>
                <a:gd name="adj" fmla="val 12500"/>
              </a:avLst>
            </a:prstGeom>
            <a:solidFill>
              <a:srgbClr val="FEF2CC"/>
            </a:solidFill>
            <a:ln w="1905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a:solidFill>
                    <a:srgbClr val="000090"/>
                  </a:solidFill>
                  <a:latin typeface="Calibri"/>
                  <a:ea typeface="Calibri"/>
                  <a:cs typeface="Calibri"/>
                  <a:sym typeface="Calibri"/>
                </a:rPr>
                <a:t>ALU</a:t>
              </a:r>
              <a:endParaRPr/>
            </a:p>
          </p:txBody>
        </p:sp>
        <p:cxnSp>
          <p:nvCxnSpPr>
            <p:cNvPr id="694" name="Google Shape;694;p55"/>
            <p:cNvCxnSpPr/>
            <p:nvPr/>
          </p:nvCxnSpPr>
          <p:spPr>
            <a:xfrm>
              <a:off x="10411348" y="1941028"/>
              <a:ext cx="11981" cy="2048863"/>
            </a:xfrm>
            <a:prstGeom prst="straightConnector1">
              <a:avLst/>
            </a:prstGeom>
            <a:noFill/>
            <a:ln w="50800" cap="flat" cmpd="sng">
              <a:solidFill>
                <a:srgbClr val="0C0C0C"/>
              </a:solidFill>
              <a:prstDash val="solid"/>
              <a:miter lim="8000"/>
              <a:headEnd type="none" w="sm" len="sm"/>
              <a:tailEnd type="stealth" w="med" len="med"/>
            </a:ln>
          </p:spPr>
        </p:cxnSp>
        <p:cxnSp>
          <p:nvCxnSpPr>
            <p:cNvPr id="695" name="Google Shape;695;p55"/>
            <p:cNvCxnSpPr/>
            <p:nvPr/>
          </p:nvCxnSpPr>
          <p:spPr>
            <a:xfrm>
              <a:off x="10974447" y="2336423"/>
              <a:ext cx="11981" cy="1653468"/>
            </a:xfrm>
            <a:prstGeom prst="straightConnector1">
              <a:avLst/>
            </a:prstGeom>
            <a:noFill/>
            <a:ln w="50800" cap="flat" cmpd="sng">
              <a:solidFill>
                <a:srgbClr val="0C0C0C"/>
              </a:solidFill>
              <a:prstDash val="solid"/>
              <a:miter lim="8000"/>
              <a:headEnd type="none" w="sm" len="sm"/>
              <a:tailEnd type="stealth" w="med" len="med"/>
            </a:ln>
          </p:spPr>
        </p:cxnSp>
        <p:cxnSp>
          <p:nvCxnSpPr>
            <p:cNvPr id="696" name="Google Shape;696;p55"/>
            <p:cNvCxnSpPr>
              <a:stCxn id="693" idx="2"/>
            </p:cNvCxnSpPr>
            <p:nvPr/>
          </p:nvCxnSpPr>
          <p:spPr>
            <a:xfrm>
              <a:off x="10818697" y="4960406"/>
              <a:ext cx="0" cy="515100"/>
            </a:xfrm>
            <a:prstGeom prst="straightConnector1">
              <a:avLst/>
            </a:prstGeom>
            <a:noFill/>
            <a:ln w="50800" cap="flat" cmpd="sng">
              <a:solidFill>
                <a:srgbClr val="0C0C0C"/>
              </a:solidFill>
              <a:prstDash val="solid"/>
              <a:miter lim="8000"/>
              <a:headEnd type="none" w="sm" len="sm"/>
              <a:tailEnd type="none" w="sm" len="sm"/>
            </a:ln>
          </p:spPr>
        </p:cxnSp>
        <p:cxnSp>
          <p:nvCxnSpPr>
            <p:cNvPr id="697" name="Google Shape;697;p55"/>
            <p:cNvCxnSpPr/>
            <p:nvPr/>
          </p:nvCxnSpPr>
          <p:spPr>
            <a:xfrm rot="10800000">
              <a:off x="9261188" y="5427690"/>
              <a:ext cx="1521566" cy="11982"/>
            </a:xfrm>
            <a:prstGeom prst="straightConnector1">
              <a:avLst/>
            </a:prstGeom>
            <a:noFill/>
            <a:ln w="50800" cap="flat" cmpd="sng">
              <a:solidFill>
                <a:srgbClr val="0C0C0C"/>
              </a:solidFill>
              <a:prstDash val="solid"/>
              <a:miter lim="8000"/>
              <a:headEnd type="none" w="sm" len="sm"/>
              <a:tailEnd type="none" w="sm" len="sm"/>
            </a:ln>
          </p:spPr>
        </p:cxnSp>
        <p:cxnSp>
          <p:nvCxnSpPr>
            <p:cNvPr id="698" name="Google Shape;698;p55"/>
            <p:cNvCxnSpPr/>
            <p:nvPr/>
          </p:nvCxnSpPr>
          <p:spPr>
            <a:xfrm rot="10800000">
              <a:off x="9249207" y="3055323"/>
              <a:ext cx="0" cy="2372369"/>
            </a:xfrm>
            <a:prstGeom prst="straightConnector1">
              <a:avLst/>
            </a:prstGeom>
            <a:noFill/>
            <a:ln w="50800" cap="flat" cmpd="sng">
              <a:solidFill>
                <a:srgbClr val="0C0C0C"/>
              </a:solidFill>
              <a:prstDash val="solid"/>
              <a:miter lim="8000"/>
              <a:headEnd type="none" w="sm" len="sm"/>
              <a:tailEnd type="none" w="sm" len="sm"/>
            </a:ln>
          </p:spPr>
        </p:cxnSp>
        <p:cxnSp>
          <p:nvCxnSpPr>
            <p:cNvPr id="699" name="Google Shape;699;p55"/>
            <p:cNvCxnSpPr/>
            <p:nvPr/>
          </p:nvCxnSpPr>
          <p:spPr>
            <a:xfrm>
              <a:off x="9249207" y="3063965"/>
              <a:ext cx="871252" cy="0"/>
            </a:xfrm>
            <a:prstGeom prst="straightConnector1">
              <a:avLst/>
            </a:prstGeom>
            <a:noFill/>
            <a:ln w="50800" cap="flat" cmpd="sng">
              <a:solidFill>
                <a:srgbClr val="0C0C0C"/>
              </a:solidFill>
              <a:prstDash val="solid"/>
              <a:miter lim="8000"/>
              <a:headEnd type="none" w="sm" len="sm"/>
              <a:tailEnd type="stealth" w="med" len="med"/>
            </a:ln>
          </p:spPr>
        </p:cxnSp>
      </p:grpSp>
      <p:sp>
        <p:nvSpPr>
          <p:cNvPr id="700" name="Google Shape;700;p55"/>
          <p:cNvSpPr txBox="1"/>
          <p:nvPr/>
        </p:nvSpPr>
        <p:spPr>
          <a:xfrm>
            <a:off x="7823200" y="1066720"/>
            <a:ext cx="2336800" cy="50276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67">
                <a:solidFill>
                  <a:srgbClr val="000090"/>
                </a:solidFill>
                <a:latin typeface="Calibri"/>
                <a:ea typeface="Calibri"/>
                <a:cs typeface="Calibri"/>
                <a:sym typeface="Calibri"/>
              </a:rPr>
              <a:t>Registers</a:t>
            </a:r>
            <a:endParaRPr/>
          </a:p>
        </p:txBody>
      </p:sp>
      <p:sp>
        <p:nvSpPr>
          <p:cNvPr id="701" name="Google Shape;701;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About General Purpose Registers (GPRs)</a:t>
            </a:r>
            <a:endParaRPr/>
          </a:p>
        </p:txBody>
      </p:sp>
      <p:sp>
        <p:nvSpPr>
          <p:cNvPr id="707" name="Google Shape;707;p5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chemeClr val="dk1"/>
              </a:buClr>
              <a:buSzPts val="2800"/>
              <a:buChar char="•"/>
            </a:pPr>
            <a:r>
              <a:rPr lang="en-US"/>
              <a:t>Older architectures had a large number of special purpose registers.</a:t>
            </a:r>
            <a:endParaRPr/>
          </a:p>
          <a:p>
            <a:pPr marL="685800" lvl="1" indent="-228600" algn="l" rtl="0">
              <a:lnSpc>
                <a:spcPct val="110000"/>
              </a:lnSpc>
              <a:spcBef>
                <a:spcPts val="600"/>
              </a:spcBef>
              <a:spcAft>
                <a:spcPts val="0"/>
              </a:spcAft>
              <a:buClr>
                <a:schemeClr val="dk1"/>
              </a:buClr>
              <a:buSzPts val="2400"/>
              <a:buChar char="•"/>
            </a:pPr>
            <a:r>
              <a:rPr lang="en-US"/>
              <a:t>Program counter, stack pointer, index register, flag register, accumulator, etc.</a:t>
            </a:r>
            <a:endParaRPr/>
          </a:p>
          <a:p>
            <a:pPr marL="228600" lvl="0" indent="-228600" algn="l" rtl="0">
              <a:lnSpc>
                <a:spcPct val="110000"/>
              </a:lnSpc>
              <a:spcBef>
                <a:spcPts val="1200"/>
              </a:spcBef>
              <a:spcAft>
                <a:spcPts val="0"/>
              </a:spcAft>
              <a:buClr>
                <a:schemeClr val="dk1"/>
              </a:buClr>
              <a:buSzPts val="2800"/>
              <a:buChar char="•"/>
            </a:pPr>
            <a:r>
              <a:rPr lang="en-US"/>
              <a:t>Newer architectures, in contrast, have a large number of GPRs.</a:t>
            </a:r>
            <a:endParaRPr/>
          </a:p>
          <a:p>
            <a:pPr marL="228600" lvl="0" indent="-228600" algn="l" rtl="0">
              <a:lnSpc>
                <a:spcPct val="110000"/>
              </a:lnSpc>
              <a:spcBef>
                <a:spcPts val="1200"/>
              </a:spcBef>
              <a:spcAft>
                <a:spcPts val="0"/>
              </a:spcAft>
              <a:buClr>
                <a:schemeClr val="dk1"/>
              </a:buClr>
              <a:buSzPts val="2800"/>
              <a:buChar char="•"/>
            </a:pPr>
            <a:r>
              <a:rPr lang="en-US"/>
              <a:t>Why?</a:t>
            </a:r>
            <a:endParaRPr/>
          </a:p>
          <a:p>
            <a:pPr marL="685800" lvl="1" indent="-228600" algn="l" rtl="0">
              <a:lnSpc>
                <a:spcPct val="110000"/>
              </a:lnSpc>
              <a:spcBef>
                <a:spcPts val="600"/>
              </a:spcBef>
              <a:spcAft>
                <a:spcPts val="0"/>
              </a:spcAft>
              <a:buClr>
                <a:schemeClr val="dk1"/>
              </a:buClr>
              <a:buSzPts val="2400"/>
              <a:buChar char="•"/>
            </a:pPr>
            <a:r>
              <a:rPr lang="en-US"/>
              <a:t>Easy for the compiler to assign some variables to registers.</a:t>
            </a:r>
            <a:endParaRPr/>
          </a:p>
          <a:p>
            <a:pPr marL="685800" lvl="1" indent="-228600" algn="l" rtl="0">
              <a:lnSpc>
                <a:spcPct val="110000"/>
              </a:lnSpc>
              <a:spcBef>
                <a:spcPts val="600"/>
              </a:spcBef>
              <a:spcAft>
                <a:spcPts val="0"/>
              </a:spcAft>
              <a:buClr>
                <a:schemeClr val="dk1"/>
              </a:buClr>
              <a:buSzPts val="2400"/>
              <a:buChar char="•"/>
            </a:pPr>
            <a:r>
              <a:rPr lang="en-US"/>
              <a:t>Registers are much faster than memory.</a:t>
            </a:r>
            <a:endParaRPr/>
          </a:p>
          <a:p>
            <a:pPr marL="685800" lvl="1" indent="-228600" algn="l" rtl="0">
              <a:lnSpc>
                <a:spcPct val="110000"/>
              </a:lnSpc>
              <a:spcBef>
                <a:spcPts val="600"/>
              </a:spcBef>
              <a:spcAft>
                <a:spcPts val="0"/>
              </a:spcAft>
              <a:buClr>
                <a:schemeClr val="dk1"/>
              </a:buClr>
              <a:buSzPts val="2400"/>
              <a:buChar char="•"/>
            </a:pPr>
            <a:r>
              <a:rPr lang="en-US"/>
              <a:t>More compact instruction encoding as fewer bits are required to specify registers.</a:t>
            </a:r>
            <a:endParaRPr/>
          </a:p>
          <a:p>
            <a:pPr marL="685800" lvl="1" indent="-228600" algn="l" rtl="0">
              <a:lnSpc>
                <a:spcPct val="110000"/>
              </a:lnSpc>
              <a:spcBef>
                <a:spcPts val="600"/>
              </a:spcBef>
              <a:spcAft>
                <a:spcPts val="0"/>
              </a:spcAft>
              <a:buClr>
                <a:schemeClr val="dk1"/>
              </a:buClr>
              <a:buSzPts val="2400"/>
              <a:buChar char="•"/>
            </a:pPr>
            <a:r>
              <a:rPr lang="en-US"/>
              <a:t>Many processors have 32 or more GPR’s.</a:t>
            </a:r>
            <a:endParaRPr/>
          </a:p>
        </p:txBody>
      </p:sp>
      <p:sp>
        <p:nvSpPr>
          <p:cNvPr id="708" name="Google Shape;708;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5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120000"/>
              </a:lnSpc>
              <a:spcBef>
                <a:spcPts val="0"/>
              </a:spcBef>
              <a:spcAft>
                <a:spcPts val="0"/>
              </a:spcAft>
              <a:buClr>
                <a:schemeClr val="dk1"/>
              </a:buClr>
              <a:buSzPts val="4000"/>
              <a:buFont typeface="Calibri"/>
              <a:buNone/>
            </a:pPr>
            <a:r>
              <a:rPr lang="en-US"/>
              <a:t>COMPARISON BETWEEN VARIOUS ARCHITECTURE TYPES</a:t>
            </a:r>
            <a:endParaRPr/>
          </a:p>
        </p:txBody>
      </p:sp>
      <p:sp>
        <p:nvSpPr>
          <p:cNvPr id="714" name="Google Shape;714;p5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rgbClr val="888888"/>
              </a:buClr>
              <a:buSzPts val="2400"/>
              <a:buNone/>
            </a:pPr>
            <a:endParaRPr/>
          </a:p>
        </p:txBody>
      </p:sp>
      <p:sp>
        <p:nvSpPr>
          <p:cNvPr id="715" name="Google Shape;715;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58"/>
          <p:cNvSpPr txBox="1">
            <a:spLocks noGrp="1"/>
          </p:cNvSpPr>
          <p:nvPr>
            <p:ph type="title"/>
          </p:nvPr>
        </p:nvSpPr>
        <p:spPr>
          <a:xfrm>
            <a:off x="101600" y="381000"/>
            <a:ext cx="5181600" cy="812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 Stack Architecture</a:t>
            </a:r>
            <a:endParaRPr/>
          </a:p>
        </p:txBody>
      </p:sp>
      <p:sp>
        <p:nvSpPr>
          <p:cNvPr id="721" name="Google Shape;721;p58"/>
          <p:cNvSpPr txBox="1">
            <a:spLocks noGrp="1"/>
          </p:cNvSpPr>
          <p:nvPr>
            <p:ph type="body" idx="1"/>
          </p:nvPr>
        </p:nvSpPr>
        <p:spPr>
          <a:xfrm>
            <a:off x="609600" y="1295400"/>
            <a:ext cx="5283200" cy="45720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Typical instructions:</a:t>
            </a:r>
            <a:endParaRPr/>
          </a:p>
          <a:p>
            <a:pPr marL="609585" lvl="1" indent="0" algn="l" rtl="0">
              <a:lnSpc>
                <a:spcPct val="110000"/>
              </a:lnSpc>
              <a:spcBef>
                <a:spcPts val="600"/>
              </a:spcBef>
              <a:spcAft>
                <a:spcPts val="0"/>
              </a:spcAft>
              <a:buClr>
                <a:schemeClr val="dk1"/>
              </a:buClr>
              <a:buSzPts val="2400"/>
              <a:buNone/>
            </a:pPr>
            <a:r>
              <a:rPr lang="en-US"/>
              <a:t>  PUSH  X,   POP  X</a:t>
            </a:r>
            <a:endParaRPr/>
          </a:p>
          <a:p>
            <a:pPr marL="609585" lvl="1" indent="0" algn="l" rtl="0">
              <a:lnSpc>
                <a:spcPct val="110000"/>
              </a:lnSpc>
              <a:spcBef>
                <a:spcPts val="600"/>
              </a:spcBef>
              <a:spcAft>
                <a:spcPts val="0"/>
              </a:spcAft>
              <a:buClr>
                <a:schemeClr val="dk1"/>
              </a:buClr>
              <a:buSzPts val="2400"/>
              <a:buNone/>
            </a:pPr>
            <a:r>
              <a:rPr lang="en-US"/>
              <a:t>  ADD,  SUB,  MUL,  DIV</a:t>
            </a:r>
            <a:endParaRPr/>
          </a:p>
        </p:txBody>
      </p:sp>
      <p:sp>
        <p:nvSpPr>
          <p:cNvPr id="722" name="Google Shape;722;p58"/>
          <p:cNvSpPr txBox="1"/>
          <p:nvPr/>
        </p:nvSpPr>
        <p:spPr>
          <a:xfrm>
            <a:off x="6299200" y="787400"/>
            <a:ext cx="5588000" cy="5080000"/>
          </a:xfrm>
          <a:prstGeom prst="rect">
            <a:avLst/>
          </a:prstGeom>
          <a:noFill/>
          <a:ln>
            <a:noFill/>
          </a:ln>
        </p:spPr>
        <p:txBody>
          <a:bodyPr spcFirstLastPara="1" wrap="square" lIns="121900" tIns="60950" rIns="121900" bIns="60950" anchor="t" anchorCtr="0">
            <a:normAutofit/>
          </a:bodyPr>
          <a:lstStyle/>
          <a:p>
            <a:pPr marL="533387" marR="0" lvl="0" indent="-342900" algn="l" rtl="0">
              <a:spcBef>
                <a:spcPts val="0"/>
              </a:spcBef>
              <a:spcAft>
                <a:spcPts val="0"/>
              </a:spcAft>
              <a:buClr>
                <a:srgbClr val="000090"/>
              </a:buClr>
              <a:buSzPts val="2667"/>
              <a:buFont typeface="Arial"/>
              <a:buChar char="•"/>
            </a:pPr>
            <a:r>
              <a:rPr lang="en-US" sz="2667" b="1">
                <a:solidFill>
                  <a:srgbClr val="000090"/>
                </a:solidFill>
                <a:latin typeface="Calibri"/>
                <a:ea typeface="Calibri"/>
                <a:cs typeface="Calibri"/>
                <a:sym typeface="Calibri"/>
              </a:rPr>
              <a:t>Example:    Y = A / B – (A –  C *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DIV</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C</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MUL</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POP   Y</a:t>
            </a:r>
            <a:endParaRPr/>
          </a:p>
        </p:txBody>
      </p:sp>
      <p:sp>
        <p:nvSpPr>
          <p:cNvPr id="723" name="Google Shape;723;p58"/>
          <p:cNvSpPr/>
          <p:nvPr/>
        </p:nvSpPr>
        <p:spPr>
          <a:xfrm>
            <a:off x="2438400" y="5156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24" name="Google Shape;724;p58"/>
          <p:cNvSpPr/>
          <p:nvPr/>
        </p:nvSpPr>
        <p:spPr>
          <a:xfrm>
            <a:off x="2438400" y="4648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25" name="Google Shape;725;p58"/>
          <p:cNvSpPr/>
          <p:nvPr/>
        </p:nvSpPr>
        <p:spPr>
          <a:xfrm>
            <a:off x="2438400" y="4140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26" name="Google Shape;726;p58"/>
          <p:cNvSpPr/>
          <p:nvPr/>
        </p:nvSpPr>
        <p:spPr>
          <a:xfrm>
            <a:off x="2438400" y="3632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27" name="Google Shape;727;p58"/>
          <p:cNvSpPr/>
          <p:nvPr/>
        </p:nvSpPr>
        <p:spPr>
          <a:xfrm>
            <a:off x="2438400" y="3124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728" name="Google Shape;728;p58"/>
          <p:cNvCxnSpPr/>
          <p:nvPr/>
        </p:nvCxnSpPr>
        <p:spPr>
          <a:xfrm>
            <a:off x="1930400" y="5461000"/>
            <a:ext cx="508000" cy="0"/>
          </a:xfrm>
          <a:prstGeom prst="straightConnector1">
            <a:avLst/>
          </a:prstGeom>
          <a:noFill/>
          <a:ln w="12700" cap="flat" cmpd="sng">
            <a:solidFill>
              <a:srgbClr val="0C0C0C"/>
            </a:solidFill>
            <a:prstDash val="solid"/>
            <a:miter lim="8000"/>
            <a:headEnd type="none" w="sm" len="sm"/>
            <a:tailEnd type="stealth" w="med" len="med"/>
          </a:ln>
        </p:spPr>
      </p:cxnSp>
      <p:sp>
        <p:nvSpPr>
          <p:cNvPr id="729" name="Google Shape;729;p58"/>
          <p:cNvSpPr txBox="1"/>
          <p:nvPr/>
        </p:nvSpPr>
        <p:spPr>
          <a:xfrm>
            <a:off x="1219200" y="5156201"/>
            <a:ext cx="914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TOS</a:t>
            </a:r>
            <a:endParaRPr/>
          </a:p>
        </p:txBody>
      </p:sp>
      <p:sp>
        <p:nvSpPr>
          <p:cNvPr id="730" name="Google Shape;730;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59"/>
          <p:cNvSpPr txBox="1">
            <a:spLocks noGrp="1"/>
          </p:cNvSpPr>
          <p:nvPr>
            <p:ph type="title"/>
          </p:nvPr>
        </p:nvSpPr>
        <p:spPr>
          <a:xfrm>
            <a:off x="101600" y="381000"/>
            <a:ext cx="5181600" cy="812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 Stack Architecture</a:t>
            </a:r>
            <a:endParaRPr/>
          </a:p>
        </p:txBody>
      </p:sp>
      <p:sp>
        <p:nvSpPr>
          <p:cNvPr id="736" name="Google Shape;736;p59"/>
          <p:cNvSpPr txBox="1">
            <a:spLocks noGrp="1"/>
          </p:cNvSpPr>
          <p:nvPr>
            <p:ph type="body" idx="1"/>
          </p:nvPr>
        </p:nvSpPr>
        <p:spPr>
          <a:xfrm>
            <a:off x="609600" y="1295400"/>
            <a:ext cx="5283200" cy="45720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Typical instructions:</a:t>
            </a:r>
            <a:endParaRPr/>
          </a:p>
          <a:p>
            <a:pPr marL="609585" lvl="1" indent="0" algn="l" rtl="0">
              <a:lnSpc>
                <a:spcPct val="110000"/>
              </a:lnSpc>
              <a:spcBef>
                <a:spcPts val="600"/>
              </a:spcBef>
              <a:spcAft>
                <a:spcPts val="0"/>
              </a:spcAft>
              <a:buClr>
                <a:schemeClr val="dk1"/>
              </a:buClr>
              <a:buSzPts val="2400"/>
              <a:buNone/>
            </a:pPr>
            <a:r>
              <a:rPr lang="en-US"/>
              <a:t>  PUSH  X,   POP  X</a:t>
            </a:r>
            <a:endParaRPr/>
          </a:p>
          <a:p>
            <a:pPr marL="609585" lvl="1" indent="0" algn="l" rtl="0">
              <a:lnSpc>
                <a:spcPct val="110000"/>
              </a:lnSpc>
              <a:spcBef>
                <a:spcPts val="600"/>
              </a:spcBef>
              <a:spcAft>
                <a:spcPts val="0"/>
              </a:spcAft>
              <a:buClr>
                <a:schemeClr val="dk1"/>
              </a:buClr>
              <a:buSzPts val="2400"/>
              <a:buNone/>
            </a:pPr>
            <a:r>
              <a:rPr lang="en-US"/>
              <a:t>  ADD,  SUB,  MUL,  DIV</a:t>
            </a:r>
            <a:endParaRPr/>
          </a:p>
        </p:txBody>
      </p:sp>
      <p:sp>
        <p:nvSpPr>
          <p:cNvPr id="737" name="Google Shape;737;p59"/>
          <p:cNvSpPr txBox="1"/>
          <p:nvPr/>
        </p:nvSpPr>
        <p:spPr>
          <a:xfrm>
            <a:off x="6299200" y="787400"/>
            <a:ext cx="5588000" cy="5080000"/>
          </a:xfrm>
          <a:prstGeom prst="rect">
            <a:avLst/>
          </a:prstGeom>
          <a:noFill/>
          <a:ln>
            <a:noFill/>
          </a:ln>
        </p:spPr>
        <p:txBody>
          <a:bodyPr spcFirstLastPara="1" wrap="square" lIns="121900" tIns="60950" rIns="121900" bIns="60950" anchor="t" anchorCtr="0">
            <a:normAutofit/>
          </a:bodyPr>
          <a:lstStyle/>
          <a:p>
            <a:pPr marL="533387" marR="0" lvl="0" indent="-342900" algn="l" rtl="0">
              <a:spcBef>
                <a:spcPts val="0"/>
              </a:spcBef>
              <a:spcAft>
                <a:spcPts val="0"/>
              </a:spcAft>
              <a:buClr>
                <a:srgbClr val="000090"/>
              </a:buClr>
              <a:buSzPts val="2667"/>
              <a:buFont typeface="Arial"/>
              <a:buChar char="•"/>
            </a:pPr>
            <a:r>
              <a:rPr lang="en-US" sz="2667" b="1">
                <a:solidFill>
                  <a:srgbClr val="000090"/>
                </a:solidFill>
                <a:latin typeface="Calibri"/>
                <a:ea typeface="Calibri"/>
                <a:cs typeface="Calibri"/>
                <a:sym typeface="Calibri"/>
              </a:rPr>
              <a:t>Example:    Y = A / B – (A –  C * B)</a:t>
            </a:r>
            <a:endParaRPr/>
          </a:p>
          <a:p>
            <a:pPr marL="609585" marR="0" lvl="1" indent="0" algn="l" rtl="0">
              <a:spcBef>
                <a:spcPts val="480"/>
              </a:spcBef>
              <a:spcAft>
                <a:spcPts val="0"/>
              </a:spcAft>
              <a:buClr>
                <a:srgbClr val="FF0000"/>
              </a:buClr>
              <a:buSzPts val="2400"/>
              <a:buFont typeface="Arial"/>
              <a:buNone/>
            </a:pPr>
            <a:r>
              <a:rPr lang="en-US" sz="2400" b="0" i="0" u="none" strike="noStrike" cap="none">
                <a:solidFill>
                  <a:srgbClr val="FF0000"/>
                </a:solidFill>
                <a:latin typeface="Calibri"/>
                <a:ea typeface="Calibri"/>
                <a:cs typeface="Calibri"/>
                <a:sym typeface="Calibri"/>
              </a:rPr>
              <a:t>PUSH   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DIV</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C</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MUL</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POP   Y</a:t>
            </a:r>
            <a:endParaRPr/>
          </a:p>
        </p:txBody>
      </p:sp>
      <p:sp>
        <p:nvSpPr>
          <p:cNvPr id="738" name="Google Shape;738;p59"/>
          <p:cNvSpPr/>
          <p:nvPr/>
        </p:nvSpPr>
        <p:spPr>
          <a:xfrm>
            <a:off x="2438400" y="5156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A</a:t>
            </a:r>
            <a:endParaRPr/>
          </a:p>
        </p:txBody>
      </p:sp>
      <p:sp>
        <p:nvSpPr>
          <p:cNvPr id="739" name="Google Shape;739;p59"/>
          <p:cNvSpPr/>
          <p:nvPr/>
        </p:nvSpPr>
        <p:spPr>
          <a:xfrm>
            <a:off x="2438400" y="4648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0" name="Google Shape;740;p59"/>
          <p:cNvSpPr/>
          <p:nvPr/>
        </p:nvSpPr>
        <p:spPr>
          <a:xfrm>
            <a:off x="2438400" y="4140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1" name="Google Shape;741;p59"/>
          <p:cNvSpPr/>
          <p:nvPr/>
        </p:nvSpPr>
        <p:spPr>
          <a:xfrm>
            <a:off x="2438400" y="3632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2" name="Google Shape;742;p59"/>
          <p:cNvSpPr/>
          <p:nvPr/>
        </p:nvSpPr>
        <p:spPr>
          <a:xfrm>
            <a:off x="2438400" y="3124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743" name="Google Shape;743;p59"/>
          <p:cNvCxnSpPr/>
          <p:nvPr/>
        </p:nvCxnSpPr>
        <p:spPr>
          <a:xfrm>
            <a:off x="1930400" y="4953000"/>
            <a:ext cx="508000" cy="0"/>
          </a:xfrm>
          <a:prstGeom prst="straightConnector1">
            <a:avLst/>
          </a:prstGeom>
          <a:noFill/>
          <a:ln w="12700" cap="flat" cmpd="sng">
            <a:solidFill>
              <a:srgbClr val="0C0C0C"/>
            </a:solidFill>
            <a:prstDash val="solid"/>
            <a:miter lim="8000"/>
            <a:headEnd type="none" w="sm" len="sm"/>
            <a:tailEnd type="stealth" w="med" len="med"/>
          </a:ln>
        </p:spPr>
      </p:cxnSp>
      <p:sp>
        <p:nvSpPr>
          <p:cNvPr id="744" name="Google Shape;744;p59"/>
          <p:cNvSpPr txBox="1"/>
          <p:nvPr/>
        </p:nvSpPr>
        <p:spPr>
          <a:xfrm>
            <a:off x="1219200" y="4648201"/>
            <a:ext cx="914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TOS</a:t>
            </a:r>
            <a:endParaRPr/>
          </a:p>
        </p:txBody>
      </p:sp>
      <p:sp>
        <p:nvSpPr>
          <p:cNvPr id="745" name="Google Shape;745;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60"/>
          <p:cNvSpPr txBox="1">
            <a:spLocks noGrp="1"/>
          </p:cNvSpPr>
          <p:nvPr>
            <p:ph type="title"/>
          </p:nvPr>
        </p:nvSpPr>
        <p:spPr>
          <a:xfrm>
            <a:off x="101600" y="381000"/>
            <a:ext cx="5181600" cy="812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 Stack Architecture</a:t>
            </a:r>
            <a:endParaRPr/>
          </a:p>
        </p:txBody>
      </p:sp>
      <p:sp>
        <p:nvSpPr>
          <p:cNvPr id="751" name="Google Shape;751;p60"/>
          <p:cNvSpPr txBox="1">
            <a:spLocks noGrp="1"/>
          </p:cNvSpPr>
          <p:nvPr>
            <p:ph type="body" idx="1"/>
          </p:nvPr>
        </p:nvSpPr>
        <p:spPr>
          <a:xfrm>
            <a:off x="609600" y="1295400"/>
            <a:ext cx="5283200" cy="45720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Typical instructions:</a:t>
            </a:r>
            <a:endParaRPr/>
          </a:p>
          <a:p>
            <a:pPr marL="609585" lvl="1" indent="0" algn="l" rtl="0">
              <a:lnSpc>
                <a:spcPct val="110000"/>
              </a:lnSpc>
              <a:spcBef>
                <a:spcPts val="600"/>
              </a:spcBef>
              <a:spcAft>
                <a:spcPts val="0"/>
              </a:spcAft>
              <a:buClr>
                <a:schemeClr val="dk1"/>
              </a:buClr>
              <a:buSzPts val="2400"/>
              <a:buNone/>
            </a:pPr>
            <a:r>
              <a:rPr lang="en-US"/>
              <a:t>  PUSH  X,   POP  X</a:t>
            </a:r>
            <a:endParaRPr/>
          </a:p>
          <a:p>
            <a:pPr marL="609585" lvl="1" indent="0" algn="l" rtl="0">
              <a:lnSpc>
                <a:spcPct val="110000"/>
              </a:lnSpc>
              <a:spcBef>
                <a:spcPts val="600"/>
              </a:spcBef>
              <a:spcAft>
                <a:spcPts val="0"/>
              </a:spcAft>
              <a:buClr>
                <a:schemeClr val="dk1"/>
              </a:buClr>
              <a:buSzPts val="2400"/>
              <a:buNone/>
            </a:pPr>
            <a:r>
              <a:rPr lang="en-US"/>
              <a:t>  ADD,  SUB,  MUL,  DIV</a:t>
            </a:r>
            <a:endParaRPr/>
          </a:p>
        </p:txBody>
      </p:sp>
      <p:sp>
        <p:nvSpPr>
          <p:cNvPr id="752" name="Google Shape;752;p60"/>
          <p:cNvSpPr txBox="1"/>
          <p:nvPr/>
        </p:nvSpPr>
        <p:spPr>
          <a:xfrm>
            <a:off x="6299200" y="787400"/>
            <a:ext cx="5588000" cy="5080000"/>
          </a:xfrm>
          <a:prstGeom prst="rect">
            <a:avLst/>
          </a:prstGeom>
          <a:noFill/>
          <a:ln>
            <a:noFill/>
          </a:ln>
        </p:spPr>
        <p:txBody>
          <a:bodyPr spcFirstLastPara="1" wrap="square" lIns="121900" tIns="60950" rIns="121900" bIns="60950" anchor="t" anchorCtr="0">
            <a:normAutofit/>
          </a:bodyPr>
          <a:lstStyle/>
          <a:p>
            <a:pPr marL="533387" marR="0" lvl="0" indent="-342900" algn="l" rtl="0">
              <a:spcBef>
                <a:spcPts val="0"/>
              </a:spcBef>
              <a:spcAft>
                <a:spcPts val="0"/>
              </a:spcAft>
              <a:buClr>
                <a:srgbClr val="000090"/>
              </a:buClr>
              <a:buSzPts val="2667"/>
              <a:buFont typeface="Arial"/>
              <a:buChar char="•"/>
            </a:pPr>
            <a:r>
              <a:rPr lang="en-US" sz="2667" b="1">
                <a:solidFill>
                  <a:srgbClr val="000090"/>
                </a:solidFill>
                <a:latin typeface="Calibri"/>
                <a:ea typeface="Calibri"/>
                <a:cs typeface="Calibri"/>
                <a:sym typeface="Calibri"/>
              </a:rPr>
              <a:t>Example:    Y = A / B – (A –  C *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A</a:t>
            </a:r>
            <a:endParaRPr/>
          </a:p>
          <a:p>
            <a:pPr marL="609585" marR="0" lvl="1" indent="0" algn="l" rtl="0">
              <a:spcBef>
                <a:spcPts val="480"/>
              </a:spcBef>
              <a:spcAft>
                <a:spcPts val="0"/>
              </a:spcAft>
              <a:buClr>
                <a:srgbClr val="FF0000"/>
              </a:buClr>
              <a:buSzPts val="2400"/>
              <a:buFont typeface="Arial"/>
              <a:buNone/>
            </a:pPr>
            <a:r>
              <a:rPr lang="en-US" sz="2400" b="0" i="0" u="none" strike="noStrike" cap="none">
                <a:solidFill>
                  <a:srgbClr val="FF0000"/>
                </a:solidFill>
                <a:latin typeface="Calibri"/>
                <a:ea typeface="Calibri"/>
                <a:cs typeface="Calibri"/>
                <a:sym typeface="Calibri"/>
              </a:rPr>
              <a:t>PUSH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DIV</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C</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MUL</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POP   Y</a:t>
            </a:r>
            <a:endParaRPr/>
          </a:p>
        </p:txBody>
      </p:sp>
      <p:sp>
        <p:nvSpPr>
          <p:cNvPr id="753" name="Google Shape;753;p60"/>
          <p:cNvSpPr/>
          <p:nvPr/>
        </p:nvSpPr>
        <p:spPr>
          <a:xfrm>
            <a:off x="2438400" y="5156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A</a:t>
            </a:r>
            <a:endParaRPr/>
          </a:p>
        </p:txBody>
      </p:sp>
      <p:sp>
        <p:nvSpPr>
          <p:cNvPr id="754" name="Google Shape;754;p60"/>
          <p:cNvSpPr/>
          <p:nvPr/>
        </p:nvSpPr>
        <p:spPr>
          <a:xfrm>
            <a:off x="2438400" y="4648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B</a:t>
            </a:r>
            <a:endParaRPr/>
          </a:p>
        </p:txBody>
      </p:sp>
      <p:sp>
        <p:nvSpPr>
          <p:cNvPr id="755" name="Google Shape;755;p60"/>
          <p:cNvSpPr/>
          <p:nvPr/>
        </p:nvSpPr>
        <p:spPr>
          <a:xfrm>
            <a:off x="2438400" y="4140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56" name="Google Shape;756;p60"/>
          <p:cNvSpPr/>
          <p:nvPr/>
        </p:nvSpPr>
        <p:spPr>
          <a:xfrm>
            <a:off x="2438400" y="3632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57" name="Google Shape;757;p60"/>
          <p:cNvSpPr/>
          <p:nvPr/>
        </p:nvSpPr>
        <p:spPr>
          <a:xfrm>
            <a:off x="2438400" y="3124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758" name="Google Shape;758;p60"/>
          <p:cNvCxnSpPr/>
          <p:nvPr/>
        </p:nvCxnSpPr>
        <p:spPr>
          <a:xfrm>
            <a:off x="1930400" y="4445000"/>
            <a:ext cx="508000" cy="0"/>
          </a:xfrm>
          <a:prstGeom prst="straightConnector1">
            <a:avLst/>
          </a:prstGeom>
          <a:noFill/>
          <a:ln w="12700" cap="flat" cmpd="sng">
            <a:solidFill>
              <a:srgbClr val="0C0C0C"/>
            </a:solidFill>
            <a:prstDash val="solid"/>
            <a:miter lim="8000"/>
            <a:headEnd type="none" w="sm" len="sm"/>
            <a:tailEnd type="stealth" w="med" len="med"/>
          </a:ln>
        </p:spPr>
      </p:cxnSp>
      <p:sp>
        <p:nvSpPr>
          <p:cNvPr id="759" name="Google Shape;759;p60"/>
          <p:cNvSpPr txBox="1"/>
          <p:nvPr/>
        </p:nvSpPr>
        <p:spPr>
          <a:xfrm>
            <a:off x="1219200" y="4140201"/>
            <a:ext cx="914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TOS</a:t>
            </a:r>
            <a:endParaRPr/>
          </a:p>
        </p:txBody>
      </p:sp>
      <p:sp>
        <p:nvSpPr>
          <p:cNvPr id="760" name="Google Shape;760;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61"/>
          <p:cNvSpPr txBox="1">
            <a:spLocks noGrp="1"/>
          </p:cNvSpPr>
          <p:nvPr>
            <p:ph type="title"/>
          </p:nvPr>
        </p:nvSpPr>
        <p:spPr>
          <a:xfrm>
            <a:off x="101600" y="381000"/>
            <a:ext cx="5181600" cy="812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 Stack Architecture</a:t>
            </a:r>
            <a:endParaRPr/>
          </a:p>
        </p:txBody>
      </p:sp>
      <p:sp>
        <p:nvSpPr>
          <p:cNvPr id="766" name="Google Shape;766;p61"/>
          <p:cNvSpPr txBox="1">
            <a:spLocks noGrp="1"/>
          </p:cNvSpPr>
          <p:nvPr>
            <p:ph type="body" idx="1"/>
          </p:nvPr>
        </p:nvSpPr>
        <p:spPr>
          <a:xfrm>
            <a:off x="609600" y="1295400"/>
            <a:ext cx="5283200" cy="45720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Typical instructions:</a:t>
            </a:r>
            <a:endParaRPr/>
          </a:p>
          <a:p>
            <a:pPr marL="609585" lvl="1" indent="0" algn="l" rtl="0">
              <a:lnSpc>
                <a:spcPct val="110000"/>
              </a:lnSpc>
              <a:spcBef>
                <a:spcPts val="600"/>
              </a:spcBef>
              <a:spcAft>
                <a:spcPts val="0"/>
              </a:spcAft>
              <a:buClr>
                <a:schemeClr val="dk1"/>
              </a:buClr>
              <a:buSzPts val="2400"/>
              <a:buNone/>
            </a:pPr>
            <a:r>
              <a:rPr lang="en-US"/>
              <a:t>  PUSH  X,   POP  X</a:t>
            </a:r>
            <a:endParaRPr/>
          </a:p>
          <a:p>
            <a:pPr marL="609585" lvl="1" indent="0" algn="l" rtl="0">
              <a:lnSpc>
                <a:spcPct val="110000"/>
              </a:lnSpc>
              <a:spcBef>
                <a:spcPts val="600"/>
              </a:spcBef>
              <a:spcAft>
                <a:spcPts val="0"/>
              </a:spcAft>
              <a:buClr>
                <a:schemeClr val="dk1"/>
              </a:buClr>
              <a:buSzPts val="2400"/>
              <a:buNone/>
            </a:pPr>
            <a:r>
              <a:rPr lang="en-US"/>
              <a:t>  ADD,  SUB,  MUL,  DIV</a:t>
            </a:r>
            <a:endParaRPr/>
          </a:p>
        </p:txBody>
      </p:sp>
      <p:sp>
        <p:nvSpPr>
          <p:cNvPr id="767" name="Google Shape;767;p61"/>
          <p:cNvSpPr txBox="1"/>
          <p:nvPr/>
        </p:nvSpPr>
        <p:spPr>
          <a:xfrm>
            <a:off x="6299200" y="787400"/>
            <a:ext cx="5588000" cy="5080000"/>
          </a:xfrm>
          <a:prstGeom prst="rect">
            <a:avLst/>
          </a:prstGeom>
          <a:noFill/>
          <a:ln>
            <a:noFill/>
          </a:ln>
        </p:spPr>
        <p:txBody>
          <a:bodyPr spcFirstLastPara="1" wrap="square" lIns="121900" tIns="60950" rIns="121900" bIns="60950" anchor="t" anchorCtr="0">
            <a:normAutofit/>
          </a:bodyPr>
          <a:lstStyle/>
          <a:p>
            <a:pPr marL="533387" marR="0" lvl="0" indent="-342900" algn="l" rtl="0">
              <a:spcBef>
                <a:spcPts val="0"/>
              </a:spcBef>
              <a:spcAft>
                <a:spcPts val="0"/>
              </a:spcAft>
              <a:buClr>
                <a:srgbClr val="000090"/>
              </a:buClr>
              <a:buSzPts val="2667"/>
              <a:buFont typeface="Arial"/>
              <a:buChar char="•"/>
            </a:pPr>
            <a:r>
              <a:rPr lang="en-US" sz="2667" b="1">
                <a:solidFill>
                  <a:srgbClr val="000090"/>
                </a:solidFill>
                <a:latin typeface="Calibri"/>
                <a:ea typeface="Calibri"/>
                <a:cs typeface="Calibri"/>
                <a:sym typeface="Calibri"/>
              </a:rPr>
              <a:t>Example:    Y = A / B – (A –  C *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B</a:t>
            </a:r>
            <a:endParaRPr/>
          </a:p>
          <a:p>
            <a:pPr marL="609585" marR="0" lvl="1" indent="0" algn="l" rtl="0">
              <a:spcBef>
                <a:spcPts val="480"/>
              </a:spcBef>
              <a:spcAft>
                <a:spcPts val="0"/>
              </a:spcAft>
              <a:buClr>
                <a:srgbClr val="FF0000"/>
              </a:buClr>
              <a:buSzPts val="2400"/>
              <a:buFont typeface="Arial"/>
              <a:buNone/>
            </a:pPr>
            <a:r>
              <a:rPr lang="en-US" sz="2400" b="0" i="0" u="none" strike="noStrike" cap="none">
                <a:solidFill>
                  <a:srgbClr val="FF0000"/>
                </a:solidFill>
                <a:latin typeface="Calibri"/>
                <a:ea typeface="Calibri"/>
                <a:cs typeface="Calibri"/>
                <a:sym typeface="Calibri"/>
              </a:rPr>
              <a:t>DIV</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C</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MUL</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POP   Y</a:t>
            </a:r>
            <a:endParaRPr/>
          </a:p>
        </p:txBody>
      </p:sp>
      <p:sp>
        <p:nvSpPr>
          <p:cNvPr id="768" name="Google Shape;768;p61"/>
          <p:cNvSpPr/>
          <p:nvPr/>
        </p:nvSpPr>
        <p:spPr>
          <a:xfrm>
            <a:off x="2438400" y="5156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A/B</a:t>
            </a:r>
            <a:endParaRPr/>
          </a:p>
        </p:txBody>
      </p:sp>
      <p:sp>
        <p:nvSpPr>
          <p:cNvPr id="769" name="Google Shape;769;p61"/>
          <p:cNvSpPr/>
          <p:nvPr/>
        </p:nvSpPr>
        <p:spPr>
          <a:xfrm>
            <a:off x="2438400" y="4648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70" name="Google Shape;770;p61"/>
          <p:cNvSpPr/>
          <p:nvPr/>
        </p:nvSpPr>
        <p:spPr>
          <a:xfrm>
            <a:off x="2438400" y="4140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71" name="Google Shape;771;p61"/>
          <p:cNvSpPr/>
          <p:nvPr/>
        </p:nvSpPr>
        <p:spPr>
          <a:xfrm>
            <a:off x="2438400" y="3632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72" name="Google Shape;772;p61"/>
          <p:cNvSpPr/>
          <p:nvPr/>
        </p:nvSpPr>
        <p:spPr>
          <a:xfrm>
            <a:off x="2438400" y="3124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773" name="Google Shape;773;p61"/>
          <p:cNvCxnSpPr/>
          <p:nvPr/>
        </p:nvCxnSpPr>
        <p:spPr>
          <a:xfrm>
            <a:off x="1930400" y="4953000"/>
            <a:ext cx="508000" cy="0"/>
          </a:xfrm>
          <a:prstGeom prst="straightConnector1">
            <a:avLst/>
          </a:prstGeom>
          <a:noFill/>
          <a:ln w="12700" cap="flat" cmpd="sng">
            <a:solidFill>
              <a:srgbClr val="0C0C0C"/>
            </a:solidFill>
            <a:prstDash val="solid"/>
            <a:miter lim="8000"/>
            <a:headEnd type="none" w="sm" len="sm"/>
            <a:tailEnd type="stealth" w="med" len="med"/>
          </a:ln>
        </p:spPr>
      </p:cxnSp>
      <p:sp>
        <p:nvSpPr>
          <p:cNvPr id="774" name="Google Shape;774;p61"/>
          <p:cNvSpPr txBox="1"/>
          <p:nvPr/>
        </p:nvSpPr>
        <p:spPr>
          <a:xfrm>
            <a:off x="1219200" y="4648201"/>
            <a:ext cx="914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TOS</a:t>
            </a:r>
            <a:endParaRPr/>
          </a:p>
        </p:txBody>
      </p:sp>
      <p:sp>
        <p:nvSpPr>
          <p:cNvPr id="775" name="Google Shape;775;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62"/>
          <p:cNvSpPr txBox="1">
            <a:spLocks noGrp="1"/>
          </p:cNvSpPr>
          <p:nvPr>
            <p:ph type="title"/>
          </p:nvPr>
        </p:nvSpPr>
        <p:spPr>
          <a:xfrm>
            <a:off x="101600" y="381000"/>
            <a:ext cx="5181600" cy="812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 Stack Architecture</a:t>
            </a:r>
            <a:endParaRPr/>
          </a:p>
        </p:txBody>
      </p:sp>
      <p:sp>
        <p:nvSpPr>
          <p:cNvPr id="781" name="Google Shape;781;p62"/>
          <p:cNvSpPr txBox="1">
            <a:spLocks noGrp="1"/>
          </p:cNvSpPr>
          <p:nvPr>
            <p:ph type="body" idx="1"/>
          </p:nvPr>
        </p:nvSpPr>
        <p:spPr>
          <a:xfrm>
            <a:off x="609600" y="1295400"/>
            <a:ext cx="5283200" cy="45720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Typical instructions:</a:t>
            </a:r>
            <a:endParaRPr/>
          </a:p>
          <a:p>
            <a:pPr marL="609585" lvl="1" indent="0" algn="l" rtl="0">
              <a:lnSpc>
                <a:spcPct val="110000"/>
              </a:lnSpc>
              <a:spcBef>
                <a:spcPts val="600"/>
              </a:spcBef>
              <a:spcAft>
                <a:spcPts val="0"/>
              </a:spcAft>
              <a:buClr>
                <a:schemeClr val="dk1"/>
              </a:buClr>
              <a:buSzPts val="2400"/>
              <a:buNone/>
            </a:pPr>
            <a:r>
              <a:rPr lang="en-US"/>
              <a:t>  PUSH  X,   POP  X</a:t>
            </a:r>
            <a:endParaRPr/>
          </a:p>
          <a:p>
            <a:pPr marL="609585" lvl="1" indent="0" algn="l" rtl="0">
              <a:lnSpc>
                <a:spcPct val="110000"/>
              </a:lnSpc>
              <a:spcBef>
                <a:spcPts val="600"/>
              </a:spcBef>
              <a:spcAft>
                <a:spcPts val="0"/>
              </a:spcAft>
              <a:buClr>
                <a:schemeClr val="dk1"/>
              </a:buClr>
              <a:buSzPts val="2400"/>
              <a:buNone/>
            </a:pPr>
            <a:r>
              <a:rPr lang="en-US"/>
              <a:t>  ADD,  SUB,  MUL,  DIV</a:t>
            </a:r>
            <a:endParaRPr/>
          </a:p>
        </p:txBody>
      </p:sp>
      <p:sp>
        <p:nvSpPr>
          <p:cNvPr id="782" name="Google Shape;782;p62"/>
          <p:cNvSpPr txBox="1"/>
          <p:nvPr/>
        </p:nvSpPr>
        <p:spPr>
          <a:xfrm>
            <a:off x="6299200" y="787400"/>
            <a:ext cx="5588000" cy="5080000"/>
          </a:xfrm>
          <a:prstGeom prst="rect">
            <a:avLst/>
          </a:prstGeom>
          <a:noFill/>
          <a:ln>
            <a:noFill/>
          </a:ln>
        </p:spPr>
        <p:txBody>
          <a:bodyPr spcFirstLastPara="1" wrap="square" lIns="121900" tIns="60950" rIns="121900" bIns="60950" anchor="t" anchorCtr="0">
            <a:normAutofit/>
          </a:bodyPr>
          <a:lstStyle/>
          <a:p>
            <a:pPr marL="533387" marR="0" lvl="0" indent="-342900" algn="l" rtl="0">
              <a:spcBef>
                <a:spcPts val="0"/>
              </a:spcBef>
              <a:spcAft>
                <a:spcPts val="0"/>
              </a:spcAft>
              <a:buClr>
                <a:srgbClr val="000090"/>
              </a:buClr>
              <a:buSzPts val="2667"/>
              <a:buFont typeface="Arial"/>
              <a:buChar char="•"/>
            </a:pPr>
            <a:r>
              <a:rPr lang="en-US" sz="2667" b="1">
                <a:solidFill>
                  <a:srgbClr val="000090"/>
                </a:solidFill>
                <a:latin typeface="Calibri"/>
                <a:ea typeface="Calibri"/>
                <a:cs typeface="Calibri"/>
                <a:sym typeface="Calibri"/>
              </a:rPr>
              <a:t>Example:    Y = A / B – (A –  C *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DIV</a:t>
            </a:r>
            <a:endParaRPr/>
          </a:p>
          <a:p>
            <a:pPr marL="609585" marR="0" lvl="1" indent="0" algn="l" rtl="0">
              <a:spcBef>
                <a:spcPts val="480"/>
              </a:spcBef>
              <a:spcAft>
                <a:spcPts val="0"/>
              </a:spcAft>
              <a:buClr>
                <a:srgbClr val="FF0000"/>
              </a:buClr>
              <a:buSzPts val="2400"/>
              <a:buFont typeface="Arial"/>
              <a:buNone/>
            </a:pPr>
            <a:r>
              <a:rPr lang="en-US" sz="2400" b="0" i="0" u="none" strike="noStrike" cap="none">
                <a:solidFill>
                  <a:srgbClr val="FF0000"/>
                </a:solidFill>
                <a:latin typeface="Calibri"/>
                <a:ea typeface="Calibri"/>
                <a:cs typeface="Calibri"/>
                <a:sym typeface="Calibri"/>
              </a:rPr>
              <a:t>PUSH   A</a:t>
            </a:r>
            <a:endParaRPr/>
          </a:p>
          <a:p>
            <a:pPr marL="609585" marR="0" lvl="1" indent="0" algn="l" rtl="0">
              <a:spcBef>
                <a:spcPts val="480"/>
              </a:spcBef>
              <a:spcAft>
                <a:spcPts val="0"/>
              </a:spcAft>
              <a:buClr>
                <a:srgbClr val="FF0000"/>
              </a:buClr>
              <a:buSzPts val="2400"/>
              <a:buFont typeface="Arial"/>
              <a:buNone/>
            </a:pPr>
            <a:r>
              <a:rPr lang="en-US" sz="2400" b="0" i="0" u="none" strike="noStrike" cap="none">
                <a:solidFill>
                  <a:srgbClr val="FF0000"/>
                </a:solidFill>
                <a:latin typeface="Calibri"/>
                <a:ea typeface="Calibri"/>
                <a:cs typeface="Calibri"/>
                <a:sym typeface="Calibri"/>
              </a:rPr>
              <a:t>PUSH   C</a:t>
            </a:r>
            <a:endParaRPr/>
          </a:p>
          <a:p>
            <a:pPr marL="609585" marR="0" lvl="1" indent="0" algn="l" rtl="0">
              <a:spcBef>
                <a:spcPts val="480"/>
              </a:spcBef>
              <a:spcAft>
                <a:spcPts val="0"/>
              </a:spcAft>
              <a:buClr>
                <a:srgbClr val="FF0000"/>
              </a:buClr>
              <a:buSzPts val="2400"/>
              <a:buFont typeface="Arial"/>
              <a:buNone/>
            </a:pPr>
            <a:r>
              <a:rPr lang="en-US" sz="2400" b="0" i="0" u="none" strike="noStrike" cap="none">
                <a:solidFill>
                  <a:srgbClr val="FF0000"/>
                </a:solidFill>
                <a:latin typeface="Calibri"/>
                <a:ea typeface="Calibri"/>
                <a:cs typeface="Calibri"/>
                <a:sym typeface="Calibri"/>
              </a:rPr>
              <a:t>PUSH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MUL</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POP   Y</a:t>
            </a:r>
            <a:endParaRPr/>
          </a:p>
        </p:txBody>
      </p:sp>
      <p:sp>
        <p:nvSpPr>
          <p:cNvPr id="783" name="Google Shape;783;p62"/>
          <p:cNvSpPr/>
          <p:nvPr/>
        </p:nvSpPr>
        <p:spPr>
          <a:xfrm>
            <a:off x="2438400" y="5156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A/B</a:t>
            </a:r>
            <a:endParaRPr/>
          </a:p>
        </p:txBody>
      </p:sp>
      <p:sp>
        <p:nvSpPr>
          <p:cNvPr id="784" name="Google Shape;784;p62"/>
          <p:cNvSpPr/>
          <p:nvPr/>
        </p:nvSpPr>
        <p:spPr>
          <a:xfrm>
            <a:off x="2438400" y="4648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A</a:t>
            </a:r>
            <a:endParaRPr/>
          </a:p>
        </p:txBody>
      </p:sp>
      <p:sp>
        <p:nvSpPr>
          <p:cNvPr id="785" name="Google Shape;785;p62"/>
          <p:cNvSpPr/>
          <p:nvPr/>
        </p:nvSpPr>
        <p:spPr>
          <a:xfrm>
            <a:off x="2438400" y="4140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C</a:t>
            </a:r>
            <a:endParaRPr/>
          </a:p>
        </p:txBody>
      </p:sp>
      <p:sp>
        <p:nvSpPr>
          <p:cNvPr id="786" name="Google Shape;786;p62"/>
          <p:cNvSpPr/>
          <p:nvPr/>
        </p:nvSpPr>
        <p:spPr>
          <a:xfrm>
            <a:off x="2438400" y="3632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B</a:t>
            </a:r>
            <a:endParaRPr/>
          </a:p>
        </p:txBody>
      </p:sp>
      <p:sp>
        <p:nvSpPr>
          <p:cNvPr id="787" name="Google Shape;787;p62"/>
          <p:cNvSpPr/>
          <p:nvPr/>
        </p:nvSpPr>
        <p:spPr>
          <a:xfrm>
            <a:off x="2438400" y="3124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788" name="Google Shape;788;p62"/>
          <p:cNvCxnSpPr/>
          <p:nvPr/>
        </p:nvCxnSpPr>
        <p:spPr>
          <a:xfrm>
            <a:off x="1930400" y="3429000"/>
            <a:ext cx="508000" cy="0"/>
          </a:xfrm>
          <a:prstGeom prst="straightConnector1">
            <a:avLst/>
          </a:prstGeom>
          <a:noFill/>
          <a:ln w="12700" cap="flat" cmpd="sng">
            <a:solidFill>
              <a:srgbClr val="0C0C0C"/>
            </a:solidFill>
            <a:prstDash val="solid"/>
            <a:miter lim="8000"/>
            <a:headEnd type="none" w="sm" len="sm"/>
            <a:tailEnd type="stealth" w="med" len="med"/>
          </a:ln>
        </p:spPr>
      </p:cxnSp>
      <p:sp>
        <p:nvSpPr>
          <p:cNvPr id="789" name="Google Shape;789;p62"/>
          <p:cNvSpPr txBox="1"/>
          <p:nvPr/>
        </p:nvSpPr>
        <p:spPr>
          <a:xfrm>
            <a:off x="1219200" y="3124201"/>
            <a:ext cx="914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TOS</a:t>
            </a:r>
            <a:endParaRPr/>
          </a:p>
        </p:txBody>
      </p:sp>
      <p:sp>
        <p:nvSpPr>
          <p:cNvPr id="790" name="Google Shape;790;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63"/>
          <p:cNvSpPr txBox="1">
            <a:spLocks noGrp="1"/>
          </p:cNvSpPr>
          <p:nvPr>
            <p:ph type="title"/>
          </p:nvPr>
        </p:nvSpPr>
        <p:spPr>
          <a:xfrm>
            <a:off x="101600" y="381000"/>
            <a:ext cx="5181600" cy="812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 Stack Architecture</a:t>
            </a:r>
            <a:endParaRPr/>
          </a:p>
        </p:txBody>
      </p:sp>
      <p:sp>
        <p:nvSpPr>
          <p:cNvPr id="796" name="Google Shape;796;p63"/>
          <p:cNvSpPr txBox="1">
            <a:spLocks noGrp="1"/>
          </p:cNvSpPr>
          <p:nvPr>
            <p:ph type="body" idx="1"/>
          </p:nvPr>
        </p:nvSpPr>
        <p:spPr>
          <a:xfrm>
            <a:off x="609600" y="1295400"/>
            <a:ext cx="5283200" cy="45720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Typical instructions:</a:t>
            </a:r>
            <a:endParaRPr/>
          </a:p>
          <a:p>
            <a:pPr marL="609585" lvl="1" indent="0" algn="l" rtl="0">
              <a:lnSpc>
                <a:spcPct val="110000"/>
              </a:lnSpc>
              <a:spcBef>
                <a:spcPts val="600"/>
              </a:spcBef>
              <a:spcAft>
                <a:spcPts val="0"/>
              </a:spcAft>
              <a:buClr>
                <a:schemeClr val="dk1"/>
              </a:buClr>
              <a:buSzPts val="2400"/>
              <a:buNone/>
            </a:pPr>
            <a:r>
              <a:rPr lang="en-US"/>
              <a:t>  PUSH  X,   POP  X</a:t>
            </a:r>
            <a:endParaRPr/>
          </a:p>
          <a:p>
            <a:pPr marL="609585" lvl="1" indent="0" algn="l" rtl="0">
              <a:lnSpc>
                <a:spcPct val="110000"/>
              </a:lnSpc>
              <a:spcBef>
                <a:spcPts val="600"/>
              </a:spcBef>
              <a:spcAft>
                <a:spcPts val="0"/>
              </a:spcAft>
              <a:buClr>
                <a:schemeClr val="dk1"/>
              </a:buClr>
              <a:buSzPts val="2400"/>
              <a:buNone/>
            </a:pPr>
            <a:r>
              <a:rPr lang="en-US"/>
              <a:t>  ADD,  SUB,  MUL,  DIV</a:t>
            </a:r>
            <a:endParaRPr/>
          </a:p>
        </p:txBody>
      </p:sp>
      <p:sp>
        <p:nvSpPr>
          <p:cNvPr id="797" name="Google Shape;797;p63"/>
          <p:cNvSpPr txBox="1"/>
          <p:nvPr/>
        </p:nvSpPr>
        <p:spPr>
          <a:xfrm>
            <a:off x="6299200" y="787400"/>
            <a:ext cx="5588000" cy="5080000"/>
          </a:xfrm>
          <a:prstGeom prst="rect">
            <a:avLst/>
          </a:prstGeom>
          <a:noFill/>
          <a:ln>
            <a:noFill/>
          </a:ln>
        </p:spPr>
        <p:txBody>
          <a:bodyPr spcFirstLastPara="1" wrap="square" lIns="121900" tIns="60950" rIns="121900" bIns="60950" anchor="t" anchorCtr="0">
            <a:normAutofit/>
          </a:bodyPr>
          <a:lstStyle/>
          <a:p>
            <a:pPr marL="533387" marR="0" lvl="0" indent="-342900" algn="l" rtl="0">
              <a:spcBef>
                <a:spcPts val="0"/>
              </a:spcBef>
              <a:spcAft>
                <a:spcPts val="0"/>
              </a:spcAft>
              <a:buClr>
                <a:srgbClr val="000090"/>
              </a:buClr>
              <a:buSzPts val="2667"/>
              <a:buFont typeface="Arial"/>
              <a:buChar char="•"/>
            </a:pPr>
            <a:r>
              <a:rPr lang="en-US" sz="2667" b="1">
                <a:solidFill>
                  <a:srgbClr val="000090"/>
                </a:solidFill>
                <a:latin typeface="Calibri"/>
                <a:ea typeface="Calibri"/>
                <a:cs typeface="Calibri"/>
                <a:sym typeface="Calibri"/>
              </a:rPr>
              <a:t>Example:    Y = A / B – (A –  C *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DIV</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PUSH   A</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PUSH   C</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PUSH   B</a:t>
            </a:r>
            <a:endParaRPr/>
          </a:p>
          <a:p>
            <a:pPr marL="609585" marR="0" lvl="1" indent="0" algn="l" rtl="0">
              <a:spcBef>
                <a:spcPts val="480"/>
              </a:spcBef>
              <a:spcAft>
                <a:spcPts val="0"/>
              </a:spcAft>
              <a:buClr>
                <a:srgbClr val="FF0000"/>
              </a:buClr>
              <a:buSzPts val="2400"/>
              <a:buFont typeface="Arial"/>
              <a:buNone/>
            </a:pPr>
            <a:r>
              <a:rPr lang="en-US" sz="2400" b="0" i="0" u="none" strike="noStrike" cap="none">
                <a:solidFill>
                  <a:srgbClr val="FF0000"/>
                </a:solidFill>
                <a:latin typeface="Calibri"/>
                <a:ea typeface="Calibri"/>
                <a:cs typeface="Calibri"/>
                <a:sym typeface="Calibri"/>
              </a:rPr>
              <a:t>MUL</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POP   Y</a:t>
            </a:r>
            <a:endParaRPr/>
          </a:p>
        </p:txBody>
      </p:sp>
      <p:sp>
        <p:nvSpPr>
          <p:cNvPr id="798" name="Google Shape;798;p63"/>
          <p:cNvSpPr/>
          <p:nvPr/>
        </p:nvSpPr>
        <p:spPr>
          <a:xfrm>
            <a:off x="2438400" y="5156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A/B</a:t>
            </a:r>
            <a:endParaRPr/>
          </a:p>
        </p:txBody>
      </p:sp>
      <p:sp>
        <p:nvSpPr>
          <p:cNvPr id="799" name="Google Shape;799;p63"/>
          <p:cNvSpPr/>
          <p:nvPr/>
        </p:nvSpPr>
        <p:spPr>
          <a:xfrm>
            <a:off x="2438400" y="4648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A</a:t>
            </a:r>
            <a:endParaRPr/>
          </a:p>
        </p:txBody>
      </p:sp>
      <p:sp>
        <p:nvSpPr>
          <p:cNvPr id="800" name="Google Shape;800;p63"/>
          <p:cNvSpPr/>
          <p:nvPr/>
        </p:nvSpPr>
        <p:spPr>
          <a:xfrm>
            <a:off x="2438400" y="4140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B*C</a:t>
            </a:r>
            <a:endParaRPr/>
          </a:p>
        </p:txBody>
      </p:sp>
      <p:sp>
        <p:nvSpPr>
          <p:cNvPr id="801" name="Google Shape;801;p63"/>
          <p:cNvSpPr/>
          <p:nvPr/>
        </p:nvSpPr>
        <p:spPr>
          <a:xfrm>
            <a:off x="2438400" y="3632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0000"/>
              </a:solidFill>
              <a:latin typeface="Calibri"/>
              <a:ea typeface="Calibri"/>
              <a:cs typeface="Calibri"/>
              <a:sym typeface="Calibri"/>
            </a:endParaRPr>
          </a:p>
        </p:txBody>
      </p:sp>
      <p:sp>
        <p:nvSpPr>
          <p:cNvPr id="802" name="Google Shape;802;p63"/>
          <p:cNvSpPr/>
          <p:nvPr/>
        </p:nvSpPr>
        <p:spPr>
          <a:xfrm>
            <a:off x="2438400" y="3124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803" name="Google Shape;803;p63"/>
          <p:cNvCxnSpPr/>
          <p:nvPr/>
        </p:nvCxnSpPr>
        <p:spPr>
          <a:xfrm>
            <a:off x="1930400" y="3835400"/>
            <a:ext cx="508000" cy="0"/>
          </a:xfrm>
          <a:prstGeom prst="straightConnector1">
            <a:avLst/>
          </a:prstGeom>
          <a:noFill/>
          <a:ln w="12700" cap="flat" cmpd="sng">
            <a:solidFill>
              <a:srgbClr val="0C0C0C"/>
            </a:solidFill>
            <a:prstDash val="solid"/>
            <a:miter lim="8000"/>
            <a:headEnd type="none" w="sm" len="sm"/>
            <a:tailEnd type="stealth" w="med" len="med"/>
          </a:ln>
        </p:spPr>
      </p:cxnSp>
      <p:sp>
        <p:nvSpPr>
          <p:cNvPr id="804" name="Google Shape;804;p63"/>
          <p:cNvSpPr txBox="1"/>
          <p:nvPr/>
        </p:nvSpPr>
        <p:spPr>
          <a:xfrm>
            <a:off x="1219200" y="3530601"/>
            <a:ext cx="914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TOS</a:t>
            </a:r>
            <a:endParaRPr/>
          </a:p>
        </p:txBody>
      </p:sp>
      <p:sp>
        <p:nvSpPr>
          <p:cNvPr id="805" name="Google Shape;805;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64"/>
          <p:cNvSpPr txBox="1">
            <a:spLocks noGrp="1"/>
          </p:cNvSpPr>
          <p:nvPr>
            <p:ph type="title"/>
          </p:nvPr>
        </p:nvSpPr>
        <p:spPr>
          <a:xfrm>
            <a:off x="101600" y="381000"/>
            <a:ext cx="5181600" cy="812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 Stack Architecture</a:t>
            </a:r>
            <a:endParaRPr/>
          </a:p>
        </p:txBody>
      </p:sp>
      <p:sp>
        <p:nvSpPr>
          <p:cNvPr id="811" name="Google Shape;811;p64"/>
          <p:cNvSpPr txBox="1">
            <a:spLocks noGrp="1"/>
          </p:cNvSpPr>
          <p:nvPr>
            <p:ph type="body" idx="1"/>
          </p:nvPr>
        </p:nvSpPr>
        <p:spPr>
          <a:xfrm>
            <a:off x="609600" y="1295400"/>
            <a:ext cx="5283200" cy="45720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Typical instructions:</a:t>
            </a:r>
            <a:endParaRPr/>
          </a:p>
          <a:p>
            <a:pPr marL="609585" lvl="1" indent="0" algn="l" rtl="0">
              <a:lnSpc>
                <a:spcPct val="110000"/>
              </a:lnSpc>
              <a:spcBef>
                <a:spcPts val="600"/>
              </a:spcBef>
              <a:spcAft>
                <a:spcPts val="0"/>
              </a:spcAft>
              <a:buClr>
                <a:schemeClr val="dk1"/>
              </a:buClr>
              <a:buSzPts val="2400"/>
              <a:buNone/>
            </a:pPr>
            <a:r>
              <a:rPr lang="en-US"/>
              <a:t>  PUSH  X,   POP  X</a:t>
            </a:r>
            <a:endParaRPr/>
          </a:p>
          <a:p>
            <a:pPr marL="609585" lvl="1" indent="0" algn="l" rtl="0">
              <a:lnSpc>
                <a:spcPct val="110000"/>
              </a:lnSpc>
              <a:spcBef>
                <a:spcPts val="600"/>
              </a:spcBef>
              <a:spcAft>
                <a:spcPts val="0"/>
              </a:spcAft>
              <a:buClr>
                <a:schemeClr val="dk1"/>
              </a:buClr>
              <a:buSzPts val="2400"/>
              <a:buNone/>
            </a:pPr>
            <a:r>
              <a:rPr lang="en-US"/>
              <a:t>  ADD,  SUB,  MUL,  DIV</a:t>
            </a:r>
            <a:endParaRPr/>
          </a:p>
        </p:txBody>
      </p:sp>
      <p:sp>
        <p:nvSpPr>
          <p:cNvPr id="812" name="Google Shape;812;p64"/>
          <p:cNvSpPr txBox="1"/>
          <p:nvPr/>
        </p:nvSpPr>
        <p:spPr>
          <a:xfrm>
            <a:off x="6299200" y="787400"/>
            <a:ext cx="5588000" cy="5080000"/>
          </a:xfrm>
          <a:prstGeom prst="rect">
            <a:avLst/>
          </a:prstGeom>
          <a:noFill/>
          <a:ln>
            <a:noFill/>
          </a:ln>
        </p:spPr>
        <p:txBody>
          <a:bodyPr spcFirstLastPara="1" wrap="square" lIns="121900" tIns="60950" rIns="121900" bIns="60950" anchor="t" anchorCtr="0">
            <a:normAutofit/>
          </a:bodyPr>
          <a:lstStyle/>
          <a:p>
            <a:pPr marL="533387" marR="0" lvl="0" indent="-342900" algn="l" rtl="0">
              <a:spcBef>
                <a:spcPts val="0"/>
              </a:spcBef>
              <a:spcAft>
                <a:spcPts val="0"/>
              </a:spcAft>
              <a:buClr>
                <a:srgbClr val="000090"/>
              </a:buClr>
              <a:buSzPts val="2667"/>
              <a:buFont typeface="Arial"/>
              <a:buChar char="•"/>
            </a:pPr>
            <a:r>
              <a:rPr lang="en-US" sz="2667" b="1">
                <a:solidFill>
                  <a:srgbClr val="000090"/>
                </a:solidFill>
                <a:latin typeface="Calibri"/>
                <a:ea typeface="Calibri"/>
                <a:cs typeface="Calibri"/>
                <a:sym typeface="Calibri"/>
              </a:rPr>
              <a:t>Example:    Y = A / B – (A –  C *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DIV</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PUSH   A</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PUSH   C</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PUSH   B</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MUL</a:t>
            </a:r>
            <a:endParaRPr/>
          </a:p>
          <a:p>
            <a:pPr marL="609585" marR="0" lvl="1" indent="0" algn="l" rtl="0">
              <a:spcBef>
                <a:spcPts val="480"/>
              </a:spcBef>
              <a:spcAft>
                <a:spcPts val="0"/>
              </a:spcAft>
              <a:buClr>
                <a:srgbClr val="FF0000"/>
              </a:buClr>
              <a:buSzPts val="2400"/>
              <a:buFont typeface="Arial"/>
              <a:buNone/>
            </a:pPr>
            <a:r>
              <a:rPr lang="en-US" sz="2400" b="0" i="0" u="none" strike="noStrike" cap="none">
                <a:solidFill>
                  <a:srgbClr val="FF0000"/>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POP   Y</a:t>
            </a:r>
            <a:endParaRPr/>
          </a:p>
        </p:txBody>
      </p:sp>
      <p:sp>
        <p:nvSpPr>
          <p:cNvPr id="813" name="Google Shape;813;p64"/>
          <p:cNvSpPr/>
          <p:nvPr/>
        </p:nvSpPr>
        <p:spPr>
          <a:xfrm>
            <a:off x="2438400" y="5156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A/B</a:t>
            </a:r>
            <a:endParaRPr/>
          </a:p>
        </p:txBody>
      </p:sp>
      <p:sp>
        <p:nvSpPr>
          <p:cNvPr id="814" name="Google Shape;814;p64"/>
          <p:cNvSpPr/>
          <p:nvPr/>
        </p:nvSpPr>
        <p:spPr>
          <a:xfrm>
            <a:off x="2438400" y="4648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A-B*C</a:t>
            </a:r>
            <a:endParaRPr/>
          </a:p>
        </p:txBody>
      </p:sp>
      <p:sp>
        <p:nvSpPr>
          <p:cNvPr id="815" name="Google Shape;815;p64"/>
          <p:cNvSpPr/>
          <p:nvPr/>
        </p:nvSpPr>
        <p:spPr>
          <a:xfrm>
            <a:off x="2438400" y="4140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0000"/>
              </a:solidFill>
              <a:latin typeface="Calibri"/>
              <a:ea typeface="Calibri"/>
              <a:cs typeface="Calibri"/>
              <a:sym typeface="Calibri"/>
            </a:endParaRPr>
          </a:p>
        </p:txBody>
      </p:sp>
      <p:sp>
        <p:nvSpPr>
          <p:cNvPr id="816" name="Google Shape;816;p64"/>
          <p:cNvSpPr/>
          <p:nvPr/>
        </p:nvSpPr>
        <p:spPr>
          <a:xfrm>
            <a:off x="2438400" y="3632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0000"/>
              </a:solidFill>
              <a:latin typeface="Calibri"/>
              <a:ea typeface="Calibri"/>
              <a:cs typeface="Calibri"/>
              <a:sym typeface="Calibri"/>
            </a:endParaRPr>
          </a:p>
        </p:txBody>
      </p:sp>
      <p:sp>
        <p:nvSpPr>
          <p:cNvPr id="817" name="Google Shape;817;p64"/>
          <p:cNvSpPr/>
          <p:nvPr/>
        </p:nvSpPr>
        <p:spPr>
          <a:xfrm>
            <a:off x="2438400" y="3124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818" name="Google Shape;818;p64"/>
          <p:cNvCxnSpPr/>
          <p:nvPr/>
        </p:nvCxnSpPr>
        <p:spPr>
          <a:xfrm>
            <a:off x="1930400" y="4343400"/>
            <a:ext cx="508000" cy="0"/>
          </a:xfrm>
          <a:prstGeom prst="straightConnector1">
            <a:avLst/>
          </a:prstGeom>
          <a:noFill/>
          <a:ln w="12700" cap="flat" cmpd="sng">
            <a:solidFill>
              <a:srgbClr val="0C0C0C"/>
            </a:solidFill>
            <a:prstDash val="solid"/>
            <a:miter lim="8000"/>
            <a:headEnd type="none" w="sm" len="sm"/>
            <a:tailEnd type="stealth" w="med" len="med"/>
          </a:ln>
        </p:spPr>
      </p:cxnSp>
      <p:sp>
        <p:nvSpPr>
          <p:cNvPr id="819" name="Google Shape;819;p64"/>
          <p:cNvSpPr txBox="1"/>
          <p:nvPr/>
        </p:nvSpPr>
        <p:spPr>
          <a:xfrm>
            <a:off x="1219200" y="4038601"/>
            <a:ext cx="914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TOS</a:t>
            </a:r>
            <a:endParaRPr/>
          </a:p>
        </p:txBody>
      </p:sp>
      <p:sp>
        <p:nvSpPr>
          <p:cNvPr id="820" name="Google Shape;820;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65"/>
          <p:cNvSpPr txBox="1">
            <a:spLocks noGrp="1"/>
          </p:cNvSpPr>
          <p:nvPr>
            <p:ph type="title"/>
          </p:nvPr>
        </p:nvSpPr>
        <p:spPr>
          <a:xfrm>
            <a:off x="101600" y="381000"/>
            <a:ext cx="5181600" cy="812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 Stack Architecture</a:t>
            </a:r>
            <a:endParaRPr/>
          </a:p>
        </p:txBody>
      </p:sp>
      <p:sp>
        <p:nvSpPr>
          <p:cNvPr id="826" name="Google Shape;826;p65"/>
          <p:cNvSpPr txBox="1">
            <a:spLocks noGrp="1"/>
          </p:cNvSpPr>
          <p:nvPr>
            <p:ph type="body" idx="1"/>
          </p:nvPr>
        </p:nvSpPr>
        <p:spPr>
          <a:xfrm>
            <a:off x="609600" y="1295400"/>
            <a:ext cx="5283200" cy="45720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Typical instructions:</a:t>
            </a:r>
            <a:endParaRPr/>
          </a:p>
          <a:p>
            <a:pPr marL="609585" lvl="1" indent="0" algn="l" rtl="0">
              <a:lnSpc>
                <a:spcPct val="110000"/>
              </a:lnSpc>
              <a:spcBef>
                <a:spcPts val="600"/>
              </a:spcBef>
              <a:spcAft>
                <a:spcPts val="0"/>
              </a:spcAft>
              <a:buClr>
                <a:schemeClr val="dk1"/>
              </a:buClr>
              <a:buSzPts val="2400"/>
              <a:buNone/>
            </a:pPr>
            <a:r>
              <a:rPr lang="en-US"/>
              <a:t>  PUSH  X,   POP  X</a:t>
            </a:r>
            <a:endParaRPr/>
          </a:p>
          <a:p>
            <a:pPr marL="609585" lvl="1" indent="0" algn="l" rtl="0">
              <a:lnSpc>
                <a:spcPct val="110000"/>
              </a:lnSpc>
              <a:spcBef>
                <a:spcPts val="600"/>
              </a:spcBef>
              <a:spcAft>
                <a:spcPts val="0"/>
              </a:spcAft>
              <a:buClr>
                <a:schemeClr val="dk1"/>
              </a:buClr>
              <a:buSzPts val="2400"/>
              <a:buNone/>
            </a:pPr>
            <a:r>
              <a:rPr lang="en-US"/>
              <a:t>  ADD,  SUB,  MUL,  DIV</a:t>
            </a:r>
            <a:endParaRPr/>
          </a:p>
        </p:txBody>
      </p:sp>
      <p:sp>
        <p:nvSpPr>
          <p:cNvPr id="827" name="Google Shape;827;p65"/>
          <p:cNvSpPr txBox="1"/>
          <p:nvPr/>
        </p:nvSpPr>
        <p:spPr>
          <a:xfrm>
            <a:off x="6299200" y="787400"/>
            <a:ext cx="5588000" cy="5080000"/>
          </a:xfrm>
          <a:prstGeom prst="rect">
            <a:avLst/>
          </a:prstGeom>
          <a:noFill/>
          <a:ln>
            <a:noFill/>
          </a:ln>
        </p:spPr>
        <p:txBody>
          <a:bodyPr spcFirstLastPara="1" wrap="square" lIns="121900" tIns="60950" rIns="121900" bIns="60950" anchor="t" anchorCtr="0">
            <a:normAutofit/>
          </a:bodyPr>
          <a:lstStyle/>
          <a:p>
            <a:pPr marL="533387" marR="0" lvl="0" indent="-342900" algn="l" rtl="0">
              <a:spcBef>
                <a:spcPts val="0"/>
              </a:spcBef>
              <a:spcAft>
                <a:spcPts val="0"/>
              </a:spcAft>
              <a:buClr>
                <a:srgbClr val="000090"/>
              </a:buClr>
              <a:buSzPts val="2667"/>
              <a:buFont typeface="Arial"/>
              <a:buChar char="•"/>
            </a:pPr>
            <a:r>
              <a:rPr lang="en-US" sz="2667" b="1">
                <a:solidFill>
                  <a:srgbClr val="000090"/>
                </a:solidFill>
                <a:latin typeface="Calibri"/>
                <a:ea typeface="Calibri"/>
                <a:cs typeface="Calibri"/>
                <a:sym typeface="Calibri"/>
              </a:rPr>
              <a:t>Example:    Y = A / B – (A –  C *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DIV</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PUSH   A</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PUSH   C</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PUSH   B</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MUL</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SUB</a:t>
            </a:r>
            <a:endParaRPr/>
          </a:p>
          <a:p>
            <a:pPr marL="609585" marR="0" lvl="1" indent="0" algn="l" rtl="0">
              <a:spcBef>
                <a:spcPts val="480"/>
              </a:spcBef>
              <a:spcAft>
                <a:spcPts val="0"/>
              </a:spcAft>
              <a:buClr>
                <a:srgbClr val="FF0000"/>
              </a:buClr>
              <a:buSzPts val="2400"/>
              <a:buFont typeface="Arial"/>
              <a:buNone/>
            </a:pPr>
            <a:r>
              <a:rPr lang="en-US" sz="2400" b="0" i="0" u="none" strike="noStrike" cap="none">
                <a:solidFill>
                  <a:srgbClr val="FF0000"/>
                </a:solidFill>
                <a:latin typeface="Calibri"/>
                <a:ea typeface="Calibri"/>
                <a:cs typeface="Calibri"/>
                <a:sym typeface="Calibri"/>
              </a:rPr>
              <a:t>SUB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POP   Y</a:t>
            </a:r>
            <a:endParaRPr/>
          </a:p>
        </p:txBody>
      </p:sp>
      <p:sp>
        <p:nvSpPr>
          <p:cNvPr id="828" name="Google Shape;828;p65"/>
          <p:cNvSpPr/>
          <p:nvPr/>
        </p:nvSpPr>
        <p:spPr>
          <a:xfrm>
            <a:off x="2438400" y="5156200"/>
            <a:ext cx="17272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FF0000"/>
                </a:solidFill>
                <a:latin typeface="Calibri"/>
                <a:ea typeface="Calibri"/>
                <a:cs typeface="Calibri"/>
                <a:sym typeface="Calibri"/>
              </a:rPr>
              <a:t>A/B-(A-B*C)</a:t>
            </a:r>
            <a:endParaRPr/>
          </a:p>
        </p:txBody>
      </p:sp>
      <p:sp>
        <p:nvSpPr>
          <p:cNvPr id="829" name="Google Shape;829;p65"/>
          <p:cNvSpPr/>
          <p:nvPr/>
        </p:nvSpPr>
        <p:spPr>
          <a:xfrm>
            <a:off x="2438400" y="4648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0000"/>
              </a:solidFill>
              <a:latin typeface="Calibri"/>
              <a:ea typeface="Calibri"/>
              <a:cs typeface="Calibri"/>
              <a:sym typeface="Calibri"/>
            </a:endParaRPr>
          </a:p>
        </p:txBody>
      </p:sp>
      <p:sp>
        <p:nvSpPr>
          <p:cNvPr id="830" name="Google Shape;830;p65"/>
          <p:cNvSpPr/>
          <p:nvPr/>
        </p:nvSpPr>
        <p:spPr>
          <a:xfrm>
            <a:off x="2438400" y="4140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0000"/>
              </a:solidFill>
              <a:latin typeface="Calibri"/>
              <a:ea typeface="Calibri"/>
              <a:cs typeface="Calibri"/>
              <a:sym typeface="Calibri"/>
            </a:endParaRPr>
          </a:p>
        </p:txBody>
      </p:sp>
      <p:sp>
        <p:nvSpPr>
          <p:cNvPr id="831" name="Google Shape;831;p65"/>
          <p:cNvSpPr/>
          <p:nvPr/>
        </p:nvSpPr>
        <p:spPr>
          <a:xfrm>
            <a:off x="2438400" y="3632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0000"/>
              </a:solidFill>
              <a:latin typeface="Calibri"/>
              <a:ea typeface="Calibri"/>
              <a:cs typeface="Calibri"/>
              <a:sym typeface="Calibri"/>
            </a:endParaRPr>
          </a:p>
        </p:txBody>
      </p:sp>
      <p:sp>
        <p:nvSpPr>
          <p:cNvPr id="832" name="Google Shape;832;p65"/>
          <p:cNvSpPr/>
          <p:nvPr/>
        </p:nvSpPr>
        <p:spPr>
          <a:xfrm>
            <a:off x="2438400" y="3124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833" name="Google Shape;833;p65"/>
          <p:cNvCxnSpPr/>
          <p:nvPr/>
        </p:nvCxnSpPr>
        <p:spPr>
          <a:xfrm>
            <a:off x="1930400" y="4851400"/>
            <a:ext cx="508000" cy="0"/>
          </a:xfrm>
          <a:prstGeom prst="straightConnector1">
            <a:avLst/>
          </a:prstGeom>
          <a:noFill/>
          <a:ln w="12700" cap="flat" cmpd="sng">
            <a:solidFill>
              <a:srgbClr val="0C0C0C"/>
            </a:solidFill>
            <a:prstDash val="solid"/>
            <a:miter lim="8000"/>
            <a:headEnd type="none" w="sm" len="sm"/>
            <a:tailEnd type="stealth" w="med" len="med"/>
          </a:ln>
        </p:spPr>
      </p:cxnSp>
      <p:sp>
        <p:nvSpPr>
          <p:cNvPr id="834" name="Google Shape;834;p65"/>
          <p:cNvSpPr txBox="1"/>
          <p:nvPr/>
        </p:nvSpPr>
        <p:spPr>
          <a:xfrm>
            <a:off x="1219200" y="4546601"/>
            <a:ext cx="914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TOS</a:t>
            </a:r>
            <a:endParaRPr/>
          </a:p>
        </p:txBody>
      </p:sp>
      <p:sp>
        <p:nvSpPr>
          <p:cNvPr id="835" name="Google Shape;835;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66"/>
          <p:cNvSpPr txBox="1">
            <a:spLocks noGrp="1"/>
          </p:cNvSpPr>
          <p:nvPr>
            <p:ph type="title"/>
          </p:nvPr>
        </p:nvSpPr>
        <p:spPr>
          <a:xfrm>
            <a:off x="101600" y="381000"/>
            <a:ext cx="5181600" cy="812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 Stack Architecture</a:t>
            </a:r>
            <a:endParaRPr/>
          </a:p>
        </p:txBody>
      </p:sp>
      <p:sp>
        <p:nvSpPr>
          <p:cNvPr id="841" name="Google Shape;841;p66"/>
          <p:cNvSpPr txBox="1">
            <a:spLocks noGrp="1"/>
          </p:cNvSpPr>
          <p:nvPr>
            <p:ph type="body" idx="1"/>
          </p:nvPr>
        </p:nvSpPr>
        <p:spPr>
          <a:xfrm>
            <a:off x="609600" y="1295400"/>
            <a:ext cx="5283200" cy="45720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Typical instructions:</a:t>
            </a:r>
            <a:endParaRPr/>
          </a:p>
          <a:p>
            <a:pPr marL="609585" lvl="1" indent="0" algn="l" rtl="0">
              <a:lnSpc>
                <a:spcPct val="110000"/>
              </a:lnSpc>
              <a:spcBef>
                <a:spcPts val="600"/>
              </a:spcBef>
              <a:spcAft>
                <a:spcPts val="0"/>
              </a:spcAft>
              <a:buClr>
                <a:schemeClr val="dk1"/>
              </a:buClr>
              <a:buSzPts val="2400"/>
              <a:buNone/>
            </a:pPr>
            <a:r>
              <a:rPr lang="en-US"/>
              <a:t>  PUSH  X,   POP  X</a:t>
            </a:r>
            <a:endParaRPr/>
          </a:p>
          <a:p>
            <a:pPr marL="609585" lvl="1" indent="0" algn="l" rtl="0">
              <a:lnSpc>
                <a:spcPct val="110000"/>
              </a:lnSpc>
              <a:spcBef>
                <a:spcPts val="600"/>
              </a:spcBef>
              <a:spcAft>
                <a:spcPts val="0"/>
              </a:spcAft>
              <a:buClr>
                <a:schemeClr val="dk1"/>
              </a:buClr>
              <a:buSzPts val="2400"/>
              <a:buNone/>
            </a:pPr>
            <a:r>
              <a:rPr lang="en-US"/>
              <a:t>  ADD,  SUB,  MUL,  DIV</a:t>
            </a:r>
            <a:endParaRPr/>
          </a:p>
        </p:txBody>
      </p:sp>
      <p:sp>
        <p:nvSpPr>
          <p:cNvPr id="842" name="Google Shape;842;p66"/>
          <p:cNvSpPr txBox="1"/>
          <p:nvPr/>
        </p:nvSpPr>
        <p:spPr>
          <a:xfrm>
            <a:off x="6299200" y="787400"/>
            <a:ext cx="5588000" cy="5080000"/>
          </a:xfrm>
          <a:prstGeom prst="rect">
            <a:avLst/>
          </a:prstGeom>
          <a:noFill/>
          <a:ln>
            <a:noFill/>
          </a:ln>
        </p:spPr>
        <p:txBody>
          <a:bodyPr spcFirstLastPara="1" wrap="square" lIns="121900" tIns="60950" rIns="121900" bIns="60950" anchor="t" anchorCtr="0">
            <a:normAutofit/>
          </a:bodyPr>
          <a:lstStyle/>
          <a:p>
            <a:pPr marL="533387" marR="0" lvl="0" indent="-342900" algn="l" rtl="0">
              <a:spcBef>
                <a:spcPts val="0"/>
              </a:spcBef>
              <a:spcAft>
                <a:spcPts val="0"/>
              </a:spcAft>
              <a:buClr>
                <a:srgbClr val="000090"/>
              </a:buClr>
              <a:buSzPts val="2667"/>
              <a:buFont typeface="Arial"/>
              <a:buChar char="•"/>
            </a:pPr>
            <a:r>
              <a:rPr lang="en-US" sz="2667" b="1">
                <a:solidFill>
                  <a:srgbClr val="000090"/>
                </a:solidFill>
                <a:latin typeface="Calibri"/>
                <a:ea typeface="Calibri"/>
                <a:cs typeface="Calibri"/>
                <a:sym typeface="Calibri"/>
              </a:rPr>
              <a:t>Example:    Y = A / B – (A –  C *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PUSH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DIV</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PUSH   A</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PUSH   C</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PUSH   B</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MUL</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SUB</a:t>
            </a:r>
            <a:endParaRPr/>
          </a:p>
          <a:p>
            <a:pPr marL="609585" marR="0" lvl="1" indent="0" algn="l" rtl="0">
              <a:spcBef>
                <a:spcPts val="480"/>
              </a:spcBef>
              <a:spcAft>
                <a:spcPts val="0"/>
              </a:spcAft>
              <a:buClr>
                <a:srgbClr val="0D0D0D"/>
              </a:buClr>
              <a:buSzPts val="2400"/>
              <a:buFont typeface="Arial"/>
              <a:buNone/>
            </a:pPr>
            <a:r>
              <a:rPr lang="en-US" sz="2400" b="0" i="0" u="none" strike="noStrike" cap="none">
                <a:solidFill>
                  <a:srgbClr val="0D0D0D"/>
                </a:solidFill>
                <a:latin typeface="Calibri"/>
                <a:ea typeface="Calibri"/>
                <a:cs typeface="Calibri"/>
                <a:sym typeface="Calibri"/>
              </a:rPr>
              <a:t>SUB</a:t>
            </a:r>
            <a:endParaRPr/>
          </a:p>
          <a:p>
            <a:pPr marL="609585" marR="0" lvl="1" indent="0" algn="l" rtl="0">
              <a:spcBef>
                <a:spcPts val="480"/>
              </a:spcBef>
              <a:spcAft>
                <a:spcPts val="0"/>
              </a:spcAft>
              <a:buClr>
                <a:srgbClr val="FF0000"/>
              </a:buClr>
              <a:buSzPts val="2400"/>
              <a:buFont typeface="Arial"/>
              <a:buNone/>
            </a:pPr>
            <a:r>
              <a:rPr lang="en-US" sz="2400" b="0" i="0" u="none" strike="noStrike" cap="none">
                <a:solidFill>
                  <a:srgbClr val="FF0000"/>
                </a:solidFill>
                <a:latin typeface="Calibri"/>
                <a:ea typeface="Calibri"/>
                <a:cs typeface="Calibri"/>
                <a:sym typeface="Calibri"/>
              </a:rPr>
              <a:t>POP   Y</a:t>
            </a:r>
            <a:endParaRPr/>
          </a:p>
        </p:txBody>
      </p:sp>
      <p:sp>
        <p:nvSpPr>
          <p:cNvPr id="843" name="Google Shape;843;p66"/>
          <p:cNvSpPr/>
          <p:nvPr/>
        </p:nvSpPr>
        <p:spPr>
          <a:xfrm>
            <a:off x="2438400" y="5156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0000"/>
              </a:solidFill>
              <a:latin typeface="Calibri"/>
              <a:ea typeface="Calibri"/>
              <a:cs typeface="Calibri"/>
              <a:sym typeface="Calibri"/>
            </a:endParaRPr>
          </a:p>
        </p:txBody>
      </p:sp>
      <p:sp>
        <p:nvSpPr>
          <p:cNvPr id="844" name="Google Shape;844;p66"/>
          <p:cNvSpPr/>
          <p:nvPr/>
        </p:nvSpPr>
        <p:spPr>
          <a:xfrm>
            <a:off x="2438400" y="4648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0000"/>
              </a:solidFill>
              <a:latin typeface="Calibri"/>
              <a:ea typeface="Calibri"/>
              <a:cs typeface="Calibri"/>
              <a:sym typeface="Calibri"/>
            </a:endParaRPr>
          </a:p>
        </p:txBody>
      </p:sp>
      <p:sp>
        <p:nvSpPr>
          <p:cNvPr id="845" name="Google Shape;845;p66"/>
          <p:cNvSpPr/>
          <p:nvPr/>
        </p:nvSpPr>
        <p:spPr>
          <a:xfrm>
            <a:off x="2438400" y="4140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0000"/>
              </a:solidFill>
              <a:latin typeface="Calibri"/>
              <a:ea typeface="Calibri"/>
              <a:cs typeface="Calibri"/>
              <a:sym typeface="Calibri"/>
            </a:endParaRPr>
          </a:p>
        </p:txBody>
      </p:sp>
      <p:sp>
        <p:nvSpPr>
          <p:cNvPr id="846" name="Google Shape;846;p66"/>
          <p:cNvSpPr/>
          <p:nvPr/>
        </p:nvSpPr>
        <p:spPr>
          <a:xfrm>
            <a:off x="2438400" y="3632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0000"/>
              </a:solidFill>
              <a:latin typeface="Calibri"/>
              <a:ea typeface="Calibri"/>
              <a:cs typeface="Calibri"/>
              <a:sym typeface="Calibri"/>
            </a:endParaRPr>
          </a:p>
        </p:txBody>
      </p:sp>
      <p:sp>
        <p:nvSpPr>
          <p:cNvPr id="847" name="Google Shape;847;p66"/>
          <p:cNvSpPr/>
          <p:nvPr/>
        </p:nvSpPr>
        <p:spPr>
          <a:xfrm>
            <a:off x="2438400" y="3124200"/>
            <a:ext cx="1320800" cy="508000"/>
          </a:xfrm>
          <a:prstGeom prst="rect">
            <a:avLst/>
          </a:prstGeom>
          <a:solidFill>
            <a:srgbClr val="DDEAF6"/>
          </a:solidFill>
          <a:ln w="19050" cap="flat" cmpd="sng">
            <a:solidFill>
              <a:srgbClr val="0C0C0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848" name="Google Shape;848;p66"/>
          <p:cNvCxnSpPr/>
          <p:nvPr/>
        </p:nvCxnSpPr>
        <p:spPr>
          <a:xfrm>
            <a:off x="1930400" y="5359400"/>
            <a:ext cx="508000" cy="0"/>
          </a:xfrm>
          <a:prstGeom prst="straightConnector1">
            <a:avLst/>
          </a:prstGeom>
          <a:noFill/>
          <a:ln w="12700" cap="flat" cmpd="sng">
            <a:solidFill>
              <a:srgbClr val="0C0C0C"/>
            </a:solidFill>
            <a:prstDash val="solid"/>
            <a:miter lim="8000"/>
            <a:headEnd type="none" w="sm" len="sm"/>
            <a:tailEnd type="stealth" w="med" len="med"/>
          </a:ln>
        </p:spPr>
      </p:cxnSp>
      <p:sp>
        <p:nvSpPr>
          <p:cNvPr id="849" name="Google Shape;849;p66"/>
          <p:cNvSpPr txBox="1"/>
          <p:nvPr/>
        </p:nvSpPr>
        <p:spPr>
          <a:xfrm>
            <a:off x="1219200" y="5054601"/>
            <a:ext cx="914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TOS</a:t>
            </a:r>
            <a:endParaRPr/>
          </a:p>
        </p:txBody>
      </p:sp>
      <p:sp>
        <p:nvSpPr>
          <p:cNvPr id="850" name="Google Shape;850;p66"/>
          <p:cNvSpPr txBox="1"/>
          <p:nvPr/>
        </p:nvSpPr>
        <p:spPr>
          <a:xfrm>
            <a:off x="9042400" y="5156201"/>
            <a:ext cx="27432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0000"/>
                </a:solidFill>
                <a:latin typeface="Calibri"/>
                <a:ea typeface="Calibri"/>
                <a:cs typeface="Calibri"/>
                <a:sym typeface="Calibri"/>
              </a:rPr>
              <a:t>Y = RESULT</a:t>
            </a:r>
            <a:endParaRPr/>
          </a:p>
        </p:txBody>
      </p:sp>
      <p:sp>
        <p:nvSpPr>
          <p:cNvPr id="851" name="Google Shape;851;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67"/>
          <p:cNvSpPr txBox="1">
            <a:spLocks noGrp="1"/>
          </p:cNvSpPr>
          <p:nvPr>
            <p:ph type="title"/>
          </p:nvPr>
        </p:nvSpPr>
        <p:spPr>
          <a:xfrm>
            <a:off x="187158" y="381000"/>
            <a:ext cx="6823242" cy="812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(b) Accumulator Architecture</a:t>
            </a:r>
            <a:endParaRPr/>
          </a:p>
        </p:txBody>
      </p:sp>
      <p:sp>
        <p:nvSpPr>
          <p:cNvPr id="857" name="Google Shape;857;p67"/>
          <p:cNvSpPr txBox="1">
            <a:spLocks noGrp="1"/>
          </p:cNvSpPr>
          <p:nvPr>
            <p:ph type="body" idx="1"/>
          </p:nvPr>
        </p:nvSpPr>
        <p:spPr>
          <a:xfrm>
            <a:off x="609600" y="1600202"/>
            <a:ext cx="5283200" cy="4267199"/>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Typical instructions:</a:t>
            </a:r>
            <a:endParaRPr/>
          </a:p>
          <a:p>
            <a:pPr marL="609585" lvl="1" indent="0" algn="l" rtl="0">
              <a:lnSpc>
                <a:spcPct val="110000"/>
              </a:lnSpc>
              <a:spcBef>
                <a:spcPts val="600"/>
              </a:spcBef>
              <a:spcAft>
                <a:spcPts val="0"/>
              </a:spcAft>
              <a:buClr>
                <a:schemeClr val="dk1"/>
              </a:buClr>
              <a:buSzPts val="2400"/>
              <a:buNone/>
            </a:pPr>
            <a:r>
              <a:rPr lang="en-US"/>
              <a:t>  LOAD  X,   STORE  X</a:t>
            </a:r>
            <a:endParaRPr/>
          </a:p>
          <a:p>
            <a:pPr marL="609585" lvl="1" indent="0" algn="l" rtl="0">
              <a:lnSpc>
                <a:spcPct val="110000"/>
              </a:lnSpc>
              <a:spcBef>
                <a:spcPts val="600"/>
              </a:spcBef>
              <a:spcAft>
                <a:spcPts val="0"/>
              </a:spcAft>
              <a:buClr>
                <a:schemeClr val="dk1"/>
              </a:buClr>
              <a:buSzPts val="2400"/>
              <a:buNone/>
            </a:pPr>
            <a:r>
              <a:rPr lang="en-US"/>
              <a:t>  ADD  X,   SUB  X,   MUL  X,   DIV  X</a:t>
            </a:r>
            <a:endParaRPr/>
          </a:p>
        </p:txBody>
      </p:sp>
      <p:sp>
        <p:nvSpPr>
          <p:cNvPr id="858" name="Google Shape;858;p67"/>
          <p:cNvSpPr txBox="1"/>
          <p:nvPr/>
        </p:nvSpPr>
        <p:spPr>
          <a:xfrm>
            <a:off x="6502400" y="584200"/>
            <a:ext cx="5588000" cy="5283200"/>
          </a:xfrm>
          <a:prstGeom prst="rect">
            <a:avLst/>
          </a:prstGeom>
          <a:noFill/>
          <a:ln>
            <a:noFill/>
          </a:ln>
        </p:spPr>
        <p:txBody>
          <a:bodyPr spcFirstLastPara="1" wrap="square" lIns="121900" tIns="60950" rIns="121900" bIns="60950" anchor="t" anchorCtr="0">
            <a:normAutofit/>
          </a:bodyPr>
          <a:lstStyle/>
          <a:p>
            <a:pPr marL="76198" marR="0" lvl="0" indent="0" algn="l" rtl="0">
              <a:spcBef>
                <a:spcPts val="0"/>
              </a:spcBef>
              <a:spcAft>
                <a:spcPts val="0"/>
              </a:spcAft>
              <a:buClr>
                <a:srgbClr val="000090"/>
              </a:buClr>
              <a:buSzPts val="2667"/>
              <a:buFont typeface="Arial"/>
              <a:buNone/>
            </a:pPr>
            <a:r>
              <a:rPr lang="en-US" sz="2667" b="1">
                <a:solidFill>
                  <a:srgbClr val="000090"/>
                </a:solidFill>
                <a:latin typeface="Calibri"/>
                <a:ea typeface="Calibri"/>
                <a:cs typeface="Calibri"/>
                <a:sym typeface="Calibri"/>
              </a:rPr>
              <a:t>     Example:    Y = A / B – (A –  C *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LOAD    C	</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MUL      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STORE  D	        // D = C * B</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LOAD   A</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SUB      D</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STORE  D	       // D = A – C * B</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LOAD   A</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DIV       B</a:t>
            </a:r>
            <a:endParaRPr/>
          </a:p>
          <a:p>
            <a:pPr marL="609585" marR="0" lvl="1" indent="0" algn="l" rtl="0">
              <a:spcBef>
                <a:spcPts val="480"/>
              </a:spcBef>
              <a:spcAft>
                <a:spcPts val="0"/>
              </a:spcAft>
              <a:buClr>
                <a:srgbClr val="0D0D0D"/>
              </a:buClr>
              <a:buSzPts val="2400"/>
              <a:buFont typeface="Arial"/>
              <a:buNone/>
            </a:pPr>
            <a:r>
              <a:rPr lang="en-US" sz="2400" b="0" i="0" u="none" strike="noStrike" cap="none">
                <a:solidFill>
                  <a:srgbClr val="0D0D0D"/>
                </a:solidFill>
                <a:latin typeface="Calibri"/>
                <a:ea typeface="Calibri"/>
                <a:cs typeface="Calibri"/>
                <a:sym typeface="Calibri"/>
              </a:rPr>
              <a:t>SUB      D</a:t>
            </a:r>
            <a:endParaRPr/>
          </a:p>
          <a:p>
            <a:pPr marL="609585" marR="0" lvl="1" indent="0" algn="l" rtl="0">
              <a:spcBef>
                <a:spcPts val="480"/>
              </a:spcBef>
              <a:spcAft>
                <a:spcPts val="0"/>
              </a:spcAft>
              <a:buClr>
                <a:srgbClr val="0D0D0D"/>
              </a:buClr>
              <a:buSzPts val="2400"/>
              <a:buFont typeface="Arial"/>
              <a:buNone/>
            </a:pPr>
            <a:r>
              <a:rPr lang="en-US" sz="2400" b="0" i="0" u="none" strike="noStrike" cap="none">
                <a:solidFill>
                  <a:srgbClr val="0D0D0D"/>
                </a:solidFill>
                <a:latin typeface="Calibri"/>
                <a:ea typeface="Calibri"/>
                <a:cs typeface="Calibri"/>
                <a:sym typeface="Calibri"/>
              </a:rPr>
              <a:t>STORE   Y</a:t>
            </a:r>
            <a:endParaRPr/>
          </a:p>
        </p:txBody>
      </p:sp>
      <p:sp>
        <p:nvSpPr>
          <p:cNvPr id="859" name="Google Shape;859;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p68"/>
          <p:cNvSpPr txBox="1">
            <a:spLocks noGrp="1"/>
          </p:cNvSpPr>
          <p:nvPr>
            <p:ph type="title"/>
          </p:nvPr>
        </p:nvSpPr>
        <p:spPr>
          <a:xfrm>
            <a:off x="120316" y="381000"/>
            <a:ext cx="6788484" cy="812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(c) Memory-Memory Architecture</a:t>
            </a:r>
            <a:endParaRPr/>
          </a:p>
        </p:txBody>
      </p:sp>
      <p:sp>
        <p:nvSpPr>
          <p:cNvPr id="865" name="Google Shape;865;p68"/>
          <p:cNvSpPr txBox="1">
            <a:spLocks noGrp="1"/>
          </p:cNvSpPr>
          <p:nvPr>
            <p:ph type="body" idx="1"/>
          </p:nvPr>
        </p:nvSpPr>
        <p:spPr>
          <a:xfrm>
            <a:off x="609600" y="1600202"/>
            <a:ext cx="5588000" cy="4267199"/>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chemeClr val="dk1"/>
              </a:buClr>
              <a:buSzPts val="2667"/>
              <a:buChar char="•"/>
            </a:pPr>
            <a:r>
              <a:rPr lang="en-US" sz="2667"/>
              <a:t>Typical instructions (3 operands):</a:t>
            </a:r>
            <a:endParaRPr/>
          </a:p>
          <a:p>
            <a:pPr marL="609585" lvl="1" indent="0" algn="l" rtl="0">
              <a:lnSpc>
                <a:spcPct val="110000"/>
              </a:lnSpc>
              <a:spcBef>
                <a:spcPts val="600"/>
              </a:spcBef>
              <a:spcAft>
                <a:spcPts val="0"/>
              </a:spcAft>
              <a:buClr>
                <a:schemeClr val="dk1"/>
              </a:buClr>
              <a:buSzPts val="2400"/>
              <a:buNone/>
            </a:pPr>
            <a:r>
              <a:rPr lang="en-US"/>
              <a:t>  ADD  X,Y,Z</a:t>
            </a:r>
            <a:endParaRPr/>
          </a:p>
          <a:p>
            <a:pPr marL="609585" lvl="1" indent="0" algn="l" rtl="0">
              <a:lnSpc>
                <a:spcPct val="110000"/>
              </a:lnSpc>
              <a:spcBef>
                <a:spcPts val="600"/>
              </a:spcBef>
              <a:spcAft>
                <a:spcPts val="0"/>
              </a:spcAft>
              <a:buClr>
                <a:schemeClr val="dk1"/>
              </a:buClr>
              <a:buSzPts val="2400"/>
              <a:buNone/>
            </a:pPr>
            <a:r>
              <a:rPr lang="en-US"/>
              <a:t>  SUB   X,Y,Z</a:t>
            </a:r>
            <a:endParaRPr/>
          </a:p>
          <a:p>
            <a:pPr marL="609585" lvl="1" indent="0" algn="l" rtl="0">
              <a:lnSpc>
                <a:spcPct val="110000"/>
              </a:lnSpc>
              <a:spcBef>
                <a:spcPts val="600"/>
              </a:spcBef>
              <a:spcAft>
                <a:spcPts val="0"/>
              </a:spcAft>
              <a:buClr>
                <a:schemeClr val="dk1"/>
              </a:buClr>
              <a:buSzPts val="2400"/>
              <a:buNone/>
            </a:pPr>
            <a:r>
              <a:rPr lang="en-US"/>
              <a:t>  MUL  X,Y,Z</a:t>
            </a:r>
            <a:endParaRPr/>
          </a:p>
          <a:p>
            <a:pPr marL="174625" lvl="0" indent="-169355" algn="l" rtl="0">
              <a:lnSpc>
                <a:spcPct val="110000"/>
              </a:lnSpc>
              <a:spcBef>
                <a:spcPts val="600"/>
              </a:spcBef>
              <a:spcAft>
                <a:spcPts val="0"/>
              </a:spcAft>
              <a:buClr>
                <a:schemeClr val="dk1"/>
              </a:buClr>
              <a:buSzPts val="2667"/>
              <a:buChar char="•"/>
            </a:pPr>
            <a:r>
              <a:rPr lang="en-US" sz="2667"/>
              <a:t> Typical instructions (2 operands):</a:t>
            </a:r>
            <a:endParaRPr/>
          </a:p>
          <a:p>
            <a:pPr marL="685783" lvl="1" indent="0" algn="l" rtl="0">
              <a:lnSpc>
                <a:spcPct val="110000"/>
              </a:lnSpc>
              <a:spcBef>
                <a:spcPts val="600"/>
              </a:spcBef>
              <a:spcAft>
                <a:spcPts val="0"/>
              </a:spcAft>
              <a:buClr>
                <a:schemeClr val="dk1"/>
              </a:buClr>
              <a:buSzPts val="2400"/>
              <a:buNone/>
            </a:pPr>
            <a:r>
              <a:rPr lang="en-US"/>
              <a:t>  MOV  X,Y</a:t>
            </a:r>
            <a:endParaRPr/>
          </a:p>
          <a:p>
            <a:pPr marL="685783" lvl="1" indent="0" algn="l" rtl="0">
              <a:lnSpc>
                <a:spcPct val="110000"/>
              </a:lnSpc>
              <a:spcBef>
                <a:spcPts val="600"/>
              </a:spcBef>
              <a:spcAft>
                <a:spcPts val="0"/>
              </a:spcAft>
              <a:buClr>
                <a:schemeClr val="dk1"/>
              </a:buClr>
              <a:buSzPts val="2400"/>
              <a:buNone/>
            </a:pPr>
            <a:r>
              <a:rPr lang="en-US"/>
              <a:t>  ADD  X,Y</a:t>
            </a:r>
            <a:endParaRPr/>
          </a:p>
          <a:p>
            <a:pPr marL="685783" lvl="1" indent="0" algn="l" rtl="0">
              <a:lnSpc>
                <a:spcPct val="110000"/>
              </a:lnSpc>
              <a:spcBef>
                <a:spcPts val="600"/>
              </a:spcBef>
              <a:spcAft>
                <a:spcPts val="0"/>
              </a:spcAft>
              <a:buClr>
                <a:schemeClr val="dk1"/>
              </a:buClr>
              <a:buSzPts val="2400"/>
              <a:buNone/>
            </a:pPr>
            <a:r>
              <a:rPr lang="en-US"/>
              <a:t>  SUB  X,Y</a:t>
            </a:r>
            <a:endParaRPr/>
          </a:p>
          <a:p>
            <a:pPr marL="685783" lvl="1" indent="0" algn="l" rtl="0">
              <a:lnSpc>
                <a:spcPct val="110000"/>
              </a:lnSpc>
              <a:spcBef>
                <a:spcPts val="600"/>
              </a:spcBef>
              <a:spcAft>
                <a:spcPts val="0"/>
              </a:spcAft>
              <a:buClr>
                <a:schemeClr val="dk1"/>
              </a:buClr>
              <a:buSzPts val="2400"/>
              <a:buNone/>
            </a:pPr>
            <a:r>
              <a:rPr lang="en-US"/>
              <a:t>  MUL  X,Y</a:t>
            </a:r>
            <a:endParaRPr/>
          </a:p>
          <a:p>
            <a:pPr marL="685783" lvl="1" indent="0" algn="l" rtl="0">
              <a:lnSpc>
                <a:spcPct val="110000"/>
              </a:lnSpc>
              <a:spcBef>
                <a:spcPts val="600"/>
              </a:spcBef>
              <a:spcAft>
                <a:spcPts val="0"/>
              </a:spcAft>
              <a:buClr>
                <a:schemeClr val="dk1"/>
              </a:buClr>
              <a:buSzPts val="2400"/>
              <a:buNone/>
            </a:pPr>
            <a:endParaRPr/>
          </a:p>
        </p:txBody>
      </p:sp>
      <p:sp>
        <p:nvSpPr>
          <p:cNvPr id="866" name="Google Shape;866;p68"/>
          <p:cNvSpPr txBox="1"/>
          <p:nvPr/>
        </p:nvSpPr>
        <p:spPr>
          <a:xfrm>
            <a:off x="6502400" y="584200"/>
            <a:ext cx="5588000" cy="5666760"/>
          </a:xfrm>
          <a:prstGeom prst="rect">
            <a:avLst/>
          </a:prstGeom>
          <a:noFill/>
          <a:ln>
            <a:noFill/>
          </a:ln>
        </p:spPr>
        <p:txBody>
          <a:bodyPr spcFirstLastPara="1" wrap="square" lIns="121900" tIns="60950" rIns="121900" bIns="60950" anchor="t" anchorCtr="0">
            <a:normAutofit lnSpcReduction="10000"/>
          </a:bodyPr>
          <a:lstStyle/>
          <a:p>
            <a:pPr marL="76198" marR="0" lvl="0" indent="0" algn="l" rtl="0">
              <a:spcBef>
                <a:spcPts val="0"/>
              </a:spcBef>
              <a:spcAft>
                <a:spcPts val="0"/>
              </a:spcAft>
              <a:buClr>
                <a:srgbClr val="000090"/>
              </a:buClr>
              <a:buSzPts val="2667"/>
              <a:buFont typeface="Arial"/>
              <a:buNone/>
            </a:pPr>
            <a:r>
              <a:rPr lang="en-US" sz="2667" b="1">
                <a:solidFill>
                  <a:srgbClr val="000090"/>
                </a:solidFill>
                <a:latin typeface="Calibri"/>
                <a:ea typeface="Calibri"/>
                <a:cs typeface="Calibri"/>
                <a:sym typeface="Calibri"/>
              </a:rPr>
              <a:t>     Example:    Y = A / B – (A –  C * B)</a:t>
            </a:r>
            <a:endParaRPr/>
          </a:p>
          <a:p>
            <a:pPr marL="609585" marR="0" lvl="1" indent="0" algn="l" rtl="0">
              <a:spcBef>
                <a:spcPts val="16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DIV     D,A,B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MUL   E,C,B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    E,A,E</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    Y,D,E</a:t>
            </a:r>
            <a:endParaRPr/>
          </a:p>
          <a:p>
            <a:pPr marL="609585" marR="0" lvl="1" indent="0" algn="l" rtl="0">
              <a:spcBef>
                <a:spcPts val="48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MOV   D,A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DIV      D,B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MOV   E,C</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MUL   E,B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    A,E</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    D,A</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MOV  Y,D</a:t>
            </a:r>
            <a:endParaRPr sz="2400" b="0" i="0" u="none" strike="noStrike" cap="none">
              <a:solidFill>
                <a:schemeClr val="dk1"/>
              </a:solidFill>
              <a:latin typeface="Calibri"/>
              <a:ea typeface="Calibri"/>
              <a:cs typeface="Calibri"/>
              <a:sym typeface="Calibri"/>
            </a:endParaRPr>
          </a:p>
        </p:txBody>
      </p:sp>
      <p:sp>
        <p:nvSpPr>
          <p:cNvPr id="867" name="Google Shape;867;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5">
                                            <p:txEl>
                                              <p:pRg st="0" end="0"/>
                                            </p:txEl>
                                          </p:spTgt>
                                        </p:tgtEl>
                                        <p:attrNameLst>
                                          <p:attrName>style.visibility</p:attrName>
                                        </p:attrNameLst>
                                      </p:cBhvr>
                                      <p:to>
                                        <p:strVal val="visible"/>
                                      </p:to>
                                    </p:set>
                                    <p:animEffect transition="in" filter="fade">
                                      <p:cBhvr>
                                        <p:cTn id="7" dur="500"/>
                                        <p:tgtEl>
                                          <p:spTgt spid="8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65">
                                            <p:txEl>
                                              <p:pRg st="1" end="1"/>
                                            </p:txEl>
                                          </p:spTgt>
                                        </p:tgtEl>
                                        <p:attrNameLst>
                                          <p:attrName>style.visibility</p:attrName>
                                        </p:attrNameLst>
                                      </p:cBhvr>
                                      <p:to>
                                        <p:strVal val="visible"/>
                                      </p:to>
                                    </p:set>
                                    <p:animEffect transition="in" filter="fade">
                                      <p:cBhvr>
                                        <p:cTn id="12" dur="500"/>
                                        <p:tgtEl>
                                          <p:spTgt spid="86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65">
                                            <p:txEl>
                                              <p:pRg st="2" end="2"/>
                                            </p:txEl>
                                          </p:spTgt>
                                        </p:tgtEl>
                                        <p:attrNameLst>
                                          <p:attrName>style.visibility</p:attrName>
                                        </p:attrNameLst>
                                      </p:cBhvr>
                                      <p:to>
                                        <p:strVal val="visible"/>
                                      </p:to>
                                    </p:set>
                                    <p:animEffect transition="in" filter="fade">
                                      <p:cBhvr>
                                        <p:cTn id="17" dur="500"/>
                                        <p:tgtEl>
                                          <p:spTgt spid="86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65">
                                            <p:txEl>
                                              <p:pRg st="3" end="3"/>
                                            </p:txEl>
                                          </p:spTgt>
                                        </p:tgtEl>
                                        <p:attrNameLst>
                                          <p:attrName>style.visibility</p:attrName>
                                        </p:attrNameLst>
                                      </p:cBhvr>
                                      <p:to>
                                        <p:strVal val="visible"/>
                                      </p:to>
                                    </p:set>
                                    <p:animEffect transition="in" filter="fade">
                                      <p:cBhvr>
                                        <p:cTn id="22" dur="500"/>
                                        <p:tgtEl>
                                          <p:spTgt spid="86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65">
                                            <p:txEl>
                                              <p:pRg st="4" end="4"/>
                                            </p:txEl>
                                          </p:spTgt>
                                        </p:tgtEl>
                                        <p:attrNameLst>
                                          <p:attrName>style.visibility</p:attrName>
                                        </p:attrNameLst>
                                      </p:cBhvr>
                                      <p:to>
                                        <p:strVal val="visible"/>
                                      </p:to>
                                    </p:set>
                                    <p:animEffect transition="in" filter="fade">
                                      <p:cBhvr>
                                        <p:cTn id="27" dur="500"/>
                                        <p:tgtEl>
                                          <p:spTgt spid="86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65">
                                            <p:txEl>
                                              <p:pRg st="5" end="5"/>
                                            </p:txEl>
                                          </p:spTgt>
                                        </p:tgtEl>
                                        <p:attrNameLst>
                                          <p:attrName>style.visibility</p:attrName>
                                        </p:attrNameLst>
                                      </p:cBhvr>
                                      <p:to>
                                        <p:strVal val="visible"/>
                                      </p:to>
                                    </p:set>
                                    <p:animEffect transition="in" filter="fade">
                                      <p:cBhvr>
                                        <p:cTn id="32" dur="500"/>
                                        <p:tgtEl>
                                          <p:spTgt spid="86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65">
                                            <p:txEl>
                                              <p:pRg st="6" end="6"/>
                                            </p:txEl>
                                          </p:spTgt>
                                        </p:tgtEl>
                                        <p:attrNameLst>
                                          <p:attrName>style.visibility</p:attrName>
                                        </p:attrNameLst>
                                      </p:cBhvr>
                                      <p:to>
                                        <p:strVal val="visible"/>
                                      </p:to>
                                    </p:set>
                                    <p:animEffect transition="in" filter="fade">
                                      <p:cBhvr>
                                        <p:cTn id="37" dur="500"/>
                                        <p:tgtEl>
                                          <p:spTgt spid="86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65">
                                            <p:txEl>
                                              <p:pRg st="7" end="7"/>
                                            </p:txEl>
                                          </p:spTgt>
                                        </p:tgtEl>
                                        <p:attrNameLst>
                                          <p:attrName>style.visibility</p:attrName>
                                        </p:attrNameLst>
                                      </p:cBhvr>
                                      <p:to>
                                        <p:strVal val="visible"/>
                                      </p:to>
                                    </p:set>
                                    <p:animEffect transition="in" filter="fade">
                                      <p:cBhvr>
                                        <p:cTn id="42" dur="500"/>
                                        <p:tgtEl>
                                          <p:spTgt spid="86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65">
                                            <p:txEl>
                                              <p:pRg st="8" end="8"/>
                                            </p:txEl>
                                          </p:spTgt>
                                        </p:tgtEl>
                                        <p:attrNameLst>
                                          <p:attrName>style.visibility</p:attrName>
                                        </p:attrNameLst>
                                      </p:cBhvr>
                                      <p:to>
                                        <p:strVal val="visible"/>
                                      </p:to>
                                    </p:set>
                                    <p:animEffect transition="in" filter="fade">
                                      <p:cBhvr>
                                        <p:cTn id="47" dur="500"/>
                                        <p:tgtEl>
                                          <p:spTgt spid="86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65">
                                            <p:txEl>
                                              <p:pRg st="9" end="9"/>
                                            </p:txEl>
                                          </p:spTgt>
                                        </p:tgtEl>
                                        <p:attrNameLst>
                                          <p:attrName>style.visibility</p:attrName>
                                        </p:attrNameLst>
                                      </p:cBhvr>
                                      <p:to>
                                        <p:strVal val="visible"/>
                                      </p:to>
                                    </p:set>
                                    <p:animEffect transition="in" filter="fade">
                                      <p:cBhvr>
                                        <p:cTn id="52" dur="500"/>
                                        <p:tgtEl>
                                          <p:spTgt spid="86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66">
                                            <p:txEl>
                                              <p:pRg st="0" end="0"/>
                                            </p:txEl>
                                          </p:spTgt>
                                        </p:tgtEl>
                                        <p:attrNameLst>
                                          <p:attrName>style.visibility</p:attrName>
                                        </p:attrNameLst>
                                      </p:cBhvr>
                                      <p:to>
                                        <p:strVal val="visible"/>
                                      </p:to>
                                    </p:set>
                                    <p:animEffect transition="in" filter="fade">
                                      <p:cBhvr>
                                        <p:cTn id="57" dur="500"/>
                                        <p:tgtEl>
                                          <p:spTgt spid="866">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866">
                                            <p:txEl>
                                              <p:pRg st="1" end="1"/>
                                            </p:txEl>
                                          </p:spTgt>
                                        </p:tgtEl>
                                        <p:attrNameLst>
                                          <p:attrName>style.visibility</p:attrName>
                                        </p:attrNameLst>
                                      </p:cBhvr>
                                      <p:to>
                                        <p:strVal val="visible"/>
                                      </p:to>
                                    </p:set>
                                    <p:animEffect transition="in" filter="fade">
                                      <p:cBhvr>
                                        <p:cTn id="62" dur="500"/>
                                        <p:tgtEl>
                                          <p:spTgt spid="866">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866">
                                            <p:txEl>
                                              <p:pRg st="2" end="2"/>
                                            </p:txEl>
                                          </p:spTgt>
                                        </p:tgtEl>
                                        <p:attrNameLst>
                                          <p:attrName>style.visibility</p:attrName>
                                        </p:attrNameLst>
                                      </p:cBhvr>
                                      <p:to>
                                        <p:strVal val="visible"/>
                                      </p:to>
                                    </p:set>
                                    <p:animEffect transition="in" filter="fade">
                                      <p:cBhvr>
                                        <p:cTn id="67" dur="500"/>
                                        <p:tgtEl>
                                          <p:spTgt spid="866">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866">
                                            <p:txEl>
                                              <p:pRg st="3" end="3"/>
                                            </p:txEl>
                                          </p:spTgt>
                                        </p:tgtEl>
                                        <p:attrNameLst>
                                          <p:attrName>style.visibility</p:attrName>
                                        </p:attrNameLst>
                                      </p:cBhvr>
                                      <p:to>
                                        <p:strVal val="visible"/>
                                      </p:to>
                                    </p:set>
                                    <p:animEffect transition="in" filter="fade">
                                      <p:cBhvr>
                                        <p:cTn id="72" dur="500"/>
                                        <p:tgtEl>
                                          <p:spTgt spid="866">
                                            <p:txEl>
                                              <p:pRg st="3" end="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866">
                                            <p:txEl>
                                              <p:pRg st="4" end="4"/>
                                            </p:txEl>
                                          </p:spTgt>
                                        </p:tgtEl>
                                        <p:attrNameLst>
                                          <p:attrName>style.visibility</p:attrName>
                                        </p:attrNameLst>
                                      </p:cBhvr>
                                      <p:to>
                                        <p:strVal val="visible"/>
                                      </p:to>
                                    </p:set>
                                    <p:animEffect transition="in" filter="fade">
                                      <p:cBhvr>
                                        <p:cTn id="77" dur="500"/>
                                        <p:tgtEl>
                                          <p:spTgt spid="866">
                                            <p:txEl>
                                              <p:pRg st="4" end="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866">
                                            <p:txEl>
                                              <p:pRg st="5" end="5"/>
                                            </p:txEl>
                                          </p:spTgt>
                                        </p:tgtEl>
                                        <p:attrNameLst>
                                          <p:attrName>style.visibility</p:attrName>
                                        </p:attrNameLst>
                                      </p:cBhvr>
                                      <p:to>
                                        <p:strVal val="visible"/>
                                      </p:to>
                                    </p:set>
                                    <p:animEffect transition="in" filter="fade">
                                      <p:cBhvr>
                                        <p:cTn id="82" dur="500"/>
                                        <p:tgtEl>
                                          <p:spTgt spid="866">
                                            <p:txEl>
                                              <p:pRg st="5" end="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866">
                                            <p:txEl>
                                              <p:pRg st="6" end="6"/>
                                            </p:txEl>
                                          </p:spTgt>
                                        </p:tgtEl>
                                        <p:attrNameLst>
                                          <p:attrName>style.visibility</p:attrName>
                                        </p:attrNameLst>
                                      </p:cBhvr>
                                      <p:to>
                                        <p:strVal val="visible"/>
                                      </p:to>
                                    </p:set>
                                    <p:animEffect transition="in" filter="fade">
                                      <p:cBhvr>
                                        <p:cTn id="87" dur="500"/>
                                        <p:tgtEl>
                                          <p:spTgt spid="866">
                                            <p:txEl>
                                              <p:pRg st="6" end="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866">
                                            <p:txEl>
                                              <p:pRg st="7" end="7"/>
                                            </p:txEl>
                                          </p:spTgt>
                                        </p:tgtEl>
                                        <p:attrNameLst>
                                          <p:attrName>style.visibility</p:attrName>
                                        </p:attrNameLst>
                                      </p:cBhvr>
                                      <p:to>
                                        <p:strVal val="visible"/>
                                      </p:to>
                                    </p:set>
                                    <p:animEffect transition="in" filter="fade">
                                      <p:cBhvr>
                                        <p:cTn id="92" dur="500"/>
                                        <p:tgtEl>
                                          <p:spTgt spid="866">
                                            <p:txEl>
                                              <p:pRg st="7" end="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866">
                                            <p:txEl>
                                              <p:pRg st="8" end="8"/>
                                            </p:txEl>
                                          </p:spTgt>
                                        </p:tgtEl>
                                        <p:attrNameLst>
                                          <p:attrName>style.visibility</p:attrName>
                                        </p:attrNameLst>
                                      </p:cBhvr>
                                      <p:to>
                                        <p:strVal val="visible"/>
                                      </p:to>
                                    </p:set>
                                    <p:animEffect transition="in" filter="fade">
                                      <p:cBhvr>
                                        <p:cTn id="97" dur="500"/>
                                        <p:tgtEl>
                                          <p:spTgt spid="866">
                                            <p:txEl>
                                              <p:pRg st="8" end="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866">
                                            <p:txEl>
                                              <p:pRg st="9" end="9"/>
                                            </p:txEl>
                                          </p:spTgt>
                                        </p:tgtEl>
                                        <p:attrNameLst>
                                          <p:attrName>style.visibility</p:attrName>
                                        </p:attrNameLst>
                                      </p:cBhvr>
                                      <p:to>
                                        <p:strVal val="visible"/>
                                      </p:to>
                                    </p:set>
                                    <p:animEffect transition="in" filter="fade">
                                      <p:cBhvr>
                                        <p:cTn id="102" dur="500"/>
                                        <p:tgtEl>
                                          <p:spTgt spid="866">
                                            <p:txEl>
                                              <p:pRg st="9" end="9"/>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866">
                                            <p:txEl>
                                              <p:pRg st="10" end="10"/>
                                            </p:txEl>
                                          </p:spTgt>
                                        </p:tgtEl>
                                        <p:attrNameLst>
                                          <p:attrName>style.visibility</p:attrName>
                                        </p:attrNameLst>
                                      </p:cBhvr>
                                      <p:to>
                                        <p:strVal val="visible"/>
                                      </p:to>
                                    </p:set>
                                    <p:animEffect transition="in" filter="fade">
                                      <p:cBhvr>
                                        <p:cTn id="107" dur="500"/>
                                        <p:tgtEl>
                                          <p:spTgt spid="866">
                                            <p:txEl>
                                              <p:pRg st="10" end="1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866">
                                            <p:txEl>
                                              <p:pRg st="11" end="11"/>
                                            </p:txEl>
                                          </p:spTgt>
                                        </p:tgtEl>
                                        <p:attrNameLst>
                                          <p:attrName>style.visibility</p:attrName>
                                        </p:attrNameLst>
                                      </p:cBhvr>
                                      <p:to>
                                        <p:strVal val="visible"/>
                                      </p:to>
                                    </p:set>
                                    <p:animEffect transition="in" filter="fade">
                                      <p:cBhvr>
                                        <p:cTn id="112" dur="500"/>
                                        <p:tgtEl>
                                          <p:spTgt spid="866">
                                            <p:txEl>
                                              <p:pRg st="11" end="11"/>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866">
                                            <p:txEl>
                                              <p:pRg st="12" end="12"/>
                                            </p:txEl>
                                          </p:spTgt>
                                        </p:tgtEl>
                                        <p:attrNameLst>
                                          <p:attrName>style.visibility</p:attrName>
                                        </p:attrNameLst>
                                      </p:cBhvr>
                                      <p:to>
                                        <p:strVal val="visible"/>
                                      </p:to>
                                    </p:set>
                                    <p:animEffect transition="in" filter="fade">
                                      <p:cBhvr>
                                        <p:cTn id="117" dur="500"/>
                                        <p:tgtEl>
                                          <p:spTgt spid="86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69"/>
          <p:cNvSpPr txBox="1">
            <a:spLocks noGrp="1"/>
          </p:cNvSpPr>
          <p:nvPr>
            <p:ph type="title"/>
          </p:nvPr>
        </p:nvSpPr>
        <p:spPr>
          <a:xfrm>
            <a:off x="133684" y="381000"/>
            <a:ext cx="6876716" cy="81280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(d) Load-Store Architecture</a:t>
            </a:r>
            <a:endParaRPr/>
          </a:p>
        </p:txBody>
      </p:sp>
      <p:sp>
        <p:nvSpPr>
          <p:cNvPr id="873" name="Google Shape;873;p69"/>
          <p:cNvSpPr txBox="1">
            <a:spLocks noGrp="1"/>
          </p:cNvSpPr>
          <p:nvPr>
            <p:ph type="body" idx="1"/>
          </p:nvPr>
        </p:nvSpPr>
        <p:spPr>
          <a:xfrm>
            <a:off x="609600" y="1600202"/>
            <a:ext cx="5283200" cy="4267199"/>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Typical instructions:</a:t>
            </a:r>
            <a:endParaRPr/>
          </a:p>
          <a:p>
            <a:pPr marL="609585" lvl="1" indent="0" algn="l" rtl="0">
              <a:lnSpc>
                <a:spcPct val="110000"/>
              </a:lnSpc>
              <a:spcBef>
                <a:spcPts val="600"/>
              </a:spcBef>
              <a:spcAft>
                <a:spcPts val="0"/>
              </a:spcAft>
              <a:buClr>
                <a:schemeClr val="dk1"/>
              </a:buClr>
              <a:buSzPts val="2400"/>
              <a:buNone/>
            </a:pPr>
            <a:r>
              <a:rPr lang="en-US"/>
              <a:t>  LOAD    R1,X</a:t>
            </a:r>
            <a:endParaRPr/>
          </a:p>
          <a:p>
            <a:pPr marL="609585" lvl="1" indent="0" algn="l" rtl="0">
              <a:lnSpc>
                <a:spcPct val="110000"/>
              </a:lnSpc>
              <a:spcBef>
                <a:spcPts val="600"/>
              </a:spcBef>
              <a:spcAft>
                <a:spcPts val="0"/>
              </a:spcAft>
              <a:buClr>
                <a:schemeClr val="dk1"/>
              </a:buClr>
              <a:buSzPts val="2400"/>
              <a:buNone/>
            </a:pPr>
            <a:r>
              <a:rPr lang="en-US"/>
              <a:t>  STORE   Y,R2</a:t>
            </a:r>
            <a:endParaRPr/>
          </a:p>
          <a:p>
            <a:pPr marL="609585" lvl="1" indent="0" algn="l" rtl="0">
              <a:lnSpc>
                <a:spcPct val="110000"/>
              </a:lnSpc>
              <a:spcBef>
                <a:spcPts val="600"/>
              </a:spcBef>
              <a:spcAft>
                <a:spcPts val="0"/>
              </a:spcAft>
              <a:buClr>
                <a:schemeClr val="dk1"/>
              </a:buClr>
              <a:buSzPts val="2400"/>
              <a:buNone/>
            </a:pPr>
            <a:r>
              <a:rPr lang="en-US"/>
              <a:t>  ADD       R1,R2,R3</a:t>
            </a:r>
            <a:endParaRPr/>
          </a:p>
          <a:p>
            <a:pPr marL="609585" lvl="1" indent="0" algn="l" rtl="0">
              <a:lnSpc>
                <a:spcPct val="110000"/>
              </a:lnSpc>
              <a:spcBef>
                <a:spcPts val="600"/>
              </a:spcBef>
              <a:spcAft>
                <a:spcPts val="0"/>
              </a:spcAft>
              <a:buClr>
                <a:schemeClr val="dk1"/>
              </a:buClr>
              <a:buSzPts val="2400"/>
              <a:buNone/>
            </a:pPr>
            <a:r>
              <a:rPr lang="en-US"/>
              <a:t>  SUB        R1,R2,R3</a:t>
            </a:r>
            <a:endParaRPr/>
          </a:p>
        </p:txBody>
      </p:sp>
      <p:sp>
        <p:nvSpPr>
          <p:cNvPr id="874" name="Google Shape;874;p69"/>
          <p:cNvSpPr txBox="1"/>
          <p:nvPr/>
        </p:nvSpPr>
        <p:spPr>
          <a:xfrm>
            <a:off x="6502400" y="584200"/>
            <a:ext cx="5588000" cy="5283200"/>
          </a:xfrm>
          <a:prstGeom prst="rect">
            <a:avLst/>
          </a:prstGeom>
          <a:noFill/>
          <a:ln>
            <a:noFill/>
          </a:ln>
        </p:spPr>
        <p:txBody>
          <a:bodyPr spcFirstLastPara="1" wrap="square" lIns="121900" tIns="60950" rIns="121900" bIns="60950" anchor="t" anchorCtr="0">
            <a:normAutofit/>
          </a:bodyPr>
          <a:lstStyle/>
          <a:p>
            <a:pPr marL="76198" marR="0" lvl="0" indent="0" algn="l" rtl="0">
              <a:spcBef>
                <a:spcPts val="0"/>
              </a:spcBef>
              <a:spcAft>
                <a:spcPts val="0"/>
              </a:spcAft>
              <a:buClr>
                <a:srgbClr val="000090"/>
              </a:buClr>
              <a:buSzPts val="2667"/>
              <a:buFont typeface="Arial"/>
              <a:buNone/>
            </a:pPr>
            <a:r>
              <a:rPr lang="en-US" sz="2667" b="1">
                <a:solidFill>
                  <a:srgbClr val="000090"/>
                </a:solidFill>
                <a:latin typeface="Calibri"/>
                <a:ea typeface="Calibri"/>
                <a:cs typeface="Calibri"/>
                <a:sym typeface="Calibri"/>
              </a:rPr>
              <a:t>     Example:    Y = A / B – (A –  C * B)</a:t>
            </a:r>
            <a:endParaRPr/>
          </a:p>
          <a:p>
            <a:pPr marL="609585" marR="0" lvl="1" indent="0" algn="l" rtl="0">
              <a:spcBef>
                <a:spcPts val="16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LOAD    R1,A	</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LOAD    R2,B</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LOAD    R3,C</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DIV        R4,R1,R2</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MUL      R5,R3,R2</a:t>
            </a:r>
            <a:endParaRPr/>
          </a:p>
          <a:p>
            <a:pPr marL="609585" marR="0" lvl="1" indent="0" algn="l" rtl="0">
              <a:spcBef>
                <a:spcPts val="48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SUB       R5,R1,R5</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SUB       R4,R4,R5</a:t>
            </a:r>
            <a:endParaRPr/>
          </a:p>
          <a:p>
            <a:pPr marL="609585" marR="0" lvl="1" indent="0" algn="l" rtl="0">
              <a:spcBef>
                <a:spcPts val="480"/>
              </a:spcBef>
              <a:spcAft>
                <a:spcPts val="0"/>
              </a:spcAft>
              <a:buClr>
                <a:srgbClr val="0C0C0C"/>
              </a:buClr>
              <a:buSzPts val="2400"/>
              <a:buFont typeface="Arial"/>
              <a:buNone/>
            </a:pPr>
            <a:r>
              <a:rPr lang="en-US" sz="2400" b="0" i="0" u="none" strike="noStrike" cap="none">
                <a:solidFill>
                  <a:srgbClr val="0C0C0C"/>
                </a:solidFill>
                <a:latin typeface="Calibri"/>
                <a:ea typeface="Calibri"/>
                <a:cs typeface="Calibri"/>
                <a:sym typeface="Calibri"/>
              </a:rPr>
              <a:t>STORE   Y,R4</a:t>
            </a:r>
            <a:endParaRPr/>
          </a:p>
        </p:txBody>
      </p:sp>
      <p:sp>
        <p:nvSpPr>
          <p:cNvPr id="875" name="Google Shape;875;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Registers: Pros and Cons</a:t>
            </a:r>
            <a:endParaRPr/>
          </a:p>
        </p:txBody>
      </p:sp>
      <p:sp>
        <p:nvSpPr>
          <p:cNvPr id="881" name="Google Shape;881;p7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The load-store architecture forms the basis of RISC ISA.</a:t>
            </a:r>
            <a:endParaRPr/>
          </a:p>
          <a:p>
            <a:pPr marL="685800" lvl="1" indent="-228600" algn="l" rtl="0">
              <a:lnSpc>
                <a:spcPct val="110000"/>
              </a:lnSpc>
              <a:spcBef>
                <a:spcPts val="600"/>
              </a:spcBef>
              <a:spcAft>
                <a:spcPts val="0"/>
              </a:spcAft>
              <a:buClr>
                <a:schemeClr val="dk1"/>
              </a:buClr>
              <a:buSzPts val="2400"/>
              <a:buChar char="•"/>
            </a:pPr>
            <a:r>
              <a:rPr lang="en-US"/>
              <a:t>We shall explore one such RISC ISA, viz. MIPS32.</a:t>
            </a:r>
            <a:endParaRPr/>
          </a:p>
          <a:p>
            <a:pPr marL="228600" lvl="0" indent="-228600" algn="l" rtl="0">
              <a:lnSpc>
                <a:spcPct val="110000"/>
              </a:lnSpc>
              <a:spcBef>
                <a:spcPts val="1200"/>
              </a:spcBef>
              <a:spcAft>
                <a:spcPts val="0"/>
              </a:spcAft>
              <a:buClr>
                <a:schemeClr val="dk1"/>
              </a:buClr>
              <a:buSzPts val="2800"/>
              <a:buChar char="•"/>
            </a:pPr>
            <a:r>
              <a:rPr lang="en-US"/>
              <a:t>Helps in reducing memory traffic once the memory data are loaded into the registers.</a:t>
            </a:r>
            <a:endParaRPr/>
          </a:p>
          <a:p>
            <a:pPr marL="228600" lvl="0" indent="-228600" algn="l" rtl="0">
              <a:lnSpc>
                <a:spcPct val="110000"/>
              </a:lnSpc>
              <a:spcBef>
                <a:spcPts val="1200"/>
              </a:spcBef>
              <a:spcAft>
                <a:spcPts val="0"/>
              </a:spcAft>
              <a:buClr>
                <a:schemeClr val="dk1"/>
              </a:buClr>
              <a:buSzPts val="2800"/>
              <a:buChar char="•"/>
            </a:pPr>
            <a:r>
              <a:rPr lang="en-US"/>
              <a:t>Compiler can generate very efficient code.</a:t>
            </a:r>
            <a:endParaRPr/>
          </a:p>
          <a:p>
            <a:pPr marL="228600" lvl="0" indent="-228600" algn="l" rtl="0">
              <a:lnSpc>
                <a:spcPct val="110000"/>
              </a:lnSpc>
              <a:spcBef>
                <a:spcPts val="1200"/>
              </a:spcBef>
              <a:spcAft>
                <a:spcPts val="0"/>
              </a:spcAft>
              <a:buClr>
                <a:schemeClr val="dk1"/>
              </a:buClr>
              <a:buSzPts val="2800"/>
              <a:buChar char="•"/>
            </a:pPr>
            <a:r>
              <a:rPr lang="en-US"/>
              <a:t>Additional overhead for save/restore during procedure or interrupt calls and returns.</a:t>
            </a:r>
            <a:endParaRPr/>
          </a:p>
          <a:p>
            <a:pPr marL="685800" lvl="1" indent="-228600" algn="l" rtl="0">
              <a:lnSpc>
                <a:spcPct val="110000"/>
              </a:lnSpc>
              <a:spcBef>
                <a:spcPts val="600"/>
              </a:spcBef>
              <a:spcAft>
                <a:spcPts val="0"/>
              </a:spcAft>
              <a:buClr>
                <a:schemeClr val="dk1"/>
              </a:buClr>
              <a:buSzPts val="2400"/>
              <a:buChar char="•"/>
            </a:pPr>
            <a:r>
              <a:rPr lang="en-US"/>
              <a:t>Many registers to save and restore.</a:t>
            </a:r>
            <a:endParaRPr/>
          </a:p>
        </p:txBody>
      </p:sp>
      <p:sp>
        <p:nvSpPr>
          <p:cNvPr id="882" name="Google Shape;882;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p7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000"/>
              <a:buFont typeface="Calibri"/>
              <a:buNone/>
            </a:pPr>
            <a:r>
              <a:rPr lang="en-US"/>
              <a:t>INSTRUCTION FORMAT AND ADDRESSING MODES</a:t>
            </a:r>
            <a:endParaRPr/>
          </a:p>
        </p:txBody>
      </p:sp>
      <p:sp>
        <p:nvSpPr>
          <p:cNvPr id="888" name="Google Shape;888;p7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110000"/>
              </a:lnSpc>
              <a:spcBef>
                <a:spcPts val="0"/>
              </a:spcBef>
              <a:spcAft>
                <a:spcPts val="0"/>
              </a:spcAft>
              <a:buClr>
                <a:schemeClr val="dk1"/>
              </a:buClr>
              <a:buSzPts val="2400"/>
              <a:buNone/>
            </a:pPr>
            <a:endParaRPr/>
          </a:p>
        </p:txBody>
      </p:sp>
      <p:sp>
        <p:nvSpPr>
          <p:cNvPr id="889" name="Google Shape;889;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7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Instruction Format</a:t>
            </a:r>
            <a:endParaRPr/>
          </a:p>
        </p:txBody>
      </p:sp>
      <p:sp>
        <p:nvSpPr>
          <p:cNvPr id="895" name="Google Shape;895;p7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An instruction consists of two parts:-</a:t>
            </a:r>
            <a:endParaRPr/>
          </a:p>
          <a:p>
            <a:pPr marL="685800" lvl="1" indent="-228600" algn="l" rtl="0">
              <a:lnSpc>
                <a:spcPct val="110000"/>
              </a:lnSpc>
              <a:spcBef>
                <a:spcPts val="600"/>
              </a:spcBef>
              <a:spcAft>
                <a:spcPts val="0"/>
              </a:spcAft>
              <a:buClr>
                <a:srgbClr val="800000"/>
              </a:buClr>
              <a:buSzPts val="2400"/>
              <a:buChar char="•"/>
            </a:pPr>
            <a:r>
              <a:rPr lang="en-US" i="1">
                <a:solidFill>
                  <a:srgbClr val="800000"/>
                </a:solidFill>
              </a:rPr>
              <a:t>Operation Code or Opcode</a:t>
            </a:r>
            <a:endParaRPr i="1">
              <a:solidFill>
                <a:srgbClr val="800000"/>
              </a:solidFill>
            </a:endParaRPr>
          </a:p>
          <a:p>
            <a:pPr marL="1143000" lvl="2" indent="-228600" algn="l" rtl="0">
              <a:lnSpc>
                <a:spcPct val="110000"/>
              </a:lnSpc>
              <a:spcBef>
                <a:spcPts val="600"/>
              </a:spcBef>
              <a:spcAft>
                <a:spcPts val="0"/>
              </a:spcAft>
              <a:buClr>
                <a:schemeClr val="dk1"/>
              </a:buClr>
              <a:buSzPts val="2000"/>
              <a:buChar char="•"/>
            </a:pPr>
            <a:r>
              <a:rPr lang="en-US"/>
              <a:t>Specifies the operation to be performed by the instruction.</a:t>
            </a:r>
            <a:endParaRPr/>
          </a:p>
          <a:p>
            <a:pPr marL="1143000" lvl="2" indent="-228600" algn="l" rtl="0">
              <a:lnSpc>
                <a:spcPct val="110000"/>
              </a:lnSpc>
              <a:spcBef>
                <a:spcPts val="600"/>
              </a:spcBef>
              <a:spcAft>
                <a:spcPts val="0"/>
              </a:spcAft>
              <a:buClr>
                <a:schemeClr val="dk1"/>
              </a:buClr>
              <a:buSzPts val="2000"/>
              <a:buChar char="•"/>
            </a:pPr>
            <a:r>
              <a:rPr lang="en-US"/>
              <a:t>Various categories of instructions: data transfer, arithmetic and logical, control, I/O and special machine control.</a:t>
            </a:r>
            <a:endParaRPr/>
          </a:p>
          <a:p>
            <a:pPr marL="685800" lvl="1" indent="-228600" algn="l" rtl="0">
              <a:lnSpc>
                <a:spcPct val="110000"/>
              </a:lnSpc>
              <a:spcBef>
                <a:spcPts val="600"/>
              </a:spcBef>
              <a:spcAft>
                <a:spcPts val="0"/>
              </a:spcAft>
              <a:buClr>
                <a:srgbClr val="800000"/>
              </a:buClr>
              <a:buSzPts val="2400"/>
              <a:buChar char="•"/>
            </a:pPr>
            <a:r>
              <a:rPr lang="en-US" i="1">
                <a:solidFill>
                  <a:srgbClr val="800000"/>
                </a:solidFill>
              </a:rPr>
              <a:t>Operand(s)</a:t>
            </a:r>
            <a:endParaRPr/>
          </a:p>
          <a:p>
            <a:pPr marL="1143000" lvl="2" indent="-228600" algn="l" rtl="0">
              <a:lnSpc>
                <a:spcPct val="110000"/>
              </a:lnSpc>
              <a:spcBef>
                <a:spcPts val="600"/>
              </a:spcBef>
              <a:spcAft>
                <a:spcPts val="0"/>
              </a:spcAft>
              <a:buClr>
                <a:schemeClr val="dk1"/>
              </a:buClr>
              <a:buSzPts val="2000"/>
              <a:buChar char="•"/>
            </a:pPr>
            <a:r>
              <a:rPr lang="en-US"/>
              <a:t>Specifies the source(s) and destination of the operation.</a:t>
            </a:r>
            <a:endParaRPr/>
          </a:p>
          <a:p>
            <a:pPr marL="1143000" lvl="2" indent="-228600" algn="l" rtl="0">
              <a:lnSpc>
                <a:spcPct val="110000"/>
              </a:lnSpc>
              <a:spcBef>
                <a:spcPts val="600"/>
              </a:spcBef>
              <a:spcAft>
                <a:spcPts val="0"/>
              </a:spcAft>
              <a:buClr>
                <a:schemeClr val="dk1"/>
              </a:buClr>
              <a:buSzPts val="2000"/>
              <a:buChar char="•"/>
            </a:pPr>
            <a:r>
              <a:rPr lang="en-US"/>
              <a:t>Source operand can be specified by an immediate data, by naming a register, or specifying the address of memory.</a:t>
            </a:r>
            <a:endParaRPr/>
          </a:p>
          <a:p>
            <a:pPr marL="1143000" lvl="2" indent="-228600" algn="l" rtl="0">
              <a:lnSpc>
                <a:spcPct val="110000"/>
              </a:lnSpc>
              <a:spcBef>
                <a:spcPts val="600"/>
              </a:spcBef>
              <a:spcAft>
                <a:spcPts val="0"/>
              </a:spcAft>
              <a:buClr>
                <a:schemeClr val="dk1"/>
              </a:buClr>
              <a:buSzPts val="2000"/>
              <a:buChar char="•"/>
            </a:pPr>
            <a:r>
              <a:rPr lang="en-US"/>
              <a:t>Destination can be specified by a register or memory address.</a:t>
            </a:r>
            <a:endParaRPr/>
          </a:p>
        </p:txBody>
      </p:sp>
      <p:sp>
        <p:nvSpPr>
          <p:cNvPr id="896" name="Google Shape;896;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sp>
        <p:nvSpPr>
          <p:cNvPr id="897" name="Google Shape;897;p72"/>
          <p:cNvSpPr/>
          <p:nvPr/>
        </p:nvSpPr>
        <p:spPr>
          <a:xfrm>
            <a:off x="7808960" y="1033906"/>
            <a:ext cx="35560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operand (s)</a:t>
            </a:r>
            <a:endParaRPr sz="2400">
              <a:solidFill>
                <a:schemeClr val="lt1"/>
              </a:solidFill>
              <a:latin typeface="Calibri"/>
              <a:ea typeface="Calibri"/>
              <a:cs typeface="Calibri"/>
              <a:sym typeface="Calibri"/>
            </a:endParaRPr>
          </a:p>
        </p:txBody>
      </p:sp>
      <p:sp>
        <p:nvSpPr>
          <p:cNvPr id="898" name="Google Shape;898;p72"/>
          <p:cNvSpPr/>
          <p:nvPr/>
        </p:nvSpPr>
        <p:spPr>
          <a:xfrm>
            <a:off x="6386560" y="1033906"/>
            <a:ext cx="14224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endParaRPr/>
          </a:p>
        </p:txBody>
      </p:sp>
      <p:sp>
        <p:nvSpPr>
          <p:cNvPr id="904" name="Google Shape;904;p7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Number of operands varies from instruction to instruction.</a:t>
            </a:r>
            <a:endParaRPr/>
          </a:p>
          <a:p>
            <a:pPr marL="228600" lvl="0" indent="-228600" algn="l" rtl="0">
              <a:lnSpc>
                <a:spcPct val="110000"/>
              </a:lnSpc>
              <a:spcBef>
                <a:spcPts val="600"/>
              </a:spcBef>
              <a:spcAft>
                <a:spcPts val="0"/>
              </a:spcAft>
              <a:buClr>
                <a:schemeClr val="dk1"/>
              </a:buClr>
              <a:buSzPts val="2800"/>
              <a:buChar char="•"/>
            </a:pPr>
            <a:r>
              <a:rPr lang="en-US"/>
              <a:t>Also for specifying an operand, various </a:t>
            </a:r>
            <a:r>
              <a:rPr lang="en-US" i="1">
                <a:solidFill>
                  <a:srgbClr val="800000"/>
                </a:solidFill>
              </a:rPr>
              <a:t>addressing modes </a:t>
            </a:r>
            <a:r>
              <a:rPr lang="en-US"/>
              <a:t>are possible:</a:t>
            </a:r>
            <a:endParaRPr/>
          </a:p>
          <a:p>
            <a:pPr marL="685800" lvl="1" indent="-228600" algn="l" rtl="0">
              <a:lnSpc>
                <a:spcPct val="110000"/>
              </a:lnSpc>
              <a:spcBef>
                <a:spcPts val="600"/>
              </a:spcBef>
              <a:spcAft>
                <a:spcPts val="0"/>
              </a:spcAft>
              <a:buClr>
                <a:schemeClr val="dk1"/>
              </a:buClr>
              <a:buSzPts val="2400"/>
              <a:buChar char="•"/>
            </a:pPr>
            <a:r>
              <a:rPr lang="en-US"/>
              <a:t>Immediate addressing</a:t>
            </a:r>
            <a:endParaRPr/>
          </a:p>
          <a:p>
            <a:pPr marL="685800" lvl="1" indent="-228600" algn="l" rtl="0">
              <a:lnSpc>
                <a:spcPct val="110000"/>
              </a:lnSpc>
              <a:spcBef>
                <a:spcPts val="600"/>
              </a:spcBef>
              <a:spcAft>
                <a:spcPts val="0"/>
              </a:spcAft>
              <a:buClr>
                <a:schemeClr val="dk1"/>
              </a:buClr>
              <a:buSzPts val="2400"/>
              <a:buChar char="•"/>
            </a:pPr>
            <a:r>
              <a:rPr lang="en-US"/>
              <a:t>Direct addressing</a:t>
            </a:r>
            <a:endParaRPr/>
          </a:p>
          <a:p>
            <a:pPr marL="685800" lvl="1" indent="-228600" algn="l" rtl="0">
              <a:lnSpc>
                <a:spcPct val="110000"/>
              </a:lnSpc>
              <a:spcBef>
                <a:spcPts val="600"/>
              </a:spcBef>
              <a:spcAft>
                <a:spcPts val="0"/>
              </a:spcAft>
              <a:buClr>
                <a:schemeClr val="dk1"/>
              </a:buClr>
              <a:buSzPts val="2400"/>
              <a:buChar char="•"/>
            </a:pPr>
            <a:r>
              <a:rPr lang="en-US"/>
              <a:t>Indirect addressing</a:t>
            </a:r>
            <a:endParaRPr/>
          </a:p>
          <a:p>
            <a:pPr marL="685800" lvl="1" indent="-228600" algn="l" rtl="0">
              <a:lnSpc>
                <a:spcPct val="110000"/>
              </a:lnSpc>
              <a:spcBef>
                <a:spcPts val="600"/>
              </a:spcBef>
              <a:spcAft>
                <a:spcPts val="0"/>
              </a:spcAft>
              <a:buClr>
                <a:schemeClr val="dk1"/>
              </a:buClr>
              <a:buSzPts val="2400"/>
              <a:buChar char="•"/>
            </a:pPr>
            <a:r>
              <a:rPr lang="en-US"/>
              <a:t>Relative addressing</a:t>
            </a:r>
            <a:endParaRPr/>
          </a:p>
          <a:p>
            <a:pPr marL="685800" lvl="1" indent="-228600" algn="l" rtl="0">
              <a:lnSpc>
                <a:spcPct val="110000"/>
              </a:lnSpc>
              <a:spcBef>
                <a:spcPts val="600"/>
              </a:spcBef>
              <a:spcAft>
                <a:spcPts val="0"/>
              </a:spcAft>
              <a:buClr>
                <a:schemeClr val="dk1"/>
              </a:buClr>
              <a:buSzPts val="2400"/>
              <a:buChar char="•"/>
            </a:pPr>
            <a:r>
              <a:rPr lang="en-US"/>
              <a:t>Indexed addressing, and many more.</a:t>
            </a:r>
            <a:endParaRPr/>
          </a:p>
        </p:txBody>
      </p:sp>
      <p:sp>
        <p:nvSpPr>
          <p:cNvPr id="905" name="Google Shape;905;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74"/>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73</a:t>
            </a:fld>
            <a:endParaRPr/>
          </a:p>
        </p:txBody>
      </p:sp>
      <p:sp>
        <p:nvSpPr>
          <p:cNvPr id="911" name="Google Shape;911;p74"/>
          <p:cNvSpPr/>
          <p:nvPr/>
        </p:nvSpPr>
        <p:spPr>
          <a:xfrm>
            <a:off x="2032000" y="4038600"/>
            <a:ext cx="12192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register</a:t>
            </a:r>
            <a:endParaRPr/>
          </a:p>
        </p:txBody>
      </p:sp>
      <p:sp>
        <p:nvSpPr>
          <p:cNvPr id="912" name="Google Shape;912;p74"/>
          <p:cNvSpPr/>
          <p:nvPr/>
        </p:nvSpPr>
        <p:spPr>
          <a:xfrm>
            <a:off x="2032000" y="1295400"/>
            <a:ext cx="35560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913" name="Google Shape;913;p74"/>
          <p:cNvSpPr/>
          <p:nvPr/>
        </p:nvSpPr>
        <p:spPr>
          <a:xfrm>
            <a:off x="609600" y="1295400"/>
            <a:ext cx="14224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914" name="Google Shape;914;p74"/>
          <p:cNvSpPr/>
          <p:nvPr/>
        </p:nvSpPr>
        <p:spPr>
          <a:xfrm>
            <a:off x="609600" y="4953000"/>
            <a:ext cx="14224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915" name="Google Shape;915;p74"/>
          <p:cNvSpPr/>
          <p:nvPr/>
        </p:nvSpPr>
        <p:spPr>
          <a:xfrm>
            <a:off x="609600" y="4038600"/>
            <a:ext cx="14224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916" name="Google Shape;916;p74"/>
          <p:cNvSpPr/>
          <p:nvPr/>
        </p:nvSpPr>
        <p:spPr>
          <a:xfrm>
            <a:off x="609600" y="3124200"/>
            <a:ext cx="14224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917" name="Google Shape;917;p74"/>
          <p:cNvSpPr/>
          <p:nvPr/>
        </p:nvSpPr>
        <p:spPr>
          <a:xfrm>
            <a:off x="609600" y="2209800"/>
            <a:ext cx="14224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918" name="Google Shape;918;p74"/>
          <p:cNvSpPr/>
          <p:nvPr/>
        </p:nvSpPr>
        <p:spPr>
          <a:xfrm>
            <a:off x="2032000" y="2209800"/>
            <a:ext cx="35560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memory address</a:t>
            </a:r>
            <a:endParaRPr/>
          </a:p>
        </p:txBody>
      </p:sp>
      <p:sp>
        <p:nvSpPr>
          <p:cNvPr id="919" name="Google Shape;919;p74"/>
          <p:cNvSpPr/>
          <p:nvPr/>
        </p:nvSpPr>
        <p:spPr>
          <a:xfrm>
            <a:off x="5588000" y="3124200"/>
            <a:ext cx="35560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memory address</a:t>
            </a:r>
            <a:endParaRPr/>
          </a:p>
        </p:txBody>
      </p:sp>
      <p:sp>
        <p:nvSpPr>
          <p:cNvPr id="920" name="Google Shape;920;p74"/>
          <p:cNvSpPr/>
          <p:nvPr/>
        </p:nvSpPr>
        <p:spPr>
          <a:xfrm>
            <a:off x="2032000" y="3124200"/>
            <a:ext cx="35560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memory address</a:t>
            </a:r>
            <a:endParaRPr/>
          </a:p>
        </p:txBody>
      </p:sp>
      <p:sp>
        <p:nvSpPr>
          <p:cNvPr id="921" name="Google Shape;921;p74"/>
          <p:cNvSpPr/>
          <p:nvPr/>
        </p:nvSpPr>
        <p:spPr>
          <a:xfrm>
            <a:off x="3251200" y="4038600"/>
            <a:ext cx="35560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memory address</a:t>
            </a:r>
            <a:endParaRPr/>
          </a:p>
        </p:txBody>
      </p:sp>
      <p:sp>
        <p:nvSpPr>
          <p:cNvPr id="922" name="Google Shape;922;p74"/>
          <p:cNvSpPr/>
          <p:nvPr/>
        </p:nvSpPr>
        <p:spPr>
          <a:xfrm>
            <a:off x="2032000" y="4953000"/>
            <a:ext cx="12192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register</a:t>
            </a:r>
            <a:endParaRPr/>
          </a:p>
        </p:txBody>
      </p:sp>
      <p:sp>
        <p:nvSpPr>
          <p:cNvPr id="923" name="Google Shape;923;p74"/>
          <p:cNvSpPr/>
          <p:nvPr/>
        </p:nvSpPr>
        <p:spPr>
          <a:xfrm>
            <a:off x="3251200" y="4953000"/>
            <a:ext cx="12192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register</a:t>
            </a:r>
            <a:endParaRPr/>
          </a:p>
        </p:txBody>
      </p:sp>
      <p:sp>
        <p:nvSpPr>
          <p:cNvPr id="924" name="Google Shape;924;p74"/>
          <p:cNvSpPr/>
          <p:nvPr/>
        </p:nvSpPr>
        <p:spPr>
          <a:xfrm>
            <a:off x="4470400" y="4953000"/>
            <a:ext cx="1219200" cy="6096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register</a:t>
            </a:r>
            <a:endParaRPr/>
          </a:p>
        </p:txBody>
      </p:sp>
      <p:sp>
        <p:nvSpPr>
          <p:cNvPr id="925" name="Google Shape;925;p74"/>
          <p:cNvSpPr txBox="1"/>
          <p:nvPr/>
        </p:nvSpPr>
        <p:spPr>
          <a:xfrm>
            <a:off x="6299200" y="1310958"/>
            <a:ext cx="43688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Implied addressing:  NOP,  HALT</a:t>
            </a:r>
            <a:endParaRPr/>
          </a:p>
        </p:txBody>
      </p:sp>
      <p:sp>
        <p:nvSpPr>
          <p:cNvPr id="926" name="Google Shape;926;p74"/>
          <p:cNvSpPr txBox="1"/>
          <p:nvPr/>
        </p:nvSpPr>
        <p:spPr>
          <a:xfrm>
            <a:off x="6299200" y="2225358"/>
            <a:ext cx="43688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1-address:  ADD   X,   LOAD  M</a:t>
            </a:r>
            <a:endParaRPr/>
          </a:p>
        </p:txBody>
      </p:sp>
      <p:sp>
        <p:nvSpPr>
          <p:cNvPr id="927" name="Google Shape;927;p74"/>
          <p:cNvSpPr txBox="1"/>
          <p:nvPr/>
        </p:nvSpPr>
        <p:spPr>
          <a:xfrm>
            <a:off x="6908800" y="4054158"/>
            <a:ext cx="4978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Register-memory:  ADD   R1,X</a:t>
            </a:r>
            <a:endParaRPr/>
          </a:p>
        </p:txBody>
      </p:sp>
      <p:sp>
        <p:nvSpPr>
          <p:cNvPr id="928" name="Google Shape;928;p74"/>
          <p:cNvSpPr txBox="1"/>
          <p:nvPr/>
        </p:nvSpPr>
        <p:spPr>
          <a:xfrm>
            <a:off x="6908800" y="4968558"/>
            <a:ext cx="4978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Register-register:  ADD   R1,R2,R3</a:t>
            </a:r>
            <a:endParaRPr/>
          </a:p>
        </p:txBody>
      </p:sp>
      <p:sp>
        <p:nvSpPr>
          <p:cNvPr id="929" name="Google Shape;929;p74"/>
          <p:cNvSpPr txBox="1"/>
          <p:nvPr/>
        </p:nvSpPr>
        <p:spPr>
          <a:xfrm>
            <a:off x="9144000" y="3139758"/>
            <a:ext cx="28448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2-address:  ADD   X,Y</a:t>
            </a:r>
            <a:endParaRPr/>
          </a:p>
        </p:txBody>
      </p:sp>
      <p:sp>
        <p:nvSpPr>
          <p:cNvPr id="930" name="Google Shape;930;p74"/>
          <p:cNvSpPr txBox="1"/>
          <p:nvPr/>
        </p:nvSpPr>
        <p:spPr>
          <a:xfrm>
            <a:off x="508000" y="381001"/>
            <a:ext cx="6096000" cy="6667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733" b="1">
                <a:solidFill>
                  <a:schemeClr val="dk1"/>
                </a:solidFill>
                <a:latin typeface="Calibri"/>
                <a:ea typeface="Calibri"/>
                <a:cs typeface="Calibri"/>
                <a:sym typeface="Calibri"/>
              </a:rPr>
              <a:t>Instruction Format Examples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7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Addressing Modes</a:t>
            </a:r>
            <a:endParaRPr/>
          </a:p>
        </p:txBody>
      </p:sp>
      <p:sp>
        <p:nvSpPr>
          <p:cNvPr id="936" name="Google Shape;936;p7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110000"/>
              </a:lnSpc>
              <a:spcBef>
                <a:spcPts val="0"/>
              </a:spcBef>
              <a:spcAft>
                <a:spcPts val="0"/>
              </a:spcAft>
              <a:buClr>
                <a:schemeClr val="dk1"/>
              </a:buClr>
              <a:buSzPct val="100000"/>
              <a:buChar char="•"/>
            </a:pPr>
            <a:r>
              <a:rPr lang="en-US"/>
              <a:t>They specify the mechanism by which the operand data can be located.</a:t>
            </a:r>
            <a:endParaRPr/>
          </a:p>
          <a:p>
            <a:pPr marL="228600" lvl="0" indent="-228600" algn="l" rtl="0">
              <a:lnSpc>
                <a:spcPct val="110000"/>
              </a:lnSpc>
              <a:spcBef>
                <a:spcPts val="600"/>
              </a:spcBef>
              <a:spcAft>
                <a:spcPts val="0"/>
              </a:spcAft>
              <a:buClr>
                <a:schemeClr val="dk1"/>
              </a:buClr>
              <a:buSzPct val="100000"/>
              <a:buChar char="•"/>
            </a:pPr>
            <a:r>
              <a:rPr lang="en-US"/>
              <a:t>Some ISA’s are quite complex and supports many addressing modes.</a:t>
            </a:r>
            <a:endParaRPr/>
          </a:p>
          <a:p>
            <a:pPr marL="228600" lvl="0" indent="-228600" algn="l" rtl="0">
              <a:lnSpc>
                <a:spcPct val="110000"/>
              </a:lnSpc>
              <a:spcBef>
                <a:spcPts val="600"/>
              </a:spcBef>
              <a:spcAft>
                <a:spcPts val="0"/>
              </a:spcAft>
              <a:buClr>
                <a:schemeClr val="dk1"/>
              </a:buClr>
              <a:buSzPct val="100000"/>
              <a:buChar char="•"/>
            </a:pPr>
            <a:r>
              <a:rPr lang="en-US"/>
              <a:t>ISA’s based on load-store architecture are usually simple and support very limited number of addressing modes.</a:t>
            </a:r>
            <a:endParaRPr/>
          </a:p>
          <a:p>
            <a:pPr marL="228600" lvl="0" indent="-228600" algn="l" rtl="0">
              <a:lnSpc>
                <a:spcPct val="110000"/>
              </a:lnSpc>
              <a:spcBef>
                <a:spcPts val="600"/>
              </a:spcBef>
              <a:spcAft>
                <a:spcPts val="0"/>
              </a:spcAft>
              <a:buClr>
                <a:schemeClr val="dk1"/>
              </a:buClr>
              <a:buSzPct val="100000"/>
              <a:buChar char="•"/>
            </a:pPr>
            <a:r>
              <a:rPr lang="en-US"/>
              <a:t>Various addressing modes exist:</a:t>
            </a:r>
            <a:endParaRPr/>
          </a:p>
          <a:p>
            <a:pPr marL="685800" lvl="1" indent="-228600" algn="l" rtl="0">
              <a:lnSpc>
                <a:spcPct val="110000"/>
              </a:lnSpc>
              <a:spcBef>
                <a:spcPts val="600"/>
              </a:spcBef>
              <a:spcAft>
                <a:spcPts val="0"/>
              </a:spcAft>
              <a:buClr>
                <a:schemeClr val="dk1"/>
              </a:buClr>
              <a:buSzPct val="100000"/>
              <a:buChar char="•"/>
            </a:pPr>
            <a:r>
              <a:rPr lang="en-US"/>
              <a:t>Immediate, Direct, Indirect, Register, Register Indirect, Indexed, Stack, Relative, Autoincrement, Autodecrement, Based, etc.</a:t>
            </a:r>
            <a:endParaRPr/>
          </a:p>
          <a:p>
            <a:pPr marL="685800" lvl="1" indent="-228600" algn="l" rtl="0">
              <a:lnSpc>
                <a:spcPct val="110000"/>
              </a:lnSpc>
              <a:spcBef>
                <a:spcPts val="600"/>
              </a:spcBef>
              <a:spcAft>
                <a:spcPts val="0"/>
              </a:spcAft>
              <a:buClr>
                <a:schemeClr val="dk1"/>
              </a:buClr>
              <a:buSzPct val="100000"/>
              <a:buChar char="•"/>
            </a:pPr>
            <a:r>
              <a:rPr lang="en-US"/>
              <a:t>Not all processors support all addressing modes.</a:t>
            </a:r>
            <a:endParaRPr/>
          </a:p>
          <a:p>
            <a:pPr marL="685800" lvl="1" indent="-228600" algn="l" rtl="0">
              <a:lnSpc>
                <a:spcPct val="110000"/>
              </a:lnSpc>
              <a:spcBef>
                <a:spcPts val="600"/>
              </a:spcBef>
              <a:spcAft>
                <a:spcPts val="0"/>
              </a:spcAft>
              <a:buClr>
                <a:schemeClr val="dk1"/>
              </a:buClr>
              <a:buSzPct val="100000"/>
              <a:buChar char="•"/>
            </a:pPr>
            <a:r>
              <a:rPr lang="en-US"/>
              <a:t>We shall briefly look at the common addressing modes and how they work.</a:t>
            </a:r>
            <a:endParaRPr/>
          </a:p>
        </p:txBody>
      </p:sp>
      <p:sp>
        <p:nvSpPr>
          <p:cNvPr id="937" name="Google Shape;937;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(a) Immediate Addressing</a:t>
            </a:r>
            <a:endParaRPr/>
          </a:p>
        </p:txBody>
      </p:sp>
      <p:sp>
        <p:nvSpPr>
          <p:cNvPr id="943" name="Google Shape;943;p76"/>
          <p:cNvSpPr txBox="1">
            <a:spLocks noGrp="1"/>
          </p:cNvSpPr>
          <p:nvPr>
            <p:ph type="body" idx="1"/>
          </p:nvPr>
        </p:nvSpPr>
        <p:spPr>
          <a:xfrm>
            <a:off x="609600" y="1600202"/>
            <a:ext cx="11379200" cy="4267199"/>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The operand is part of the instruction itself.</a:t>
            </a:r>
            <a:endParaRPr/>
          </a:p>
          <a:p>
            <a:pPr marL="685800" lvl="1" indent="-228600" algn="l" rtl="0">
              <a:lnSpc>
                <a:spcPct val="110000"/>
              </a:lnSpc>
              <a:spcBef>
                <a:spcPts val="600"/>
              </a:spcBef>
              <a:spcAft>
                <a:spcPts val="0"/>
              </a:spcAft>
              <a:buClr>
                <a:schemeClr val="dk1"/>
              </a:buClr>
              <a:buSzPts val="2400"/>
              <a:buChar char="•"/>
            </a:pPr>
            <a:r>
              <a:rPr lang="en-US"/>
              <a:t>No memory reference is required to access the operand.</a:t>
            </a:r>
            <a:endParaRPr/>
          </a:p>
          <a:p>
            <a:pPr marL="685800" lvl="1" indent="-228600" algn="l" rtl="0">
              <a:lnSpc>
                <a:spcPct val="110000"/>
              </a:lnSpc>
              <a:spcBef>
                <a:spcPts val="600"/>
              </a:spcBef>
              <a:spcAft>
                <a:spcPts val="0"/>
              </a:spcAft>
              <a:buClr>
                <a:schemeClr val="dk1"/>
              </a:buClr>
              <a:buSzPts val="2400"/>
              <a:buChar char="•"/>
            </a:pPr>
            <a:r>
              <a:rPr lang="en-US"/>
              <a:t>Fast but limited range (because a limited number of bits are provided to specify the immediate data).</a:t>
            </a:r>
            <a:endParaRPr/>
          </a:p>
          <a:p>
            <a:pPr marL="228600" lvl="0" indent="-228600" algn="l" rtl="0">
              <a:lnSpc>
                <a:spcPct val="110000"/>
              </a:lnSpc>
              <a:spcBef>
                <a:spcPts val="600"/>
              </a:spcBef>
              <a:spcAft>
                <a:spcPts val="0"/>
              </a:spcAft>
              <a:buClr>
                <a:schemeClr val="dk1"/>
              </a:buClr>
              <a:buSzPts val="2667"/>
              <a:buChar char="•"/>
            </a:pPr>
            <a:r>
              <a:rPr lang="en-US" sz="2667"/>
              <a:t>Examples:</a:t>
            </a:r>
            <a:endParaRPr/>
          </a:p>
          <a:p>
            <a:pPr marL="685800" lvl="1" indent="-228600" algn="l" rtl="0">
              <a:lnSpc>
                <a:spcPct val="110000"/>
              </a:lnSpc>
              <a:spcBef>
                <a:spcPts val="600"/>
              </a:spcBef>
              <a:spcAft>
                <a:spcPts val="0"/>
              </a:spcAft>
              <a:buClr>
                <a:schemeClr val="dk1"/>
              </a:buClr>
              <a:buSzPts val="2400"/>
              <a:buChar char="•"/>
            </a:pPr>
            <a:r>
              <a:rPr lang="en-US"/>
              <a:t>ADD    #25               </a:t>
            </a:r>
            <a:r>
              <a:rPr lang="en-US">
                <a:solidFill>
                  <a:srgbClr val="0000FF"/>
                </a:solidFill>
              </a:rPr>
              <a:t>// ACC = ACC + 25</a:t>
            </a:r>
            <a:endParaRPr/>
          </a:p>
          <a:p>
            <a:pPr marL="685800" lvl="1" indent="-228600" algn="l" rtl="0">
              <a:lnSpc>
                <a:spcPct val="110000"/>
              </a:lnSpc>
              <a:spcBef>
                <a:spcPts val="600"/>
              </a:spcBef>
              <a:spcAft>
                <a:spcPts val="0"/>
              </a:spcAft>
              <a:buClr>
                <a:schemeClr val="dk1"/>
              </a:buClr>
              <a:buSzPts val="2400"/>
              <a:buChar char="•"/>
            </a:pPr>
            <a:r>
              <a:rPr lang="en-US"/>
              <a:t>ADDI   R1,R2,42      </a:t>
            </a:r>
            <a:r>
              <a:rPr lang="en-US">
                <a:solidFill>
                  <a:srgbClr val="0000FF"/>
                </a:solidFill>
              </a:rPr>
              <a:t>//  R1 = R2 + 42</a:t>
            </a:r>
            <a:endParaRPr/>
          </a:p>
          <a:p>
            <a:pPr marL="685800" lvl="1" indent="-76200" algn="l" rtl="0">
              <a:lnSpc>
                <a:spcPct val="110000"/>
              </a:lnSpc>
              <a:spcBef>
                <a:spcPts val="600"/>
              </a:spcBef>
              <a:spcAft>
                <a:spcPts val="0"/>
              </a:spcAft>
              <a:buClr>
                <a:schemeClr val="dk1"/>
              </a:buClr>
              <a:buSzPts val="2400"/>
              <a:buNone/>
            </a:pPr>
            <a:endParaRPr/>
          </a:p>
        </p:txBody>
      </p:sp>
      <p:sp>
        <p:nvSpPr>
          <p:cNvPr id="944" name="Google Shape;944;p76"/>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sp>
        <p:nvSpPr>
          <p:cNvPr id="945" name="Google Shape;945;p76"/>
          <p:cNvSpPr/>
          <p:nvPr/>
        </p:nvSpPr>
        <p:spPr>
          <a:xfrm>
            <a:off x="2235200" y="5152232"/>
            <a:ext cx="1625600" cy="508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946" name="Google Shape;946;p76"/>
          <p:cNvSpPr/>
          <p:nvPr/>
        </p:nvSpPr>
        <p:spPr>
          <a:xfrm>
            <a:off x="3860800" y="5152232"/>
            <a:ext cx="2743200" cy="508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immediate data</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(b) Direct Addressing</a:t>
            </a:r>
            <a:endParaRPr/>
          </a:p>
        </p:txBody>
      </p:sp>
      <p:sp>
        <p:nvSpPr>
          <p:cNvPr id="952" name="Google Shape;952;p77"/>
          <p:cNvSpPr txBox="1">
            <a:spLocks noGrp="1"/>
          </p:cNvSpPr>
          <p:nvPr>
            <p:ph type="body" idx="1"/>
          </p:nvPr>
        </p:nvSpPr>
        <p:spPr>
          <a:xfrm>
            <a:off x="609600" y="1600202"/>
            <a:ext cx="10972800" cy="4368799"/>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The instruction contains a field that holds the memory address of the operand.</a:t>
            </a:r>
            <a:endParaRPr/>
          </a:p>
          <a:p>
            <a:pPr marL="228600" lvl="0" indent="-59246" algn="l" rtl="0">
              <a:lnSpc>
                <a:spcPct val="110000"/>
              </a:lnSpc>
              <a:spcBef>
                <a:spcPts val="600"/>
              </a:spcBef>
              <a:spcAft>
                <a:spcPts val="0"/>
              </a:spcAft>
              <a:buClr>
                <a:schemeClr val="dk1"/>
              </a:buClr>
              <a:buSzPts val="2667"/>
              <a:buNone/>
            </a:pPr>
            <a:endParaRPr sz="2667"/>
          </a:p>
          <a:p>
            <a:pPr marL="228600" lvl="0" indent="-110046" algn="l" rtl="0">
              <a:lnSpc>
                <a:spcPct val="110000"/>
              </a:lnSpc>
              <a:spcBef>
                <a:spcPts val="600"/>
              </a:spcBef>
              <a:spcAft>
                <a:spcPts val="0"/>
              </a:spcAft>
              <a:buClr>
                <a:schemeClr val="dk1"/>
              </a:buClr>
              <a:buSzPts val="1867"/>
              <a:buNone/>
            </a:pPr>
            <a:endParaRPr sz="1867"/>
          </a:p>
          <a:p>
            <a:pPr marL="228600" lvl="0" indent="-228600" algn="l" rtl="0">
              <a:lnSpc>
                <a:spcPct val="110000"/>
              </a:lnSpc>
              <a:spcBef>
                <a:spcPts val="600"/>
              </a:spcBef>
              <a:spcAft>
                <a:spcPts val="0"/>
              </a:spcAft>
              <a:buClr>
                <a:schemeClr val="dk1"/>
              </a:buClr>
              <a:buSzPts val="2667"/>
              <a:buChar char="•"/>
            </a:pPr>
            <a:r>
              <a:rPr lang="en-US" sz="2667"/>
              <a:t>Examples:</a:t>
            </a:r>
            <a:endParaRPr/>
          </a:p>
          <a:p>
            <a:pPr marL="685800" lvl="1" indent="-228600" algn="l" rtl="0">
              <a:lnSpc>
                <a:spcPct val="110000"/>
              </a:lnSpc>
              <a:spcBef>
                <a:spcPts val="600"/>
              </a:spcBef>
              <a:spcAft>
                <a:spcPts val="0"/>
              </a:spcAft>
              <a:buClr>
                <a:schemeClr val="dk1"/>
              </a:buClr>
              <a:buSzPts val="2400"/>
              <a:buChar char="•"/>
            </a:pPr>
            <a:r>
              <a:rPr lang="en-US"/>
              <a:t>ADD   R1,20A6H		</a:t>
            </a:r>
            <a:r>
              <a:rPr lang="en-US">
                <a:solidFill>
                  <a:srgbClr val="0000FF"/>
                </a:solidFill>
              </a:rPr>
              <a:t>// R1 = R1 + Mem[20A6]</a:t>
            </a:r>
            <a:endParaRPr/>
          </a:p>
          <a:p>
            <a:pPr marL="228600" lvl="0" indent="-228600" algn="l" rtl="0">
              <a:lnSpc>
                <a:spcPct val="110000"/>
              </a:lnSpc>
              <a:spcBef>
                <a:spcPts val="600"/>
              </a:spcBef>
              <a:spcAft>
                <a:spcPts val="0"/>
              </a:spcAft>
              <a:buClr>
                <a:schemeClr val="dk1"/>
              </a:buClr>
              <a:buSzPts val="2667"/>
              <a:buChar char="•"/>
            </a:pPr>
            <a:r>
              <a:rPr lang="en-US" sz="2667"/>
              <a:t>Single memory access is required to access the operand.</a:t>
            </a:r>
            <a:endParaRPr/>
          </a:p>
          <a:p>
            <a:pPr marL="685800" lvl="1" indent="-228600" algn="l" rtl="0">
              <a:lnSpc>
                <a:spcPct val="110000"/>
              </a:lnSpc>
              <a:spcBef>
                <a:spcPts val="600"/>
              </a:spcBef>
              <a:spcAft>
                <a:spcPts val="0"/>
              </a:spcAft>
              <a:buClr>
                <a:schemeClr val="dk1"/>
              </a:buClr>
              <a:buSzPts val="2400"/>
              <a:buChar char="•"/>
            </a:pPr>
            <a:r>
              <a:rPr lang="en-US"/>
              <a:t>No additional calculations required to determine the operand address.</a:t>
            </a:r>
            <a:endParaRPr/>
          </a:p>
          <a:p>
            <a:pPr marL="685800" lvl="1" indent="-228600" algn="l" rtl="0">
              <a:lnSpc>
                <a:spcPct val="110000"/>
              </a:lnSpc>
              <a:spcBef>
                <a:spcPts val="600"/>
              </a:spcBef>
              <a:spcAft>
                <a:spcPts val="0"/>
              </a:spcAft>
              <a:buClr>
                <a:schemeClr val="dk1"/>
              </a:buClr>
              <a:buSzPts val="2400"/>
              <a:buChar char="•"/>
            </a:pPr>
            <a:r>
              <a:rPr lang="en-US"/>
              <a:t>Limited address space (as number of bits is limited, say, 16 bits).</a:t>
            </a:r>
            <a:endParaRPr/>
          </a:p>
        </p:txBody>
      </p:sp>
      <p:sp>
        <p:nvSpPr>
          <p:cNvPr id="953" name="Google Shape;953;p77"/>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76</a:t>
            </a:fld>
            <a:endParaRPr/>
          </a:p>
        </p:txBody>
      </p:sp>
      <p:sp>
        <p:nvSpPr>
          <p:cNvPr id="954" name="Google Shape;954;p77"/>
          <p:cNvSpPr/>
          <p:nvPr/>
        </p:nvSpPr>
        <p:spPr>
          <a:xfrm>
            <a:off x="2235200" y="2616200"/>
            <a:ext cx="1625600" cy="508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955" name="Google Shape;955;p77"/>
          <p:cNvSpPr/>
          <p:nvPr/>
        </p:nvSpPr>
        <p:spPr>
          <a:xfrm>
            <a:off x="3860800" y="2616200"/>
            <a:ext cx="2743200" cy="508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operand address</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endParaRPr/>
          </a:p>
        </p:txBody>
      </p:sp>
      <p:sp>
        <p:nvSpPr>
          <p:cNvPr id="961" name="Google Shape;961;p78"/>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grpSp>
        <p:nvGrpSpPr>
          <p:cNvPr id="962" name="Google Shape;962;p78"/>
          <p:cNvGrpSpPr/>
          <p:nvPr/>
        </p:nvGrpSpPr>
        <p:grpSpPr>
          <a:xfrm>
            <a:off x="2235200" y="1701800"/>
            <a:ext cx="8128000" cy="3454400"/>
            <a:chOff x="1676400" y="1276350"/>
            <a:chExt cx="6096000" cy="2590800"/>
          </a:xfrm>
        </p:grpSpPr>
        <p:sp>
          <p:nvSpPr>
            <p:cNvPr id="963" name="Google Shape;963;p78"/>
            <p:cNvSpPr/>
            <p:nvPr/>
          </p:nvSpPr>
          <p:spPr>
            <a:xfrm>
              <a:off x="1676400" y="1276350"/>
              <a:ext cx="12192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964" name="Google Shape;964;p78"/>
            <p:cNvSpPr/>
            <p:nvPr/>
          </p:nvSpPr>
          <p:spPr>
            <a:xfrm>
              <a:off x="2895600" y="1276350"/>
              <a:ext cx="2057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operand address</a:t>
              </a:r>
              <a:endParaRPr/>
            </a:p>
          </p:txBody>
        </p:sp>
        <p:sp>
          <p:nvSpPr>
            <p:cNvPr id="965" name="Google Shape;965;p78"/>
            <p:cNvSpPr/>
            <p:nvPr/>
          </p:nvSpPr>
          <p:spPr>
            <a:xfrm>
              <a:off x="5943600" y="1962150"/>
              <a:ext cx="1524000" cy="1905000"/>
            </a:xfrm>
            <a:prstGeom prst="rect">
              <a:avLst/>
            </a:prstGeom>
            <a:solidFill>
              <a:srgbClr val="DDEAF6"/>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966" name="Google Shape;966;p78"/>
            <p:cNvSpPr/>
            <p:nvPr/>
          </p:nvSpPr>
          <p:spPr>
            <a:xfrm>
              <a:off x="5943600" y="2876550"/>
              <a:ext cx="1524000" cy="304800"/>
            </a:xfrm>
            <a:prstGeom prst="rect">
              <a:avLst/>
            </a:prstGeom>
            <a:solidFill>
              <a:srgbClr val="E1EFD8"/>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operand</a:t>
              </a:r>
              <a:endParaRPr/>
            </a:p>
          </p:txBody>
        </p:sp>
        <p:cxnSp>
          <p:nvCxnSpPr>
            <p:cNvPr id="967" name="Google Shape;967;p78"/>
            <p:cNvCxnSpPr/>
            <p:nvPr/>
          </p:nvCxnSpPr>
          <p:spPr>
            <a:xfrm>
              <a:off x="3886200" y="1657350"/>
              <a:ext cx="3600" cy="1371600"/>
            </a:xfrm>
            <a:prstGeom prst="straightConnector1">
              <a:avLst/>
            </a:prstGeom>
            <a:noFill/>
            <a:ln w="12700" cap="flat" cmpd="sng">
              <a:solidFill>
                <a:srgbClr val="0C0C0C"/>
              </a:solidFill>
              <a:prstDash val="solid"/>
              <a:miter lim="8000"/>
              <a:headEnd type="none" w="sm" len="sm"/>
              <a:tailEnd type="none" w="sm" len="sm"/>
            </a:ln>
          </p:spPr>
        </p:cxnSp>
        <p:cxnSp>
          <p:nvCxnSpPr>
            <p:cNvPr id="968" name="Google Shape;968;p78"/>
            <p:cNvCxnSpPr/>
            <p:nvPr/>
          </p:nvCxnSpPr>
          <p:spPr>
            <a:xfrm>
              <a:off x="3888000" y="3028950"/>
              <a:ext cx="2059200" cy="0"/>
            </a:xfrm>
            <a:prstGeom prst="straightConnector1">
              <a:avLst/>
            </a:prstGeom>
            <a:noFill/>
            <a:ln w="12700" cap="flat" cmpd="sng">
              <a:solidFill>
                <a:srgbClr val="0C0C0C"/>
              </a:solidFill>
              <a:prstDash val="solid"/>
              <a:miter lim="8000"/>
              <a:headEnd type="none" w="sm" len="sm"/>
              <a:tailEnd type="stealth" w="med" len="med"/>
            </a:ln>
          </p:spPr>
        </p:cxnSp>
        <p:sp>
          <p:nvSpPr>
            <p:cNvPr id="969" name="Google Shape;969;p78"/>
            <p:cNvSpPr txBox="1"/>
            <p:nvPr/>
          </p:nvSpPr>
          <p:spPr>
            <a:xfrm>
              <a:off x="5638800" y="1581150"/>
              <a:ext cx="2133600" cy="34624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Memory</a:t>
              </a:r>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p7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(c) Indirect Addressing</a:t>
            </a:r>
            <a:endParaRPr/>
          </a:p>
        </p:txBody>
      </p:sp>
      <p:sp>
        <p:nvSpPr>
          <p:cNvPr id="975" name="Google Shape;975;p79"/>
          <p:cNvSpPr txBox="1">
            <a:spLocks noGrp="1"/>
          </p:cNvSpPr>
          <p:nvPr>
            <p:ph type="body" idx="1"/>
          </p:nvPr>
        </p:nvSpPr>
        <p:spPr>
          <a:xfrm>
            <a:off x="609600" y="1646237"/>
            <a:ext cx="10972800" cy="4221163"/>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The instruction contains a field that holds the memory address, which in turn holds the memory address of the operand.</a:t>
            </a:r>
            <a:endParaRPr/>
          </a:p>
          <a:p>
            <a:pPr marL="228600" lvl="0" indent="-228600" algn="l" rtl="0">
              <a:lnSpc>
                <a:spcPct val="110000"/>
              </a:lnSpc>
              <a:spcBef>
                <a:spcPts val="600"/>
              </a:spcBef>
              <a:spcAft>
                <a:spcPts val="0"/>
              </a:spcAft>
              <a:buClr>
                <a:schemeClr val="dk1"/>
              </a:buClr>
              <a:buSzPts val="2667"/>
              <a:buChar char="•"/>
            </a:pPr>
            <a:r>
              <a:rPr lang="en-US" sz="2667"/>
              <a:t>Two memory accesses are required to get the operand value.</a:t>
            </a:r>
            <a:endParaRPr/>
          </a:p>
          <a:p>
            <a:pPr marL="228600" lvl="0" indent="-228600" algn="l" rtl="0">
              <a:lnSpc>
                <a:spcPct val="110000"/>
              </a:lnSpc>
              <a:spcBef>
                <a:spcPts val="600"/>
              </a:spcBef>
              <a:spcAft>
                <a:spcPts val="0"/>
              </a:spcAft>
              <a:buClr>
                <a:schemeClr val="dk1"/>
              </a:buClr>
              <a:buSzPts val="2667"/>
              <a:buChar char="•"/>
            </a:pPr>
            <a:r>
              <a:rPr lang="en-US" sz="2667"/>
              <a:t>Slower but can access large address space.</a:t>
            </a:r>
            <a:endParaRPr/>
          </a:p>
          <a:p>
            <a:pPr marL="685800" lvl="1" indent="-228600" algn="l" rtl="0">
              <a:lnSpc>
                <a:spcPct val="110000"/>
              </a:lnSpc>
              <a:spcBef>
                <a:spcPts val="600"/>
              </a:spcBef>
              <a:spcAft>
                <a:spcPts val="0"/>
              </a:spcAft>
              <a:buClr>
                <a:schemeClr val="dk1"/>
              </a:buClr>
              <a:buSzPts val="2400"/>
              <a:buChar char="•"/>
            </a:pPr>
            <a:r>
              <a:rPr lang="en-US"/>
              <a:t>Not limited by the number of bits in operand address like direct addressing.</a:t>
            </a:r>
            <a:endParaRPr/>
          </a:p>
          <a:p>
            <a:pPr marL="228600" lvl="0" indent="-228600" algn="l" rtl="0">
              <a:lnSpc>
                <a:spcPct val="110000"/>
              </a:lnSpc>
              <a:spcBef>
                <a:spcPts val="600"/>
              </a:spcBef>
              <a:spcAft>
                <a:spcPts val="0"/>
              </a:spcAft>
              <a:buClr>
                <a:schemeClr val="dk1"/>
              </a:buClr>
              <a:buSzPts val="2667"/>
              <a:buChar char="•"/>
            </a:pPr>
            <a:r>
              <a:rPr lang="en-US" sz="2667"/>
              <a:t>Examples:</a:t>
            </a:r>
            <a:endParaRPr/>
          </a:p>
          <a:p>
            <a:pPr marL="685800" lvl="1" indent="-228600" algn="l" rtl="0">
              <a:lnSpc>
                <a:spcPct val="110000"/>
              </a:lnSpc>
              <a:spcBef>
                <a:spcPts val="600"/>
              </a:spcBef>
              <a:spcAft>
                <a:spcPts val="0"/>
              </a:spcAft>
              <a:buClr>
                <a:schemeClr val="dk1"/>
              </a:buClr>
              <a:buSzPts val="2400"/>
              <a:buChar char="•"/>
            </a:pPr>
            <a:r>
              <a:rPr lang="en-US"/>
              <a:t>ADD   R1,(20A6H)	</a:t>
            </a:r>
            <a:r>
              <a:rPr lang="en-US">
                <a:solidFill>
                  <a:srgbClr val="0000FF"/>
                </a:solidFill>
              </a:rPr>
              <a:t>// R1 = R1 + (Mem[20A6])</a:t>
            </a:r>
            <a:endParaRPr/>
          </a:p>
          <a:p>
            <a:pPr marL="228600" lvl="0" indent="-59246" algn="l" rtl="0">
              <a:lnSpc>
                <a:spcPct val="110000"/>
              </a:lnSpc>
              <a:spcBef>
                <a:spcPts val="600"/>
              </a:spcBef>
              <a:spcAft>
                <a:spcPts val="0"/>
              </a:spcAft>
              <a:buClr>
                <a:schemeClr val="dk1"/>
              </a:buClr>
              <a:buSzPts val="2667"/>
              <a:buNone/>
            </a:pPr>
            <a:endParaRPr sz="2667"/>
          </a:p>
        </p:txBody>
      </p:sp>
      <p:sp>
        <p:nvSpPr>
          <p:cNvPr id="976" name="Google Shape;976;p79"/>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p8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endParaRPr/>
          </a:p>
        </p:txBody>
      </p:sp>
      <p:sp>
        <p:nvSpPr>
          <p:cNvPr id="982" name="Google Shape;982;p80"/>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grpSp>
        <p:nvGrpSpPr>
          <p:cNvPr id="983" name="Google Shape;983;p80"/>
          <p:cNvGrpSpPr/>
          <p:nvPr/>
        </p:nvGrpSpPr>
        <p:grpSpPr>
          <a:xfrm>
            <a:off x="2235200" y="1701800"/>
            <a:ext cx="8432800" cy="3454400"/>
            <a:chOff x="1676400" y="1276350"/>
            <a:chExt cx="6324600" cy="2590800"/>
          </a:xfrm>
        </p:grpSpPr>
        <p:sp>
          <p:nvSpPr>
            <p:cNvPr id="984" name="Google Shape;984;p80"/>
            <p:cNvSpPr/>
            <p:nvPr/>
          </p:nvSpPr>
          <p:spPr>
            <a:xfrm>
              <a:off x="1676400" y="1276350"/>
              <a:ext cx="12192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985" name="Google Shape;985;p80"/>
            <p:cNvSpPr/>
            <p:nvPr/>
          </p:nvSpPr>
          <p:spPr>
            <a:xfrm>
              <a:off x="2895600" y="1276350"/>
              <a:ext cx="2057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operand address</a:t>
              </a:r>
              <a:endParaRPr/>
            </a:p>
          </p:txBody>
        </p:sp>
        <p:sp>
          <p:nvSpPr>
            <p:cNvPr id="986" name="Google Shape;986;p80"/>
            <p:cNvSpPr/>
            <p:nvPr/>
          </p:nvSpPr>
          <p:spPr>
            <a:xfrm>
              <a:off x="5943600" y="1962150"/>
              <a:ext cx="1524000" cy="1905000"/>
            </a:xfrm>
            <a:prstGeom prst="rect">
              <a:avLst/>
            </a:prstGeom>
            <a:solidFill>
              <a:srgbClr val="DDEAF6"/>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987" name="Google Shape;987;p80"/>
            <p:cNvSpPr/>
            <p:nvPr/>
          </p:nvSpPr>
          <p:spPr>
            <a:xfrm>
              <a:off x="5943600" y="2876550"/>
              <a:ext cx="1524000" cy="304800"/>
            </a:xfrm>
            <a:prstGeom prst="rect">
              <a:avLst/>
            </a:prstGeom>
            <a:solidFill>
              <a:srgbClr val="E1EFD8"/>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pointer</a:t>
              </a:r>
              <a:endParaRPr/>
            </a:p>
          </p:txBody>
        </p:sp>
        <p:cxnSp>
          <p:nvCxnSpPr>
            <p:cNvPr id="988" name="Google Shape;988;p80"/>
            <p:cNvCxnSpPr/>
            <p:nvPr/>
          </p:nvCxnSpPr>
          <p:spPr>
            <a:xfrm>
              <a:off x="3886200" y="1657350"/>
              <a:ext cx="3600" cy="1371600"/>
            </a:xfrm>
            <a:prstGeom prst="straightConnector1">
              <a:avLst/>
            </a:prstGeom>
            <a:noFill/>
            <a:ln w="12700" cap="flat" cmpd="sng">
              <a:solidFill>
                <a:srgbClr val="0C0C0C"/>
              </a:solidFill>
              <a:prstDash val="solid"/>
              <a:miter lim="8000"/>
              <a:headEnd type="none" w="sm" len="sm"/>
              <a:tailEnd type="none" w="sm" len="sm"/>
            </a:ln>
          </p:spPr>
        </p:cxnSp>
        <p:cxnSp>
          <p:nvCxnSpPr>
            <p:cNvPr id="989" name="Google Shape;989;p80"/>
            <p:cNvCxnSpPr/>
            <p:nvPr/>
          </p:nvCxnSpPr>
          <p:spPr>
            <a:xfrm>
              <a:off x="3888000" y="3028950"/>
              <a:ext cx="2059200" cy="0"/>
            </a:xfrm>
            <a:prstGeom prst="straightConnector1">
              <a:avLst/>
            </a:prstGeom>
            <a:noFill/>
            <a:ln w="12700" cap="flat" cmpd="sng">
              <a:solidFill>
                <a:srgbClr val="0C0C0C"/>
              </a:solidFill>
              <a:prstDash val="solid"/>
              <a:miter lim="8000"/>
              <a:headEnd type="none" w="sm" len="sm"/>
              <a:tailEnd type="stealth" w="med" len="med"/>
            </a:ln>
          </p:spPr>
        </p:cxnSp>
        <p:sp>
          <p:nvSpPr>
            <p:cNvPr id="990" name="Google Shape;990;p80"/>
            <p:cNvSpPr txBox="1"/>
            <p:nvPr/>
          </p:nvSpPr>
          <p:spPr>
            <a:xfrm>
              <a:off x="5638800" y="1581150"/>
              <a:ext cx="2133600" cy="34624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Memory</a:t>
              </a:r>
              <a:endParaRPr/>
            </a:p>
          </p:txBody>
        </p:sp>
        <p:sp>
          <p:nvSpPr>
            <p:cNvPr id="991" name="Google Shape;991;p80"/>
            <p:cNvSpPr/>
            <p:nvPr/>
          </p:nvSpPr>
          <p:spPr>
            <a:xfrm>
              <a:off x="5943600" y="2343150"/>
              <a:ext cx="1524000" cy="304800"/>
            </a:xfrm>
            <a:prstGeom prst="rect">
              <a:avLst/>
            </a:prstGeom>
            <a:solidFill>
              <a:srgbClr val="E1EFD8"/>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operand</a:t>
              </a:r>
              <a:endParaRPr/>
            </a:p>
          </p:txBody>
        </p:sp>
        <p:cxnSp>
          <p:nvCxnSpPr>
            <p:cNvPr id="992" name="Google Shape;992;p80"/>
            <p:cNvCxnSpPr>
              <a:stCxn id="987" idx="3"/>
            </p:cNvCxnSpPr>
            <p:nvPr/>
          </p:nvCxnSpPr>
          <p:spPr>
            <a:xfrm>
              <a:off x="7467600" y="3028950"/>
              <a:ext cx="533400" cy="0"/>
            </a:xfrm>
            <a:prstGeom prst="straightConnector1">
              <a:avLst/>
            </a:prstGeom>
            <a:noFill/>
            <a:ln w="12700" cap="flat" cmpd="sng">
              <a:solidFill>
                <a:srgbClr val="0C0C0C"/>
              </a:solidFill>
              <a:prstDash val="solid"/>
              <a:miter lim="8000"/>
              <a:headEnd type="none" w="sm" len="sm"/>
              <a:tailEnd type="none" w="sm" len="sm"/>
            </a:ln>
          </p:spPr>
        </p:cxnSp>
        <p:cxnSp>
          <p:nvCxnSpPr>
            <p:cNvPr id="993" name="Google Shape;993;p80"/>
            <p:cNvCxnSpPr/>
            <p:nvPr/>
          </p:nvCxnSpPr>
          <p:spPr>
            <a:xfrm rot="10800000">
              <a:off x="8001000" y="2495550"/>
              <a:ext cx="0" cy="533400"/>
            </a:xfrm>
            <a:prstGeom prst="straightConnector1">
              <a:avLst/>
            </a:prstGeom>
            <a:noFill/>
            <a:ln w="12700" cap="flat" cmpd="sng">
              <a:solidFill>
                <a:srgbClr val="0C0C0C"/>
              </a:solidFill>
              <a:prstDash val="solid"/>
              <a:miter lim="8000"/>
              <a:headEnd type="none" w="sm" len="sm"/>
              <a:tailEnd type="none" w="sm" len="sm"/>
            </a:ln>
          </p:spPr>
        </p:cxnSp>
        <p:cxnSp>
          <p:nvCxnSpPr>
            <p:cNvPr id="994" name="Google Shape;994;p80"/>
            <p:cNvCxnSpPr>
              <a:endCxn id="991" idx="3"/>
            </p:cNvCxnSpPr>
            <p:nvPr/>
          </p:nvCxnSpPr>
          <p:spPr>
            <a:xfrm rot="10800000">
              <a:off x="7467600" y="2495550"/>
              <a:ext cx="533400" cy="0"/>
            </a:xfrm>
            <a:prstGeom prst="straightConnector1">
              <a:avLst/>
            </a:prstGeom>
            <a:noFill/>
            <a:ln w="12700" cap="flat" cmpd="sng">
              <a:solidFill>
                <a:srgbClr val="0C0C0C"/>
              </a:solidFill>
              <a:prstDash val="solid"/>
              <a:miter lim="8000"/>
              <a:headEnd type="none" w="sm" len="sm"/>
              <a:tailEnd type="stealth" w="med" len="med"/>
            </a:ln>
          </p:spPr>
        </p:cxn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8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(d) Register Addressing</a:t>
            </a:r>
            <a:endParaRPr/>
          </a:p>
        </p:txBody>
      </p:sp>
      <p:sp>
        <p:nvSpPr>
          <p:cNvPr id="1000" name="Google Shape;1000;p81"/>
          <p:cNvSpPr txBox="1">
            <a:spLocks noGrp="1"/>
          </p:cNvSpPr>
          <p:nvPr>
            <p:ph type="body" idx="1"/>
          </p:nvPr>
        </p:nvSpPr>
        <p:spPr>
          <a:xfrm>
            <a:off x="609600" y="1600202"/>
            <a:ext cx="10972800" cy="4267199"/>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The operand is held in a register, and the instruction specifies the register number.</a:t>
            </a:r>
            <a:endParaRPr/>
          </a:p>
          <a:p>
            <a:pPr marL="685800" lvl="1" indent="-228600" algn="l" rtl="0">
              <a:lnSpc>
                <a:spcPct val="110000"/>
              </a:lnSpc>
              <a:spcBef>
                <a:spcPts val="600"/>
              </a:spcBef>
              <a:spcAft>
                <a:spcPts val="0"/>
              </a:spcAft>
              <a:buClr>
                <a:schemeClr val="dk1"/>
              </a:buClr>
              <a:buSzPts val="2400"/>
              <a:buChar char="•"/>
            </a:pPr>
            <a:r>
              <a:rPr lang="en-US"/>
              <a:t>Very few number of bits needed, as the number of registers is limited.</a:t>
            </a:r>
            <a:endParaRPr/>
          </a:p>
          <a:p>
            <a:pPr marL="685800" lvl="1" indent="-228600" algn="l" rtl="0">
              <a:lnSpc>
                <a:spcPct val="110000"/>
              </a:lnSpc>
              <a:spcBef>
                <a:spcPts val="600"/>
              </a:spcBef>
              <a:spcAft>
                <a:spcPts val="0"/>
              </a:spcAft>
              <a:buClr>
                <a:schemeClr val="dk1"/>
              </a:buClr>
              <a:buSzPts val="2400"/>
              <a:buChar char="•"/>
            </a:pPr>
            <a:r>
              <a:rPr lang="en-US"/>
              <a:t>Faster execution, since no memory access is required for getting the operand.</a:t>
            </a:r>
            <a:endParaRPr/>
          </a:p>
          <a:p>
            <a:pPr marL="228600" lvl="0" indent="-228600" algn="l" rtl="0">
              <a:lnSpc>
                <a:spcPct val="110000"/>
              </a:lnSpc>
              <a:spcBef>
                <a:spcPts val="600"/>
              </a:spcBef>
              <a:spcAft>
                <a:spcPts val="0"/>
              </a:spcAft>
              <a:buClr>
                <a:schemeClr val="dk1"/>
              </a:buClr>
              <a:buSzPts val="2667"/>
              <a:buChar char="•"/>
            </a:pPr>
            <a:r>
              <a:rPr lang="en-US" sz="2667"/>
              <a:t>Modern load-store architectures support large number of registers.</a:t>
            </a:r>
            <a:endParaRPr/>
          </a:p>
          <a:p>
            <a:pPr marL="228600" lvl="0" indent="-228600" algn="l" rtl="0">
              <a:lnSpc>
                <a:spcPct val="110000"/>
              </a:lnSpc>
              <a:spcBef>
                <a:spcPts val="600"/>
              </a:spcBef>
              <a:spcAft>
                <a:spcPts val="0"/>
              </a:spcAft>
              <a:buClr>
                <a:schemeClr val="dk1"/>
              </a:buClr>
              <a:buSzPts val="2667"/>
              <a:buChar char="•"/>
            </a:pPr>
            <a:r>
              <a:rPr lang="en-US" sz="2667"/>
              <a:t>Examples:</a:t>
            </a:r>
            <a:endParaRPr/>
          </a:p>
          <a:p>
            <a:pPr marL="685800" lvl="1" indent="-228600" algn="l" rtl="0">
              <a:lnSpc>
                <a:spcPct val="110000"/>
              </a:lnSpc>
              <a:spcBef>
                <a:spcPts val="600"/>
              </a:spcBef>
              <a:spcAft>
                <a:spcPts val="0"/>
              </a:spcAft>
              <a:buClr>
                <a:schemeClr val="dk1"/>
              </a:buClr>
              <a:buSzPts val="2400"/>
              <a:buChar char="•"/>
            </a:pPr>
            <a:r>
              <a:rPr lang="en-US"/>
              <a:t>ADD   R1,R2,R3		</a:t>
            </a:r>
            <a:r>
              <a:rPr lang="en-US">
                <a:solidFill>
                  <a:srgbClr val="0000FF"/>
                </a:solidFill>
              </a:rPr>
              <a:t>// R1 = R2 + R3</a:t>
            </a:r>
            <a:endParaRPr/>
          </a:p>
          <a:p>
            <a:pPr marL="685800" lvl="1" indent="-228600" algn="l" rtl="0">
              <a:lnSpc>
                <a:spcPct val="110000"/>
              </a:lnSpc>
              <a:spcBef>
                <a:spcPts val="600"/>
              </a:spcBef>
              <a:spcAft>
                <a:spcPts val="0"/>
              </a:spcAft>
              <a:buClr>
                <a:schemeClr val="dk1"/>
              </a:buClr>
              <a:buSzPts val="2400"/>
              <a:buChar char="•"/>
            </a:pPr>
            <a:r>
              <a:rPr lang="en-US"/>
              <a:t>MOV  R2,R5		</a:t>
            </a:r>
            <a:r>
              <a:rPr lang="en-US">
                <a:solidFill>
                  <a:srgbClr val="0000FF"/>
                </a:solidFill>
              </a:rPr>
              <a:t>// R2 = R5</a:t>
            </a:r>
            <a:endParaRPr/>
          </a:p>
        </p:txBody>
      </p:sp>
      <p:sp>
        <p:nvSpPr>
          <p:cNvPr id="1001" name="Google Shape;1001;p81"/>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p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endParaRPr/>
          </a:p>
        </p:txBody>
      </p:sp>
      <p:sp>
        <p:nvSpPr>
          <p:cNvPr id="1007" name="Google Shape;1007;p82"/>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grpSp>
        <p:nvGrpSpPr>
          <p:cNvPr id="1008" name="Google Shape;1008;p82"/>
          <p:cNvGrpSpPr/>
          <p:nvPr/>
        </p:nvGrpSpPr>
        <p:grpSpPr>
          <a:xfrm>
            <a:off x="2743200" y="1701800"/>
            <a:ext cx="7620000" cy="3454400"/>
            <a:chOff x="2057400" y="1276350"/>
            <a:chExt cx="5715000" cy="2590800"/>
          </a:xfrm>
        </p:grpSpPr>
        <p:sp>
          <p:nvSpPr>
            <p:cNvPr id="1009" name="Google Shape;1009;p82"/>
            <p:cNvSpPr/>
            <p:nvPr/>
          </p:nvSpPr>
          <p:spPr>
            <a:xfrm>
              <a:off x="2057400" y="1276350"/>
              <a:ext cx="12192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1010" name="Google Shape;1010;p82"/>
            <p:cNvSpPr/>
            <p:nvPr/>
          </p:nvSpPr>
          <p:spPr>
            <a:xfrm>
              <a:off x="3276600" y="1276350"/>
              <a:ext cx="12192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register no</a:t>
              </a:r>
              <a:endParaRPr/>
            </a:p>
          </p:txBody>
        </p:sp>
        <p:sp>
          <p:nvSpPr>
            <p:cNvPr id="1011" name="Google Shape;1011;p82"/>
            <p:cNvSpPr/>
            <p:nvPr/>
          </p:nvSpPr>
          <p:spPr>
            <a:xfrm>
              <a:off x="5943600" y="1962150"/>
              <a:ext cx="1524000" cy="1905000"/>
            </a:xfrm>
            <a:prstGeom prst="rect">
              <a:avLst/>
            </a:prstGeom>
            <a:solidFill>
              <a:srgbClr val="DDEAF6"/>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2" name="Google Shape;1012;p82"/>
            <p:cNvSpPr/>
            <p:nvPr/>
          </p:nvSpPr>
          <p:spPr>
            <a:xfrm>
              <a:off x="5943600" y="2876550"/>
              <a:ext cx="1524000" cy="304800"/>
            </a:xfrm>
            <a:prstGeom prst="rect">
              <a:avLst/>
            </a:prstGeom>
            <a:solidFill>
              <a:srgbClr val="E1EFD8"/>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operand</a:t>
              </a:r>
              <a:endParaRPr/>
            </a:p>
          </p:txBody>
        </p:sp>
        <p:cxnSp>
          <p:nvCxnSpPr>
            <p:cNvPr id="1013" name="Google Shape;1013;p82"/>
            <p:cNvCxnSpPr/>
            <p:nvPr/>
          </p:nvCxnSpPr>
          <p:spPr>
            <a:xfrm>
              <a:off x="3886200" y="1657350"/>
              <a:ext cx="3600" cy="1371600"/>
            </a:xfrm>
            <a:prstGeom prst="straightConnector1">
              <a:avLst/>
            </a:prstGeom>
            <a:noFill/>
            <a:ln w="12700" cap="flat" cmpd="sng">
              <a:solidFill>
                <a:srgbClr val="0C0C0C"/>
              </a:solidFill>
              <a:prstDash val="solid"/>
              <a:miter lim="8000"/>
              <a:headEnd type="none" w="sm" len="sm"/>
              <a:tailEnd type="none" w="sm" len="sm"/>
            </a:ln>
          </p:spPr>
        </p:cxnSp>
        <p:cxnSp>
          <p:nvCxnSpPr>
            <p:cNvPr id="1014" name="Google Shape;1014;p82"/>
            <p:cNvCxnSpPr/>
            <p:nvPr/>
          </p:nvCxnSpPr>
          <p:spPr>
            <a:xfrm>
              <a:off x="3888000" y="3028950"/>
              <a:ext cx="2059200" cy="0"/>
            </a:xfrm>
            <a:prstGeom prst="straightConnector1">
              <a:avLst/>
            </a:prstGeom>
            <a:noFill/>
            <a:ln w="12700" cap="flat" cmpd="sng">
              <a:solidFill>
                <a:srgbClr val="0C0C0C"/>
              </a:solidFill>
              <a:prstDash val="solid"/>
              <a:miter lim="8000"/>
              <a:headEnd type="none" w="sm" len="sm"/>
              <a:tailEnd type="stealth" w="med" len="med"/>
            </a:ln>
          </p:spPr>
        </p:cxnSp>
        <p:sp>
          <p:nvSpPr>
            <p:cNvPr id="1015" name="Google Shape;1015;p82"/>
            <p:cNvSpPr txBox="1"/>
            <p:nvPr/>
          </p:nvSpPr>
          <p:spPr>
            <a:xfrm>
              <a:off x="5638800" y="1581150"/>
              <a:ext cx="2133600" cy="34624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Register Bank</a:t>
              </a:r>
              <a:endParaRPr/>
            </a:p>
          </p:txBody>
        </p:sp>
        <p:sp>
          <p:nvSpPr>
            <p:cNvPr id="1016" name="Google Shape;1016;p82"/>
            <p:cNvSpPr/>
            <p:nvPr/>
          </p:nvSpPr>
          <p:spPr>
            <a:xfrm>
              <a:off x="4495800" y="1276350"/>
              <a:ext cx="12192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000090"/>
                </a:solidFill>
                <a:latin typeface="Calibri"/>
                <a:ea typeface="Calibri"/>
                <a:cs typeface="Calibri"/>
                <a:sym typeface="Calibri"/>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p8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(e) Register Indirect Addressing</a:t>
            </a:r>
            <a:endParaRPr/>
          </a:p>
        </p:txBody>
      </p:sp>
      <p:sp>
        <p:nvSpPr>
          <p:cNvPr id="1022" name="Google Shape;1022;p83"/>
          <p:cNvSpPr txBox="1">
            <a:spLocks noGrp="1"/>
          </p:cNvSpPr>
          <p:nvPr>
            <p:ph type="body" idx="1"/>
          </p:nvPr>
        </p:nvSpPr>
        <p:spPr>
          <a:xfrm>
            <a:off x="609600" y="1600202"/>
            <a:ext cx="10972800" cy="4368799"/>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The instruction specifies a register, and the register holds the memory address where the operand is stored.</a:t>
            </a:r>
            <a:endParaRPr/>
          </a:p>
          <a:p>
            <a:pPr marL="685800" lvl="1" indent="-228600" algn="l" rtl="0">
              <a:lnSpc>
                <a:spcPct val="110000"/>
              </a:lnSpc>
              <a:spcBef>
                <a:spcPts val="600"/>
              </a:spcBef>
              <a:spcAft>
                <a:spcPts val="0"/>
              </a:spcAft>
              <a:buClr>
                <a:schemeClr val="dk1"/>
              </a:buClr>
              <a:buSzPts val="2400"/>
              <a:buChar char="•"/>
            </a:pPr>
            <a:r>
              <a:rPr lang="en-US"/>
              <a:t>Can access large address space.</a:t>
            </a:r>
            <a:endParaRPr/>
          </a:p>
          <a:p>
            <a:pPr marL="685800" lvl="1" indent="-228600" algn="l" rtl="0">
              <a:lnSpc>
                <a:spcPct val="110000"/>
              </a:lnSpc>
              <a:spcBef>
                <a:spcPts val="600"/>
              </a:spcBef>
              <a:spcAft>
                <a:spcPts val="0"/>
              </a:spcAft>
              <a:buClr>
                <a:schemeClr val="dk1"/>
              </a:buClr>
              <a:buSzPts val="2400"/>
              <a:buChar char="•"/>
            </a:pPr>
            <a:r>
              <a:rPr lang="en-US"/>
              <a:t>One fewer memory access as compared to indirect addressing.</a:t>
            </a:r>
            <a:endParaRPr/>
          </a:p>
          <a:p>
            <a:pPr marL="228600" lvl="0" indent="-228600" algn="l" rtl="0">
              <a:lnSpc>
                <a:spcPct val="110000"/>
              </a:lnSpc>
              <a:spcBef>
                <a:spcPts val="600"/>
              </a:spcBef>
              <a:spcAft>
                <a:spcPts val="0"/>
              </a:spcAft>
              <a:buClr>
                <a:schemeClr val="dk1"/>
              </a:buClr>
              <a:buSzPts val="2667"/>
              <a:buChar char="•"/>
            </a:pPr>
            <a:r>
              <a:rPr lang="en-US" sz="2667"/>
              <a:t>Example:</a:t>
            </a:r>
            <a:endParaRPr/>
          </a:p>
          <a:p>
            <a:pPr marL="685800" lvl="1" indent="-228600" algn="l" rtl="0">
              <a:lnSpc>
                <a:spcPct val="110000"/>
              </a:lnSpc>
              <a:spcBef>
                <a:spcPts val="600"/>
              </a:spcBef>
              <a:spcAft>
                <a:spcPts val="0"/>
              </a:spcAft>
              <a:buClr>
                <a:schemeClr val="dk1"/>
              </a:buClr>
              <a:buSzPts val="2400"/>
              <a:buChar char="•"/>
            </a:pPr>
            <a:r>
              <a:rPr lang="en-US"/>
              <a:t>ADD   R1,(R5)		</a:t>
            </a:r>
            <a:r>
              <a:rPr lang="en-US">
                <a:solidFill>
                  <a:srgbClr val="0000FF"/>
                </a:solidFill>
              </a:rPr>
              <a:t>// PC = R1 + Mem[R5]</a:t>
            </a:r>
            <a:endParaRPr/>
          </a:p>
        </p:txBody>
      </p:sp>
      <p:sp>
        <p:nvSpPr>
          <p:cNvPr id="1023" name="Google Shape;1023;p83"/>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8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endParaRPr/>
          </a:p>
        </p:txBody>
      </p:sp>
      <p:sp>
        <p:nvSpPr>
          <p:cNvPr id="1029" name="Google Shape;1029;p84"/>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83</a:t>
            </a:fld>
            <a:endParaRPr/>
          </a:p>
        </p:txBody>
      </p:sp>
      <p:grpSp>
        <p:nvGrpSpPr>
          <p:cNvPr id="1030" name="Google Shape;1030;p84"/>
          <p:cNvGrpSpPr/>
          <p:nvPr/>
        </p:nvGrpSpPr>
        <p:grpSpPr>
          <a:xfrm>
            <a:off x="2743200" y="1701800"/>
            <a:ext cx="8940800" cy="3860800"/>
            <a:chOff x="2057400" y="1276350"/>
            <a:chExt cx="6705600" cy="2895600"/>
          </a:xfrm>
        </p:grpSpPr>
        <p:sp>
          <p:nvSpPr>
            <p:cNvPr id="1031" name="Google Shape;1031;p84"/>
            <p:cNvSpPr/>
            <p:nvPr/>
          </p:nvSpPr>
          <p:spPr>
            <a:xfrm>
              <a:off x="2057400" y="1276350"/>
              <a:ext cx="12192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1032" name="Google Shape;1032;p84"/>
            <p:cNvSpPr/>
            <p:nvPr/>
          </p:nvSpPr>
          <p:spPr>
            <a:xfrm>
              <a:off x="3276600" y="1276350"/>
              <a:ext cx="12192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register no</a:t>
              </a:r>
              <a:endParaRPr/>
            </a:p>
          </p:txBody>
        </p:sp>
        <p:sp>
          <p:nvSpPr>
            <p:cNvPr id="1033" name="Google Shape;1033;p84"/>
            <p:cNvSpPr/>
            <p:nvPr/>
          </p:nvSpPr>
          <p:spPr>
            <a:xfrm>
              <a:off x="2743200" y="2647950"/>
              <a:ext cx="1524000" cy="1524000"/>
            </a:xfrm>
            <a:prstGeom prst="rect">
              <a:avLst/>
            </a:prstGeom>
            <a:solidFill>
              <a:srgbClr val="DDEAF6"/>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34" name="Google Shape;1034;p84"/>
            <p:cNvSpPr/>
            <p:nvPr/>
          </p:nvSpPr>
          <p:spPr>
            <a:xfrm>
              <a:off x="2743200" y="3181350"/>
              <a:ext cx="1524000" cy="304800"/>
            </a:xfrm>
            <a:prstGeom prst="rect">
              <a:avLst/>
            </a:prstGeom>
            <a:solidFill>
              <a:srgbClr val="E1EFD8"/>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000090"/>
                </a:solidFill>
                <a:latin typeface="Calibri"/>
                <a:ea typeface="Calibri"/>
                <a:cs typeface="Calibri"/>
                <a:sym typeface="Calibri"/>
              </a:endParaRPr>
            </a:p>
          </p:txBody>
        </p:sp>
        <p:sp>
          <p:nvSpPr>
            <p:cNvPr id="1035" name="Google Shape;1035;p84"/>
            <p:cNvSpPr txBox="1"/>
            <p:nvPr/>
          </p:nvSpPr>
          <p:spPr>
            <a:xfrm>
              <a:off x="2514600" y="2266950"/>
              <a:ext cx="2133600" cy="34624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Register Bank</a:t>
              </a:r>
              <a:endParaRPr/>
            </a:p>
          </p:txBody>
        </p:sp>
        <p:sp>
          <p:nvSpPr>
            <p:cNvPr id="1036" name="Google Shape;1036;p84"/>
            <p:cNvSpPr/>
            <p:nvPr/>
          </p:nvSpPr>
          <p:spPr>
            <a:xfrm>
              <a:off x="4495800" y="1276350"/>
              <a:ext cx="12192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000090"/>
                </a:solidFill>
                <a:latin typeface="Calibri"/>
                <a:ea typeface="Calibri"/>
                <a:cs typeface="Calibri"/>
                <a:sym typeface="Calibri"/>
              </a:endParaRPr>
            </a:p>
          </p:txBody>
        </p:sp>
        <p:sp>
          <p:nvSpPr>
            <p:cNvPr id="1037" name="Google Shape;1037;p84"/>
            <p:cNvSpPr/>
            <p:nvPr/>
          </p:nvSpPr>
          <p:spPr>
            <a:xfrm>
              <a:off x="6934200" y="2647950"/>
              <a:ext cx="1524000" cy="1524000"/>
            </a:xfrm>
            <a:prstGeom prst="rect">
              <a:avLst/>
            </a:prstGeom>
            <a:solidFill>
              <a:srgbClr val="DDEAF6"/>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38" name="Google Shape;1038;p84"/>
            <p:cNvSpPr/>
            <p:nvPr/>
          </p:nvSpPr>
          <p:spPr>
            <a:xfrm>
              <a:off x="6934200" y="3181350"/>
              <a:ext cx="1524000" cy="304800"/>
            </a:xfrm>
            <a:prstGeom prst="rect">
              <a:avLst/>
            </a:prstGeom>
            <a:solidFill>
              <a:srgbClr val="E1EFD8"/>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operand</a:t>
              </a:r>
              <a:endParaRPr/>
            </a:p>
          </p:txBody>
        </p:sp>
        <p:sp>
          <p:nvSpPr>
            <p:cNvPr id="1039" name="Google Shape;1039;p84"/>
            <p:cNvSpPr txBox="1"/>
            <p:nvPr/>
          </p:nvSpPr>
          <p:spPr>
            <a:xfrm>
              <a:off x="6629400" y="2266950"/>
              <a:ext cx="2133600" cy="34624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Memory</a:t>
              </a:r>
              <a:endParaRPr/>
            </a:p>
          </p:txBody>
        </p:sp>
        <p:cxnSp>
          <p:nvCxnSpPr>
            <p:cNvPr id="1040" name="Google Shape;1040;p84"/>
            <p:cNvCxnSpPr>
              <a:stCxn id="1034" idx="3"/>
              <a:endCxn id="1038" idx="1"/>
            </p:cNvCxnSpPr>
            <p:nvPr/>
          </p:nvCxnSpPr>
          <p:spPr>
            <a:xfrm>
              <a:off x="4267200" y="3333750"/>
              <a:ext cx="2667000" cy="0"/>
            </a:xfrm>
            <a:prstGeom prst="straightConnector1">
              <a:avLst/>
            </a:prstGeom>
            <a:noFill/>
            <a:ln w="12700" cap="flat" cmpd="sng">
              <a:solidFill>
                <a:srgbClr val="0C0C0C"/>
              </a:solidFill>
              <a:prstDash val="solid"/>
              <a:miter lim="8000"/>
              <a:headEnd type="none" w="sm" len="sm"/>
              <a:tailEnd type="stealth" w="med" len="med"/>
            </a:ln>
          </p:spPr>
        </p:cxnSp>
        <p:cxnSp>
          <p:nvCxnSpPr>
            <p:cNvPr id="1041" name="Google Shape;1041;p84"/>
            <p:cNvCxnSpPr>
              <a:endCxn id="1034" idx="1"/>
            </p:cNvCxnSpPr>
            <p:nvPr/>
          </p:nvCxnSpPr>
          <p:spPr>
            <a:xfrm>
              <a:off x="2286000" y="3333750"/>
              <a:ext cx="457200" cy="0"/>
            </a:xfrm>
            <a:prstGeom prst="straightConnector1">
              <a:avLst/>
            </a:prstGeom>
            <a:noFill/>
            <a:ln w="12700" cap="flat" cmpd="sng">
              <a:solidFill>
                <a:srgbClr val="0C0C0C"/>
              </a:solidFill>
              <a:prstDash val="solid"/>
              <a:miter lim="8000"/>
              <a:headEnd type="none" w="sm" len="sm"/>
              <a:tailEnd type="stealth" w="med" len="med"/>
            </a:ln>
          </p:spPr>
        </p:cxnSp>
        <p:cxnSp>
          <p:nvCxnSpPr>
            <p:cNvPr id="1042" name="Google Shape;1042;p84"/>
            <p:cNvCxnSpPr/>
            <p:nvPr/>
          </p:nvCxnSpPr>
          <p:spPr>
            <a:xfrm rot="10800000">
              <a:off x="2286000" y="2038350"/>
              <a:ext cx="0" cy="1295400"/>
            </a:xfrm>
            <a:prstGeom prst="straightConnector1">
              <a:avLst/>
            </a:prstGeom>
            <a:noFill/>
            <a:ln w="12700" cap="flat" cmpd="sng">
              <a:solidFill>
                <a:srgbClr val="0C0C0C"/>
              </a:solidFill>
              <a:prstDash val="solid"/>
              <a:miter lim="8000"/>
              <a:headEnd type="none" w="sm" len="sm"/>
              <a:tailEnd type="none" w="sm" len="sm"/>
            </a:ln>
          </p:spPr>
        </p:cxnSp>
        <p:cxnSp>
          <p:nvCxnSpPr>
            <p:cNvPr id="1043" name="Google Shape;1043;p84"/>
            <p:cNvCxnSpPr/>
            <p:nvPr/>
          </p:nvCxnSpPr>
          <p:spPr>
            <a:xfrm>
              <a:off x="2286000" y="2038350"/>
              <a:ext cx="1600200" cy="0"/>
            </a:xfrm>
            <a:prstGeom prst="straightConnector1">
              <a:avLst/>
            </a:prstGeom>
            <a:noFill/>
            <a:ln w="12700" cap="flat" cmpd="sng">
              <a:solidFill>
                <a:srgbClr val="0C0C0C"/>
              </a:solidFill>
              <a:prstDash val="solid"/>
              <a:miter lim="8000"/>
              <a:headEnd type="none" w="sm" len="sm"/>
              <a:tailEnd type="none" w="sm" len="sm"/>
            </a:ln>
          </p:spPr>
        </p:cxnSp>
        <p:cxnSp>
          <p:nvCxnSpPr>
            <p:cNvPr id="1044" name="Google Shape;1044;p84"/>
            <p:cNvCxnSpPr>
              <a:endCxn id="1032" idx="2"/>
            </p:cNvCxnSpPr>
            <p:nvPr/>
          </p:nvCxnSpPr>
          <p:spPr>
            <a:xfrm rot="10800000">
              <a:off x="3886200" y="1657350"/>
              <a:ext cx="0" cy="381000"/>
            </a:xfrm>
            <a:prstGeom prst="straightConnector1">
              <a:avLst/>
            </a:prstGeom>
            <a:noFill/>
            <a:ln w="12700" cap="flat" cmpd="sng">
              <a:solidFill>
                <a:srgbClr val="0C0C0C"/>
              </a:solidFill>
              <a:prstDash val="solid"/>
              <a:miter lim="8000"/>
              <a:headEnd type="none" w="sm" len="sm"/>
              <a:tailEnd type="none" w="sm" len="sm"/>
            </a:ln>
          </p:spPr>
        </p:cxn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p8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(f) Relative Addressing (PC Relative)</a:t>
            </a:r>
            <a:endParaRPr/>
          </a:p>
        </p:txBody>
      </p:sp>
      <p:sp>
        <p:nvSpPr>
          <p:cNvPr id="1050" name="Google Shape;1050;p85"/>
          <p:cNvSpPr txBox="1">
            <a:spLocks noGrp="1"/>
          </p:cNvSpPr>
          <p:nvPr>
            <p:ph type="body" idx="1"/>
          </p:nvPr>
        </p:nvSpPr>
        <p:spPr>
          <a:xfrm>
            <a:off x="609600" y="1600202"/>
            <a:ext cx="11379200" cy="4267199"/>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The instruction specifies an offset of displacement, which is added to the program counter (PC) to get the effective address of the operand.</a:t>
            </a:r>
            <a:endParaRPr/>
          </a:p>
          <a:p>
            <a:pPr marL="685800" lvl="1" indent="-228600" algn="l" rtl="0">
              <a:lnSpc>
                <a:spcPct val="110000"/>
              </a:lnSpc>
              <a:spcBef>
                <a:spcPts val="600"/>
              </a:spcBef>
              <a:spcAft>
                <a:spcPts val="0"/>
              </a:spcAft>
              <a:buClr>
                <a:schemeClr val="dk1"/>
              </a:buClr>
              <a:buSzPts val="2400"/>
              <a:buChar char="•"/>
            </a:pPr>
            <a:r>
              <a:rPr lang="en-US"/>
              <a:t>Since the number of bits to specify the offset is limited, the range of relative addressing is also limited.</a:t>
            </a:r>
            <a:endParaRPr/>
          </a:p>
          <a:p>
            <a:pPr marL="685800" lvl="1" indent="-228600" algn="l" rtl="0">
              <a:lnSpc>
                <a:spcPct val="110000"/>
              </a:lnSpc>
              <a:spcBef>
                <a:spcPts val="600"/>
              </a:spcBef>
              <a:spcAft>
                <a:spcPts val="0"/>
              </a:spcAft>
              <a:buClr>
                <a:schemeClr val="dk1"/>
              </a:buClr>
              <a:buSzPts val="2400"/>
              <a:buChar char="•"/>
            </a:pPr>
            <a:r>
              <a:rPr lang="en-US"/>
              <a:t>If a 12-bit offset is specified, it can have values ranging from -2048 to +2047.</a:t>
            </a:r>
            <a:endParaRPr/>
          </a:p>
        </p:txBody>
      </p:sp>
      <p:sp>
        <p:nvSpPr>
          <p:cNvPr id="1051" name="Google Shape;1051;p85"/>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84</a:t>
            </a:fld>
            <a:endParaRPr/>
          </a:p>
        </p:txBody>
      </p:sp>
      <p:grpSp>
        <p:nvGrpSpPr>
          <p:cNvPr id="1052" name="Google Shape;1052;p85"/>
          <p:cNvGrpSpPr/>
          <p:nvPr/>
        </p:nvGrpSpPr>
        <p:grpSpPr>
          <a:xfrm>
            <a:off x="914400" y="4304818"/>
            <a:ext cx="10871200" cy="1727200"/>
            <a:chOff x="685800" y="3028950"/>
            <a:chExt cx="8153400" cy="1295400"/>
          </a:xfrm>
        </p:grpSpPr>
        <p:sp>
          <p:nvSpPr>
            <p:cNvPr id="1053" name="Google Shape;1053;p85"/>
            <p:cNvSpPr/>
            <p:nvPr/>
          </p:nvSpPr>
          <p:spPr>
            <a:xfrm>
              <a:off x="685800" y="3028950"/>
              <a:ext cx="12192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1054" name="Google Shape;1054;p85"/>
            <p:cNvSpPr/>
            <p:nvPr/>
          </p:nvSpPr>
          <p:spPr>
            <a:xfrm>
              <a:off x="1905000" y="3028950"/>
              <a:ext cx="19812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offset</a:t>
              </a:r>
              <a:endParaRPr/>
            </a:p>
          </p:txBody>
        </p:sp>
        <p:sp>
          <p:nvSpPr>
            <p:cNvPr id="1055" name="Google Shape;1055;p85"/>
            <p:cNvSpPr/>
            <p:nvPr/>
          </p:nvSpPr>
          <p:spPr>
            <a:xfrm>
              <a:off x="685800" y="3790950"/>
              <a:ext cx="3200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PC</a:t>
              </a:r>
              <a:endParaRPr/>
            </a:p>
          </p:txBody>
        </p:sp>
        <p:sp>
          <p:nvSpPr>
            <p:cNvPr id="1056" name="Google Shape;1056;p85"/>
            <p:cNvSpPr/>
            <p:nvPr/>
          </p:nvSpPr>
          <p:spPr>
            <a:xfrm>
              <a:off x="4572000" y="3105150"/>
              <a:ext cx="838200" cy="990600"/>
            </a:xfrm>
            <a:prstGeom prst="rect">
              <a:avLst/>
            </a:prstGeom>
            <a:solidFill>
              <a:srgbClr val="E1EFD8"/>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ADDER</a:t>
              </a:r>
              <a:endParaRPr/>
            </a:p>
          </p:txBody>
        </p:sp>
        <p:cxnSp>
          <p:nvCxnSpPr>
            <p:cNvPr id="1057" name="Google Shape;1057;p85"/>
            <p:cNvCxnSpPr>
              <a:stCxn id="1054" idx="3"/>
            </p:cNvCxnSpPr>
            <p:nvPr/>
          </p:nvCxnSpPr>
          <p:spPr>
            <a:xfrm>
              <a:off x="3886200" y="3219450"/>
              <a:ext cx="685800" cy="38100"/>
            </a:xfrm>
            <a:prstGeom prst="straightConnector1">
              <a:avLst/>
            </a:prstGeom>
            <a:noFill/>
            <a:ln w="12700" cap="flat" cmpd="sng">
              <a:solidFill>
                <a:srgbClr val="0C0C0C"/>
              </a:solidFill>
              <a:prstDash val="solid"/>
              <a:miter lim="8000"/>
              <a:headEnd type="none" w="sm" len="sm"/>
              <a:tailEnd type="stealth" w="med" len="med"/>
            </a:ln>
          </p:spPr>
        </p:cxnSp>
        <p:cxnSp>
          <p:nvCxnSpPr>
            <p:cNvPr id="1058" name="Google Shape;1058;p85"/>
            <p:cNvCxnSpPr>
              <a:stCxn id="1055" idx="3"/>
            </p:cNvCxnSpPr>
            <p:nvPr/>
          </p:nvCxnSpPr>
          <p:spPr>
            <a:xfrm rot="10800000" flipH="1">
              <a:off x="3886200" y="3943350"/>
              <a:ext cx="685800" cy="38100"/>
            </a:xfrm>
            <a:prstGeom prst="straightConnector1">
              <a:avLst/>
            </a:prstGeom>
            <a:noFill/>
            <a:ln w="12700" cap="flat" cmpd="sng">
              <a:solidFill>
                <a:srgbClr val="0C0C0C"/>
              </a:solidFill>
              <a:prstDash val="solid"/>
              <a:miter lim="8000"/>
              <a:headEnd type="none" w="sm" len="sm"/>
              <a:tailEnd type="stealth" w="med" len="med"/>
            </a:ln>
          </p:spPr>
        </p:cxnSp>
        <p:sp>
          <p:nvSpPr>
            <p:cNvPr id="1059" name="Google Shape;1059;p85"/>
            <p:cNvSpPr/>
            <p:nvPr/>
          </p:nvSpPr>
          <p:spPr>
            <a:xfrm>
              <a:off x="6934200" y="3409950"/>
              <a:ext cx="1524000" cy="914400"/>
            </a:xfrm>
            <a:prstGeom prst="rect">
              <a:avLst/>
            </a:prstGeom>
            <a:solidFill>
              <a:srgbClr val="DDEAF6"/>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60" name="Google Shape;1060;p85"/>
            <p:cNvSpPr/>
            <p:nvPr/>
          </p:nvSpPr>
          <p:spPr>
            <a:xfrm>
              <a:off x="6934200" y="3714750"/>
              <a:ext cx="1524000" cy="304800"/>
            </a:xfrm>
            <a:prstGeom prst="rect">
              <a:avLst/>
            </a:prstGeom>
            <a:solidFill>
              <a:srgbClr val="E1EFD8"/>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operand</a:t>
              </a:r>
              <a:endParaRPr/>
            </a:p>
          </p:txBody>
        </p:sp>
        <p:sp>
          <p:nvSpPr>
            <p:cNvPr id="1061" name="Google Shape;1061;p85"/>
            <p:cNvSpPr txBox="1"/>
            <p:nvPr/>
          </p:nvSpPr>
          <p:spPr>
            <a:xfrm>
              <a:off x="6705600" y="3028950"/>
              <a:ext cx="2133600" cy="34624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Memory</a:t>
              </a:r>
              <a:endParaRPr/>
            </a:p>
          </p:txBody>
        </p:sp>
        <p:cxnSp>
          <p:nvCxnSpPr>
            <p:cNvPr id="1062" name="Google Shape;1062;p85"/>
            <p:cNvCxnSpPr>
              <a:stCxn id="1056" idx="3"/>
              <a:endCxn id="1060" idx="1"/>
            </p:cNvCxnSpPr>
            <p:nvPr/>
          </p:nvCxnSpPr>
          <p:spPr>
            <a:xfrm>
              <a:off x="5410200" y="3600450"/>
              <a:ext cx="1524000" cy="266700"/>
            </a:xfrm>
            <a:prstGeom prst="straightConnector1">
              <a:avLst/>
            </a:prstGeom>
            <a:noFill/>
            <a:ln w="12700" cap="flat" cmpd="sng">
              <a:solidFill>
                <a:srgbClr val="0C0C0C"/>
              </a:solidFill>
              <a:prstDash val="solid"/>
              <a:miter lim="8000"/>
              <a:headEnd type="none" w="sm" len="sm"/>
              <a:tailEnd type="stealth" w="med" len="med"/>
            </a:ln>
          </p:spPr>
        </p:cxn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p8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(g) Indexed Addressing</a:t>
            </a:r>
            <a:endParaRPr/>
          </a:p>
        </p:txBody>
      </p:sp>
      <p:sp>
        <p:nvSpPr>
          <p:cNvPr id="1068" name="Google Shape;1068;p86"/>
          <p:cNvSpPr txBox="1">
            <a:spLocks noGrp="1"/>
          </p:cNvSpPr>
          <p:nvPr>
            <p:ph type="body" idx="1"/>
          </p:nvPr>
        </p:nvSpPr>
        <p:spPr>
          <a:xfrm>
            <a:off x="609600" y="1600202"/>
            <a:ext cx="10972800" cy="4522806"/>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chemeClr val="dk1"/>
              </a:buClr>
              <a:buSzPts val="2667"/>
              <a:buChar char="•"/>
            </a:pPr>
            <a:r>
              <a:rPr lang="en-US" sz="2667"/>
              <a:t>Either a special-purpose register, or a general-purpose register, is used as </a:t>
            </a:r>
            <a:r>
              <a:rPr lang="en-US" sz="2667" i="1">
                <a:solidFill>
                  <a:srgbClr val="800000"/>
                </a:solidFill>
              </a:rPr>
              <a:t>index register </a:t>
            </a:r>
            <a:r>
              <a:rPr lang="en-US" sz="2667"/>
              <a:t>in this addressing mode.</a:t>
            </a:r>
            <a:endParaRPr/>
          </a:p>
          <a:p>
            <a:pPr marL="228600" lvl="0" indent="-228600" algn="l" rtl="0">
              <a:lnSpc>
                <a:spcPct val="110000"/>
              </a:lnSpc>
              <a:spcBef>
                <a:spcPts val="1200"/>
              </a:spcBef>
              <a:spcAft>
                <a:spcPts val="0"/>
              </a:spcAft>
              <a:buClr>
                <a:schemeClr val="dk1"/>
              </a:buClr>
              <a:buSzPts val="2667"/>
              <a:buChar char="•"/>
            </a:pPr>
            <a:r>
              <a:rPr lang="en-US" sz="2667"/>
              <a:t>The instruction specifies an offset of displacement, which is added to the index register to get the effective address of the operand.</a:t>
            </a:r>
            <a:endParaRPr/>
          </a:p>
          <a:p>
            <a:pPr marL="228600" lvl="0" indent="-228600" algn="l" rtl="0">
              <a:lnSpc>
                <a:spcPct val="110000"/>
              </a:lnSpc>
              <a:spcBef>
                <a:spcPts val="1200"/>
              </a:spcBef>
              <a:spcAft>
                <a:spcPts val="0"/>
              </a:spcAft>
              <a:buClr>
                <a:schemeClr val="dk1"/>
              </a:buClr>
              <a:buSzPts val="2667"/>
              <a:buChar char="•"/>
            </a:pPr>
            <a:r>
              <a:rPr lang="en-US" sz="2667"/>
              <a:t>Example:</a:t>
            </a:r>
            <a:endParaRPr/>
          </a:p>
          <a:p>
            <a:pPr marL="685800" lvl="1" indent="-228600" algn="l" rtl="0">
              <a:lnSpc>
                <a:spcPct val="110000"/>
              </a:lnSpc>
              <a:spcBef>
                <a:spcPts val="600"/>
              </a:spcBef>
              <a:spcAft>
                <a:spcPts val="0"/>
              </a:spcAft>
              <a:buClr>
                <a:schemeClr val="dk1"/>
              </a:buClr>
              <a:buSzPts val="2400"/>
              <a:buChar char="•"/>
            </a:pPr>
            <a:r>
              <a:rPr lang="en-US"/>
              <a:t>LOAD   R1,1050(R3)	</a:t>
            </a:r>
            <a:r>
              <a:rPr lang="en-US">
                <a:solidFill>
                  <a:srgbClr val="0000FF"/>
                </a:solidFill>
              </a:rPr>
              <a:t>// R1 = Mem[1050+R3]</a:t>
            </a:r>
            <a:endParaRPr/>
          </a:p>
          <a:p>
            <a:pPr marL="228600" lvl="0" indent="-228600" algn="l" rtl="0">
              <a:lnSpc>
                <a:spcPct val="110000"/>
              </a:lnSpc>
              <a:spcBef>
                <a:spcPts val="1200"/>
              </a:spcBef>
              <a:spcAft>
                <a:spcPts val="0"/>
              </a:spcAft>
              <a:buClr>
                <a:schemeClr val="dk1"/>
              </a:buClr>
              <a:buSzPts val="2667"/>
              <a:buChar char="•"/>
            </a:pPr>
            <a:r>
              <a:rPr lang="en-US" sz="2667"/>
              <a:t>Can be used to sequentially access the elements of an array.</a:t>
            </a:r>
            <a:endParaRPr/>
          </a:p>
          <a:p>
            <a:pPr marL="685800" lvl="1" indent="-228600" algn="l" rtl="0">
              <a:lnSpc>
                <a:spcPct val="110000"/>
              </a:lnSpc>
              <a:spcBef>
                <a:spcPts val="600"/>
              </a:spcBef>
              <a:spcAft>
                <a:spcPts val="0"/>
              </a:spcAft>
              <a:buClr>
                <a:schemeClr val="dk1"/>
              </a:buClr>
              <a:buSzPts val="2400"/>
              <a:buChar char="•"/>
            </a:pPr>
            <a:r>
              <a:rPr lang="en-US"/>
              <a:t>Offset gives the starting address of the array, and the index register value specifies the array element to be used.</a:t>
            </a:r>
            <a:endParaRPr/>
          </a:p>
        </p:txBody>
      </p:sp>
      <p:sp>
        <p:nvSpPr>
          <p:cNvPr id="1069" name="Google Shape;1069;p86"/>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85</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p8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endParaRPr/>
          </a:p>
        </p:txBody>
      </p:sp>
      <p:sp>
        <p:nvSpPr>
          <p:cNvPr id="1075" name="Google Shape;1075;p87"/>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86</a:t>
            </a:fld>
            <a:endParaRPr/>
          </a:p>
        </p:txBody>
      </p:sp>
      <p:grpSp>
        <p:nvGrpSpPr>
          <p:cNvPr id="1076" name="Google Shape;1076;p87"/>
          <p:cNvGrpSpPr/>
          <p:nvPr/>
        </p:nvGrpSpPr>
        <p:grpSpPr>
          <a:xfrm>
            <a:off x="2743200" y="1701800"/>
            <a:ext cx="8940800" cy="3860800"/>
            <a:chOff x="2057400" y="1276350"/>
            <a:chExt cx="6705600" cy="2895600"/>
          </a:xfrm>
        </p:grpSpPr>
        <p:sp>
          <p:nvSpPr>
            <p:cNvPr id="1077" name="Google Shape;1077;p87"/>
            <p:cNvSpPr/>
            <p:nvPr/>
          </p:nvSpPr>
          <p:spPr>
            <a:xfrm>
              <a:off x="2057400" y="1276350"/>
              <a:ext cx="12192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1078" name="Google Shape;1078;p87"/>
            <p:cNvSpPr/>
            <p:nvPr/>
          </p:nvSpPr>
          <p:spPr>
            <a:xfrm>
              <a:off x="3276600" y="1276350"/>
              <a:ext cx="12192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index reg</a:t>
              </a:r>
              <a:endParaRPr sz="2400">
                <a:solidFill>
                  <a:srgbClr val="000090"/>
                </a:solidFill>
                <a:latin typeface="Calibri"/>
                <a:ea typeface="Calibri"/>
                <a:cs typeface="Calibri"/>
                <a:sym typeface="Calibri"/>
              </a:endParaRPr>
            </a:p>
          </p:txBody>
        </p:sp>
        <p:sp>
          <p:nvSpPr>
            <p:cNvPr id="1079" name="Google Shape;1079;p87"/>
            <p:cNvSpPr/>
            <p:nvPr/>
          </p:nvSpPr>
          <p:spPr>
            <a:xfrm>
              <a:off x="2743200" y="2647950"/>
              <a:ext cx="1524000" cy="1524000"/>
            </a:xfrm>
            <a:prstGeom prst="rect">
              <a:avLst/>
            </a:prstGeom>
            <a:solidFill>
              <a:srgbClr val="DDEAF6"/>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80" name="Google Shape;1080;p87"/>
            <p:cNvSpPr/>
            <p:nvPr/>
          </p:nvSpPr>
          <p:spPr>
            <a:xfrm>
              <a:off x="2743200" y="3181350"/>
              <a:ext cx="1524000" cy="304800"/>
            </a:xfrm>
            <a:prstGeom prst="rect">
              <a:avLst/>
            </a:prstGeom>
            <a:solidFill>
              <a:srgbClr val="E1EFD8"/>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000090"/>
                </a:solidFill>
                <a:latin typeface="Calibri"/>
                <a:ea typeface="Calibri"/>
                <a:cs typeface="Calibri"/>
                <a:sym typeface="Calibri"/>
              </a:endParaRPr>
            </a:p>
          </p:txBody>
        </p:sp>
        <p:sp>
          <p:nvSpPr>
            <p:cNvPr id="1081" name="Google Shape;1081;p87"/>
            <p:cNvSpPr txBox="1"/>
            <p:nvPr/>
          </p:nvSpPr>
          <p:spPr>
            <a:xfrm>
              <a:off x="2514600" y="2266950"/>
              <a:ext cx="2133600" cy="34624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Register Bank</a:t>
              </a:r>
              <a:endParaRPr/>
            </a:p>
          </p:txBody>
        </p:sp>
        <p:sp>
          <p:nvSpPr>
            <p:cNvPr id="1082" name="Google Shape;1082;p87"/>
            <p:cNvSpPr/>
            <p:nvPr/>
          </p:nvSpPr>
          <p:spPr>
            <a:xfrm>
              <a:off x="4495800" y="1276350"/>
              <a:ext cx="12192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offset</a:t>
              </a:r>
              <a:endParaRPr/>
            </a:p>
          </p:txBody>
        </p:sp>
        <p:sp>
          <p:nvSpPr>
            <p:cNvPr id="1083" name="Google Shape;1083;p87"/>
            <p:cNvSpPr/>
            <p:nvPr/>
          </p:nvSpPr>
          <p:spPr>
            <a:xfrm>
              <a:off x="6934200" y="2647950"/>
              <a:ext cx="1524000" cy="1524000"/>
            </a:xfrm>
            <a:prstGeom prst="rect">
              <a:avLst/>
            </a:prstGeom>
            <a:solidFill>
              <a:srgbClr val="DDEAF6"/>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84" name="Google Shape;1084;p87"/>
            <p:cNvSpPr/>
            <p:nvPr/>
          </p:nvSpPr>
          <p:spPr>
            <a:xfrm>
              <a:off x="6934200" y="3181350"/>
              <a:ext cx="1524000" cy="304800"/>
            </a:xfrm>
            <a:prstGeom prst="rect">
              <a:avLst/>
            </a:prstGeom>
            <a:solidFill>
              <a:srgbClr val="E1EFD8"/>
            </a:solidFill>
            <a:ln w="9525"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operand</a:t>
              </a:r>
              <a:endParaRPr/>
            </a:p>
          </p:txBody>
        </p:sp>
        <p:sp>
          <p:nvSpPr>
            <p:cNvPr id="1085" name="Google Shape;1085;p87"/>
            <p:cNvSpPr txBox="1"/>
            <p:nvPr/>
          </p:nvSpPr>
          <p:spPr>
            <a:xfrm>
              <a:off x="6629400" y="2266950"/>
              <a:ext cx="2133600" cy="34624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Memory</a:t>
              </a:r>
              <a:endParaRPr/>
            </a:p>
          </p:txBody>
        </p:sp>
        <p:cxnSp>
          <p:nvCxnSpPr>
            <p:cNvPr id="1086" name="Google Shape;1086;p87"/>
            <p:cNvCxnSpPr>
              <a:stCxn id="1080" idx="3"/>
              <a:endCxn id="1087" idx="1"/>
            </p:cNvCxnSpPr>
            <p:nvPr/>
          </p:nvCxnSpPr>
          <p:spPr>
            <a:xfrm>
              <a:off x="4267200" y="3333750"/>
              <a:ext cx="838200" cy="38100"/>
            </a:xfrm>
            <a:prstGeom prst="straightConnector1">
              <a:avLst/>
            </a:prstGeom>
            <a:noFill/>
            <a:ln w="12700" cap="flat" cmpd="sng">
              <a:solidFill>
                <a:srgbClr val="0C0C0C"/>
              </a:solidFill>
              <a:prstDash val="solid"/>
              <a:miter lim="8000"/>
              <a:headEnd type="none" w="sm" len="sm"/>
              <a:tailEnd type="stealth" w="med" len="med"/>
            </a:ln>
          </p:spPr>
        </p:cxnSp>
        <p:cxnSp>
          <p:nvCxnSpPr>
            <p:cNvPr id="1088" name="Google Shape;1088;p87"/>
            <p:cNvCxnSpPr>
              <a:endCxn id="1080" idx="1"/>
            </p:cNvCxnSpPr>
            <p:nvPr/>
          </p:nvCxnSpPr>
          <p:spPr>
            <a:xfrm>
              <a:off x="2286000" y="3333750"/>
              <a:ext cx="457200" cy="0"/>
            </a:xfrm>
            <a:prstGeom prst="straightConnector1">
              <a:avLst/>
            </a:prstGeom>
            <a:noFill/>
            <a:ln w="12700" cap="flat" cmpd="sng">
              <a:solidFill>
                <a:srgbClr val="0C0C0C"/>
              </a:solidFill>
              <a:prstDash val="solid"/>
              <a:miter lim="8000"/>
              <a:headEnd type="none" w="sm" len="sm"/>
              <a:tailEnd type="stealth" w="med" len="med"/>
            </a:ln>
          </p:spPr>
        </p:cxnSp>
        <p:cxnSp>
          <p:nvCxnSpPr>
            <p:cNvPr id="1089" name="Google Shape;1089;p87"/>
            <p:cNvCxnSpPr/>
            <p:nvPr/>
          </p:nvCxnSpPr>
          <p:spPr>
            <a:xfrm rot="10800000">
              <a:off x="2286000" y="2038350"/>
              <a:ext cx="0" cy="1295400"/>
            </a:xfrm>
            <a:prstGeom prst="straightConnector1">
              <a:avLst/>
            </a:prstGeom>
            <a:noFill/>
            <a:ln w="12700" cap="flat" cmpd="sng">
              <a:solidFill>
                <a:srgbClr val="0C0C0C"/>
              </a:solidFill>
              <a:prstDash val="solid"/>
              <a:miter lim="8000"/>
              <a:headEnd type="none" w="sm" len="sm"/>
              <a:tailEnd type="none" w="sm" len="sm"/>
            </a:ln>
          </p:spPr>
        </p:cxnSp>
        <p:cxnSp>
          <p:nvCxnSpPr>
            <p:cNvPr id="1090" name="Google Shape;1090;p87"/>
            <p:cNvCxnSpPr/>
            <p:nvPr/>
          </p:nvCxnSpPr>
          <p:spPr>
            <a:xfrm>
              <a:off x="2286000" y="2038350"/>
              <a:ext cx="1600200" cy="0"/>
            </a:xfrm>
            <a:prstGeom prst="straightConnector1">
              <a:avLst/>
            </a:prstGeom>
            <a:noFill/>
            <a:ln w="12700" cap="flat" cmpd="sng">
              <a:solidFill>
                <a:srgbClr val="0C0C0C"/>
              </a:solidFill>
              <a:prstDash val="solid"/>
              <a:miter lim="8000"/>
              <a:headEnd type="none" w="sm" len="sm"/>
              <a:tailEnd type="none" w="sm" len="sm"/>
            </a:ln>
          </p:spPr>
        </p:cxnSp>
        <p:cxnSp>
          <p:nvCxnSpPr>
            <p:cNvPr id="1091" name="Google Shape;1091;p87"/>
            <p:cNvCxnSpPr>
              <a:endCxn id="1078" idx="2"/>
            </p:cNvCxnSpPr>
            <p:nvPr/>
          </p:nvCxnSpPr>
          <p:spPr>
            <a:xfrm rot="10800000">
              <a:off x="3886200" y="1657350"/>
              <a:ext cx="0" cy="381000"/>
            </a:xfrm>
            <a:prstGeom prst="straightConnector1">
              <a:avLst/>
            </a:prstGeom>
            <a:noFill/>
            <a:ln w="12700" cap="flat" cmpd="sng">
              <a:solidFill>
                <a:srgbClr val="0C0C0C"/>
              </a:solidFill>
              <a:prstDash val="solid"/>
              <a:miter lim="8000"/>
              <a:headEnd type="none" w="sm" len="sm"/>
              <a:tailEnd type="none" w="sm" len="sm"/>
            </a:ln>
          </p:spPr>
        </p:cxnSp>
        <p:sp>
          <p:nvSpPr>
            <p:cNvPr id="1087" name="Google Shape;1087;p87"/>
            <p:cNvSpPr/>
            <p:nvPr/>
          </p:nvSpPr>
          <p:spPr>
            <a:xfrm>
              <a:off x="5105400" y="2876550"/>
              <a:ext cx="838200" cy="990600"/>
            </a:xfrm>
            <a:prstGeom prst="rect">
              <a:avLst/>
            </a:prstGeom>
            <a:solidFill>
              <a:srgbClr val="E1EFD8"/>
            </a:solidFill>
            <a:ln w="25400" cap="flat" cmpd="sng">
              <a:solidFill>
                <a:srgbClr val="8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ADDER</a:t>
              </a:r>
              <a:endParaRPr/>
            </a:p>
          </p:txBody>
        </p:sp>
        <p:cxnSp>
          <p:nvCxnSpPr>
            <p:cNvPr id="1092" name="Google Shape;1092;p87"/>
            <p:cNvCxnSpPr>
              <a:stCxn id="1082" idx="2"/>
              <a:endCxn id="1087" idx="0"/>
            </p:cNvCxnSpPr>
            <p:nvPr/>
          </p:nvCxnSpPr>
          <p:spPr>
            <a:xfrm>
              <a:off x="5105400" y="1657350"/>
              <a:ext cx="419100" cy="1219200"/>
            </a:xfrm>
            <a:prstGeom prst="straightConnector1">
              <a:avLst/>
            </a:prstGeom>
            <a:noFill/>
            <a:ln w="12700" cap="flat" cmpd="sng">
              <a:solidFill>
                <a:srgbClr val="0C0C0C"/>
              </a:solidFill>
              <a:prstDash val="solid"/>
              <a:miter lim="8000"/>
              <a:headEnd type="none" w="sm" len="sm"/>
              <a:tailEnd type="stealth" w="med" len="med"/>
            </a:ln>
          </p:spPr>
        </p:cxnSp>
        <p:cxnSp>
          <p:nvCxnSpPr>
            <p:cNvPr id="1093" name="Google Shape;1093;p87"/>
            <p:cNvCxnSpPr>
              <a:stCxn id="1087" idx="3"/>
              <a:endCxn id="1084" idx="1"/>
            </p:cNvCxnSpPr>
            <p:nvPr/>
          </p:nvCxnSpPr>
          <p:spPr>
            <a:xfrm rot="10800000" flipH="1">
              <a:off x="5943600" y="3333750"/>
              <a:ext cx="990600" cy="38100"/>
            </a:xfrm>
            <a:prstGeom prst="straightConnector1">
              <a:avLst/>
            </a:prstGeom>
            <a:noFill/>
            <a:ln w="12700" cap="flat" cmpd="sng">
              <a:solidFill>
                <a:srgbClr val="0C0C0C"/>
              </a:solidFill>
              <a:prstDash val="solid"/>
              <a:miter lim="8000"/>
              <a:headEnd type="none" w="sm" len="sm"/>
              <a:tailEnd type="stealth" w="med" len="med"/>
            </a:ln>
          </p:spPr>
        </p:cxn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p8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(h) Stack Addressing</a:t>
            </a:r>
            <a:endParaRPr/>
          </a:p>
        </p:txBody>
      </p:sp>
      <p:sp>
        <p:nvSpPr>
          <p:cNvPr id="1099" name="Google Shape;1099;p88"/>
          <p:cNvSpPr txBox="1">
            <a:spLocks noGrp="1"/>
          </p:cNvSpPr>
          <p:nvPr>
            <p:ph type="body" idx="1"/>
          </p:nvPr>
        </p:nvSpPr>
        <p:spPr>
          <a:xfrm>
            <a:off x="609600" y="1600202"/>
            <a:ext cx="10972800" cy="4267199"/>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chemeClr val="dk1"/>
              </a:buClr>
              <a:buSzPts val="2667"/>
              <a:buChar char="•"/>
            </a:pPr>
            <a:r>
              <a:rPr lang="en-US" sz="2667"/>
              <a:t>Operand is implicitly on top of the stack.</a:t>
            </a:r>
            <a:endParaRPr/>
          </a:p>
          <a:p>
            <a:pPr marL="228600" lvl="0" indent="-228600" algn="l" rtl="0">
              <a:lnSpc>
                <a:spcPct val="110000"/>
              </a:lnSpc>
              <a:spcBef>
                <a:spcPts val="600"/>
              </a:spcBef>
              <a:spcAft>
                <a:spcPts val="0"/>
              </a:spcAft>
              <a:buClr>
                <a:schemeClr val="dk1"/>
              </a:buClr>
              <a:buSzPts val="2667"/>
              <a:buChar char="•"/>
            </a:pPr>
            <a:r>
              <a:rPr lang="en-US" sz="2667"/>
              <a:t>Used in zero-address machines earlier.</a:t>
            </a:r>
            <a:endParaRPr/>
          </a:p>
          <a:p>
            <a:pPr marL="228600" lvl="0" indent="-228600" algn="l" rtl="0">
              <a:lnSpc>
                <a:spcPct val="110000"/>
              </a:lnSpc>
              <a:spcBef>
                <a:spcPts val="600"/>
              </a:spcBef>
              <a:spcAft>
                <a:spcPts val="0"/>
              </a:spcAft>
              <a:buClr>
                <a:schemeClr val="dk1"/>
              </a:buClr>
              <a:buSzPts val="2667"/>
              <a:buChar char="•"/>
            </a:pPr>
            <a:r>
              <a:rPr lang="en-US" sz="2667"/>
              <a:t>Examples:</a:t>
            </a:r>
            <a:endParaRPr/>
          </a:p>
          <a:p>
            <a:pPr marL="685800" lvl="1" indent="-228600" algn="l" rtl="0">
              <a:lnSpc>
                <a:spcPct val="110000"/>
              </a:lnSpc>
              <a:spcBef>
                <a:spcPts val="600"/>
              </a:spcBef>
              <a:spcAft>
                <a:spcPts val="0"/>
              </a:spcAft>
              <a:buClr>
                <a:schemeClr val="dk1"/>
              </a:buClr>
              <a:buSzPts val="2400"/>
              <a:buChar char="•"/>
            </a:pPr>
            <a:r>
              <a:rPr lang="en-US"/>
              <a:t>ADD</a:t>
            </a:r>
            <a:endParaRPr/>
          </a:p>
          <a:p>
            <a:pPr marL="685800" lvl="1" indent="-228600" algn="l" rtl="0">
              <a:lnSpc>
                <a:spcPct val="110000"/>
              </a:lnSpc>
              <a:spcBef>
                <a:spcPts val="600"/>
              </a:spcBef>
              <a:spcAft>
                <a:spcPts val="0"/>
              </a:spcAft>
              <a:buClr>
                <a:schemeClr val="dk1"/>
              </a:buClr>
              <a:buSzPts val="2400"/>
              <a:buChar char="•"/>
            </a:pPr>
            <a:r>
              <a:rPr lang="en-US"/>
              <a:t>PUSH   X</a:t>
            </a:r>
            <a:endParaRPr/>
          </a:p>
          <a:p>
            <a:pPr marL="685800" lvl="1" indent="-228600" algn="l" rtl="0">
              <a:lnSpc>
                <a:spcPct val="110000"/>
              </a:lnSpc>
              <a:spcBef>
                <a:spcPts val="600"/>
              </a:spcBef>
              <a:spcAft>
                <a:spcPts val="0"/>
              </a:spcAft>
              <a:buClr>
                <a:schemeClr val="dk1"/>
              </a:buClr>
              <a:buSzPts val="2400"/>
              <a:buChar char="•"/>
            </a:pPr>
            <a:r>
              <a:rPr lang="en-US"/>
              <a:t>POP     X</a:t>
            </a:r>
            <a:endParaRPr/>
          </a:p>
          <a:p>
            <a:pPr marL="228600" lvl="0" indent="-228600" algn="l" rtl="0">
              <a:lnSpc>
                <a:spcPct val="110000"/>
              </a:lnSpc>
              <a:spcBef>
                <a:spcPts val="600"/>
              </a:spcBef>
              <a:spcAft>
                <a:spcPts val="0"/>
              </a:spcAft>
              <a:buClr>
                <a:schemeClr val="dk1"/>
              </a:buClr>
              <a:buSzPts val="2667"/>
              <a:buChar char="•"/>
            </a:pPr>
            <a:r>
              <a:rPr lang="en-US" sz="2667"/>
              <a:t>Many processors have a special register called the stack pointer (SP) that keeps track of the stack-top in memory.</a:t>
            </a:r>
            <a:endParaRPr/>
          </a:p>
          <a:p>
            <a:pPr marL="685800" lvl="1" indent="-228600" algn="l" rtl="0">
              <a:lnSpc>
                <a:spcPct val="110000"/>
              </a:lnSpc>
              <a:spcBef>
                <a:spcPts val="600"/>
              </a:spcBef>
              <a:spcAft>
                <a:spcPts val="0"/>
              </a:spcAft>
              <a:buClr>
                <a:schemeClr val="dk1"/>
              </a:buClr>
              <a:buSzPts val="2400"/>
              <a:buChar char="•"/>
            </a:pPr>
            <a:r>
              <a:rPr lang="en-US"/>
              <a:t>PUSH, POP, CALL, RET instructions automatically modify SP.</a:t>
            </a:r>
            <a:endParaRPr/>
          </a:p>
        </p:txBody>
      </p:sp>
      <p:sp>
        <p:nvSpPr>
          <p:cNvPr id="1100" name="Google Shape;1100;p88"/>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87</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8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Some Other Addressing Modes</a:t>
            </a:r>
            <a:endParaRPr/>
          </a:p>
        </p:txBody>
      </p:sp>
      <p:sp>
        <p:nvSpPr>
          <p:cNvPr id="1106" name="Google Shape;1106;p89"/>
          <p:cNvSpPr txBox="1">
            <a:spLocks noGrp="1"/>
          </p:cNvSpPr>
          <p:nvPr>
            <p:ph type="body" idx="1"/>
          </p:nvPr>
        </p:nvSpPr>
        <p:spPr>
          <a:xfrm>
            <a:off x="609600" y="1600202"/>
            <a:ext cx="11480800" cy="4267199"/>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b="1"/>
              <a:t>Base addressing</a:t>
            </a:r>
            <a:endParaRPr/>
          </a:p>
          <a:p>
            <a:pPr marL="685800" lvl="1" indent="-228600" algn="l" rtl="0">
              <a:lnSpc>
                <a:spcPct val="110000"/>
              </a:lnSpc>
              <a:spcBef>
                <a:spcPts val="600"/>
              </a:spcBef>
              <a:spcAft>
                <a:spcPts val="0"/>
              </a:spcAft>
              <a:buClr>
                <a:schemeClr val="dk1"/>
              </a:buClr>
              <a:buSzPts val="2400"/>
              <a:buChar char="•"/>
            </a:pPr>
            <a:r>
              <a:rPr lang="en-US"/>
              <a:t>The processor has a special register called the </a:t>
            </a:r>
            <a:r>
              <a:rPr lang="en-US" i="1">
                <a:solidFill>
                  <a:srgbClr val="800000"/>
                </a:solidFill>
              </a:rPr>
              <a:t>base register </a:t>
            </a:r>
            <a:r>
              <a:rPr lang="en-US"/>
              <a:t>or </a:t>
            </a:r>
            <a:r>
              <a:rPr lang="en-US" i="1">
                <a:solidFill>
                  <a:srgbClr val="800000"/>
                </a:solidFill>
              </a:rPr>
              <a:t>segment register</a:t>
            </a:r>
            <a:r>
              <a:rPr lang="en-US"/>
              <a:t>.</a:t>
            </a:r>
            <a:endParaRPr/>
          </a:p>
          <a:p>
            <a:pPr marL="685800" lvl="1" indent="-228600" algn="l" rtl="0">
              <a:lnSpc>
                <a:spcPct val="110000"/>
              </a:lnSpc>
              <a:spcBef>
                <a:spcPts val="600"/>
              </a:spcBef>
              <a:spcAft>
                <a:spcPts val="0"/>
              </a:spcAft>
              <a:buClr>
                <a:schemeClr val="dk1"/>
              </a:buClr>
              <a:buSzPts val="2400"/>
              <a:buChar char="•"/>
            </a:pPr>
            <a:r>
              <a:rPr lang="en-US"/>
              <a:t>All operand addresses generated are added to the base register to get the final memory address.</a:t>
            </a:r>
            <a:endParaRPr/>
          </a:p>
          <a:p>
            <a:pPr marL="685800" lvl="1" indent="-228600" algn="l" rtl="0">
              <a:lnSpc>
                <a:spcPct val="110000"/>
              </a:lnSpc>
              <a:spcBef>
                <a:spcPts val="600"/>
              </a:spcBef>
              <a:spcAft>
                <a:spcPts val="0"/>
              </a:spcAft>
              <a:buClr>
                <a:schemeClr val="dk1"/>
              </a:buClr>
              <a:buSzPts val="2400"/>
              <a:buChar char="•"/>
            </a:pPr>
            <a:r>
              <a:rPr lang="en-US"/>
              <a:t>Allows easy movement of code and data in memory.</a:t>
            </a:r>
            <a:endParaRPr/>
          </a:p>
          <a:p>
            <a:pPr marL="228600" lvl="0" indent="-228600" algn="l" rtl="0">
              <a:lnSpc>
                <a:spcPct val="110000"/>
              </a:lnSpc>
              <a:spcBef>
                <a:spcPts val="600"/>
              </a:spcBef>
              <a:spcAft>
                <a:spcPts val="0"/>
              </a:spcAft>
              <a:buClr>
                <a:schemeClr val="dk1"/>
              </a:buClr>
              <a:buSzPts val="2667"/>
              <a:buChar char="•"/>
            </a:pPr>
            <a:r>
              <a:rPr lang="en-US" sz="2667" b="1"/>
              <a:t>Autoincrement</a:t>
            </a:r>
            <a:r>
              <a:rPr lang="en-US" sz="2667"/>
              <a:t> and </a:t>
            </a:r>
            <a:r>
              <a:rPr lang="en-US" sz="2667" b="1"/>
              <a:t>Autodecrement</a:t>
            </a:r>
            <a:endParaRPr sz="2667" b="1"/>
          </a:p>
          <a:p>
            <a:pPr marL="685800" lvl="1" indent="-228600" algn="l" rtl="0">
              <a:lnSpc>
                <a:spcPct val="110000"/>
              </a:lnSpc>
              <a:spcBef>
                <a:spcPts val="600"/>
              </a:spcBef>
              <a:spcAft>
                <a:spcPts val="0"/>
              </a:spcAft>
              <a:buClr>
                <a:schemeClr val="dk1"/>
              </a:buClr>
              <a:buSzPts val="2400"/>
              <a:buChar char="•"/>
            </a:pPr>
            <a:r>
              <a:rPr lang="en-US"/>
              <a:t>First introduced in the PDP-11 computer system.</a:t>
            </a:r>
            <a:endParaRPr/>
          </a:p>
          <a:p>
            <a:pPr marL="685800" lvl="1" indent="-228600" algn="l" rtl="0">
              <a:lnSpc>
                <a:spcPct val="110000"/>
              </a:lnSpc>
              <a:spcBef>
                <a:spcPts val="600"/>
              </a:spcBef>
              <a:spcAft>
                <a:spcPts val="0"/>
              </a:spcAft>
              <a:buClr>
                <a:schemeClr val="dk1"/>
              </a:buClr>
              <a:buSzPts val="2400"/>
              <a:buChar char="•"/>
            </a:pPr>
            <a:r>
              <a:rPr lang="en-US"/>
              <a:t>The register holding the operand address is automatically incremented or decremented after accessing the operand  (like a++ and a-- in C).</a:t>
            </a:r>
            <a:endParaRPr/>
          </a:p>
        </p:txBody>
      </p:sp>
      <p:sp>
        <p:nvSpPr>
          <p:cNvPr id="1107" name="Google Shape;1107;p89"/>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88</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9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MIPS Instruction Encoding</a:t>
            </a:r>
            <a:endParaRPr/>
          </a:p>
        </p:txBody>
      </p:sp>
      <p:sp>
        <p:nvSpPr>
          <p:cNvPr id="1113" name="Google Shape;1113;p9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All MIPS32 instructions can be classified into three groups in terms of instruction encoding.</a:t>
            </a:r>
            <a:endParaRPr/>
          </a:p>
          <a:p>
            <a:pPr marL="685800" lvl="1" indent="-228600" algn="l" rtl="0">
              <a:lnSpc>
                <a:spcPct val="110000"/>
              </a:lnSpc>
              <a:spcBef>
                <a:spcPts val="600"/>
              </a:spcBef>
              <a:spcAft>
                <a:spcPts val="0"/>
              </a:spcAft>
              <a:buClr>
                <a:schemeClr val="dk1"/>
              </a:buClr>
              <a:buSzPts val="2400"/>
              <a:buChar char="•"/>
            </a:pPr>
            <a:r>
              <a:rPr lang="en-US" b="1">
                <a:solidFill>
                  <a:srgbClr val="C00000"/>
                </a:solidFill>
              </a:rPr>
              <a:t>R-type</a:t>
            </a:r>
            <a:r>
              <a:rPr lang="en-US"/>
              <a:t> (Register), </a:t>
            </a:r>
            <a:r>
              <a:rPr lang="en-US" b="1">
                <a:solidFill>
                  <a:srgbClr val="C00000"/>
                </a:solidFill>
              </a:rPr>
              <a:t>I-type</a:t>
            </a:r>
            <a:r>
              <a:rPr lang="en-US"/>
              <a:t> (Immediate), and </a:t>
            </a:r>
            <a:r>
              <a:rPr lang="en-US" b="1">
                <a:solidFill>
                  <a:srgbClr val="C00000"/>
                </a:solidFill>
              </a:rPr>
              <a:t>J-type</a:t>
            </a:r>
            <a:r>
              <a:rPr lang="en-US"/>
              <a:t> (Jump).</a:t>
            </a:r>
            <a:endParaRPr/>
          </a:p>
          <a:p>
            <a:pPr marL="685800" lvl="1" indent="-228600" algn="l" rtl="0">
              <a:lnSpc>
                <a:spcPct val="110000"/>
              </a:lnSpc>
              <a:spcBef>
                <a:spcPts val="600"/>
              </a:spcBef>
              <a:spcAft>
                <a:spcPts val="0"/>
              </a:spcAft>
              <a:buClr>
                <a:schemeClr val="dk1"/>
              </a:buClr>
              <a:buSzPts val="2400"/>
              <a:buChar char="•"/>
            </a:pPr>
            <a:r>
              <a:rPr lang="en-US"/>
              <a:t>In an instruction encoding, the 32 bits of the instruction are divided into several fields of fixed widths.</a:t>
            </a:r>
            <a:endParaRPr/>
          </a:p>
          <a:p>
            <a:pPr marL="685800" lvl="1" indent="-228600" algn="l" rtl="0">
              <a:lnSpc>
                <a:spcPct val="110000"/>
              </a:lnSpc>
              <a:spcBef>
                <a:spcPts val="600"/>
              </a:spcBef>
              <a:spcAft>
                <a:spcPts val="0"/>
              </a:spcAft>
              <a:buClr>
                <a:schemeClr val="dk1"/>
              </a:buClr>
              <a:buSzPts val="2400"/>
              <a:buChar char="•"/>
            </a:pPr>
            <a:r>
              <a:rPr lang="en-US"/>
              <a:t>All instructions may not use all the fields.</a:t>
            </a:r>
            <a:endParaRPr/>
          </a:p>
          <a:p>
            <a:pPr marL="228600" lvl="0" indent="-228600" algn="l" rtl="0">
              <a:lnSpc>
                <a:spcPct val="110000"/>
              </a:lnSpc>
              <a:spcBef>
                <a:spcPts val="600"/>
              </a:spcBef>
              <a:spcAft>
                <a:spcPts val="0"/>
              </a:spcAft>
              <a:buClr>
                <a:schemeClr val="dk1"/>
              </a:buClr>
              <a:buSzPts val="2800"/>
              <a:buChar char="•"/>
            </a:pPr>
            <a:r>
              <a:rPr lang="en-US"/>
              <a:t>Since the relative positions of some of the fields are same across instructions, instruction decoding becomes very simple.</a:t>
            </a:r>
            <a:endParaRPr/>
          </a:p>
        </p:txBody>
      </p:sp>
      <p:sp>
        <p:nvSpPr>
          <p:cNvPr id="1114" name="Google Shape;1114;p9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89</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118"/>
        <p:cNvGrpSpPr/>
        <p:nvPr/>
      </p:nvGrpSpPr>
      <p:grpSpPr>
        <a:xfrm>
          <a:off x="0" y="0"/>
          <a:ext cx="0" cy="0"/>
          <a:chOff x="0" y="0"/>
          <a:chExt cx="0" cy="0"/>
        </a:xfrm>
      </p:grpSpPr>
      <p:sp>
        <p:nvSpPr>
          <p:cNvPr id="1119" name="Google Shape;1119;p9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 R-type Instruction Encoding</a:t>
            </a:r>
            <a:endParaRPr/>
          </a:p>
        </p:txBody>
      </p:sp>
      <p:sp>
        <p:nvSpPr>
          <p:cNvPr id="1120" name="Google Shape;1120;p9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Here an instruction can use up to three register operands.</a:t>
            </a:r>
            <a:endParaRPr/>
          </a:p>
          <a:p>
            <a:pPr marL="685800" lvl="1" indent="-228600" algn="l" rtl="0">
              <a:lnSpc>
                <a:spcPct val="110000"/>
              </a:lnSpc>
              <a:spcBef>
                <a:spcPts val="600"/>
              </a:spcBef>
              <a:spcAft>
                <a:spcPts val="0"/>
              </a:spcAft>
              <a:buClr>
                <a:schemeClr val="dk1"/>
              </a:buClr>
              <a:buSzPts val="2400"/>
              <a:buChar char="•"/>
            </a:pPr>
            <a:r>
              <a:rPr lang="en-US"/>
              <a:t>Two source and one destination.</a:t>
            </a:r>
            <a:endParaRPr/>
          </a:p>
          <a:p>
            <a:pPr marL="228600" lvl="0" indent="-228600" algn="l" rtl="0">
              <a:lnSpc>
                <a:spcPct val="110000"/>
              </a:lnSpc>
              <a:spcBef>
                <a:spcPts val="600"/>
              </a:spcBef>
              <a:spcAft>
                <a:spcPts val="0"/>
              </a:spcAft>
              <a:buClr>
                <a:schemeClr val="dk1"/>
              </a:buClr>
              <a:buSzPts val="2800"/>
              <a:buChar char="•"/>
            </a:pPr>
            <a:r>
              <a:rPr lang="en-US"/>
              <a:t>In addition, for shift instructions, the number of bits to shift can also be specified.</a:t>
            </a:r>
            <a:endParaRPr/>
          </a:p>
        </p:txBody>
      </p:sp>
      <p:sp>
        <p:nvSpPr>
          <p:cNvPr id="1121" name="Google Shape;1121;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90</a:t>
            </a:fld>
            <a:endParaRPr/>
          </a:p>
        </p:txBody>
      </p:sp>
      <p:grpSp>
        <p:nvGrpSpPr>
          <p:cNvPr id="1122" name="Google Shape;1122;p91"/>
          <p:cNvGrpSpPr/>
          <p:nvPr/>
        </p:nvGrpSpPr>
        <p:grpSpPr>
          <a:xfrm>
            <a:off x="2071869" y="4164635"/>
            <a:ext cx="6604000" cy="914400"/>
            <a:chOff x="2057400" y="2724150"/>
            <a:chExt cx="4953000" cy="685800"/>
          </a:xfrm>
        </p:grpSpPr>
        <p:grpSp>
          <p:nvGrpSpPr>
            <p:cNvPr id="1123" name="Google Shape;1123;p91"/>
            <p:cNvGrpSpPr/>
            <p:nvPr/>
          </p:nvGrpSpPr>
          <p:grpSpPr>
            <a:xfrm>
              <a:off x="2057400" y="3028950"/>
              <a:ext cx="4876800" cy="381000"/>
              <a:chOff x="762000" y="3181350"/>
              <a:chExt cx="4876800" cy="381000"/>
            </a:xfrm>
          </p:grpSpPr>
          <p:sp>
            <p:nvSpPr>
              <p:cNvPr id="1124" name="Google Shape;1124;p91"/>
              <p:cNvSpPr/>
              <p:nvPr/>
            </p:nvSpPr>
            <p:spPr>
              <a:xfrm>
                <a:off x="762000" y="3181350"/>
                <a:ext cx="914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1125" name="Google Shape;1125;p91"/>
              <p:cNvSpPr/>
              <p:nvPr/>
            </p:nvSpPr>
            <p:spPr>
              <a:xfrm>
                <a:off x="1676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rs</a:t>
                </a:r>
                <a:endParaRPr sz="2400">
                  <a:solidFill>
                    <a:srgbClr val="000090"/>
                  </a:solidFill>
                  <a:latin typeface="Calibri"/>
                  <a:ea typeface="Calibri"/>
                  <a:cs typeface="Calibri"/>
                  <a:sym typeface="Calibri"/>
                </a:endParaRPr>
              </a:p>
            </p:txBody>
          </p:sp>
          <p:sp>
            <p:nvSpPr>
              <p:cNvPr id="1126" name="Google Shape;1126;p91"/>
              <p:cNvSpPr/>
              <p:nvPr/>
            </p:nvSpPr>
            <p:spPr>
              <a:xfrm>
                <a:off x="3200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rd</a:t>
                </a:r>
                <a:endParaRPr sz="2400">
                  <a:solidFill>
                    <a:srgbClr val="000090"/>
                  </a:solidFill>
                  <a:latin typeface="Calibri"/>
                  <a:ea typeface="Calibri"/>
                  <a:cs typeface="Calibri"/>
                  <a:sym typeface="Calibri"/>
                </a:endParaRPr>
              </a:p>
            </p:txBody>
          </p:sp>
          <p:sp>
            <p:nvSpPr>
              <p:cNvPr id="1127" name="Google Shape;1127;p91"/>
              <p:cNvSpPr/>
              <p:nvPr/>
            </p:nvSpPr>
            <p:spPr>
              <a:xfrm>
                <a:off x="2438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rt</a:t>
                </a:r>
                <a:endParaRPr sz="2400">
                  <a:solidFill>
                    <a:srgbClr val="000090"/>
                  </a:solidFill>
                  <a:latin typeface="Calibri"/>
                  <a:ea typeface="Calibri"/>
                  <a:cs typeface="Calibri"/>
                  <a:sym typeface="Calibri"/>
                </a:endParaRPr>
              </a:p>
            </p:txBody>
          </p:sp>
          <p:sp>
            <p:nvSpPr>
              <p:cNvPr id="1128" name="Google Shape;1128;p91"/>
              <p:cNvSpPr/>
              <p:nvPr/>
            </p:nvSpPr>
            <p:spPr>
              <a:xfrm>
                <a:off x="3962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shamt</a:t>
                </a:r>
                <a:endParaRPr sz="2400">
                  <a:solidFill>
                    <a:srgbClr val="000090"/>
                  </a:solidFill>
                  <a:latin typeface="Calibri"/>
                  <a:ea typeface="Calibri"/>
                  <a:cs typeface="Calibri"/>
                  <a:sym typeface="Calibri"/>
                </a:endParaRPr>
              </a:p>
            </p:txBody>
          </p:sp>
          <p:sp>
            <p:nvSpPr>
              <p:cNvPr id="1129" name="Google Shape;1129;p91"/>
              <p:cNvSpPr/>
              <p:nvPr/>
            </p:nvSpPr>
            <p:spPr>
              <a:xfrm>
                <a:off x="4724400" y="3181350"/>
                <a:ext cx="914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funct</a:t>
                </a:r>
                <a:endParaRPr sz="2400">
                  <a:solidFill>
                    <a:srgbClr val="000090"/>
                  </a:solidFill>
                  <a:latin typeface="Calibri"/>
                  <a:ea typeface="Calibri"/>
                  <a:cs typeface="Calibri"/>
                  <a:sym typeface="Calibri"/>
                </a:endParaRPr>
              </a:p>
            </p:txBody>
          </p:sp>
        </p:grpSp>
        <p:sp>
          <p:nvSpPr>
            <p:cNvPr id="1130" name="Google Shape;1130;p91"/>
            <p:cNvSpPr txBox="1"/>
            <p:nvPr/>
          </p:nvSpPr>
          <p:spPr>
            <a:xfrm>
              <a:off x="66294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0</a:t>
              </a:r>
              <a:endParaRPr/>
            </a:p>
          </p:txBody>
        </p:sp>
        <p:sp>
          <p:nvSpPr>
            <p:cNvPr id="1131" name="Google Shape;1131;p91"/>
            <p:cNvSpPr txBox="1"/>
            <p:nvPr/>
          </p:nvSpPr>
          <p:spPr>
            <a:xfrm>
              <a:off x="4114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16</a:t>
              </a:r>
              <a:endParaRPr/>
            </a:p>
          </p:txBody>
        </p:sp>
        <p:sp>
          <p:nvSpPr>
            <p:cNvPr id="1132" name="Google Shape;1132;p91"/>
            <p:cNvSpPr txBox="1"/>
            <p:nvPr/>
          </p:nvSpPr>
          <p:spPr>
            <a:xfrm>
              <a:off x="4419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15</a:t>
              </a:r>
              <a:endParaRPr/>
            </a:p>
          </p:txBody>
        </p:sp>
        <p:sp>
          <p:nvSpPr>
            <p:cNvPr id="1133" name="Google Shape;1133;p91"/>
            <p:cNvSpPr txBox="1"/>
            <p:nvPr/>
          </p:nvSpPr>
          <p:spPr>
            <a:xfrm>
              <a:off x="4876800" y="2724150"/>
              <a:ext cx="5334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11</a:t>
              </a:r>
              <a:endParaRPr/>
            </a:p>
          </p:txBody>
        </p:sp>
        <p:sp>
          <p:nvSpPr>
            <p:cNvPr id="1134" name="Google Shape;1134;p91"/>
            <p:cNvSpPr txBox="1"/>
            <p:nvPr/>
          </p:nvSpPr>
          <p:spPr>
            <a:xfrm>
              <a:off x="5181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10</a:t>
              </a:r>
              <a:endParaRPr/>
            </a:p>
          </p:txBody>
        </p:sp>
        <p:sp>
          <p:nvSpPr>
            <p:cNvPr id="1135" name="Google Shape;1135;p91"/>
            <p:cNvSpPr txBox="1"/>
            <p:nvPr/>
          </p:nvSpPr>
          <p:spPr>
            <a:xfrm>
              <a:off x="57912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6</a:t>
              </a:r>
              <a:endParaRPr/>
            </a:p>
          </p:txBody>
        </p:sp>
        <p:sp>
          <p:nvSpPr>
            <p:cNvPr id="1136" name="Google Shape;1136;p91"/>
            <p:cNvSpPr txBox="1"/>
            <p:nvPr/>
          </p:nvSpPr>
          <p:spPr>
            <a:xfrm>
              <a:off x="60198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5</a:t>
              </a:r>
              <a:endParaRPr/>
            </a:p>
          </p:txBody>
        </p:sp>
        <p:sp>
          <p:nvSpPr>
            <p:cNvPr id="1137" name="Google Shape;1137;p91"/>
            <p:cNvSpPr txBox="1"/>
            <p:nvPr/>
          </p:nvSpPr>
          <p:spPr>
            <a:xfrm>
              <a:off x="20574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31</a:t>
              </a:r>
              <a:endParaRPr/>
            </a:p>
          </p:txBody>
        </p:sp>
        <p:sp>
          <p:nvSpPr>
            <p:cNvPr id="1138" name="Google Shape;1138;p91"/>
            <p:cNvSpPr txBox="1"/>
            <p:nvPr/>
          </p:nvSpPr>
          <p:spPr>
            <a:xfrm>
              <a:off x="2590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26</a:t>
              </a:r>
              <a:endParaRPr/>
            </a:p>
          </p:txBody>
        </p:sp>
        <p:sp>
          <p:nvSpPr>
            <p:cNvPr id="1139" name="Google Shape;1139;p91"/>
            <p:cNvSpPr txBox="1"/>
            <p:nvPr/>
          </p:nvSpPr>
          <p:spPr>
            <a:xfrm>
              <a:off x="2895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25</a:t>
              </a:r>
              <a:endParaRPr/>
            </a:p>
          </p:txBody>
        </p:sp>
        <p:sp>
          <p:nvSpPr>
            <p:cNvPr id="1140" name="Google Shape;1140;p91"/>
            <p:cNvSpPr txBox="1"/>
            <p:nvPr/>
          </p:nvSpPr>
          <p:spPr>
            <a:xfrm>
              <a:off x="3352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21</a:t>
              </a:r>
              <a:endParaRPr/>
            </a:p>
          </p:txBody>
        </p:sp>
        <p:sp>
          <p:nvSpPr>
            <p:cNvPr id="1141" name="Google Shape;1141;p91"/>
            <p:cNvSpPr txBox="1"/>
            <p:nvPr/>
          </p:nvSpPr>
          <p:spPr>
            <a:xfrm>
              <a:off x="3733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20</a:t>
              </a:r>
              <a:endParaRPr/>
            </a:p>
          </p:txBody>
        </p:sp>
      </p:grpSp>
      <p:sp>
        <p:nvSpPr>
          <p:cNvPr id="1142" name="Google Shape;1142;p91"/>
          <p:cNvSpPr txBox="1"/>
          <p:nvPr/>
        </p:nvSpPr>
        <p:spPr>
          <a:xfrm>
            <a:off x="954268" y="5485436"/>
            <a:ext cx="1415143" cy="7487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133" i="1">
                <a:solidFill>
                  <a:srgbClr val="000090"/>
                </a:solidFill>
                <a:latin typeface="Calibri"/>
                <a:ea typeface="Calibri"/>
                <a:cs typeface="Calibri"/>
                <a:sym typeface="Calibri"/>
              </a:rPr>
              <a:t>6-bit opcode</a:t>
            </a:r>
            <a:endParaRPr sz="2133" i="1">
              <a:solidFill>
                <a:srgbClr val="000090"/>
              </a:solidFill>
              <a:latin typeface="Calibri"/>
              <a:ea typeface="Calibri"/>
              <a:cs typeface="Calibri"/>
              <a:sym typeface="Calibri"/>
            </a:endParaRPr>
          </a:p>
        </p:txBody>
      </p:sp>
      <p:sp>
        <p:nvSpPr>
          <p:cNvPr id="1143" name="Google Shape;1143;p91"/>
          <p:cNvSpPr txBox="1"/>
          <p:nvPr/>
        </p:nvSpPr>
        <p:spPr>
          <a:xfrm>
            <a:off x="2275069" y="5485435"/>
            <a:ext cx="1524000" cy="7487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133" i="1">
                <a:solidFill>
                  <a:srgbClr val="000090"/>
                </a:solidFill>
                <a:latin typeface="Calibri"/>
                <a:ea typeface="Calibri"/>
                <a:cs typeface="Calibri"/>
                <a:sym typeface="Calibri"/>
              </a:rPr>
              <a:t>Source register 1</a:t>
            </a:r>
            <a:endParaRPr/>
          </a:p>
        </p:txBody>
      </p:sp>
      <p:sp>
        <p:nvSpPr>
          <p:cNvPr id="1144" name="Google Shape;1144;p91"/>
          <p:cNvSpPr txBox="1"/>
          <p:nvPr/>
        </p:nvSpPr>
        <p:spPr>
          <a:xfrm>
            <a:off x="3900669" y="5485435"/>
            <a:ext cx="1524000" cy="7487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133" i="1">
                <a:solidFill>
                  <a:srgbClr val="000090"/>
                </a:solidFill>
                <a:latin typeface="Calibri"/>
                <a:ea typeface="Calibri"/>
                <a:cs typeface="Calibri"/>
                <a:sym typeface="Calibri"/>
              </a:rPr>
              <a:t>Source register 2</a:t>
            </a:r>
            <a:endParaRPr/>
          </a:p>
        </p:txBody>
      </p:sp>
      <p:sp>
        <p:nvSpPr>
          <p:cNvPr id="1145" name="Google Shape;1145;p91"/>
          <p:cNvSpPr txBox="1"/>
          <p:nvPr/>
        </p:nvSpPr>
        <p:spPr>
          <a:xfrm>
            <a:off x="5323069" y="5485435"/>
            <a:ext cx="1524000" cy="7487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133" i="1">
                <a:solidFill>
                  <a:srgbClr val="000090"/>
                </a:solidFill>
                <a:latin typeface="Calibri"/>
                <a:ea typeface="Calibri"/>
                <a:cs typeface="Calibri"/>
                <a:sym typeface="Calibri"/>
              </a:rPr>
              <a:t>Destination register </a:t>
            </a:r>
            <a:endParaRPr/>
          </a:p>
        </p:txBody>
      </p:sp>
      <p:sp>
        <p:nvSpPr>
          <p:cNvPr id="1146" name="Google Shape;1146;p91"/>
          <p:cNvSpPr txBox="1"/>
          <p:nvPr/>
        </p:nvSpPr>
        <p:spPr>
          <a:xfrm>
            <a:off x="6745469" y="5485435"/>
            <a:ext cx="1117600" cy="7487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133" i="1">
                <a:solidFill>
                  <a:srgbClr val="000090"/>
                </a:solidFill>
                <a:latin typeface="Calibri"/>
                <a:ea typeface="Calibri"/>
                <a:cs typeface="Calibri"/>
                <a:sym typeface="Calibri"/>
              </a:rPr>
              <a:t>Shift amount</a:t>
            </a:r>
            <a:endParaRPr/>
          </a:p>
        </p:txBody>
      </p:sp>
      <p:sp>
        <p:nvSpPr>
          <p:cNvPr id="1147" name="Google Shape;1147;p91"/>
          <p:cNvSpPr txBox="1"/>
          <p:nvPr/>
        </p:nvSpPr>
        <p:spPr>
          <a:xfrm>
            <a:off x="7964669" y="5485435"/>
            <a:ext cx="2743200" cy="7487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133" i="1">
                <a:solidFill>
                  <a:srgbClr val="000090"/>
                </a:solidFill>
                <a:latin typeface="Calibri"/>
                <a:ea typeface="Calibri"/>
                <a:cs typeface="Calibri"/>
                <a:sym typeface="Calibri"/>
              </a:rPr>
              <a:t>Opcode extension (additional functions)</a:t>
            </a:r>
            <a:endParaRPr/>
          </a:p>
        </p:txBody>
      </p:sp>
      <p:cxnSp>
        <p:nvCxnSpPr>
          <p:cNvPr id="1148" name="Google Shape;1148;p91"/>
          <p:cNvCxnSpPr>
            <a:stCxn id="1142" idx="0"/>
          </p:cNvCxnSpPr>
          <p:nvPr/>
        </p:nvCxnSpPr>
        <p:spPr>
          <a:xfrm rot="10800000" flipH="1">
            <a:off x="1661840" y="5180636"/>
            <a:ext cx="511500" cy="304800"/>
          </a:xfrm>
          <a:prstGeom prst="straightConnector1">
            <a:avLst/>
          </a:prstGeom>
          <a:noFill/>
          <a:ln w="12700" cap="flat" cmpd="sng">
            <a:solidFill>
              <a:srgbClr val="0C0C0C"/>
            </a:solidFill>
            <a:prstDash val="solid"/>
            <a:miter lim="8000"/>
            <a:headEnd type="none" w="sm" len="sm"/>
            <a:tailEnd type="stealth" w="med" len="med"/>
          </a:ln>
        </p:spPr>
      </p:cxnSp>
      <p:cxnSp>
        <p:nvCxnSpPr>
          <p:cNvPr id="1149" name="Google Shape;1149;p91"/>
          <p:cNvCxnSpPr>
            <a:stCxn id="1143" idx="0"/>
          </p:cNvCxnSpPr>
          <p:nvPr/>
        </p:nvCxnSpPr>
        <p:spPr>
          <a:xfrm rot="10800000" flipH="1">
            <a:off x="3037069" y="5180635"/>
            <a:ext cx="558900" cy="304800"/>
          </a:xfrm>
          <a:prstGeom prst="straightConnector1">
            <a:avLst/>
          </a:prstGeom>
          <a:noFill/>
          <a:ln w="12700" cap="flat" cmpd="sng">
            <a:solidFill>
              <a:srgbClr val="0C0C0C"/>
            </a:solidFill>
            <a:prstDash val="solid"/>
            <a:miter lim="8000"/>
            <a:headEnd type="none" w="sm" len="sm"/>
            <a:tailEnd type="stealth" w="med" len="med"/>
          </a:ln>
        </p:spPr>
      </p:cxnSp>
      <p:cxnSp>
        <p:nvCxnSpPr>
          <p:cNvPr id="1150" name="Google Shape;1150;p91"/>
          <p:cNvCxnSpPr>
            <a:stCxn id="1144" idx="0"/>
            <a:endCxn id="1127" idx="2"/>
          </p:cNvCxnSpPr>
          <p:nvPr/>
        </p:nvCxnSpPr>
        <p:spPr>
          <a:xfrm rot="10800000" flipH="1">
            <a:off x="4662669" y="5078935"/>
            <a:ext cx="152400" cy="406500"/>
          </a:xfrm>
          <a:prstGeom prst="straightConnector1">
            <a:avLst/>
          </a:prstGeom>
          <a:noFill/>
          <a:ln w="12700" cap="flat" cmpd="sng">
            <a:solidFill>
              <a:srgbClr val="0C0C0C"/>
            </a:solidFill>
            <a:prstDash val="solid"/>
            <a:miter lim="8000"/>
            <a:headEnd type="none" w="sm" len="sm"/>
            <a:tailEnd type="stealth" w="med" len="med"/>
          </a:ln>
        </p:spPr>
      </p:cxnSp>
      <p:cxnSp>
        <p:nvCxnSpPr>
          <p:cNvPr id="1151" name="Google Shape;1151;p91"/>
          <p:cNvCxnSpPr>
            <a:stCxn id="1145" idx="0"/>
          </p:cNvCxnSpPr>
          <p:nvPr/>
        </p:nvCxnSpPr>
        <p:spPr>
          <a:xfrm rot="10800000">
            <a:off x="5830969" y="5180635"/>
            <a:ext cx="254100" cy="304800"/>
          </a:xfrm>
          <a:prstGeom prst="straightConnector1">
            <a:avLst/>
          </a:prstGeom>
          <a:noFill/>
          <a:ln w="12700" cap="flat" cmpd="sng">
            <a:solidFill>
              <a:srgbClr val="0C0C0C"/>
            </a:solidFill>
            <a:prstDash val="solid"/>
            <a:miter lim="8000"/>
            <a:headEnd type="none" w="sm" len="sm"/>
            <a:tailEnd type="stealth" w="med" len="med"/>
          </a:ln>
        </p:spPr>
      </p:cxnSp>
      <p:cxnSp>
        <p:nvCxnSpPr>
          <p:cNvPr id="1152" name="Google Shape;1152;p91"/>
          <p:cNvCxnSpPr>
            <a:stCxn id="1146" idx="0"/>
          </p:cNvCxnSpPr>
          <p:nvPr/>
        </p:nvCxnSpPr>
        <p:spPr>
          <a:xfrm rot="10800000">
            <a:off x="6847069" y="5180635"/>
            <a:ext cx="457200" cy="304800"/>
          </a:xfrm>
          <a:prstGeom prst="straightConnector1">
            <a:avLst/>
          </a:prstGeom>
          <a:noFill/>
          <a:ln w="12700" cap="flat" cmpd="sng">
            <a:solidFill>
              <a:srgbClr val="0C0C0C"/>
            </a:solidFill>
            <a:prstDash val="solid"/>
            <a:miter lim="8000"/>
            <a:headEnd type="none" w="sm" len="sm"/>
            <a:tailEnd type="stealth" w="med" len="med"/>
          </a:ln>
        </p:spPr>
      </p:cxnSp>
      <p:cxnSp>
        <p:nvCxnSpPr>
          <p:cNvPr id="1153" name="Google Shape;1153;p91"/>
          <p:cNvCxnSpPr/>
          <p:nvPr/>
        </p:nvCxnSpPr>
        <p:spPr>
          <a:xfrm rot="10800000">
            <a:off x="8371069" y="5180635"/>
            <a:ext cx="609600" cy="304800"/>
          </a:xfrm>
          <a:prstGeom prst="straightConnector1">
            <a:avLst/>
          </a:prstGeom>
          <a:noFill/>
          <a:ln w="12700" cap="flat" cmpd="sng">
            <a:solidFill>
              <a:srgbClr val="0C0C0C"/>
            </a:solidFill>
            <a:prstDash val="solid"/>
            <a:miter lim="8000"/>
            <a:headEnd type="none" w="sm" len="sm"/>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2"/>
                                        </p:tgtEl>
                                        <p:attrNameLst>
                                          <p:attrName>style.visibility</p:attrName>
                                        </p:attrNameLst>
                                      </p:cBhvr>
                                      <p:to>
                                        <p:strVal val="visible"/>
                                      </p:to>
                                    </p:set>
                                    <p:animEffect transition="in" filter="fade">
                                      <p:cBhvr>
                                        <p:cTn id="7" dur="500"/>
                                        <p:tgtEl>
                                          <p:spTgt spid="1142"/>
                                        </p:tgtEl>
                                      </p:cBhvr>
                                    </p:animEffect>
                                  </p:childTnLst>
                                </p:cTn>
                              </p:par>
                              <p:par>
                                <p:cTn id="8" presetID="10" presetClass="entr" presetSubtype="0" fill="hold" nodeType="withEffect">
                                  <p:stCondLst>
                                    <p:cond delay="0"/>
                                  </p:stCondLst>
                                  <p:childTnLst>
                                    <p:set>
                                      <p:cBhvr>
                                        <p:cTn id="9" dur="1" fill="hold">
                                          <p:stCondLst>
                                            <p:cond delay="0"/>
                                          </p:stCondLst>
                                        </p:cTn>
                                        <p:tgtEl>
                                          <p:spTgt spid="1148"/>
                                        </p:tgtEl>
                                        <p:attrNameLst>
                                          <p:attrName>style.visibility</p:attrName>
                                        </p:attrNameLst>
                                      </p:cBhvr>
                                      <p:to>
                                        <p:strVal val="visible"/>
                                      </p:to>
                                    </p:set>
                                    <p:animEffect transition="in" filter="fade">
                                      <p:cBhvr>
                                        <p:cTn id="10" dur="500"/>
                                        <p:tgtEl>
                                          <p:spTgt spid="114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43"/>
                                        </p:tgtEl>
                                        <p:attrNameLst>
                                          <p:attrName>style.visibility</p:attrName>
                                        </p:attrNameLst>
                                      </p:cBhvr>
                                      <p:to>
                                        <p:strVal val="visible"/>
                                      </p:to>
                                    </p:set>
                                    <p:animEffect transition="in" filter="fade">
                                      <p:cBhvr>
                                        <p:cTn id="15" dur="500"/>
                                        <p:tgtEl>
                                          <p:spTgt spid="1143"/>
                                        </p:tgtEl>
                                      </p:cBhvr>
                                    </p:animEffect>
                                  </p:childTnLst>
                                </p:cTn>
                              </p:par>
                              <p:par>
                                <p:cTn id="16" presetID="10" presetClass="entr" presetSubtype="0" fill="hold" nodeType="withEffect">
                                  <p:stCondLst>
                                    <p:cond delay="0"/>
                                  </p:stCondLst>
                                  <p:childTnLst>
                                    <p:set>
                                      <p:cBhvr>
                                        <p:cTn id="17" dur="1" fill="hold">
                                          <p:stCondLst>
                                            <p:cond delay="0"/>
                                          </p:stCondLst>
                                        </p:cTn>
                                        <p:tgtEl>
                                          <p:spTgt spid="1149"/>
                                        </p:tgtEl>
                                        <p:attrNameLst>
                                          <p:attrName>style.visibility</p:attrName>
                                        </p:attrNameLst>
                                      </p:cBhvr>
                                      <p:to>
                                        <p:strVal val="visible"/>
                                      </p:to>
                                    </p:set>
                                    <p:animEffect transition="in" filter="fade">
                                      <p:cBhvr>
                                        <p:cTn id="18" dur="500"/>
                                        <p:tgtEl>
                                          <p:spTgt spid="114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44"/>
                                        </p:tgtEl>
                                        <p:attrNameLst>
                                          <p:attrName>style.visibility</p:attrName>
                                        </p:attrNameLst>
                                      </p:cBhvr>
                                      <p:to>
                                        <p:strVal val="visible"/>
                                      </p:to>
                                    </p:set>
                                    <p:animEffect transition="in" filter="fade">
                                      <p:cBhvr>
                                        <p:cTn id="23" dur="500"/>
                                        <p:tgtEl>
                                          <p:spTgt spid="1144"/>
                                        </p:tgtEl>
                                      </p:cBhvr>
                                    </p:animEffect>
                                  </p:childTnLst>
                                </p:cTn>
                              </p:par>
                              <p:par>
                                <p:cTn id="24" presetID="10" presetClass="entr" presetSubtype="0" fill="hold" nodeType="withEffect">
                                  <p:stCondLst>
                                    <p:cond delay="0"/>
                                  </p:stCondLst>
                                  <p:childTnLst>
                                    <p:set>
                                      <p:cBhvr>
                                        <p:cTn id="25" dur="1" fill="hold">
                                          <p:stCondLst>
                                            <p:cond delay="0"/>
                                          </p:stCondLst>
                                        </p:cTn>
                                        <p:tgtEl>
                                          <p:spTgt spid="1150"/>
                                        </p:tgtEl>
                                        <p:attrNameLst>
                                          <p:attrName>style.visibility</p:attrName>
                                        </p:attrNameLst>
                                      </p:cBhvr>
                                      <p:to>
                                        <p:strVal val="visible"/>
                                      </p:to>
                                    </p:set>
                                    <p:animEffect transition="in" filter="fade">
                                      <p:cBhvr>
                                        <p:cTn id="26" dur="500"/>
                                        <p:tgtEl>
                                          <p:spTgt spid="115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45"/>
                                        </p:tgtEl>
                                        <p:attrNameLst>
                                          <p:attrName>style.visibility</p:attrName>
                                        </p:attrNameLst>
                                      </p:cBhvr>
                                      <p:to>
                                        <p:strVal val="visible"/>
                                      </p:to>
                                    </p:set>
                                    <p:animEffect transition="in" filter="fade">
                                      <p:cBhvr>
                                        <p:cTn id="31" dur="500"/>
                                        <p:tgtEl>
                                          <p:spTgt spid="1145"/>
                                        </p:tgtEl>
                                      </p:cBhvr>
                                    </p:animEffect>
                                  </p:childTnLst>
                                </p:cTn>
                              </p:par>
                              <p:par>
                                <p:cTn id="32" presetID="10" presetClass="entr" presetSubtype="0" fill="hold" nodeType="withEffect">
                                  <p:stCondLst>
                                    <p:cond delay="0"/>
                                  </p:stCondLst>
                                  <p:childTnLst>
                                    <p:set>
                                      <p:cBhvr>
                                        <p:cTn id="33" dur="1" fill="hold">
                                          <p:stCondLst>
                                            <p:cond delay="0"/>
                                          </p:stCondLst>
                                        </p:cTn>
                                        <p:tgtEl>
                                          <p:spTgt spid="1151"/>
                                        </p:tgtEl>
                                        <p:attrNameLst>
                                          <p:attrName>style.visibility</p:attrName>
                                        </p:attrNameLst>
                                      </p:cBhvr>
                                      <p:to>
                                        <p:strVal val="visible"/>
                                      </p:to>
                                    </p:set>
                                    <p:animEffect transition="in" filter="fade">
                                      <p:cBhvr>
                                        <p:cTn id="34" dur="500"/>
                                        <p:tgtEl>
                                          <p:spTgt spid="115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146"/>
                                        </p:tgtEl>
                                        <p:attrNameLst>
                                          <p:attrName>style.visibility</p:attrName>
                                        </p:attrNameLst>
                                      </p:cBhvr>
                                      <p:to>
                                        <p:strVal val="visible"/>
                                      </p:to>
                                    </p:set>
                                    <p:animEffect transition="in" filter="fade">
                                      <p:cBhvr>
                                        <p:cTn id="39" dur="500"/>
                                        <p:tgtEl>
                                          <p:spTgt spid="1146"/>
                                        </p:tgtEl>
                                      </p:cBhvr>
                                    </p:animEffect>
                                  </p:childTnLst>
                                </p:cTn>
                              </p:par>
                              <p:par>
                                <p:cTn id="40" presetID="10" presetClass="entr" presetSubtype="0" fill="hold" nodeType="withEffect">
                                  <p:stCondLst>
                                    <p:cond delay="0"/>
                                  </p:stCondLst>
                                  <p:childTnLst>
                                    <p:set>
                                      <p:cBhvr>
                                        <p:cTn id="41" dur="1" fill="hold">
                                          <p:stCondLst>
                                            <p:cond delay="0"/>
                                          </p:stCondLst>
                                        </p:cTn>
                                        <p:tgtEl>
                                          <p:spTgt spid="1152"/>
                                        </p:tgtEl>
                                        <p:attrNameLst>
                                          <p:attrName>style.visibility</p:attrName>
                                        </p:attrNameLst>
                                      </p:cBhvr>
                                      <p:to>
                                        <p:strVal val="visible"/>
                                      </p:to>
                                    </p:set>
                                    <p:animEffect transition="in" filter="fade">
                                      <p:cBhvr>
                                        <p:cTn id="42" dur="500"/>
                                        <p:tgtEl>
                                          <p:spTgt spid="115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47"/>
                                        </p:tgtEl>
                                        <p:attrNameLst>
                                          <p:attrName>style.visibility</p:attrName>
                                        </p:attrNameLst>
                                      </p:cBhvr>
                                      <p:to>
                                        <p:strVal val="visible"/>
                                      </p:to>
                                    </p:set>
                                    <p:animEffect transition="in" filter="fade">
                                      <p:cBhvr>
                                        <p:cTn id="47" dur="500"/>
                                        <p:tgtEl>
                                          <p:spTgt spid="1147"/>
                                        </p:tgtEl>
                                      </p:cBhvr>
                                    </p:animEffect>
                                  </p:childTnLst>
                                </p:cTn>
                              </p:par>
                              <p:par>
                                <p:cTn id="48" presetID="10" presetClass="entr" presetSubtype="0" fill="hold" nodeType="withEffect">
                                  <p:stCondLst>
                                    <p:cond delay="0"/>
                                  </p:stCondLst>
                                  <p:childTnLst>
                                    <p:set>
                                      <p:cBhvr>
                                        <p:cTn id="49" dur="1" fill="hold">
                                          <p:stCondLst>
                                            <p:cond delay="0"/>
                                          </p:stCondLst>
                                        </p:cTn>
                                        <p:tgtEl>
                                          <p:spTgt spid="1153"/>
                                        </p:tgtEl>
                                        <p:attrNameLst>
                                          <p:attrName>style.visibility</p:attrName>
                                        </p:attrNameLst>
                                      </p:cBhvr>
                                      <p:to>
                                        <p:strVal val="visible"/>
                                      </p:to>
                                    </p:set>
                                    <p:animEffect transition="in" filter="fade">
                                      <p:cBhvr>
                                        <p:cTn id="50" dur="500"/>
                                        <p:tgtEl>
                                          <p:spTgt spid="1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92"/>
          <p:cNvSpPr txBox="1">
            <a:spLocks noGrp="1"/>
          </p:cNvSpPr>
          <p:nvPr>
            <p:ph type="body" idx="1"/>
          </p:nvPr>
        </p:nvSpPr>
        <p:spPr>
          <a:xfrm>
            <a:off x="609600" y="787401"/>
            <a:ext cx="10972800" cy="5338764"/>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400"/>
              <a:buChar char="•"/>
            </a:pPr>
            <a:r>
              <a:rPr lang="en-US" sz="2400"/>
              <a:t>Examples of R-type instructions:</a:t>
            </a:r>
            <a:endParaRPr/>
          </a:p>
          <a:p>
            <a:pPr marL="609585" lvl="1" indent="0" algn="l" rtl="0">
              <a:lnSpc>
                <a:spcPct val="110000"/>
              </a:lnSpc>
              <a:spcBef>
                <a:spcPts val="600"/>
              </a:spcBef>
              <a:spcAft>
                <a:spcPts val="0"/>
              </a:spcAft>
              <a:buClr>
                <a:schemeClr val="dk1"/>
              </a:buClr>
              <a:buSzPts val="2400"/>
              <a:buNone/>
            </a:pPr>
            <a:r>
              <a:rPr lang="en-US"/>
              <a:t>  	</a:t>
            </a:r>
            <a:r>
              <a:rPr lang="en-US" sz="2000"/>
              <a:t>add	$s1, $s2, $s3</a:t>
            </a:r>
            <a:endParaRPr/>
          </a:p>
          <a:p>
            <a:pPr marL="609585" lvl="1" indent="0" algn="l" rtl="0">
              <a:lnSpc>
                <a:spcPct val="110000"/>
              </a:lnSpc>
              <a:spcBef>
                <a:spcPts val="600"/>
              </a:spcBef>
              <a:spcAft>
                <a:spcPts val="0"/>
              </a:spcAft>
              <a:buClr>
                <a:schemeClr val="dk1"/>
              </a:buClr>
              <a:buSzPts val="2000"/>
              <a:buNone/>
            </a:pPr>
            <a:r>
              <a:rPr lang="en-US" sz="2000"/>
              <a:t>	sub	$t1, $s3, $s4</a:t>
            </a:r>
            <a:endParaRPr/>
          </a:p>
          <a:p>
            <a:pPr marL="609585" lvl="1" indent="0" algn="l" rtl="0">
              <a:lnSpc>
                <a:spcPct val="110000"/>
              </a:lnSpc>
              <a:spcBef>
                <a:spcPts val="600"/>
              </a:spcBef>
              <a:spcAft>
                <a:spcPts val="0"/>
              </a:spcAft>
              <a:buClr>
                <a:schemeClr val="dk1"/>
              </a:buClr>
              <a:buSzPts val="2000"/>
              <a:buNone/>
            </a:pPr>
            <a:r>
              <a:rPr lang="en-US" sz="2000"/>
              <a:t>	sla	$s1, $s2, 5	// shift left $s2 by 5 places, and store in $s1</a:t>
            </a:r>
            <a:endParaRPr/>
          </a:p>
          <a:p>
            <a:pPr marL="685800" lvl="1" indent="-93154" algn="l" rtl="0">
              <a:lnSpc>
                <a:spcPct val="110000"/>
              </a:lnSpc>
              <a:spcBef>
                <a:spcPts val="600"/>
              </a:spcBef>
              <a:spcAft>
                <a:spcPts val="0"/>
              </a:spcAft>
              <a:buClr>
                <a:schemeClr val="dk1"/>
              </a:buClr>
              <a:buSzPts val="2133"/>
              <a:buNone/>
            </a:pPr>
            <a:endParaRPr sz="2133"/>
          </a:p>
          <a:p>
            <a:pPr marL="457189" lvl="1" indent="-457189" algn="l" rtl="0">
              <a:lnSpc>
                <a:spcPct val="110000"/>
              </a:lnSpc>
              <a:spcBef>
                <a:spcPts val="600"/>
              </a:spcBef>
              <a:spcAft>
                <a:spcPts val="0"/>
              </a:spcAft>
              <a:buClr>
                <a:schemeClr val="dk1"/>
              </a:buClr>
              <a:buSzPts val="2400"/>
              <a:buChar char="•"/>
            </a:pPr>
            <a:r>
              <a:rPr lang="en-US"/>
              <a:t>An example instruction encoding:    </a:t>
            </a:r>
            <a:r>
              <a:rPr lang="en-US" i="1">
                <a:solidFill>
                  <a:srgbClr val="800000"/>
                </a:solidFill>
              </a:rPr>
              <a:t>add    $t1, $s1, $s2</a:t>
            </a:r>
            <a:endParaRPr/>
          </a:p>
          <a:p>
            <a:pPr marL="990575" lvl="2" indent="-457189" algn="l" rtl="0">
              <a:lnSpc>
                <a:spcPct val="110000"/>
              </a:lnSpc>
              <a:spcBef>
                <a:spcPts val="600"/>
              </a:spcBef>
              <a:spcAft>
                <a:spcPts val="0"/>
              </a:spcAft>
              <a:buClr>
                <a:srgbClr val="0C0C0C"/>
              </a:buClr>
              <a:buSzPts val="2000"/>
              <a:buChar char="•"/>
            </a:pPr>
            <a:r>
              <a:rPr lang="en-US">
                <a:solidFill>
                  <a:srgbClr val="0C0C0C"/>
                </a:solidFill>
              </a:rPr>
              <a:t>Recall:  $t1 is R9, $s1 is R17, and $s2 is R18.</a:t>
            </a:r>
            <a:endParaRPr/>
          </a:p>
          <a:p>
            <a:pPr marL="990575" lvl="2" indent="-457189" algn="l" rtl="0">
              <a:lnSpc>
                <a:spcPct val="110000"/>
              </a:lnSpc>
              <a:spcBef>
                <a:spcPts val="600"/>
              </a:spcBef>
              <a:spcAft>
                <a:spcPts val="0"/>
              </a:spcAft>
              <a:buClr>
                <a:srgbClr val="0C0C0C"/>
              </a:buClr>
              <a:buSzPts val="2000"/>
              <a:buChar char="•"/>
            </a:pPr>
            <a:r>
              <a:rPr lang="en-US">
                <a:solidFill>
                  <a:srgbClr val="0C0C0C"/>
                </a:solidFill>
              </a:rPr>
              <a:t>For “add”, opcode = 000000, and funct = 100000.</a:t>
            </a:r>
            <a:endParaRPr/>
          </a:p>
          <a:p>
            <a:pPr marL="0" lvl="0" indent="0" algn="l" rtl="0">
              <a:lnSpc>
                <a:spcPct val="110000"/>
              </a:lnSpc>
              <a:spcBef>
                <a:spcPts val="600"/>
              </a:spcBef>
              <a:spcAft>
                <a:spcPts val="0"/>
              </a:spcAft>
              <a:buClr>
                <a:schemeClr val="dk1"/>
              </a:buClr>
              <a:buSzPts val="2667"/>
              <a:buNone/>
            </a:pPr>
            <a:r>
              <a:rPr lang="en-US" sz="2667"/>
              <a:t> </a:t>
            </a:r>
            <a:endParaRPr/>
          </a:p>
        </p:txBody>
      </p:sp>
      <p:sp>
        <p:nvSpPr>
          <p:cNvPr id="1159" name="Google Shape;1159;p92"/>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91</a:t>
            </a:fld>
            <a:endParaRPr/>
          </a:p>
        </p:txBody>
      </p:sp>
      <p:grpSp>
        <p:nvGrpSpPr>
          <p:cNvPr id="1160" name="Google Shape;1160;p92"/>
          <p:cNvGrpSpPr/>
          <p:nvPr/>
        </p:nvGrpSpPr>
        <p:grpSpPr>
          <a:xfrm>
            <a:off x="1625600" y="4546600"/>
            <a:ext cx="6604000" cy="914400"/>
            <a:chOff x="2057400" y="2724150"/>
            <a:chExt cx="4953000" cy="685800"/>
          </a:xfrm>
        </p:grpSpPr>
        <p:grpSp>
          <p:nvGrpSpPr>
            <p:cNvPr id="1161" name="Google Shape;1161;p92"/>
            <p:cNvGrpSpPr/>
            <p:nvPr/>
          </p:nvGrpSpPr>
          <p:grpSpPr>
            <a:xfrm>
              <a:off x="2057400" y="3028950"/>
              <a:ext cx="4876800" cy="381000"/>
              <a:chOff x="762000" y="3181350"/>
              <a:chExt cx="4876800" cy="381000"/>
            </a:xfrm>
          </p:grpSpPr>
          <p:sp>
            <p:nvSpPr>
              <p:cNvPr id="1162" name="Google Shape;1162;p92"/>
              <p:cNvSpPr/>
              <p:nvPr/>
            </p:nvSpPr>
            <p:spPr>
              <a:xfrm>
                <a:off x="762000" y="3181350"/>
                <a:ext cx="914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000000</a:t>
                </a:r>
                <a:endParaRPr/>
              </a:p>
            </p:txBody>
          </p:sp>
          <p:sp>
            <p:nvSpPr>
              <p:cNvPr id="1163" name="Google Shape;1163;p92"/>
              <p:cNvSpPr/>
              <p:nvPr/>
            </p:nvSpPr>
            <p:spPr>
              <a:xfrm>
                <a:off x="1676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10001</a:t>
                </a:r>
                <a:endParaRPr/>
              </a:p>
            </p:txBody>
          </p:sp>
          <p:sp>
            <p:nvSpPr>
              <p:cNvPr id="1164" name="Google Shape;1164;p92"/>
              <p:cNvSpPr/>
              <p:nvPr/>
            </p:nvSpPr>
            <p:spPr>
              <a:xfrm>
                <a:off x="3200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01001</a:t>
                </a:r>
                <a:endParaRPr/>
              </a:p>
            </p:txBody>
          </p:sp>
          <p:sp>
            <p:nvSpPr>
              <p:cNvPr id="1165" name="Google Shape;1165;p92"/>
              <p:cNvSpPr/>
              <p:nvPr/>
            </p:nvSpPr>
            <p:spPr>
              <a:xfrm>
                <a:off x="2438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10010</a:t>
                </a:r>
                <a:endParaRPr/>
              </a:p>
            </p:txBody>
          </p:sp>
          <p:sp>
            <p:nvSpPr>
              <p:cNvPr id="1166" name="Google Shape;1166;p92"/>
              <p:cNvSpPr/>
              <p:nvPr/>
            </p:nvSpPr>
            <p:spPr>
              <a:xfrm>
                <a:off x="3962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00000</a:t>
                </a:r>
                <a:endParaRPr/>
              </a:p>
            </p:txBody>
          </p:sp>
          <p:sp>
            <p:nvSpPr>
              <p:cNvPr id="1167" name="Google Shape;1167;p92"/>
              <p:cNvSpPr/>
              <p:nvPr/>
            </p:nvSpPr>
            <p:spPr>
              <a:xfrm>
                <a:off x="4724400" y="3181350"/>
                <a:ext cx="914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100000</a:t>
                </a:r>
                <a:endParaRPr/>
              </a:p>
            </p:txBody>
          </p:sp>
        </p:grpSp>
        <p:sp>
          <p:nvSpPr>
            <p:cNvPr id="1168" name="Google Shape;1168;p92"/>
            <p:cNvSpPr txBox="1"/>
            <p:nvPr/>
          </p:nvSpPr>
          <p:spPr>
            <a:xfrm>
              <a:off x="66294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0</a:t>
              </a:r>
              <a:endParaRPr/>
            </a:p>
          </p:txBody>
        </p:sp>
        <p:sp>
          <p:nvSpPr>
            <p:cNvPr id="1169" name="Google Shape;1169;p92"/>
            <p:cNvSpPr txBox="1"/>
            <p:nvPr/>
          </p:nvSpPr>
          <p:spPr>
            <a:xfrm>
              <a:off x="4114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16</a:t>
              </a:r>
              <a:endParaRPr/>
            </a:p>
          </p:txBody>
        </p:sp>
        <p:sp>
          <p:nvSpPr>
            <p:cNvPr id="1170" name="Google Shape;1170;p92"/>
            <p:cNvSpPr txBox="1"/>
            <p:nvPr/>
          </p:nvSpPr>
          <p:spPr>
            <a:xfrm>
              <a:off x="4419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15</a:t>
              </a:r>
              <a:endParaRPr/>
            </a:p>
          </p:txBody>
        </p:sp>
        <p:sp>
          <p:nvSpPr>
            <p:cNvPr id="1171" name="Google Shape;1171;p92"/>
            <p:cNvSpPr txBox="1"/>
            <p:nvPr/>
          </p:nvSpPr>
          <p:spPr>
            <a:xfrm>
              <a:off x="4876800" y="2724150"/>
              <a:ext cx="5334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11</a:t>
              </a:r>
              <a:endParaRPr/>
            </a:p>
          </p:txBody>
        </p:sp>
        <p:sp>
          <p:nvSpPr>
            <p:cNvPr id="1172" name="Google Shape;1172;p92"/>
            <p:cNvSpPr txBox="1"/>
            <p:nvPr/>
          </p:nvSpPr>
          <p:spPr>
            <a:xfrm>
              <a:off x="5181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10</a:t>
              </a:r>
              <a:endParaRPr/>
            </a:p>
          </p:txBody>
        </p:sp>
        <p:sp>
          <p:nvSpPr>
            <p:cNvPr id="1173" name="Google Shape;1173;p92"/>
            <p:cNvSpPr txBox="1"/>
            <p:nvPr/>
          </p:nvSpPr>
          <p:spPr>
            <a:xfrm>
              <a:off x="57912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6</a:t>
              </a:r>
              <a:endParaRPr/>
            </a:p>
          </p:txBody>
        </p:sp>
        <p:sp>
          <p:nvSpPr>
            <p:cNvPr id="1174" name="Google Shape;1174;p92"/>
            <p:cNvSpPr txBox="1"/>
            <p:nvPr/>
          </p:nvSpPr>
          <p:spPr>
            <a:xfrm>
              <a:off x="60198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5</a:t>
              </a:r>
              <a:endParaRPr/>
            </a:p>
          </p:txBody>
        </p:sp>
        <p:sp>
          <p:nvSpPr>
            <p:cNvPr id="1175" name="Google Shape;1175;p92"/>
            <p:cNvSpPr txBox="1"/>
            <p:nvPr/>
          </p:nvSpPr>
          <p:spPr>
            <a:xfrm>
              <a:off x="20574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31</a:t>
              </a:r>
              <a:endParaRPr/>
            </a:p>
          </p:txBody>
        </p:sp>
        <p:sp>
          <p:nvSpPr>
            <p:cNvPr id="1176" name="Google Shape;1176;p92"/>
            <p:cNvSpPr txBox="1"/>
            <p:nvPr/>
          </p:nvSpPr>
          <p:spPr>
            <a:xfrm>
              <a:off x="2590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26</a:t>
              </a:r>
              <a:endParaRPr/>
            </a:p>
          </p:txBody>
        </p:sp>
        <p:sp>
          <p:nvSpPr>
            <p:cNvPr id="1177" name="Google Shape;1177;p92"/>
            <p:cNvSpPr txBox="1"/>
            <p:nvPr/>
          </p:nvSpPr>
          <p:spPr>
            <a:xfrm>
              <a:off x="2895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25</a:t>
              </a:r>
              <a:endParaRPr/>
            </a:p>
          </p:txBody>
        </p:sp>
        <p:sp>
          <p:nvSpPr>
            <p:cNvPr id="1178" name="Google Shape;1178;p92"/>
            <p:cNvSpPr txBox="1"/>
            <p:nvPr/>
          </p:nvSpPr>
          <p:spPr>
            <a:xfrm>
              <a:off x="3352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21</a:t>
              </a:r>
              <a:endParaRPr/>
            </a:p>
          </p:txBody>
        </p:sp>
        <p:sp>
          <p:nvSpPr>
            <p:cNvPr id="1179" name="Google Shape;1179;p92"/>
            <p:cNvSpPr txBox="1"/>
            <p:nvPr/>
          </p:nvSpPr>
          <p:spPr>
            <a:xfrm>
              <a:off x="3733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20</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0"/>
                                        </p:tgtEl>
                                        <p:attrNameLst>
                                          <p:attrName>style.visibility</p:attrName>
                                        </p:attrNameLst>
                                      </p:cBhvr>
                                      <p:to>
                                        <p:strVal val="visible"/>
                                      </p:to>
                                    </p:set>
                                    <p:animEffect transition="in" filter="fade">
                                      <p:cBhvr>
                                        <p:cTn id="7" dur="500"/>
                                        <p:tgtEl>
                                          <p:spTgt spid="1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183"/>
        <p:cNvGrpSpPr/>
        <p:nvPr/>
      </p:nvGrpSpPr>
      <p:grpSpPr>
        <a:xfrm>
          <a:off x="0" y="0"/>
          <a:ext cx="0" cy="0"/>
          <a:chOff x="0" y="0"/>
          <a:chExt cx="0" cy="0"/>
        </a:xfrm>
      </p:grpSpPr>
      <p:sp>
        <p:nvSpPr>
          <p:cNvPr id="1184" name="Google Shape;1184;p9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(b) I-type Instruction Encoding</a:t>
            </a:r>
            <a:endParaRPr/>
          </a:p>
        </p:txBody>
      </p:sp>
      <p:sp>
        <p:nvSpPr>
          <p:cNvPr id="1185" name="Google Shape;1185;p9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Contains a 16-bit immediate data field.</a:t>
            </a:r>
            <a:endParaRPr/>
          </a:p>
          <a:p>
            <a:pPr marL="228600" lvl="0" indent="-228600" algn="l" rtl="0">
              <a:lnSpc>
                <a:spcPct val="110000"/>
              </a:lnSpc>
              <a:spcBef>
                <a:spcPts val="600"/>
              </a:spcBef>
              <a:spcAft>
                <a:spcPts val="0"/>
              </a:spcAft>
              <a:buClr>
                <a:schemeClr val="dk1"/>
              </a:buClr>
              <a:buSzPts val="2800"/>
              <a:buChar char="•"/>
            </a:pPr>
            <a:r>
              <a:rPr lang="en-US"/>
              <a:t>Supports one source and one destination register.</a:t>
            </a:r>
            <a:endParaRPr/>
          </a:p>
        </p:txBody>
      </p:sp>
      <p:sp>
        <p:nvSpPr>
          <p:cNvPr id="1186" name="Google Shape;1186;p9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92</a:t>
            </a:fld>
            <a:endParaRPr/>
          </a:p>
        </p:txBody>
      </p:sp>
      <p:grpSp>
        <p:nvGrpSpPr>
          <p:cNvPr id="1187" name="Google Shape;1187;p93"/>
          <p:cNvGrpSpPr/>
          <p:nvPr/>
        </p:nvGrpSpPr>
        <p:grpSpPr>
          <a:xfrm>
            <a:off x="2743200" y="3225800"/>
            <a:ext cx="6604000" cy="914400"/>
            <a:chOff x="2057400" y="2724150"/>
            <a:chExt cx="4953000" cy="685800"/>
          </a:xfrm>
        </p:grpSpPr>
        <p:grpSp>
          <p:nvGrpSpPr>
            <p:cNvPr id="1188" name="Google Shape;1188;p93"/>
            <p:cNvGrpSpPr/>
            <p:nvPr/>
          </p:nvGrpSpPr>
          <p:grpSpPr>
            <a:xfrm>
              <a:off x="2057400" y="3028950"/>
              <a:ext cx="4876800" cy="381000"/>
              <a:chOff x="762000" y="3181350"/>
              <a:chExt cx="4876800" cy="381000"/>
            </a:xfrm>
          </p:grpSpPr>
          <p:sp>
            <p:nvSpPr>
              <p:cNvPr id="1189" name="Google Shape;1189;p93"/>
              <p:cNvSpPr/>
              <p:nvPr/>
            </p:nvSpPr>
            <p:spPr>
              <a:xfrm>
                <a:off x="762000" y="3181350"/>
                <a:ext cx="914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1190" name="Google Shape;1190;p93"/>
              <p:cNvSpPr/>
              <p:nvPr/>
            </p:nvSpPr>
            <p:spPr>
              <a:xfrm>
                <a:off x="1676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rs</a:t>
                </a:r>
                <a:endParaRPr sz="2400">
                  <a:solidFill>
                    <a:srgbClr val="000090"/>
                  </a:solidFill>
                  <a:latin typeface="Calibri"/>
                  <a:ea typeface="Calibri"/>
                  <a:cs typeface="Calibri"/>
                  <a:sym typeface="Calibri"/>
                </a:endParaRPr>
              </a:p>
            </p:txBody>
          </p:sp>
          <p:sp>
            <p:nvSpPr>
              <p:cNvPr id="1191" name="Google Shape;1191;p93"/>
              <p:cNvSpPr/>
              <p:nvPr/>
            </p:nvSpPr>
            <p:spPr>
              <a:xfrm>
                <a:off x="3200400" y="3181350"/>
                <a:ext cx="2438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Immediate Data</a:t>
                </a:r>
                <a:endParaRPr/>
              </a:p>
            </p:txBody>
          </p:sp>
          <p:sp>
            <p:nvSpPr>
              <p:cNvPr id="1192" name="Google Shape;1192;p93"/>
              <p:cNvSpPr/>
              <p:nvPr/>
            </p:nvSpPr>
            <p:spPr>
              <a:xfrm>
                <a:off x="2438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rt</a:t>
                </a:r>
                <a:endParaRPr sz="2400">
                  <a:solidFill>
                    <a:srgbClr val="000090"/>
                  </a:solidFill>
                  <a:latin typeface="Calibri"/>
                  <a:ea typeface="Calibri"/>
                  <a:cs typeface="Calibri"/>
                  <a:sym typeface="Calibri"/>
                </a:endParaRPr>
              </a:p>
            </p:txBody>
          </p:sp>
        </p:grpSp>
        <p:sp>
          <p:nvSpPr>
            <p:cNvPr id="1193" name="Google Shape;1193;p93"/>
            <p:cNvSpPr txBox="1"/>
            <p:nvPr/>
          </p:nvSpPr>
          <p:spPr>
            <a:xfrm>
              <a:off x="66294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0</a:t>
              </a:r>
              <a:endParaRPr/>
            </a:p>
          </p:txBody>
        </p:sp>
        <p:sp>
          <p:nvSpPr>
            <p:cNvPr id="1194" name="Google Shape;1194;p93"/>
            <p:cNvSpPr txBox="1"/>
            <p:nvPr/>
          </p:nvSpPr>
          <p:spPr>
            <a:xfrm>
              <a:off x="4114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16</a:t>
              </a:r>
              <a:endParaRPr/>
            </a:p>
          </p:txBody>
        </p:sp>
        <p:sp>
          <p:nvSpPr>
            <p:cNvPr id="1195" name="Google Shape;1195;p93"/>
            <p:cNvSpPr txBox="1"/>
            <p:nvPr/>
          </p:nvSpPr>
          <p:spPr>
            <a:xfrm>
              <a:off x="4419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15</a:t>
              </a:r>
              <a:endParaRPr/>
            </a:p>
          </p:txBody>
        </p:sp>
        <p:sp>
          <p:nvSpPr>
            <p:cNvPr id="1196" name="Google Shape;1196;p93"/>
            <p:cNvSpPr txBox="1"/>
            <p:nvPr/>
          </p:nvSpPr>
          <p:spPr>
            <a:xfrm>
              <a:off x="20574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31</a:t>
              </a:r>
              <a:endParaRPr/>
            </a:p>
          </p:txBody>
        </p:sp>
        <p:sp>
          <p:nvSpPr>
            <p:cNvPr id="1197" name="Google Shape;1197;p93"/>
            <p:cNvSpPr txBox="1"/>
            <p:nvPr/>
          </p:nvSpPr>
          <p:spPr>
            <a:xfrm>
              <a:off x="2590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26</a:t>
              </a:r>
              <a:endParaRPr/>
            </a:p>
          </p:txBody>
        </p:sp>
        <p:sp>
          <p:nvSpPr>
            <p:cNvPr id="1198" name="Google Shape;1198;p93"/>
            <p:cNvSpPr txBox="1"/>
            <p:nvPr/>
          </p:nvSpPr>
          <p:spPr>
            <a:xfrm>
              <a:off x="2895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25</a:t>
              </a:r>
              <a:endParaRPr/>
            </a:p>
          </p:txBody>
        </p:sp>
        <p:sp>
          <p:nvSpPr>
            <p:cNvPr id="1199" name="Google Shape;1199;p93"/>
            <p:cNvSpPr txBox="1"/>
            <p:nvPr/>
          </p:nvSpPr>
          <p:spPr>
            <a:xfrm>
              <a:off x="3352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21</a:t>
              </a:r>
              <a:endParaRPr/>
            </a:p>
          </p:txBody>
        </p:sp>
        <p:sp>
          <p:nvSpPr>
            <p:cNvPr id="1200" name="Google Shape;1200;p93"/>
            <p:cNvSpPr txBox="1"/>
            <p:nvPr/>
          </p:nvSpPr>
          <p:spPr>
            <a:xfrm>
              <a:off x="3733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20</a:t>
              </a:r>
              <a:endParaRPr/>
            </a:p>
          </p:txBody>
        </p:sp>
      </p:grpSp>
      <p:sp>
        <p:nvSpPr>
          <p:cNvPr id="1201" name="Google Shape;1201;p93"/>
          <p:cNvSpPr txBox="1"/>
          <p:nvPr/>
        </p:nvSpPr>
        <p:spPr>
          <a:xfrm>
            <a:off x="1625599" y="4546601"/>
            <a:ext cx="1415143" cy="7487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133" i="1">
                <a:solidFill>
                  <a:srgbClr val="000090"/>
                </a:solidFill>
                <a:latin typeface="Calibri"/>
                <a:ea typeface="Calibri"/>
                <a:cs typeface="Calibri"/>
                <a:sym typeface="Calibri"/>
              </a:rPr>
              <a:t>6-bit opcode</a:t>
            </a:r>
            <a:endParaRPr sz="2133" i="1">
              <a:solidFill>
                <a:srgbClr val="000090"/>
              </a:solidFill>
              <a:latin typeface="Calibri"/>
              <a:ea typeface="Calibri"/>
              <a:cs typeface="Calibri"/>
              <a:sym typeface="Calibri"/>
            </a:endParaRPr>
          </a:p>
        </p:txBody>
      </p:sp>
      <p:sp>
        <p:nvSpPr>
          <p:cNvPr id="1202" name="Google Shape;1202;p93"/>
          <p:cNvSpPr txBox="1"/>
          <p:nvPr/>
        </p:nvSpPr>
        <p:spPr>
          <a:xfrm>
            <a:off x="2946400" y="4546600"/>
            <a:ext cx="1524000" cy="7487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133" i="1">
                <a:solidFill>
                  <a:srgbClr val="000090"/>
                </a:solidFill>
                <a:latin typeface="Calibri"/>
                <a:ea typeface="Calibri"/>
                <a:cs typeface="Calibri"/>
                <a:sym typeface="Calibri"/>
              </a:rPr>
              <a:t>Source register 1</a:t>
            </a:r>
            <a:endParaRPr/>
          </a:p>
        </p:txBody>
      </p:sp>
      <p:sp>
        <p:nvSpPr>
          <p:cNvPr id="1203" name="Google Shape;1203;p93"/>
          <p:cNvSpPr txBox="1"/>
          <p:nvPr/>
        </p:nvSpPr>
        <p:spPr>
          <a:xfrm>
            <a:off x="4572000" y="4546600"/>
            <a:ext cx="1524000" cy="7487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133" i="1">
                <a:solidFill>
                  <a:srgbClr val="000090"/>
                </a:solidFill>
                <a:latin typeface="Calibri"/>
                <a:ea typeface="Calibri"/>
                <a:cs typeface="Calibri"/>
                <a:sym typeface="Calibri"/>
              </a:rPr>
              <a:t>Destinationregister </a:t>
            </a:r>
            <a:endParaRPr/>
          </a:p>
        </p:txBody>
      </p:sp>
      <p:sp>
        <p:nvSpPr>
          <p:cNvPr id="1204" name="Google Shape;1204;p93"/>
          <p:cNvSpPr txBox="1"/>
          <p:nvPr/>
        </p:nvSpPr>
        <p:spPr>
          <a:xfrm>
            <a:off x="7416800" y="4546600"/>
            <a:ext cx="1422400" cy="107702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133" i="1">
                <a:solidFill>
                  <a:srgbClr val="000090"/>
                </a:solidFill>
                <a:latin typeface="Calibri"/>
                <a:ea typeface="Calibri"/>
                <a:cs typeface="Calibri"/>
                <a:sym typeface="Calibri"/>
              </a:rPr>
              <a:t>16-bit immediate data</a:t>
            </a:r>
            <a:endParaRPr/>
          </a:p>
        </p:txBody>
      </p:sp>
      <p:cxnSp>
        <p:nvCxnSpPr>
          <p:cNvPr id="1205" name="Google Shape;1205;p93"/>
          <p:cNvCxnSpPr>
            <a:stCxn id="1201" idx="0"/>
          </p:cNvCxnSpPr>
          <p:nvPr/>
        </p:nvCxnSpPr>
        <p:spPr>
          <a:xfrm rot="10800000" flipH="1">
            <a:off x="2333171" y="4241801"/>
            <a:ext cx="511500" cy="304800"/>
          </a:xfrm>
          <a:prstGeom prst="straightConnector1">
            <a:avLst/>
          </a:prstGeom>
          <a:noFill/>
          <a:ln w="12700" cap="flat" cmpd="sng">
            <a:solidFill>
              <a:srgbClr val="0C0C0C"/>
            </a:solidFill>
            <a:prstDash val="solid"/>
            <a:miter lim="8000"/>
            <a:headEnd type="none" w="sm" len="sm"/>
            <a:tailEnd type="stealth" w="med" len="med"/>
          </a:ln>
        </p:spPr>
      </p:cxnSp>
      <p:cxnSp>
        <p:nvCxnSpPr>
          <p:cNvPr id="1206" name="Google Shape;1206;p93"/>
          <p:cNvCxnSpPr>
            <a:stCxn id="1202" idx="0"/>
          </p:cNvCxnSpPr>
          <p:nvPr/>
        </p:nvCxnSpPr>
        <p:spPr>
          <a:xfrm rot="10800000" flipH="1">
            <a:off x="3708400" y="4241800"/>
            <a:ext cx="558900" cy="304800"/>
          </a:xfrm>
          <a:prstGeom prst="straightConnector1">
            <a:avLst/>
          </a:prstGeom>
          <a:noFill/>
          <a:ln w="12700" cap="flat" cmpd="sng">
            <a:solidFill>
              <a:srgbClr val="0C0C0C"/>
            </a:solidFill>
            <a:prstDash val="solid"/>
            <a:miter lim="8000"/>
            <a:headEnd type="none" w="sm" len="sm"/>
            <a:tailEnd type="stealth" w="med" len="med"/>
          </a:ln>
        </p:spPr>
      </p:cxnSp>
      <p:cxnSp>
        <p:nvCxnSpPr>
          <p:cNvPr id="1207" name="Google Shape;1207;p93"/>
          <p:cNvCxnSpPr>
            <a:stCxn id="1203" idx="0"/>
          </p:cNvCxnSpPr>
          <p:nvPr/>
        </p:nvCxnSpPr>
        <p:spPr>
          <a:xfrm rot="10800000" flipH="1">
            <a:off x="5334000" y="4140100"/>
            <a:ext cx="152400" cy="406500"/>
          </a:xfrm>
          <a:prstGeom prst="straightConnector1">
            <a:avLst/>
          </a:prstGeom>
          <a:noFill/>
          <a:ln w="12700" cap="flat" cmpd="sng">
            <a:solidFill>
              <a:srgbClr val="0C0C0C"/>
            </a:solidFill>
            <a:prstDash val="solid"/>
            <a:miter lim="8000"/>
            <a:headEnd type="none" w="sm" len="sm"/>
            <a:tailEnd type="stealth" w="med" len="med"/>
          </a:ln>
        </p:spPr>
      </p:cxnSp>
      <p:cxnSp>
        <p:nvCxnSpPr>
          <p:cNvPr id="1208" name="Google Shape;1208;p93"/>
          <p:cNvCxnSpPr>
            <a:stCxn id="1204" idx="0"/>
          </p:cNvCxnSpPr>
          <p:nvPr/>
        </p:nvCxnSpPr>
        <p:spPr>
          <a:xfrm rot="10800000">
            <a:off x="7518400" y="4241800"/>
            <a:ext cx="609600" cy="304800"/>
          </a:xfrm>
          <a:prstGeom prst="straightConnector1">
            <a:avLst/>
          </a:prstGeom>
          <a:noFill/>
          <a:ln w="12700" cap="flat" cmpd="sng">
            <a:solidFill>
              <a:srgbClr val="0C0C0C"/>
            </a:solidFill>
            <a:prstDash val="solid"/>
            <a:miter lim="8000"/>
            <a:headEnd type="none" w="sm" len="sm"/>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1"/>
                                        </p:tgtEl>
                                        <p:attrNameLst>
                                          <p:attrName>style.visibility</p:attrName>
                                        </p:attrNameLst>
                                      </p:cBhvr>
                                      <p:to>
                                        <p:strVal val="visible"/>
                                      </p:to>
                                    </p:set>
                                    <p:animEffect transition="in" filter="fade">
                                      <p:cBhvr>
                                        <p:cTn id="7" dur="500"/>
                                        <p:tgtEl>
                                          <p:spTgt spid="1201"/>
                                        </p:tgtEl>
                                      </p:cBhvr>
                                    </p:animEffect>
                                  </p:childTnLst>
                                </p:cTn>
                              </p:par>
                              <p:par>
                                <p:cTn id="8" presetID="10" presetClass="entr" presetSubtype="0" fill="hold" nodeType="withEffect">
                                  <p:stCondLst>
                                    <p:cond delay="0"/>
                                  </p:stCondLst>
                                  <p:childTnLst>
                                    <p:set>
                                      <p:cBhvr>
                                        <p:cTn id="9" dur="1" fill="hold">
                                          <p:stCondLst>
                                            <p:cond delay="0"/>
                                          </p:stCondLst>
                                        </p:cTn>
                                        <p:tgtEl>
                                          <p:spTgt spid="1205"/>
                                        </p:tgtEl>
                                        <p:attrNameLst>
                                          <p:attrName>style.visibility</p:attrName>
                                        </p:attrNameLst>
                                      </p:cBhvr>
                                      <p:to>
                                        <p:strVal val="visible"/>
                                      </p:to>
                                    </p:set>
                                    <p:animEffect transition="in" filter="fade">
                                      <p:cBhvr>
                                        <p:cTn id="10" dur="500"/>
                                        <p:tgtEl>
                                          <p:spTgt spid="12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02"/>
                                        </p:tgtEl>
                                        <p:attrNameLst>
                                          <p:attrName>style.visibility</p:attrName>
                                        </p:attrNameLst>
                                      </p:cBhvr>
                                      <p:to>
                                        <p:strVal val="visible"/>
                                      </p:to>
                                    </p:set>
                                    <p:animEffect transition="in" filter="fade">
                                      <p:cBhvr>
                                        <p:cTn id="15" dur="500"/>
                                        <p:tgtEl>
                                          <p:spTgt spid="1202"/>
                                        </p:tgtEl>
                                      </p:cBhvr>
                                    </p:animEffect>
                                  </p:childTnLst>
                                </p:cTn>
                              </p:par>
                              <p:par>
                                <p:cTn id="16" presetID="10" presetClass="entr" presetSubtype="0" fill="hold" nodeType="withEffect">
                                  <p:stCondLst>
                                    <p:cond delay="0"/>
                                  </p:stCondLst>
                                  <p:childTnLst>
                                    <p:set>
                                      <p:cBhvr>
                                        <p:cTn id="17" dur="1" fill="hold">
                                          <p:stCondLst>
                                            <p:cond delay="0"/>
                                          </p:stCondLst>
                                        </p:cTn>
                                        <p:tgtEl>
                                          <p:spTgt spid="1206"/>
                                        </p:tgtEl>
                                        <p:attrNameLst>
                                          <p:attrName>style.visibility</p:attrName>
                                        </p:attrNameLst>
                                      </p:cBhvr>
                                      <p:to>
                                        <p:strVal val="visible"/>
                                      </p:to>
                                    </p:set>
                                    <p:animEffect transition="in" filter="fade">
                                      <p:cBhvr>
                                        <p:cTn id="18" dur="500"/>
                                        <p:tgtEl>
                                          <p:spTgt spid="120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03"/>
                                        </p:tgtEl>
                                        <p:attrNameLst>
                                          <p:attrName>style.visibility</p:attrName>
                                        </p:attrNameLst>
                                      </p:cBhvr>
                                      <p:to>
                                        <p:strVal val="visible"/>
                                      </p:to>
                                    </p:set>
                                    <p:animEffect transition="in" filter="fade">
                                      <p:cBhvr>
                                        <p:cTn id="23" dur="500"/>
                                        <p:tgtEl>
                                          <p:spTgt spid="1203"/>
                                        </p:tgtEl>
                                      </p:cBhvr>
                                    </p:animEffect>
                                  </p:childTnLst>
                                </p:cTn>
                              </p:par>
                              <p:par>
                                <p:cTn id="24" presetID="10" presetClass="entr" presetSubtype="0" fill="hold" nodeType="withEffect">
                                  <p:stCondLst>
                                    <p:cond delay="0"/>
                                  </p:stCondLst>
                                  <p:childTnLst>
                                    <p:set>
                                      <p:cBhvr>
                                        <p:cTn id="25" dur="1" fill="hold">
                                          <p:stCondLst>
                                            <p:cond delay="0"/>
                                          </p:stCondLst>
                                        </p:cTn>
                                        <p:tgtEl>
                                          <p:spTgt spid="1207"/>
                                        </p:tgtEl>
                                        <p:attrNameLst>
                                          <p:attrName>style.visibility</p:attrName>
                                        </p:attrNameLst>
                                      </p:cBhvr>
                                      <p:to>
                                        <p:strVal val="visible"/>
                                      </p:to>
                                    </p:set>
                                    <p:animEffect transition="in" filter="fade">
                                      <p:cBhvr>
                                        <p:cTn id="26" dur="500"/>
                                        <p:tgtEl>
                                          <p:spTgt spid="120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04"/>
                                        </p:tgtEl>
                                        <p:attrNameLst>
                                          <p:attrName>style.visibility</p:attrName>
                                        </p:attrNameLst>
                                      </p:cBhvr>
                                      <p:to>
                                        <p:strVal val="visible"/>
                                      </p:to>
                                    </p:set>
                                    <p:animEffect transition="in" filter="fade">
                                      <p:cBhvr>
                                        <p:cTn id="31" dur="500"/>
                                        <p:tgtEl>
                                          <p:spTgt spid="1204"/>
                                        </p:tgtEl>
                                      </p:cBhvr>
                                    </p:animEffect>
                                  </p:childTnLst>
                                </p:cTn>
                              </p:par>
                              <p:par>
                                <p:cTn id="32" presetID="10" presetClass="entr" presetSubtype="0" fill="hold" nodeType="withEffect">
                                  <p:stCondLst>
                                    <p:cond delay="0"/>
                                  </p:stCondLst>
                                  <p:childTnLst>
                                    <p:set>
                                      <p:cBhvr>
                                        <p:cTn id="33" dur="1" fill="hold">
                                          <p:stCondLst>
                                            <p:cond delay="0"/>
                                          </p:stCondLst>
                                        </p:cTn>
                                        <p:tgtEl>
                                          <p:spTgt spid="1208"/>
                                        </p:tgtEl>
                                        <p:attrNameLst>
                                          <p:attrName>style.visibility</p:attrName>
                                        </p:attrNameLst>
                                      </p:cBhvr>
                                      <p:to>
                                        <p:strVal val="visible"/>
                                      </p:to>
                                    </p:set>
                                    <p:animEffect transition="in" filter="fade">
                                      <p:cBhvr>
                                        <p:cTn id="34" dur="500"/>
                                        <p:tgtEl>
                                          <p:spTgt spid="1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94"/>
          <p:cNvSpPr txBox="1">
            <a:spLocks noGrp="1"/>
          </p:cNvSpPr>
          <p:nvPr>
            <p:ph type="body" idx="1"/>
          </p:nvPr>
        </p:nvSpPr>
        <p:spPr>
          <a:xfrm>
            <a:off x="609600" y="584201"/>
            <a:ext cx="11480800" cy="5541964"/>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400"/>
              <a:buChar char="•"/>
            </a:pPr>
            <a:r>
              <a:rPr lang="en-US" sz="2400"/>
              <a:t>Examples of I-type instructions:</a:t>
            </a:r>
            <a:endParaRPr/>
          </a:p>
          <a:p>
            <a:pPr marL="609585" lvl="1" indent="0" algn="l" rtl="0">
              <a:lnSpc>
                <a:spcPct val="110000"/>
              </a:lnSpc>
              <a:spcBef>
                <a:spcPts val="600"/>
              </a:spcBef>
              <a:spcAft>
                <a:spcPts val="0"/>
              </a:spcAft>
              <a:buClr>
                <a:schemeClr val="dk1"/>
              </a:buClr>
              <a:buSzPts val="2000"/>
              <a:buNone/>
            </a:pPr>
            <a:r>
              <a:rPr lang="en-US" sz="2000"/>
              <a:t>  	lw	$s1, 50($s5)</a:t>
            </a:r>
            <a:endParaRPr/>
          </a:p>
          <a:p>
            <a:pPr marL="609585" lvl="1" indent="0" algn="l" rtl="0">
              <a:lnSpc>
                <a:spcPct val="110000"/>
              </a:lnSpc>
              <a:spcBef>
                <a:spcPts val="600"/>
              </a:spcBef>
              <a:spcAft>
                <a:spcPts val="0"/>
              </a:spcAft>
              <a:buClr>
                <a:schemeClr val="dk1"/>
              </a:buClr>
              <a:buSzPts val="2000"/>
              <a:buNone/>
            </a:pPr>
            <a:r>
              <a:rPr lang="en-US" sz="2000"/>
              <a:t>	sw	$t1, 100($s1)</a:t>
            </a:r>
            <a:endParaRPr/>
          </a:p>
          <a:p>
            <a:pPr marL="609585" lvl="1" indent="0" algn="l" rtl="0">
              <a:lnSpc>
                <a:spcPct val="110000"/>
              </a:lnSpc>
              <a:spcBef>
                <a:spcPts val="600"/>
              </a:spcBef>
              <a:spcAft>
                <a:spcPts val="0"/>
              </a:spcAft>
              <a:buClr>
                <a:schemeClr val="dk1"/>
              </a:buClr>
              <a:buSzPts val="2000"/>
              <a:buNone/>
            </a:pPr>
            <a:r>
              <a:rPr lang="en-US" sz="2000"/>
              <a:t>	addi	$t0, $s1, 188</a:t>
            </a:r>
            <a:endParaRPr/>
          </a:p>
          <a:p>
            <a:pPr marL="609585" lvl="1" indent="0" algn="l" rtl="0">
              <a:lnSpc>
                <a:spcPct val="110000"/>
              </a:lnSpc>
              <a:spcBef>
                <a:spcPts val="600"/>
              </a:spcBef>
              <a:spcAft>
                <a:spcPts val="0"/>
              </a:spcAft>
              <a:buClr>
                <a:schemeClr val="dk1"/>
              </a:buClr>
              <a:buSzPts val="2000"/>
              <a:buNone/>
            </a:pPr>
            <a:r>
              <a:rPr lang="en-US" sz="2000"/>
              <a:t>	beq	$s1, $s2, Label	      // Label is encoded as a 16-bit offset relative to PC</a:t>
            </a:r>
            <a:endParaRPr/>
          </a:p>
          <a:p>
            <a:pPr marL="609585" lvl="1" indent="0" algn="l" rtl="0">
              <a:lnSpc>
                <a:spcPct val="110000"/>
              </a:lnSpc>
              <a:spcBef>
                <a:spcPts val="600"/>
              </a:spcBef>
              <a:spcAft>
                <a:spcPts val="0"/>
              </a:spcAft>
              <a:buClr>
                <a:schemeClr val="dk1"/>
              </a:buClr>
              <a:buSzPts val="2000"/>
              <a:buNone/>
            </a:pPr>
            <a:r>
              <a:rPr lang="en-US" sz="2000"/>
              <a:t>	bne	$s3, $zero, Label</a:t>
            </a:r>
            <a:endParaRPr/>
          </a:p>
          <a:p>
            <a:pPr marL="457189" lvl="1" indent="-457189" algn="l" rtl="0">
              <a:lnSpc>
                <a:spcPct val="110000"/>
              </a:lnSpc>
              <a:spcBef>
                <a:spcPts val="1200"/>
              </a:spcBef>
              <a:spcAft>
                <a:spcPts val="0"/>
              </a:spcAft>
              <a:buClr>
                <a:schemeClr val="dk1"/>
              </a:buClr>
              <a:buSzPts val="2400"/>
              <a:buChar char="•"/>
            </a:pPr>
            <a:r>
              <a:rPr lang="en-US"/>
              <a:t>An example instruction encoding:    </a:t>
            </a:r>
            <a:r>
              <a:rPr lang="en-US" i="1">
                <a:solidFill>
                  <a:srgbClr val="800000"/>
                </a:solidFill>
              </a:rPr>
              <a:t>lw    $t1, 48($s1)</a:t>
            </a:r>
            <a:endParaRPr/>
          </a:p>
          <a:p>
            <a:pPr marL="990575" lvl="2" indent="-457189" algn="l" rtl="0">
              <a:lnSpc>
                <a:spcPct val="110000"/>
              </a:lnSpc>
              <a:spcBef>
                <a:spcPts val="600"/>
              </a:spcBef>
              <a:spcAft>
                <a:spcPts val="0"/>
              </a:spcAft>
              <a:buClr>
                <a:srgbClr val="0C0C0C"/>
              </a:buClr>
              <a:buSzPts val="2000"/>
              <a:buChar char="•"/>
            </a:pPr>
            <a:r>
              <a:rPr lang="en-US">
                <a:solidFill>
                  <a:srgbClr val="0C0C0C"/>
                </a:solidFill>
              </a:rPr>
              <a:t>Recall:  $t1 is R9, $s1 is R17.</a:t>
            </a:r>
            <a:endParaRPr/>
          </a:p>
          <a:p>
            <a:pPr marL="990575" lvl="2" indent="-457189" algn="l" rtl="0">
              <a:lnSpc>
                <a:spcPct val="110000"/>
              </a:lnSpc>
              <a:spcBef>
                <a:spcPts val="600"/>
              </a:spcBef>
              <a:spcAft>
                <a:spcPts val="0"/>
              </a:spcAft>
              <a:buClr>
                <a:srgbClr val="0C0C0C"/>
              </a:buClr>
              <a:buSzPts val="2000"/>
              <a:buChar char="•"/>
            </a:pPr>
            <a:r>
              <a:rPr lang="en-US">
                <a:solidFill>
                  <a:srgbClr val="0C0C0C"/>
                </a:solidFill>
              </a:rPr>
              <a:t>For “lw”, opcode = 100011.</a:t>
            </a:r>
            <a:endParaRPr/>
          </a:p>
          <a:p>
            <a:pPr marL="0" lvl="0" indent="0" algn="l" rtl="0">
              <a:lnSpc>
                <a:spcPct val="110000"/>
              </a:lnSpc>
              <a:spcBef>
                <a:spcPts val="600"/>
              </a:spcBef>
              <a:spcAft>
                <a:spcPts val="0"/>
              </a:spcAft>
              <a:buClr>
                <a:schemeClr val="dk1"/>
              </a:buClr>
              <a:buSzPts val="2667"/>
              <a:buNone/>
            </a:pPr>
            <a:r>
              <a:rPr lang="en-US" sz="2667"/>
              <a:t> </a:t>
            </a:r>
            <a:endParaRPr/>
          </a:p>
        </p:txBody>
      </p:sp>
      <p:sp>
        <p:nvSpPr>
          <p:cNvPr id="1214" name="Google Shape;1214;p94"/>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93</a:t>
            </a:fld>
            <a:endParaRPr/>
          </a:p>
        </p:txBody>
      </p:sp>
      <p:grpSp>
        <p:nvGrpSpPr>
          <p:cNvPr id="1215" name="Google Shape;1215;p94"/>
          <p:cNvGrpSpPr/>
          <p:nvPr/>
        </p:nvGrpSpPr>
        <p:grpSpPr>
          <a:xfrm>
            <a:off x="1625600" y="4749800"/>
            <a:ext cx="6604000" cy="914400"/>
            <a:chOff x="2057400" y="2724150"/>
            <a:chExt cx="4953000" cy="685800"/>
          </a:xfrm>
        </p:grpSpPr>
        <p:grpSp>
          <p:nvGrpSpPr>
            <p:cNvPr id="1216" name="Google Shape;1216;p94"/>
            <p:cNvGrpSpPr/>
            <p:nvPr/>
          </p:nvGrpSpPr>
          <p:grpSpPr>
            <a:xfrm>
              <a:off x="2057400" y="3028950"/>
              <a:ext cx="4876800" cy="381000"/>
              <a:chOff x="762000" y="3181350"/>
              <a:chExt cx="4876800" cy="381000"/>
            </a:xfrm>
          </p:grpSpPr>
          <p:sp>
            <p:nvSpPr>
              <p:cNvPr id="1217" name="Google Shape;1217;p94"/>
              <p:cNvSpPr/>
              <p:nvPr/>
            </p:nvSpPr>
            <p:spPr>
              <a:xfrm>
                <a:off x="762000" y="3181350"/>
                <a:ext cx="914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100011</a:t>
                </a:r>
                <a:endParaRPr/>
              </a:p>
            </p:txBody>
          </p:sp>
          <p:sp>
            <p:nvSpPr>
              <p:cNvPr id="1218" name="Google Shape;1218;p94"/>
              <p:cNvSpPr/>
              <p:nvPr/>
            </p:nvSpPr>
            <p:spPr>
              <a:xfrm>
                <a:off x="1676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10001</a:t>
                </a:r>
                <a:endParaRPr/>
              </a:p>
            </p:txBody>
          </p:sp>
          <p:sp>
            <p:nvSpPr>
              <p:cNvPr id="1219" name="Google Shape;1219;p94"/>
              <p:cNvSpPr/>
              <p:nvPr/>
            </p:nvSpPr>
            <p:spPr>
              <a:xfrm>
                <a:off x="2438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01001</a:t>
                </a:r>
                <a:endParaRPr/>
              </a:p>
            </p:txBody>
          </p:sp>
          <p:sp>
            <p:nvSpPr>
              <p:cNvPr id="1220" name="Google Shape;1220;p94"/>
              <p:cNvSpPr/>
              <p:nvPr/>
            </p:nvSpPr>
            <p:spPr>
              <a:xfrm>
                <a:off x="3200400" y="3181350"/>
                <a:ext cx="2438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0000000000110000</a:t>
                </a:r>
                <a:endParaRPr/>
              </a:p>
            </p:txBody>
          </p:sp>
        </p:grpSp>
        <p:sp>
          <p:nvSpPr>
            <p:cNvPr id="1221" name="Google Shape;1221;p94"/>
            <p:cNvSpPr txBox="1"/>
            <p:nvPr/>
          </p:nvSpPr>
          <p:spPr>
            <a:xfrm>
              <a:off x="66294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0</a:t>
              </a:r>
              <a:endParaRPr/>
            </a:p>
          </p:txBody>
        </p:sp>
        <p:sp>
          <p:nvSpPr>
            <p:cNvPr id="1222" name="Google Shape;1222;p94"/>
            <p:cNvSpPr txBox="1"/>
            <p:nvPr/>
          </p:nvSpPr>
          <p:spPr>
            <a:xfrm>
              <a:off x="4114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16</a:t>
              </a:r>
              <a:endParaRPr/>
            </a:p>
          </p:txBody>
        </p:sp>
        <p:sp>
          <p:nvSpPr>
            <p:cNvPr id="1223" name="Google Shape;1223;p94"/>
            <p:cNvSpPr txBox="1"/>
            <p:nvPr/>
          </p:nvSpPr>
          <p:spPr>
            <a:xfrm>
              <a:off x="4419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15</a:t>
              </a:r>
              <a:endParaRPr/>
            </a:p>
          </p:txBody>
        </p:sp>
        <p:sp>
          <p:nvSpPr>
            <p:cNvPr id="1224" name="Google Shape;1224;p94"/>
            <p:cNvSpPr txBox="1"/>
            <p:nvPr/>
          </p:nvSpPr>
          <p:spPr>
            <a:xfrm>
              <a:off x="20574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31</a:t>
              </a:r>
              <a:endParaRPr/>
            </a:p>
          </p:txBody>
        </p:sp>
        <p:sp>
          <p:nvSpPr>
            <p:cNvPr id="1225" name="Google Shape;1225;p94"/>
            <p:cNvSpPr txBox="1"/>
            <p:nvPr/>
          </p:nvSpPr>
          <p:spPr>
            <a:xfrm>
              <a:off x="2590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26</a:t>
              </a:r>
              <a:endParaRPr/>
            </a:p>
          </p:txBody>
        </p:sp>
        <p:sp>
          <p:nvSpPr>
            <p:cNvPr id="1226" name="Google Shape;1226;p94"/>
            <p:cNvSpPr txBox="1"/>
            <p:nvPr/>
          </p:nvSpPr>
          <p:spPr>
            <a:xfrm>
              <a:off x="2895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25</a:t>
              </a:r>
              <a:endParaRPr/>
            </a:p>
          </p:txBody>
        </p:sp>
        <p:sp>
          <p:nvSpPr>
            <p:cNvPr id="1227" name="Google Shape;1227;p94"/>
            <p:cNvSpPr txBox="1"/>
            <p:nvPr/>
          </p:nvSpPr>
          <p:spPr>
            <a:xfrm>
              <a:off x="3352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21</a:t>
              </a:r>
              <a:endParaRPr/>
            </a:p>
          </p:txBody>
        </p:sp>
        <p:sp>
          <p:nvSpPr>
            <p:cNvPr id="1228" name="Google Shape;1228;p94"/>
            <p:cNvSpPr txBox="1"/>
            <p:nvPr/>
          </p:nvSpPr>
          <p:spPr>
            <a:xfrm>
              <a:off x="3733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20</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5"/>
                                        </p:tgtEl>
                                        <p:attrNameLst>
                                          <p:attrName>style.visibility</p:attrName>
                                        </p:attrNameLst>
                                      </p:cBhvr>
                                      <p:to>
                                        <p:strVal val="visible"/>
                                      </p:to>
                                    </p:set>
                                    <p:animEffect transition="in" filter="fade">
                                      <p:cBhvr>
                                        <p:cTn id="7" dur="500"/>
                                        <p:tgtEl>
                                          <p:spTgt spid="1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sp>
        <p:nvSpPr>
          <p:cNvPr id="1233" name="Google Shape;1233;p9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(c) J-type Instruction Encoding</a:t>
            </a:r>
            <a:endParaRPr/>
          </a:p>
        </p:txBody>
      </p:sp>
      <p:sp>
        <p:nvSpPr>
          <p:cNvPr id="1234" name="Google Shape;1234;p9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400"/>
              <a:buChar char="•"/>
            </a:pPr>
            <a:r>
              <a:rPr lang="en-US" sz="2400"/>
              <a:t>Contains a 26-bit jump address field.</a:t>
            </a:r>
            <a:endParaRPr/>
          </a:p>
          <a:p>
            <a:pPr marL="685800" lvl="1" indent="-228600" algn="l" rtl="0">
              <a:lnSpc>
                <a:spcPct val="110000"/>
              </a:lnSpc>
              <a:spcBef>
                <a:spcPts val="600"/>
              </a:spcBef>
              <a:spcAft>
                <a:spcPts val="0"/>
              </a:spcAft>
              <a:buClr>
                <a:schemeClr val="dk1"/>
              </a:buClr>
              <a:buSzPts val="2000"/>
              <a:buChar char="•"/>
            </a:pPr>
            <a:r>
              <a:rPr lang="en-US" sz="2000"/>
              <a:t>Extended to 28 bits by padding two 0’s on the right.</a:t>
            </a:r>
            <a:endParaRPr/>
          </a:p>
          <a:p>
            <a:pPr marL="228600" lvl="0" indent="-228600" algn="l" rtl="0">
              <a:lnSpc>
                <a:spcPct val="110000"/>
              </a:lnSpc>
              <a:spcBef>
                <a:spcPts val="600"/>
              </a:spcBef>
              <a:spcAft>
                <a:spcPts val="0"/>
              </a:spcAft>
              <a:buClr>
                <a:schemeClr val="dk1"/>
              </a:buClr>
              <a:buSzPts val="2400"/>
              <a:buChar char="•"/>
            </a:pPr>
            <a:r>
              <a:rPr lang="en-US" sz="2400"/>
              <a:t>Example:	</a:t>
            </a:r>
            <a:r>
              <a:rPr lang="en-US" sz="2400" i="1">
                <a:solidFill>
                  <a:srgbClr val="800000"/>
                </a:solidFill>
              </a:rPr>
              <a:t>j   Label</a:t>
            </a:r>
            <a:endParaRPr/>
          </a:p>
          <a:p>
            <a:pPr marL="228600" lvl="0" indent="-50800" algn="l" rtl="0">
              <a:lnSpc>
                <a:spcPct val="110000"/>
              </a:lnSpc>
              <a:spcBef>
                <a:spcPts val="600"/>
              </a:spcBef>
              <a:spcAft>
                <a:spcPts val="0"/>
              </a:spcAft>
              <a:buClr>
                <a:schemeClr val="dk1"/>
              </a:buClr>
              <a:buSzPts val="2800"/>
              <a:buNone/>
            </a:pPr>
            <a:endParaRPr/>
          </a:p>
        </p:txBody>
      </p:sp>
      <p:sp>
        <p:nvSpPr>
          <p:cNvPr id="1235" name="Google Shape;1235;p9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94</a:t>
            </a:fld>
            <a:endParaRPr/>
          </a:p>
        </p:txBody>
      </p:sp>
      <p:grpSp>
        <p:nvGrpSpPr>
          <p:cNvPr id="1236" name="Google Shape;1236;p95"/>
          <p:cNvGrpSpPr/>
          <p:nvPr/>
        </p:nvGrpSpPr>
        <p:grpSpPr>
          <a:xfrm>
            <a:off x="2743200" y="3538317"/>
            <a:ext cx="6604000" cy="914400"/>
            <a:chOff x="2057400" y="2724150"/>
            <a:chExt cx="4953000" cy="685800"/>
          </a:xfrm>
        </p:grpSpPr>
        <p:grpSp>
          <p:nvGrpSpPr>
            <p:cNvPr id="1237" name="Google Shape;1237;p95"/>
            <p:cNvGrpSpPr/>
            <p:nvPr/>
          </p:nvGrpSpPr>
          <p:grpSpPr>
            <a:xfrm>
              <a:off x="2057400" y="3028950"/>
              <a:ext cx="4876800" cy="381000"/>
              <a:chOff x="762000" y="3181350"/>
              <a:chExt cx="4876800" cy="381000"/>
            </a:xfrm>
          </p:grpSpPr>
          <p:sp>
            <p:nvSpPr>
              <p:cNvPr id="1238" name="Google Shape;1238;p95"/>
              <p:cNvSpPr/>
              <p:nvPr/>
            </p:nvSpPr>
            <p:spPr>
              <a:xfrm>
                <a:off x="762000" y="3181350"/>
                <a:ext cx="914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1239" name="Google Shape;1239;p95"/>
              <p:cNvSpPr/>
              <p:nvPr/>
            </p:nvSpPr>
            <p:spPr>
              <a:xfrm>
                <a:off x="1676400" y="3181350"/>
                <a:ext cx="3962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Immediate Data</a:t>
                </a:r>
                <a:endParaRPr/>
              </a:p>
            </p:txBody>
          </p:sp>
        </p:grpSp>
        <p:sp>
          <p:nvSpPr>
            <p:cNvPr id="1240" name="Google Shape;1240;p95"/>
            <p:cNvSpPr txBox="1"/>
            <p:nvPr/>
          </p:nvSpPr>
          <p:spPr>
            <a:xfrm>
              <a:off x="66294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0</a:t>
              </a:r>
              <a:endParaRPr/>
            </a:p>
          </p:txBody>
        </p:sp>
        <p:sp>
          <p:nvSpPr>
            <p:cNvPr id="1241" name="Google Shape;1241;p95"/>
            <p:cNvSpPr txBox="1"/>
            <p:nvPr/>
          </p:nvSpPr>
          <p:spPr>
            <a:xfrm>
              <a:off x="20574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31</a:t>
              </a:r>
              <a:endParaRPr/>
            </a:p>
          </p:txBody>
        </p:sp>
        <p:sp>
          <p:nvSpPr>
            <p:cNvPr id="1242" name="Google Shape;1242;p95"/>
            <p:cNvSpPr txBox="1"/>
            <p:nvPr/>
          </p:nvSpPr>
          <p:spPr>
            <a:xfrm>
              <a:off x="2590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26</a:t>
              </a:r>
              <a:endParaRPr/>
            </a:p>
          </p:txBody>
        </p:sp>
        <p:sp>
          <p:nvSpPr>
            <p:cNvPr id="1243" name="Google Shape;1243;p95"/>
            <p:cNvSpPr txBox="1"/>
            <p:nvPr/>
          </p:nvSpPr>
          <p:spPr>
            <a:xfrm>
              <a:off x="2895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25</a:t>
              </a:r>
              <a:endParaRPr/>
            </a:p>
          </p:txBody>
        </p:sp>
      </p:grpSp>
      <p:sp>
        <p:nvSpPr>
          <p:cNvPr id="1244" name="Google Shape;1244;p95"/>
          <p:cNvSpPr txBox="1"/>
          <p:nvPr/>
        </p:nvSpPr>
        <p:spPr>
          <a:xfrm>
            <a:off x="1625599" y="4859118"/>
            <a:ext cx="1415143" cy="7487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133" i="1">
                <a:solidFill>
                  <a:srgbClr val="000090"/>
                </a:solidFill>
                <a:latin typeface="Calibri"/>
                <a:ea typeface="Calibri"/>
                <a:cs typeface="Calibri"/>
                <a:sym typeface="Calibri"/>
              </a:rPr>
              <a:t>6-bit opcode</a:t>
            </a:r>
            <a:endParaRPr sz="2133" i="1">
              <a:solidFill>
                <a:srgbClr val="000090"/>
              </a:solidFill>
              <a:latin typeface="Calibri"/>
              <a:ea typeface="Calibri"/>
              <a:cs typeface="Calibri"/>
              <a:sym typeface="Calibri"/>
            </a:endParaRPr>
          </a:p>
        </p:txBody>
      </p:sp>
      <p:sp>
        <p:nvSpPr>
          <p:cNvPr id="1245" name="Google Shape;1245;p95"/>
          <p:cNvSpPr txBox="1"/>
          <p:nvPr/>
        </p:nvSpPr>
        <p:spPr>
          <a:xfrm>
            <a:off x="5384800" y="4859117"/>
            <a:ext cx="1727200" cy="7487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133" i="1">
                <a:solidFill>
                  <a:srgbClr val="000090"/>
                </a:solidFill>
                <a:latin typeface="Calibri"/>
                <a:ea typeface="Calibri"/>
                <a:cs typeface="Calibri"/>
                <a:sym typeface="Calibri"/>
              </a:rPr>
              <a:t>26-bit jump address</a:t>
            </a:r>
            <a:endParaRPr/>
          </a:p>
        </p:txBody>
      </p:sp>
      <p:cxnSp>
        <p:nvCxnSpPr>
          <p:cNvPr id="1246" name="Google Shape;1246;p95"/>
          <p:cNvCxnSpPr>
            <a:stCxn id="1244" idx="0"/>
          </p:cNvCxnSpPr>
          <p:nvPr/>
        </p:nvCxnSpPr>
        <p:spPr>
          <a:xfrm rot="10800000" flipH="1">
            <a:off x="2333171" y="4554318"/>
            <a:ext cx="511500" cy="304800"/>
          </a:xfrm>
          <a:prstGeom prst="straightConnector1">
            <a:avLst/>
          </a:prstGeom>
          <a:noFill/>
          <a:ln w="12700" cap="flat" cmpd="sng">
            <a:solidFill>
              <a:srgbClr val="0C0C0C"/>
            </a:solidFill>
            <a:prstDash val="solid"/>
            <a:miter lim="8000"/>
            <a:headEnd type="none" w="sm" len="sm"/>
            <a:tailEnd type="stealth" w="med" len="med"/>
          </a:ln>
        </p:spPr>
      </p:cxnSp>
      <p:cxnSp>
        <p:nvCxnSpPr>
          <p:cNvPr id="1247" name="Google Shape;1247;p95"/>
          <p:cNvCxnSpPr>
            <a:stCxn id="1245" idx="0"/>
          </p:cNvCxnSpPr>
          <p:nvPr/>
        </p:nvCxnSpPr>
        <p:spPr>
          <a:xfrm rot="10800000" flipH="1">
            <a:off x="6248400" y="4554317"/>
            <a:ext cx="50700" cy="304800"/>
          </a:xfrm>
          <a:prstGeom prst="straightConnector1">
            <a:avLst/>
          </a:prstGeom>
          <a:noFill/>
          <a:ln w="12700" cap="flat" cmpd="sng">
            <a:solidFill>
              <a:srgbClr val="0C0C0C"/>
            </a:solidFill>
            <a:prstDash val="solid"/>
            <a:miter lim="8000"/>
            <a:headEnd type="none" w="sm" len="sm"/>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44"/>
                                        </p:tgtEl>
                                        <p:attrNameLst>
                                          <p:attrName>style.visibility</p:attrName>
                                        </p:attrNameLst>
                                      </p:cBhvr>
                                      <p:to>
                                        <p:strVal val="visible"/>
                                      </p:to>
                                    </p:set>
                                    <p:animEffect transition="in" filter="fade">
                                      <p:cBhvr>
                                        <p:cTn id="7" dur="500"/>
                                        <p:tgtEl>
                                          <p:spTgt spid="1244"/>
                                        </p:tgtEl>
                                      </p:cBhvr>
                                    </p:animEffect>
                                  </p:childTnLst>
                                </p:cTn>
                              </p:par>
                              <p:par>
                                <p:cTn id="8" presetID="10" presetClass="entr" presetSubtype="0" fill="hold" nodeType="withEffect">
                                  <p:stCondLst>
                                    <p:cond delay="0"/>
                                  </p:stCondLst>
                                  <p:childTnLst>
                                    <p:set>
                                      <p:cBhvr>
                                        <p:cTn id="9" dur="1" fill="hold">
                                          <p:stCondLst>
                                            <p:cond delay="0"/>
                                          </p:stCondLst>
                                        </p:cTn>
                                        <p:tgtEl>
                                          <p:spTgt spid="1246"/>
                                        </p:tgtEl>
                                        <p:attrNameLst>
                                          <p:attrName>style.visibility</p:attrName>
                                        </p:attrNameLst>
                                      </p:cBhvr>
                                      <p:to>
                                        <p:strVal val="visible"/>
                                      </p:to>
                                    </p:set>
                                    <p:animEffect transition="in" filter="fade">
                                      <p:cBhvr>
                                        <p:cTn id="10" dur="500"/>
                                        <p:tgtEl>
                                          <p:spTgt spid="124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45"/>
                                        </p:tgtEl>
                                        <p:attrNameLst>
                                          <p:attrName>style.visibility</p:attrName>
                                        </p:attrNameLst>
                                      </p:cBhvr>
                                      <p:to>
                                        <p:strVal val="visible"/>
                                      </p:to>
                                    </p:set>
                                    <p:animEffect transition="in" filter="fade">
                                      <p:cBhvr>
                                        <p:cTn id="15" dur="500"/>
                                        <p:tgtEl>
                                          <p:spTgt spid="1245"/>
                                        </p:tgtEl>
                                      </p:cBhvr>
                                    </p:animEffect>
                                  </p:childTnLst>
                                </p:cTn>
                              </p:par>
                              <p:par>
                                <p:cTn id="16" presetID="10" presetClass="entr" presetSubtype="0" fill="hold" nodeType="withEffect">
                                  <p:stCondLst>
                                    <p:cond delay="0"/>
                                  </p:stCondLst>
                                  <p:childTnLst>
                                    <p:set>
                                      <p:cBhvr>
                                        <p:cTn id="17" dur="1" fill="hold">
                                          <p:stCondLst>
                                            <p:cond delay="0"/>
                                          </p:stCondLst>
                                        </p:cTn>
                                        <p:tgtEl>
                                          <p:spTgt spid="1247"/>
                                        </p:tgtEl>
                                        <p:attrNameLst>
                                          <p:attrName>style.visibility</p:attrName>
                                        </p:attrNameLst>
                                      </p:cBhvr>
                                      <p:to>
                                        <p:strVal val="visible"/>
                                      </p:to>
                                    </p:set>
                                    <p:animEffect transition="in" filter="fade">
                                      <p:cBhvr>
                                        <p:cTn id="18" dur="500"/>
                                        <p:tgtEl>
                                          <p:spTgt spid="1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251"/>
        <p:cNvGrpSpPr/>
        <p:nvPr/>
      </p:nvGrpSpPr>
      <p:grpSpPr>
        <a:xfrm>
          <a:off x="0" y="0"/>
          <a:ext cx="0" cy="0"/>
          <a:chOff x="0" y="0"/>
          <a:chExt cx="0" cy="0"/>
        </a:xfrm>
      </p:grpSpPr>
      <p:sp>
        <p:nvSpPr>
          <p:cNvPr id="1252" name="Google Shape;1252;p96"/>
          <p:cNvSpPr txBox="1">
            <a:spLocks noGrp="1"/>
          </p:cNvSpPr>
          <p:nvPr>
            <p:ph type="title"/>
          </p:nvPr>
        </p:nvSpPr>
        <p:spPr>
          <a:xfrm>
            <a:off x="609600" y="274639"/>
            <a:ext cx="49784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A Quick View</a:t>
            </a:r>
            <a:endParaRPr/>
          </a:p>
        </p:txBody>
      </p:sp>
      <p:sp>
        <p:nvSpPr>
          <p:cNvPr id="1253" name="Google Shape;1253;p96"/>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grpSp>
        <p:nvGrpSpPr>
          <p:cNvPr id="1254" name="Google Shape;1254;p96"/>
          <p:cNvGrpSpPr/>
          <p:nvPr/>
        </p:nvGrpSpPr>
        <p:grpSpPr>
          <a:xfrm>
            <a:off x="1219200" y="2616200"/>
            <a:ext cx="6604000" cy="914400"/>
            <a:chOff x="2057400" y="2724150"/>
            <a:chExt cx="4953000" cy="685800"/>
          </a:xfrm>
        </p:grpSpPr>
        <p:grpSp>
          <p:nvGrpSpPr>
            <p:cNvPr id="1255" name="Google Shape;1255;p96"/>
            <p:cNvGrpSpPr/>
            <p:nvPr/>
          </p:nvGrpSpPr>
          <p:grpSpPr>
            <a:xfrm>
              <a:off x="2057400" y="3028950"/>
              <a:ext cx="4876800" cy="381000"/>
              <a:chOff x="762000" y="3181350"/>
              <a:chExt cx="4876800" cy="381000"/>
            </a:xfrm>
          </p:grpSpPr>
          <p:sp>
            <p:nvSpPr>
              <p:cNvPr id="1256" name="Google Shape;1256;p96"/>
              <p:cNvSpPr/>
              <p:nvPr/>
            </p:nvSpPr>
            <p:spPr>
              <a:xfrm>
                <a:off x="762000" y="3181350"/>
                <a:ext cx="914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1257" name="Google Shape;1257;p96"/>
              <p:cNvSpPr/>
              <p:nvPr/>
            </p:nvSpPr>
            <p:spPr>
              <a:xfrm>
                <a:off x="1676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rs</a:t>
                </a:r>
                <a:endParaRPr sz="2400">
                  <a:solidFill>
                    <a:srgbClr val="000090"/>
                  </a:solidFill>
                  <a:latin typeface="Calibri"/>
                  <a:ea typeface="Calibri"/>
                  <a:cs typeface="Calibri"/>
                  <a:sym typeface="Calibri"/>
                </a:endParaRPr>
              </a:p>
            </p:txBody>
          </p:sp>
          <p:sp>
            <p:nvSpPr>
              <p:cNvPr id="1258" name="Google Shape;1258;p96"/>
              <p:cNvSpPr/>
              <p:nvPr/>
            </p:nvSpPr>
            <p:spPr>
              <a:xfrm>
                <a:off x="3200400" y="3181350"/>
                <a:ext cx="2438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Immediate Data</a:t>
                </a:r>
                <a:endParaRPr/>
              </a:p>
            </p:txBody>
          </p:sp>
          <p:sp>
            <p:nvSpPr>
              <p:cNvPr id="1259" name="Google Shape;1259;p96"/>
              <p:cNvSpPr/>
              <p:nvPr/>
            </p:nvSpPr>
            <p:spPr>
              <a:xfrm>
                <a:off x="2438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rt</a:t>
                </a:r>
                <a:endParaRPr sz="2400">
                  <a:solidFill>
                    <a:srgbClr val="000090"/>
                  </a:solidFill>
                  <a:latin typeface="Calibri"/>
                  <a:ea typeface="Calibri"/>
                  <a:cs typeface="Calibri"/>
                  <a:sym typeface="Calibri"/>
                </a:endParaRPr>
              </a:p>
            </p:txBody>
          </p:sp>
        </p:grpSp>
        <p:sp>
          <p:nvSpPr>
            <p:cNvPr id="1260" name="Google Shape;1260;p96"/>
            <p:cNvSpPr txBox="1"/>
            <p:nvPr/>
          </p:nvSpPr>
          <p:spPr>
            <a:xfrm>
              <a:off x="66294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0</a:t>
              </a:r>
              <a:endParaRPr/>
            </a:p>
          </p:txBody>
        </p:sp>
        <p:sp>
          <p:nvSpPr>
            <p:cNvPr id="1261" name="Google Shape;1261;p96"/>
            <p:cNvSpPr txBox="1"/>
            <p:nvPr/>
          </p:nvSpPr>
          <p:spPr>
            <a:xfrm>
              <a:off x="4114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16</a:t>
              </a:r>
              <a:endParaRPr/>
            </a:p>
          </p:txBody>
        </p:sp>
        <p:sp>
          <p:nvSpPr>
            <p:cNvPr id="1262" name="Google Shape;1262;p96"/>
            <p:cNvSpPr txBox="1"/>
            <p:nvPr/>
          </p:nvSpPr>
          <p:spPr>
            <a:xfrm>
              <a:off x="4419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15</a:t>
              </a:r>
              <a:endParaRPr/>
            </a:p>
          </p:txBody>
        </p:sp>
        <p:sp>
          <p:nvSpPr>
            <p:cNvPr id="1263" name="Google Shape;1263;p96"/>
            <p:cNvSpPr txBox="1"/>
            <p:nvPr/>
          </p:nvSpPr>
          <p:spPr>
            <a:xfrm>
              <a:off x="20574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31</a:t>
              </a:r>
              <a:endParaRPr/>
            </a:p>
          </p:txBody>
        </p:sp>
        <p:sp>
          <p:nvSpPr>
            <p:cNvPr id="1264" name="Google Shape;1264;p96"/>
            <p:cNvSpPr txBox="1"/>
            <p:nvPr/>
          </p:nvSpPr>
          <p:spPr>
            <a:xfrm>
              <a:off x="2590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26</a:t>
              </a:r>
              <a:endParaRPr/>
            </a:p>
          </p:txBody>
        </p:sp>
        <p:sp>
          <p:nvSpPr>
            <p:cNvPr id="1265" name="Google Shape;1265;p96"/>
            <p:cNvSpPr txBox="1"/>
            <p:nvPr/>
          </p:nvSpPr>
          <p:spPr>
            <a:xfrm>
              <a:off x="2895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25</a:t>
              </a:r>
              <a:endParaRPr/>
            </a:p>
          </p:txBody>
        </p:sp>
        <p:sp>
          <p:nvSpPr>
            <p:cNvPr id="1266" name="Google Shape;1266;p96"/>
            <p:cNvSpPr txBox="1"/>
            <p:nvPr/>
          </p:nvSpPr>
          <p:spPr>
            <a:xfrm>
              <a:off x="3352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21</a:t>
              </a:r>
              <a:endParaRPr/>
            </a:p>
          </p:txBody>
        </p:sp>
        <p:sp>
          <p:nvSpPr>
            <p:cNvPr id="1267" name="Google Shape;1267;p96"/>
            <p:cNvSpPr txBox="1"/>
            <p:nvPr/>
          </p:nvSpPr>
          <p:spPr>
            <a:xfrm>
              <a:off x="3733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20</a:t>
              </a:r>
              <a:endParaRPr/>
            </a:p>
          </p:txBody>
        </p:sp>
      </p:grpSp>
      <p:grpSp>
        <p:nvGrpSpPr>
          <p:cNvPr id="1268" name="Google Shape;1268;p96"/>
          <p:cNvGrpSpPr/>
          <p:nvPr/>
        </p:nvGrpSpPr>
        <p:grpSpPr>
          <a:xfrm>
            <a:off x="1219200" y="1498600"/>
            <a:ext cx="6604000" cy="914400"/>
            <a:chOff x="2057400" y="2724150"/>
            <a:chExt cx="4953000" cy="685800"/>
          </a:xfrm>
        </p:grpSpPr>
        <p:grpSp>
          <p:nvGrpSpPr>
            <p:cNvPr id="1269" name="Google Shape;1269;p96"/>
            <p:cNvGrpSpPr/>
            <p:nvPr/>
          </p:nvGrpSpPr>
          <p:grpSpPr>
            <a:xfrm>
              <a:off x="2057400" y="3028950"/>
              <a:ext cx="4876800" cy="381000"/>
              <a:chOff x="762000" y="3181350"/>
              <a:chExt cx="4876800" cy="381000"/>
            </a:xfrm>
          </p:grpSpPr>
          <p:sp>
            <p:nvSpPr>
              <p:cNvPr id="1270" name="Google Shape;1270;p96"/>
              <p:cNvSpPr/>
              <p:nvPr/>
            </p:nvSpPr>
            <p:spPr>
              <a:xfrm>
                <a:off x="762000" y="3181350"/>
                <a:ext cx="914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1271" name="Google Shape;1271;p96"/>
              <p:cNvSpPr/>
              <p:nvPr/>
            </p:nvSpPr>
            <p:spPr>
              <a:xfrm>
                <a:off x="1676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rs</a:t>
                </a:r>
                <a:endParaRPr sz="2400">
                  <a:solidFill>
                    <a:srgbClr val="000090"/>
                  </a:solidFill>
                  <a:latin typeface="Calibri"/>
                  <a:ea typeface="Calibri"/>
                  <a:cs typeface="Calibri"/>
                  <a:sym typeface="Calibri"/>
                </a:endParaRPr>
              </a:p>
            </p:txBody>
          </p:sp>
          <p:sp>
            <p:nvSpPr>
              <p:cNvPr id="1272" name="Google Shape;1272;p96"/>
              <p:cNvSpPr/>
              <p:nvPr/>
            </p:nvSpPr>
            <p:spPr>
              <a:xfrm>
                <a:off x="3200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rd</a:t>
                </a:r>
                <a:endParaRPr sz="2400">
                  <a:solidFill>
                    <a:srgbClr val="000090"/>
                  </a:solidFill>
                  <a:latin typeface="Calibri"/>
                  <a:ea typeface="Calibri"/>
                  <a:cs typeface="Calibri"/>
                  <a:sym typeface="Calibri"/>
                </a:endParaRPr>
              </a:p>
            </p:txBody>
          </p:sp>
          <p:sp>
            <p:nvSpPr>
              <p:cNvPr id="1273" name="Google Shape;1273;p96"/>
              <p:cNvSpPr/>
              <p:nvPr/>
            </p:nvSpPr>
            <p:spPr>
              <a:xfrm>
                <a:off x="2438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rt</a:t>
                </a:r>
                <a:endParaRPr sz="2400">
                  <a:solidFill>
                    <a:srgbClr val="000090"/>
                  </a:solidFill>
                  <a:latin typeface="Calibri"/>
                  <a:ea typeface="Calibri"/>
                  <a:cs typeface="Calibri"/>
                  <a:sym typeface="Calibri"/>
                </a:endParaRPr>
              </a:p>
            </p:txBody>
          </p:sp>
          <p:sp>
            <p:nvSpPr>
              <p:cNvPr id="1274" name="Google Shape;1274;p96"/>
              <p:cNvSpPr/>
              <p:nvPr/>
            </p:nvSpPr>
            <p:spPr>
              <a:xfrm>
                <a:off x="3962400" y="3181350"/>
                <a:ext cx="7620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shamt</a:t>
                </a:r>
                <a:endParaRPr sz="2400">
                  <a:solidFill>
                    <a:srgbClr val="000090"/>
                  </a:solidFill>
                  <a:latin typeface="Calibri"/>
                  <a:ea typeface="Calibri"/>
                  <a:cs typeface="Calibri"/>
                  <a:sym typeface="Calibri"/>
                </a:endParaRPr>
              </a:p>
            </p:txBody>
          </p:sp>
          <p:sp>
            <p:nvSpPr>
              <p:cNvPr id="1275" name="Google Shape;1275;p96"/>
              <p:cNvSpPr/>
              <p:nvPr/>
            </p:nvSpPr>
            <p:spPr>
              <a:xfrm>
                <a:off x="4724400" y="3181350"/>
                <a:ext cx="914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funct</a:t>
                </a:r>
                <a:endParaRPr sz="2400">
                  <a:solidFill>
                    <a:srgbClr val="000090"/>
                  </a:solidFill>
                  <a:latin typeface="Calibri"/>
                  <a:ea typeface="Calibri"/>
                  <a:cs typeface="Calibri"/>
                  <a:sym typeface="Calibri"/>
                </a:endParaRPr>
              </a:p>
            </p:txBody>
          </p:sp>
        </p:grpSp>
        <p:sp>
          <p:nvSpPr>
            <p:cNvPr id="1276" name="Google Shape;1276;p96"/>
            <p:cNvSpPr txBox="1"/>
            <p:nvPr/>
          </p:nvSpPr>
          <p:spPr>
            <a:xfrm>
              <a:off x="66294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0</a:t>
              </a:r>
              <a:endParaRPr/>
            </a:p>
          </p:txBody>
        </p:sp>
        <p:sp>
          <p:nvSpPr>
            <p:cNvPr id="1277" name="Google Shape;1277;p96"/>
            <p:cNvSpPr txBox="1"/>
            <p:nvPr/>
          </p:nvSpPr>
          <p:spPr>
            <a:xfrm>
              <a:off x="4114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16</a:t>
              </a:r>
              <a:endParaRPr/>
            </a:p>
          </p:txBody>
        </p:sp>
        <p:sp>
          <p:nvSpPr>
            <p:cNvPr id="1278" name="Google Shape;1278;p96"/>
            <p:cNvSpPr txBox="1"/>
            <p:nvPr/>
          </p:nvSpPr>
          <p:spPr>
            <a:xfrm>
              <a:off x="4419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15</a:t>
              </a:r>
              <a:endParaRPr/>
            </a:p>
          </p:txBody>
        </p:sp>
        <p:sp>
          <p:nvSpPr>
            <p:cNvPr id="1279" name="Google Shape;1279;p96"/>
            <p:cNvSpPr txBox="1"/>
            <p:nvPr/>
          </p:nvSpPr>
          <p:spPr>
            <a:xfrm>
              <a:off x="4876800" y="2724150"/>
              <a:ext cx="5334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11</a:t>
              </a:r>
              <a:endParaRPr/>
            </a:p>
          </p:txBody>
        </p:sp>
        <p:sp>
          <p:nvSpPr>
            <p:cNvPr id="1280" name="Google Shape;1280;p96"/>
            <p:cNvSpPr txBox="1"/>
            <p:nvPr/>
          </p:nvSpPr>
          <p:spPr>
            <a:xfrm>
              <a:off x="5181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10</a:t>
              </a:r>
              <a:endParaRPr/>
            </a:p>
          </p:txBody>
        </p:sp>
        <p:sp>
          <p:nvSpPr>
            <p:cNvPr id="1281" name="Google Shape;1281;p96"/>
            <p:cNvSpPr txBox="1"/>
            <p:nvPr/>
          </p:nvSpPr>
          <p:spPr>
            <a:xfrm>
              <a:off x="57912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6</a:t>
              </a:r>
              <a:endParaRPr/>
            </a:p>
          </p:txBody>
        </p:sp>
        <p:sp>
          <p:nvSpPr>
            <p:cNvPr id="1282" name="Google Shape;1282;p96"/>
            <p:cNvSpPr txBox="1"/>
            <p:nvPr/>
          </p:nvSpPr>
          <p:spPr>
            <a:xfrm>
              <a:off x="60198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5</a:t>
              </a:r>
              <a:endParaRPr/>
            </a:p>
          </p:txBody>
        </p:sp>
        <p:sp>
          <p:nvSpPr>
            <p:cNvPr id="1283" name="Google Shape;1283;p96"/>
            <p:cNvSpPr txBox="1"/>
            <p:nvPr/>
          </p:nvSpPr>
          <p:spPr>
            <a:xfrm>
              <a:off x="20574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31</a:t>
              </a:r>
              <a:endParaRPr/>
            </a:p>
          </p:txBody>
        </p:sp>
        <p:sp>
          <p:nvSpPr>
            <p:cNvPr id="1284" name="Google Shape;1284;p96"/>
            <p:cNvSpPr txBox="1"/>
            <p:nvPr/>
          </p:nvSpPr>
          <p:spPr>
            <a:xfrm>
              <a:off x="2590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26</a:t>
              </a:r>
              <a:endParaRPr/>
            </a:p>
          </p:txBody>
        </p:sp>
        <p:sp>
          <p:nvSpPr>
            <p:cNvPr id="1285" name="Google Shape;1285;p96"/>
            <p:cNvSpPr txBox="1"/>
            <p:nvPr/>
          </p:nvSpPr>
          <p:spPr>
            <a:xfrm>
              <a:off x="2895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25</a:t>
              </a:r>
              <a:endParaRPr/>
            </a:p>
          </p:txBody>
        </p:sp>
        <p:sp>
          <p:nvSpPr>
            <p:cNvPr id="1286" name="Google Shape;1286;p96"/>
            <p:cNvSpPr txBox="1"/>
            <p:nvPr/>
          </p:nvSpPr>
          <p:spPr>
            <a:xfrm>
              <a:off x="3352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21</a:t>
              </a:r>
              <a:endParaRPr/>
            </a:p>
          </p:txBody>
        </p:sp>
        <p:sp>
          <p:nvSpPr>
            <p:cNvPr id="1287" name="Google Shape;1287;p96"/>
            <p:cNvSpPr txBox="1"/>
            <p:nvPr/>
          </p:nvSpPr>
          <p:spPr>
            <a:xfrm>
              <a:off x="3733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20</a:t>
              </a:r>
              <a:endParaRPr/>
            </a:p>
          </p:txBody>
        </p:sp>
      </p:grpSp>
      <p:grpSp>
        <p:nvGrpSpPr>
          <p:cNvPr id="1288" name="Google Shape;1288;p96"/>
          <p:cNvGrpSpPr/>
          <p:nvPr/>
        </p:nvGrpSpPr>
        <p:grpSpPr>
          <a:xfrm>
            <a:off x="1219200" y="3733800"/>
            <a:ext cx="6604000" cy="914400"/>
            <a:chOff x="2057400" y="2724150"/>
            <a:chExt cx="4953000" cy="685800"/>
          </a:xfrm>
        </p:grpSpPr>
        <p:grpSp>
          <p:nvGrpSpPr>
            <p:cNvPr id="1289" name="Google Shape;1289;p96"/>
            <p:cNvGrpSpPr/>
            <p:nvPr/>
          </p:nvGrpSpPr>
          <p:grpSpPr>
            <a:xfrm>
              <a:off x="2057400" y="3028950"/>
              <a:ext cx="4876800" cy="381000"/>
              <a:chOff x="762000" y="3181350"/>
              <a:chExt cx="4876800" cy="381000"/>
            </a:xfrm>
          </p:grpSpPr>
          <p:sp>
            <p:nvSpPr>
              <p:cNvPr id="1290" name="Google Shape;1290;p96"/>
              <p:cNvSpPr/>
              <p:nvPr/>
            </p:nvSpPr>
            <p:spPr>
              <a:xfrm>
                <a:off x="762000" y="3181350"/>
                <a:ext cx="914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opcode</a:t>
                </a:r>
                <a:endParaRPr sz="2400">
                  <a:solidFill>
                    <a:srgbClr val="000090"/>
                  </a:solidFill>
                  <a:latin typeface="Calibri"/>
                  <a:ea typeface="Calibri"/>
                  <a:cs typeface="Calibri"/>
                  <a:sym typeface="Calibri"/>
                </a:endParaRPr>
              </a:p>
            </p:txBody>
          </p:sp>
          <p:sp>
            <p:nvSpPr>
              <p:cNvPr id="1291" name="Google Shape;1291;p96"/>
              <p:cNvSpPr/>
              <p:nvPr/>
            </p:nvSpPr>
            <p:spPr>
              <a:xfrm>
                <a:off x="1676400" y="3181350"/>
                <a:ext cx="3962400" cy="381000"/>
              </a:xfrm>
              <a:prstGeom prst="rect">
                <a:avLst/>
              </a:prstGeom>
              <a:solidFill>
                <a:srgbClr val="DDEAF6"/>
              </a:solidFill>
              <a:ln w="25400" cap="flat" cmpd="sng">
                <a:solidFill>
                  <a:srgbClr val="800000"/>
                </a:solidFill>
                <a:prstDash val="solid"/>
                <a:miter lim="8000"/>
                <a:headEnd type="none" w="sm" len="sm"/>
                <a:tailEnd type="none" w="sm" len="sm"/>
              </a:ln>
            </p:spPr>
            <p:txBody>
              <a:bodyPr spcFirstLastPara="1" wrap="square" lIns="91425" tIns="0" rIns="91425" bIns="45700" anchor="ctr" anchorCtr="0">
                <a:noAutofit/>
              </a:bodyPr>
              <a:lstStyle/>
              <a:p>
                <a:pPr marL="0" marR="0" lvl="0" indent="0" algn="ctr" rtl="0">
                  <a:spcBef>
                    <a:spcPts val="0"/>
                  </a:spcBef>
                  <a:spcAft>
                    <a:spcPts val="0"/>
                  </a:spcAft>
                  <a:buNone/>
                </a:pPr>
                <a:r>
                  <a:rPr lang="en-US" sz="2400">
                    <a:solidFill>
                      <a:srgbClr val="000090"/>
                    </a:solidFill>
                    <a:latin typeface="Calibri"/>
                    <a:ea typeface="Calibri"/>
                    <a:cs typeface="Calibri"/>
                    <a:sym typeface="Calibri"/>
                  </a:rPr>
                  <a:t>Immediate Data</a:t>
                </a:r>
                <a:endParaRPr/>
              </a:p>
            </p:txBody>
          </p:sp>
        </p:grpSp>
        <p:sp>
          <p:nvSpPr>
            <p:cNvPr id="1292" name="Google Shape;1292;p96"/>
            <p:cNvSpPr txBox="1"/>
            <p:nvPr/>
          </p:nvSpPr>
          <p:spPr>
            <a:xfrm>
              <a:off x="6629400" y="2724150"/>
              <a:ext cx="3810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0</a:t>
              </a:r>
              <a:endParaRPr/>
            </a:p>
          </p:txBody>
        </p:sp>
        <p:sp>
          <p:nvSpPr>
            <p:cNvPr id="1293" name="Google Shape;1293;p96"/>
            <p:cNvSpPr txBox="1"/>
            <p:nvPr/>
          </p:nvSpPr>
          <p:spPr>
            <a:xfrm>
              <a:off x="20574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31</a:t>
              </a:r>
              <a:endParaRPr/>
            </a:p>
          </p:txBody>
        </p:sp>
        <p:sp>
          <p:nvSpPr>
            <p:cNvPr id="1294" name="Google Shape;1294;p96"/>
            <p:cNvSpPr txBox="1"/>
            <p:nvPr/>
          </p:nvSpPr>
          <p:spPr>
            <a:xfrm>
              <a:off x="25908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26</a:t>
              </a:r>
              <a:endParaRPr/>
            </a:p>
          </p:txBody>
        </p:sp>
        <p:sp>
          <p:nvSpPr>
            <p:cNvPr id="1295" name="Google Shape;1295;p96"/>
            <p:cNvSpPr txBox="1"/>
            <p:nvPr/>
          </p:nvSpPr>
          <p:spPr>
            <a:xfrm>
              <a:off x="2895600" y="2724150"/>
              <a:ext cx="457200" cy="315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33">
                  <a:solidFill>
                    <a:schemeClr val="dk1"/>
                  </a:solidFill>
                  <a:latin typeface="Calibri"/>
                  <a:ea typeface="Calibri"/>
                  <a:cs typeface="Calibri"/>
                  <a:sym typeface="Calibri"/>
                </a:rPr>
                <a:t>25</a:t>
              </a:r>
              <a:endParaRPr/>
            </a:p>
          </p:txBody>
        </p:sp>
      </p:grpSp>
      <p:sp>
        <p:nvSpPr>
          <p:cNvPr id="1296" name="Google Shape;1296;p96"/>
          <p:cNvSpPr txBox="1"/>
          <p:nvPr/>
        </p:nvSpPr>
        <p:spPr>
          <a:xfrm>
            <a:off x="0" y="1905001"/>
            <a:ext cx="1524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R-type</a:t>
            </a:r>
            <a:endParaRPr/>
          </a:p>
        </p:txBody>
      </p:sp>
      <p:sp>
        <p:nvSpPr>
          <p:cNvPr id="1297" name="Google Shape;1297;p96"/>
          <p:cNvSpPr txBox="1"/>
          <p:nvPr/>
        </p:nvSpPr>
        <p:spPr>
          <a:xfrm>
            <a:off x="0" y="2936558"/>
            <a:ext cx="1524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I-type</a:t>
            </a:r>
            <a:endParaRPr/>
          </a:p>
        </p:txBody>
      </p:sp>
      <p:sp>
        <p:nvSpPr>
          <p:cNvPr id="1298" name="Google Shape;1298;p96"/>
          <p:cNvSpPr txBox="1"/>
          <p:nvPr/>
        </p:nvSpPr>
        <p:spPr>
          <a:xfrm>
            <a:off x="0" y="4054158"/>
            <a:ext cx="1524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J-type</a:t>
            </a:r>
            <a:endParaRPr/>
          </a:p>
        </p:txBody>
      </p:sp>
      <p:sp>
        <p:nvSpPr>
          <p:cNvPr id="1299" name="Google Shape;1299;p96"/>
          <p:cNvSpPr txBox="1"/>
          <p:nvPr/>
        </p:nvSpPr>
        <p:spPr>
          <a:xfrm>
            <a:off x="8026400" y="562054"/>
            <a:ext cx="3962400" cy="4360168"/>
          </a:xfrm>
          <a:prstGeom prst="rect">
            <a:avLst/>
          </a:prstGeom>
          <a:solidFill>
            <a:srgbClr val="FEF2CC"/>
          </a:solidFill>
          <a:ln w="25400" cap="flat" cmpd="sng">
            <a:solidFill>
              <a:srgbClr val="0C0C0C"/>
            </a:solidFill>
            <a:prstDash val="solid"/>
            <a:round/>
            <a:headEnd type="none" w="sm" len="sm"/>
            <a:tailEnd type="none" w="sm" len="sm"/>
          </a:ln>
        </p:spPr>
        <p:txBody>
          <a:bodyPr spcFirstLastPara="1" wrap="square" lIns="91425" tIns="45700" rIns="91425" bIns="45700" anchor="t" anchorCtr="0">
            <a:spAutoFit/>
          </a:bodyPr>
          <a:lstStyle/>
          <a:p>
            <a:pPr marL="243411" marR="0" lvl="0" indent="-243411"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Some instructions require two register operands </a:t>
            </a:r>
            <a:r>
              <a:rPr lang="en-US" sz="2400" i="1">
                <a:solidFill>
                  <a:srgbClr val="800000"/>
                </a:solidFill>
                <a:latin typeface="Calibri"/>
                <a:ea typeface="Calibri"/>
                <a:cs typeface="Calibri"/>
                <a:sym typeface="Calibri"/>
              </a:rPr>
              <a:t>rs</a:t>
            </a:r>
            <a:r>
              <a:rPr lang="en-US" sz="2400">
                <a:solidFill>
                  <a:schemeClr val="dk1"/>
                </a:solidFill>
                <a:latin typeface="Calibri"/>
                <a:ea typeface="Calibri"/>
                <a:cs typeface="Calibri"/>
                <a:sym typeface="Calibri"/>
              </a:rPr>
              <a:t> &amp; </a:t>
            </a:r>
            <a:r>
              <a:rPr lang="en-US" sz="2400" i="1">
                <a:solidFill>
                  <a:srgbClr val="800000"/>
                </a:solidFill>
                <a:latin typeface="Calibri"/>
                <a:ea typeface="Calibri"/>
                <a:cs typeface="Calibri"/>
                <a:sym typeface="Calibri"/>
              </a:rPr>
              <a:t>rt</a:t>
            </a:r>
            <a:r>
              <a:rPr lang="en-US" sz="2400">
                <a:solidFill>
                  <a:schemeClr val="dk1"/>
                </a:solidFill>
                <a:latin typeface="Calibri"/>
                <a:ea typeface="Calibri"/>
                <a:cs typeface="Calibri"/>
                <a:sym typeface="Calibri"/>
              </a:rPr>
              <a:t> as input, while some require only </a:t>
            </a:r>
            <a:r>
              <a:rPr lang="en-US" sz="2400" i="1">
                <a:solidFill>
                  <a:srgbClr val="800000"/>
                </a:solidFill>
                <a:latin typeface="Calibri"/>
                <a:ea typeface="Calibri"/>
                <a:cs typeface="Calibri"/>
                <a:sym typeface="Calibri"/>
              </a:rPr>
              <a:t>rs</a:t>
            </a:r>
            <a:r>
              <a:rPr lang="en-US" sz="2400">
                <a:solidFill>
                  <a:schemeClr val="dk1"/>
                </a:solidFill>
                <a:latin typeface="Calibri"/>
                <a:ea typeface="Calibri"/>
                <a:cs typeface="Calibri"/>
                <a:sym typeface="Calibri"/>
              </a:rPr>
              <a:t>.</a:t>
            </a:r>
            <a:endParaRPr/>
          </a:p>
          <a:p>
            <a:pPr marL="243411" marR="0" lvl="0" indent="-243411" algn="l" rtl="0">
              <a:spcBef>
                <a:spcPts val="8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Gets known only after instruction is decoded. </a:t>
            </a:r>
            <a:endParaRPr/>
          </a:p>
          <a:p>
            <a:pPr marL="243411" marR="0" lvl="0" indent="-243411" algn="l" rtl="0">
              <a:spcBef>
                <a:spcPts val="8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While decoding is going on, we can prefetch the registers in parallel.</a:t>
            </a:r>
            <a:endParaRPr/>
          </a:p>
          <a:p>
            <a:pPr marL="852996" marR="0" lvl="1" indent="-243411"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May or may not be required later.</a:t>
            </a:r>
            <a:endParaRPr/>
          </a:p>
        </p:txBody>
      </p:sp>
      <p:sp>
        <p:nvSpPr>
          <p:cNvPr id="1300" name="Google Shape;1300;p96"/>
          <p:cNvSpPr txBox="1"/>
          <p:nvPr/>
        </p:nvSpPr>
        <p:spPr>
          <a:xfrm>
            <a:off x="1117600" y="5077521"/>
            <a:ext cx="9550400" cy="830997"/>
          </a:xfrm>
          <a:prstGeom prst="rect">
            <a:avLst/>
          </a:prstGeom>
          <a:solidFill>
            <a:srgbClr val="E1EFD8"/>
          </a:solidFill>
          <a:ln w="25400" cap="flat" cmpd="sng">
            <a:solidFill>
              <a:srgbClr val="0C0C0C"/>
            </a:solidFill>
            <a:prstDash val="solid"/>
            <a:round/>
            <a:headEnd type="none" w="sm" len="sm"/>
            <a:tailEnd type="none" w="sm" len="sm"/>
          </a:ln>
        </p:spPr>
        <p:txBody>
          <a:bodyPr spcFirstLastPara="1" wrap="square" lIns="91425" tIns="45700" rIns="91425" bIns="45700" anchor="t" anchorCtr="0">
            <a:spAutoFit/>
          </a:bodyPr>
          <a:lstStyle/>
          <a:p>
            <a:pPr marL="380990" marR="0" lvl="0" indent="-38099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Similarly, the 16-bit and 26-bit immediate data are retrieved and sign-extended to 32-bits in case they are required later.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99"/>
                                        </p:tgtEl>
                                        <p:attrNameLst>
                                          <p:attrName>style.visibility</p:attrName>
                                        </p:attrNameLst>
                                      </p:cBhvr>
                                      <p:to>
                                        <p:strVal val="visible"/>
                                      </p:to>
                                    </p:set>
                                    <p:animEffect transition="in" filter="fade">
                                      <p:cBhvr>
                                        <p:cTn id="7" dur="500"/>
                                        <p:tgtEl>
                                          <p:spTgt spid="12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00"/>
                                        </p:tgtEl>
                                        <p:attrNameLst>
                                          <p:attrName>style.visibility</p:attrName>
                                        </p:attrNameLst>
                                      </p:cBhvr>
                                      <p:to>
                                        <p:strVal val="visible"/>
                                      </p:to>
                                    </p:set>
                                    <p:animEffect transition="in" filter="fade">
                                      <p:cBhvr>
                                        <p:cTn id="12" dur="500"/>
                                        <p:tgtEl>
                                          <p:spTgt spid="1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9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b="1"/>
              <a:t>Addressing Modes in MIPS32</a:t>
            </a:r>
            <a:endParaRPr/>
          </a:p>
        </p:txBody>
      </p:sp>
      <p:sp>
        <p:nvSpPr>
          <p:cNvPr id="1306" name="Google Shape;1306;p97"/>
          <p:cNvSpPr txBox="1">
            <a:spLocks noGrp="1"/>
          </p:cNvSpPr>
          <p:nvPr>
            <p:ph type="body" idx="1"/>
          </p:nvPr>
        </p:nvSpPr>
        <p:spPr>
          <a:xfrm>
            <a:off x="609600" y="1600202"/>
            <a:ext cx="11379200" cy="4789023"/>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667"/>
              <a:buChar char="•"/>
            </a:pPr>
            <a:r>
              <a:rPr lang="en-US" sz="2667"/>
              <a:t>Register addressing			</a:t>
            </a:r>
            <a:r>
              <a:rPr lang="en-US" sz="2667" i="1">
                <a:solidFill>
                  <a:srgbClr val="800000"/>
                </a:solidFill>
              </a:rPr>
              <a:t>add	$s1, $s2, $s3</a:t>
            </a:r>
            <a:endParaRPr/>
          </a:p>
          <a:p>
            <a:pPr marL="228600" lvl="0" indent="-228600" algn="l" rtl="0">
              <a:lnSpc>
                <a:spcPct val="110000"/>
              </a:lnSpc>
              <a:spcBef>
                <a:spcPts val="1200"/>
              </a:spcBef>
              <a:spcAft>
                <a:spcPts val="0"/>
              </a:spcAft>
              <a:buClr>
                <a:schemeClr val="dk1"/>
              </a:buClr>
              <a:buSzPts val="2667"/>
              <a:buChar char="•"/>
            </a:pPr>
            <a:r>
              <a:rPr lang="en-US" sz="2667"/>
              <a:t>Immediate addressing			</a:t>
            </a:r>
            <a:r>
              <a:rPr lang="en-US" sz="2667" i="1">
                <a:solidFill>
                  <a:srgbClr val="800000"/>
                </a:solidFill>
              </a:rPr>
              <a:t>addi	$s1, $s2, 200</a:t>
            </a:r>
            <a:endParaRPr/>
          </a:p>
          <a:p>
            <a:pPr marL="228600" lvl="0" indent="-228600" algn="l" rtl="0">
              <a:lnSpc>
                <a:spcPct val="110000"/>
              </a:lnSpc>
              <a:spcBef>
                <a:spcPts val="1200"/>
              </a:spcBef>
              <a:spcAft>
                <a:spcPts val="0"/>
              </a:spcAft>
              <a:buClr>
                <a:schemeClr val="dk1"/>
              </a:buClr>
              <a:buSzPts val="2667"/>
              <a:buChar char="•"/>
            </a:pPr>
            <a:r>
              <a:rPr lang="en-US" sz="2667"/>
              <a:t>Base addressing				</a:t>
            </a:r>
            <a:r>
              <a:rPr lang="en-US" sz="2667" i="1">
                <a:solidFill>
                  <a:srgbClr val="800000"/>
                </a:solidFill>
              </a:rPr>
              <a:t>lw	$s1, 150($s2)</a:t>
            </a:r>
            <a:endParaRPr/>
          </a:p>
          <a:p>
            <a:pPr marL="685800" lvl="1" indent="-228600" algn="l" rtl="0">
              <a:lnSpc>
                <a:spcPct val="110000"/>
              </a:lnSpc>
              <a:spcBef>
                <a:spcPts val="600"/>
              </a:spcBef>
              <a:spcAft>
                <a:spcPts val="0"/>
              </a:spcAft>
              <a:buClr>
                <a:schemeClr val="dk1"/>
              </a:buClr>
              <a:buSzPts val="2400"/>
              <a:buChar char="•"/>
            </a:pPr>
            <a:r>
              <a:rPr lang="en-US"/>
              <a:t>Content of a register is added to a “base” value to get the operand address.</a:t>
            </a:r>
            <a:endParaRPr/>
          </a:p>
          <a:p>
            <a:pPr marL="228600" lvl="0" indent="-228600" algn="l" rtl="0">
              <a:lnSpc>
                <a:spcPct val="110000"/>
              </a:lnSpc>
              <a:spcBef>
                <a:spcPts val="1200"/>
              </a:spcBef>
              <a:spcAft>
                <a:spcPts val="0"/>
              </a:spcAft>
              <a:buClr>
                <a:schemeClr val="dk1"/>
              </a:buClr>
              <a:buSzPts val="2667"/>
              <a:buChar char="•"/>
            </a:pPr>
            <a:r>
              <a:rPr lang="en-US" sz="2667"/>
              <a:t>PC relative addressing			</a:t>
            </a:r>
            <a:r>
              <a:rPr lang="en-US" sz="2667" i="1">
                <a:solidFill>
                  <a:srgbClr val="800000"/>
                </a:solidFill>
              </a:rPr>
              <a:t>beq	$s1, $s2, Label</a:t>
            </a:r>
            <a:endParaRPr/>
          </a:p>
          <a:p>
            <a:pPr marL="685800" lvl="1" indent="-228600" algn="l" rtl="0">
              <a:lnSpc>
                <a:spcPct val="110000"/>
              </a:lnSpc>
              <a:spcBef>
                <a:spcPts val="600"/>
              </a:spcBef>
              <a:spcAft>
                <a:spcPts val="0"/>
              </a:spcAft>
              <a:buClr>
                <a:schemeClr val="dk1"/>
              </a:buClr>
              <a:buSzPts val="2400"/>
              <a:buChar char="•"/>
            </a:pPr>
            <a:r>
              <a:rPr lang="en-US"/>
              <a:t>16-bit offset is added to PC to get the target address.</a:t>
            </a:r>
            <a:endParaRPr/>
          </a:p>
          <a:p>
            <a:pPr marL="228600" lvl="0" indent="-228600" algn="l" rtl="0">
              <a:lnSpc>
                <a:spcPct val="110000"/>
              </a:lnSpc>
              <a:spcBef>
                <a:spcPts val="1200"/>
              </a:spcBef>
              <a:spcAft>
                <a:spcPts val="0"/>
              </a:spcAft>
              <a:buClr>
                <a:schemeClr val="dk1"/>
              </a:buClr>
              <a:buSzPts val="2667"/>
              <a:buChar char="•"/>
            </a:pPr>
            <a:r>
              <a:rPr lang="en-US" sz="2667"/>
              <a:t>Pseudo-direct addressing		</a:t>
            </a:r>
            <a:r>
              <a:rPr lang="en-US" sz="2667" i="1">
                <a:solidFill>
                  <a:srgbClr val="800000"/>
                </a:solidFill>
              </a:rPr>
              <a:t>j	Label</a:t>
            </a:r>
            <a:endParaRPr/>
          </a:p>
          <a:p>
            <a:pPr marL="685800" lvl="1" indent="-228600" algn="l" rtl="0">
              <a:lnSpc>
                <a:spcPct val="110000"/>
              </a:lnSpc>
              <a:spcBef>
                <a:spcPts val="600"/>
              </a:spcBef>
              <a:spcAft>
                <a:spcPts val="0"/>
              </a:spcAft>
              <a:buClr>
                <a:schemeClr val="dk1"/>
              </a:buClr>
              <a:buSzPts val="2400"/>
              <a:buChar char="•"/>
            </a:pPr>
            <a:r>
              <a:rPr lang="en-US"/>
              <a:t>26-bit offset if shifted left by 2 bits and then added to PC to get the target address.</a:t>
            </a:r>
            <a:endParaRPr/>
          </a:p>
        </p:txBody>
      </p:sp>
      <p:sp>
        <p:nvSpPr>
          <p:cNvPr id="1307" name="Google Shape;1307;p97"/>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96</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2" name="Google Shape;1312;p9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000"/>
              <a:buFont typeface="Calibri"/>
              <a:buNone/>
            </a:pPr>
            <a:r>
              <a:rPr lang="en-US"/>
              <a:t>RISC and CISC Architecture</a:t>
            </a:r>
            <a:br>
              <a:rPr lang="en-US"/>
            </a:br>
            <a:endParaRPr/>
          </a:p>
        </p:txBody>
      </p:sp>
      <p:sp>
        <p:nvSpPr>
          <p:cNvPr id="1313" name="Google Shape;1313;p9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110000"/>
              </a:lnSpc>
              <a:spcBef>
                <a:spcPts val="0"/>
              </a:spcBef>
              <a:spcAft>
                <a:spcPts val="0"/>
              </a:spcAft>
              <a:buClr>
                <a:schemeClr val="dk1"/>
              </a:buClr>
              <a:buSzPts val="2400"/>
              <a:buNone/>
            </a:pPr>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317"/>
        <p:cNvGrpSpPr/>
        <p:nvPr/>
      </p:nvGrpSpPr>
      <p:grpSpPr>
        <a:xfrm>
          <a:off x="0" y="0"/>
          <a:ext cx="0" cy="0"/>
          <a:chOff x="0" y="0"/>
          <a:chExt cx="0" cy="0"/>
        </a:xfrm>
      </p:grpSpPr>
      <p:sp>
        <p:nvSpPr>
          <p:cNvPr id="1318" name="Google Shape;1318;p9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Broad Classification</a:t>
            </a:r>
            <a:endParaRPr/>
          </a:p>
        </p:txBody>
      </p:sp>
      <p:sp>
        <p:nvSpPr>
          <p:cNvPr id="1319" name="Google Shape;1319;p9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2800"/>
              <a:buChar char="•"/>
            </a:pPr>
            <a:r>
              <a:rPr lang="en-US"/>
              <a:t>Computer architectures have evolved over the years.</a:t>
            </a:r>
            <a:endParaRPr/>
          </a:p>
          <a:p>
            <a:pPr marL="685800" lvl="1" indent="-228600" algn="l" rtl="0">
              <a:lnSpc>
                <a:spcPct val="110000"/>
              </a:lnSpc>
              <a:spcBef>
                <a:spcPts val="600"/>
              </a:spcBef>
              <a:spcAft>
                <a:spcPts val="0"/>
              </a:spcAft>
              <a:buClr>
                <a:schemeClr val="dk1"/>
              </a:buClr>
              <a:buSzPts val="2400"/>
              <a:buChar char="•"/>
            </a:pPr>
            <a:r>
              <a:rPr lang="en-US"/>
              <a:t>Features that were developed for mainframes and supercomputers in the 1960s and 1970s have started to appear on a regular basis on later generation microprocessors.</a:t>
            </a:r>
            <a:endParaRPr/>
          </a:p>
          <a:p>
            <a:pPr marL="228600" lvl="0" indent="-228600" algn="l" rtl="0">
              <a:lnSpc>
                <a:spcPct val="110000"/>
              </a:lnSpc>
              <a:spcBef>
                <a:spcPts val="600"/>
              </a:spcBef>
              <a:spcAft>
                <a:spcPts val="0"/>
              </a:spcAft>
              <a:buClr>
                <a:schemeClr val="dk1"/>
              </a:buClr>
              <a:buSzPts val="2800"/>
              <a:buChar char="•"/>
            </a:pPr>
            <a:r>
              <a:rPr lang="en-US"/>
              <a:t>Two broad classifications of ISA:</a:t>
            </a:r>
            <a:endParaRPr/>
          </a:p>
          <a:p>
            <a:pPr marL="685800" lvl="1" indent="-228600" algn="l" rtl="0">
              <a:lnSpc>
                <a:spcPct val="110000"/>
              </a:lnSpc>
              <a:spcBef>
                <a:spcPts val="600"/>
              </a:spcBef>
              <a:spcAft>
                <a:spcPts val="0"/>
              </a:spcAft>
              <a:buClr>
                <a:schemeClr val="dk1"/>
              </a:buClr>
              <a:buSzPts val="2400"/>
              <a:buChar char="•"/>
            </a:pPr>
            <a:r>
              <a:rPr lang="en-US"/>
              <a:t>Complex Instruction Set Computer (CISC)</a:t>
            </a:r>
            <a:endParaRPr/>
          </a:p>
          <a:p>
            <a:pPr marL="685800" lvl="1" indent="-228600" algn="l" rtl="0">
              <a:lnSpc>
                <a:spcPct val="110000"/>
              </a:lnSpc>
              <a:spcBef>
                <a:spcPts val="600"/>
              </a:spcBef>
              <a:spcAft>
                <a:spcPts val="0"/>
              </a:spcAft>
              <a:buClr>
                <a:schemeClr val="dk1"/>
              </a:buClr>
              <a:buSzPts val="2400"/>
              <a:buChar char="•"/>
            </a:pPr>
            <a:r>
              <a:rPr lang="en-US"/>
              <a:t>Reduced Instruction Set Computer (RISC)</a:t>
            </a:r>
            <a:endParaRPr/>
          </a:p>
        </p:txBody>
      </p:sp>
      <p:sp>
        <p:nvSpPr>
          <p:cNvPr id="1320" name="Google Shape;1320;p9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98</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324"/>
        <p:cNvGrpSpPr/>
        <p:nvPr/>
      </p:nvGrpSpPr>
      <p:grpSpPr>
        <a:xfrm>
          <a:off x="0" y="0"/>
          <a:ext cx="0" cy="0"/>
          <a:chOff x="0" y="0"/>
          <a:chExt cx="0" cy="0"/>
        </a:xfrm>
      </p:grpSpPr>
      <p:sp>
        <p:nvSpPr>
          <p:cNvPr id="1325" name="Google Shape;1325;p10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CISC versus RISC Architectures</a:t>
            </a:r>
            <a:endParaRPr/>
          </a:p>
        </p:txBody>
      </p:sp>
      <p:sp>
        <p:nvSpPr>
          <p:cNvPr id="1326" name="Google Shape;1326;p10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chemeClr val="dk1"/>
              </a:buClr>
              <a:buSzPts val="2800"/>
              <a:buChar char="•"/>
            </a:pPr>
            <a:r>
              <a:rPr lang="en-US" b="1"/>
              <a:t>Complex Instruction Set Computer (CISC)</a:t>
            </a:r>
            <a:endParaRPr/>
          </a:p>
          <a:p>
            <a:pPr marL="685800" lvl="1" indent="-228600" algn="l" rtl="0">
              <a:lnSpc>
                <a:spcPct val="110000"/>
              </a:lnSpc>
              <a:spcBef>
                <a:spcPts val="600"/>
              </a:spcBef>
              <a:spcAft>
                <a:spcPts val="0"/>
              </a:spcAft>
              <a:buClr>
                <a:schemeClr val="dk1"/>
              </a:buClr>
              <a:buSzPts val="2400"/>
              <a:buChar char="•"/>
            </a:pPr>
            <a:r>
              <a:rPr lang="en-US"/>
              <a:t>More traditional approach.</a:t>
            </a:r>
            <a:endParaRPr/>
          </a:p>
          <a:p>
            <a:pPr marL="685800" lvl="1" indent="-228600" algn="l" rtl="0">
              <a:lnSpc>
                <a:spcPct val="110000"/>
              </a:lnSpc>
              <a:spcBef>
                <a:spcPts val="600"/>
              </a:spcBef>
              <a:spcAft>
                <a:spcPts val="0"/>
              </a:spcAft>
              <a:buClr>
                <a:schemeClr val="dk1"/>
              </a:buClr>
              <a:buSzPts val="2400"/>
              <a:buChar char="•"/>
            </a:pPr>
            <a:r>
              <a:rPr lang="en-US"/>
              <a:t>Main features:</a:t>
            </a:r>
            <a:endParaRPr/>
          </a:p>
          <a:p>
            <a:pPr marL="1143000" lvl="2" indent="-228600" algn="l" rtl="0">
              <a:lnSpc>
                <a:spcPct val="110000"/>
              </a:lnSpc>
              <a:spcBef>
                <a:spcPts val="600"/>
              </a:spcBef>
              <a:spcAft>
                <a:spcPts val="0"/>
              </a:spcAft>
              <a:buClr>
                <a:schemeClr val="dk1"/>
              </a:buClr>
              <a:buSzPts val="2000"/>
              <a:buChar char="•"/>
            </a:pPr>
            <a:r>
              <a:rPr lang="en-US"/>
              <a:t>Complex instruction set</a:t>
            </a:r>
            <a:endParaRPr/>
          </a:p>
          <a:p>
            <a:pPr marL="1143000" lvl="2" indent="-228600" algn="l" rtl="0">
              <a:lnSpc>
                <a:spcPct val="110000"/>
              </a:lnSpc>
              <a:spcBef>
                <a:spcPts val="600"/>
              </a:spcBef>
              <a:spcAft>
                <a:spcPts val="0"/>
              </a:spcAft>
              <a:buClr>
                <a:schemeClr val="dk1"/>
              </a:buClr>
              <a:buSzPts val="2000"/>
              <a:buChar char="•"/>
            </a:pPr>
            <a:r>
              <a:rPr lang="en-US"/>
              <a:t>Large number of addressing modes (R-R, R-M, M-M, indexed, indirect, etc.)</a:t>
            </a:r>
            <a:endParaRPr/>
          </a:p>
          <a:p>
            <a:pPr marL="1143000" lvl="2" indent="-228600" algn="l" rtl="0">
              <a:lnSpc>
                <a:spcPct val="110000"/>
              </a:lnSpc>
              <a:spcBef>
                <a:spcPts val="600"/>
              </a:spcBef>
              <a:spcAft>
                <a:spcPts val="0"/>
              </a:spcAft>
              <a:buClr>
                <a:schemeClr val="dk1"/>
              </a:buClr>
              <a:buSzPts val="2000"/>
              <a:buChar char="•"/>
            </a:pPr>
            <a:r>
              <a:rPr lang="en-US"/>
              <a:t>Special-purpose registers and Flags (sign, zero, carry, overflow, etc.)</a:t>
            </a:r>
            <a:endParaRPr/>
          </a:p>
          <a:p>
            <a:pPr marL="1143000" lvl="2" indent="-228600" algn="l" rtl="0">
              <a:lnSpc>
                <a:spcPct val="110000"/>
              </a:lnSpc>
              <a:spcBef>
                <a:spcPts val="600"/>
              </a:spcBef>
              <a:spcAft>
                <a:spcPts val="0"/>
              </a:spcAft>
              <a:buClr>
                <a:schemeClr val="dk1"/>
              </a:buClr>
              <a:buSzPts val="2000"/>
              <a:buChar char="•"/>
            </a:pPr>
            <a:r>
              <a:rPr lang="en-US"/>
              <a:t>Variable-length instructions / Complex instruction encoding</a:t>
            </a:r>
            <a:endParaRPr/>
          </a:p>
          <a:p>
            <a:pPr marL="1143000" lvl="2" indent="-228600" algn="l" rtl="0">
              <a:lnSpc>
                <a:spcPct val="110000"/>
              </a:lnSpc>
              <a:spcBef>
                <a:spcPts val="600"/>
              </a:spcBef>
              <a:spcAft>
                <a:spcPts val="0"/>
              </a:spcAft>
              <a:buClr>
                <a:schemeClr val="dk1"/>
              </a:buClr>
              <a:buSzPts val="2000"/>
              <a:buChar char="•"/>
            </a:pPr>
            <a:r>
              <a:rPr lang="en-US"/>
              <a:t>Ease of mapping high-level language statements to machine instructions</a:t>
            </a:r>
            <a:endParaRPr/>
          </a:p>
          <a:p>
            <a:pPr marL="1143000" lvl="2" indent="-228600" algn="l" rtl="0">
              <a:lnSpc>
                <a:spcPct val="110000"/>
              </a:lnSpc>
              <a:spcBef>
                <a:spcPts val="600"/>
              </a:spcBef>
              <a:spcAft>
                <a:spcPts val="0"/>
              </a:spcAft>
              <a:buClr>
                <a:srgbClr val="800000"/>
              </a:buClr>
              <a:buSzPts val="2000"/>
              <a:buChar char="•"/>
            </a:pPr>
            <a:r>
              <a:rPr lang="en-US">
                <a:solidFill>
                  <a:srgbClr val="800000"/>
                </a:solidFill>
              </a:rPr>
              <a:t>Instruction decoding / control unit design more complex</a:t>
            </a:r>
            <a:endParaRPr/>
          </a:p>
          <a:p>
            <a:pPr marL="1143000" lvl="2" indent="-228600" algn="l" rtl="0">
              <a:lnSpc>
                <a:spcPct val="110000"/>
              </a:lnSpc>
              <a:spcBef>
                <a:spcPts val="600"/>
              </a:spcBef>
              <a:spcAft>
                <a:spcPts val="0"/>
              </a:spcAft>
              <a:buClr>
                <a:srgbClr val="800000"/>
              </a:buClr>
              <a:buSzPts val="2000"/>
              <a:buChar char="•"/>
            </a:pPr>
            <a:r>
              <a:rPr lang="en-US">
                <a:solidFill>
                  <a:srgbClr val="800000"/>
                </a:solidFill>
              </a:rPr>
              <a:t>Pipeline implementation quite complex</a:t>
            </a:r>
            <a:endParaRPr/>
          </a:p>
        </p:txBody>
      </p:sp>
      <p:sp>
        <p:nvSpPr>
          <p:cNvPr id="1327" name="Google Shape;1327;p10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99</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331"/>
        <p:cNvGrpSpPr/>
        <p:nvPr/>
      </p:nvGrpSpPr>
      <p:grpSpPr>
        <a:xfrm>
          <a:off x="0" y="0"/>
          <a:ext cx="0" cy="0"/>
          <a:chOff x="0" y="0"/>
          <a:chExt cx="0" cy="0"/>
        </a:xfrm>
      </p:grpSpPr>
      <p:sp>
        <p:nvSpPr>
          <p:cNvPr id="1332" name="Google Shape;1332;p101"/>
          <p:cNvSpPr txBox="1">
            <a:spLocks noGrp="1"/>
          </p:cNvSpPr>
          <p:nvPr>
            <p:ph type="body" idx="1"/>
          </p:nvPr>
        </p:nvSpPr>
        <p:spPr>
          <a:xfrm>
            <a:off x="609600" y="1295401"/>
            <a:ext cx="10972800" cy="2133599"/>
          </a:xfrm>
          <a:prstGeom prst="rect">
            <a:avLst/>
          </a:prstGeom>
          <a:noFill/>
          <a:ln>
            <a:noFill/>
          </a:ln>
        </p:spPr>
        <p:txBody>
          <a:bodyPr spcFirstLastPara="1" wrap="square" lIns="91425" tIns="45700" rIns="91425" bIns="45700" anchor="t" anchorCtr="0">
            <a:normAutofit/>
          </a:bodyPr>
          <a:lstStyle/>
          <a:p>
            <a:pPr marL="685800" lvl="1" indent="-228600" algn="l" rtl="0">
              <a:lnSpc>
                <a:spcPct val="110000"/>
              </a:lnSpc>
              <a:spcBef>
                <a:spcPts val="0"/>
              </a:spcBef>
              <a:spcAft>
                <a:spcPts val="0"/>
              </a:spcAft>
              <a:buClr>
                <a:schemeClr val="dk1"/>
              </a:buClr>
              <a:buSzPts val="2667"/>
              <a:buChar char="•"/>
            </a:pPr>
            <a:r>
              <a:rPr lang="en-US" sz="2667"/>
              <a:t>CISC Examples:</a:t>
            </a:r>
            <a:endParaRPr/>
          </a:p>
          <a:p>
            <a:pPr marL="1143000" lvl="2" indent="-228600" algn="l" rtl="0">
              <a:lnSpc>
                <a:spcPct val="110000"/>
              </a:lnSpc>
              <a:spcBef>
                <a:spcPts val="600"/>
              </a:spcBef>
              <a:spcAft>
                <a:spcPts val="0"/>
              </a:spcAft>
              <a:buClr>
                <a:schemeClr val="dk1"/>
              </a:buClr>
              <a:buSzPts val="2400"/>
              <a:buChar char="•"/>
            </a:pPr>
            <a:r>
              <a:rPr lang="en-US" sz="2400"/>
              <a:t>IBM 360/370 		(1960-70)</a:t>
            </a:r>
            <a:endParaRPr/>
          </a:p>
          <a:p>
            <a:pPr marL="1143000" lvl="2" indent="-228600" algn="l" rtl="0">
              <a:lnSpc>
                <a:spcPct val="110000"/>
              </a:lnSpc>
              <a:spcBef>
                <a:spcPts val="600"/>
              </a:spcBef>
              <a:spcAft>
                <a:spcPts val="0"/>
              </a:spcAft>
              <a:buClr>
                <a:schemeClr val="dk1"/>
              </a:buClr>
              <a:buSzPts val="2400"/>
              <a:buChar char="•"/>
            </a:pPr>
            <a:r>
              <a:rPr lang="en-US" sz="2400"/>
              <a:t>VAX-11/780			(1970-80)</a:t>
            </a:r>
            <a:endParaRPr/>
          </a:p>
          <a:p>
            <a:pPr marL="1143000" lvl="2" indent="-228600" algn="l" rtl="0">
              <a:lnSpc>
                <a:spcPct val="110000"/>
              </a:lnSpc>
              <a:spcBef>
                <a:spcPts val="600"/>
              </a:spcBef>
              <a:spcAft>
                <a:spcPts val="0"/>
              </a:spcAft>
              <a:buClr>
                <a:schemeClr val="dk1"/>
              </a:buClr>
              <a:buSzPts val="2400"/>
              <a:buChar char="•"/>
            </a:pPr>
            <a:r>
              <a:rPr lang="en-US" sz="2400"/>
              <a:t>Intel x86 / Pentium		(1985-present)</a:t>
            </a:r>
            <a:endParaRPr/>
          </a:p>
        </p:txBody>
      </p:sp>
      <p:sp>
        <p:nvSpPr>
          <p:cNvPr id="1333" name="Google Shape;1333;p101"/>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100</a:t>
            </a:fld>
            <a:endParaRPr/>
          </a:p>
        </p:txBody>
      </p:sp>
      <p:grpSp>
        <p:nvGrpSpPr>
          <p:cNvPr id="1334" name="Google Shape;1334;p101"/>
          <p:cNvGrpSpPr/>
          <p:nvPr/>
        </p:nvGrpSpPr>
        <p:grpSpPr>
          <a:xfrm>
            <a:off x="2743200" y="3327400"/>
            <a:ext cx="9245600" cy="2462213"/>
            <a:chOff x="2057400" y="2495550"/>
            <a:chExt cx="6934200" cy="1846660"/>
          </a:xfrm>
        </p:grpSpPr>
        <p:sp>
          <p:nvSpPr>
            <p:cNvPr id="1335" name="Google Shape;1335;p101"/>
            <p:cNvSpPr txBox="1"/>
            <p:nvPr/>
          </p:nvSpPr>
          <p:spPr>
            <a:xfrm>
              <a:off x="3048000" y="2495550"/>
              <a:ext cx="5943600" cy="1846660"/>
            </a:xfrm>
            <a:prstGeom prst="rect">
              <a:avLst/>
            </a:prstGeom>
            <a:solidFill>
              <a:srgbClr val="DDEAF6"/>
            </a:solidFill>
            <a:ln w="19050" cap="flat" cmpd="sng">
              <a:solidFill>
                <a:srgbClr val="80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Only CISC instruction set that survived over generations.</a:t>
              </a:r>
              <a:endParaRPr/>
            </a:p>
            <a:p>
              <a:pPr marL="380990" marR="0" lvl="0" indent="-380990" algn="l" rtl="0">
                <a:spcBef>
                  <a:spcPts val="4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Desktop PC’s / Laptops use these.</a:t>
              </a:r>
              <a:endParaRPr/>
            </a:p>
            <a:p>
              <a:pPr marL="380990" marR="0" lvl="0" indent="-380990" algn="l" rtl="0">
                <a:spcBef>
                  <a:spcPts val="4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volume of chips manufactured is so high that there is enough motivation to pay the extra design cost.</a:t>
              </a:r>
              <a:endParaRPr/>
            </a:p>
            <a:p>
              <a:pPr marL="380990" marR="0" lvl="0" indent="-380990" algn="l" rtl="0">
                <a:spcBef>
                  <a:spcPts val="4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Sufficient hardware resources available today to translate from CISC to RISC internally.</a:t>
              </a:r>
              <a:endParaRPr/>
            </a:p>
          </p:txBody>
        </p:sp>
        <p:cxnSp>
          <p:nvCxnSpPr>
            <p:cNvPr id="1336" name="Google Shape;1336;p101"/>
            <p:cNvCxnSpPr/>
            <p:nvPr/>
          </p:nvCxnSpPr>
          <p:spPr>
            <a:xfrm>
              <a:off x="2057400" y="2511252"/>
              <a:ext cx="990600" cy="533400"/>
            </a:xfrm>
            <a:prstGeom prst="straightConnector1">
              <a:avLst/>
            </a:prstGeom>
            <a:noFill/>
            <a:ln w="19050" cap="flat" cmpd="sng">
              <a:solidFill>
                <a:srgbClr val="000090"/>
              </a:solidFill>
              <a:prstDash val="solid"/>
              <a:miter lim="8000"/>
              <a:headEnd type="none" w="sm" len="sm"/>
              <a:tailEnd type="stealth"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4"/>
                                        </p:tgtEl>
                                        <p:attrNameLst>
                                          <p:attrName>style.visibility</p:attrName>
                                        </p:attrNameLst>
                                      </p:cBhvr>
                                      <p:to>
                                        <p:strVal val="visible"/>
                                      </p:to>
                                    </p:set>
                                    <p:animEffect transition="in" filter="fade">
                                      <p:cBhvr>
                                        <p:cTn id="7" dur="500"/>
                                        <p:tgtEl>
                                          <p:spTgt spid="1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347"/>
        <p:cNvGrpSpPr/>
        <p:nvPr/>
      </p:nvGrpSpPr>
      <p:grpSpPr>
        <a:xfrm>
          <a:off x="0" y="0"/>
          <a:ext cx="0" cy="0"/>
          <a:chOff x="0" y="0"/>
          <a:chExt cx="0" cy="0"/>
        </a:xfrm>
      </p:grpSpPr>
      <p:sp>
        <p:nvSpPr>
          <p:cNvPr id="1348" name="Google Shape;1348;p103"/>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101</a:t>
            </a:fld>
            <a:endParaRPr/>
          </a:p>
        </p:txBody>
      </p:sp>
      <p:graphicFrame>
        <p:nvGraphicFramePr>
          <p:cNvPr id="1349" name="Google Shape;1349;p103"/>
          <p:cNvGraphicFramePr/>
          <p:nvPr/>
        </p:nvGraphicFramePr>
        <p:xfrm>
          <a:off x="2540002" y="381000"/>
          <a:ext cx="9448800" cy="5438950"/>
        </p:xfrm>
        <a:graphic>
          <a:graphicData uri="http://schemas.openxmlformats.org/drawingml/2006/table">
            <a:tbl>
              <a:tblPr firstRow="1" bandRow="1">
                <a:noFill/>
                <a:tableStyleId>{234F84DE-0EA6-4230-9EEA-1D2B58DE24B1}</a:tableStyleId>
              </a:tblPr>
              <a:tblGrid>
                <a:gridCol w="2715175">
                  <a:extLst>
                    <a:ext uri="{9D8B030D-6E8A-4147-A177-3AD203B41FA5}">
                      <a16:colId xmlns:a16="http://schemas.microsoft.com/office/drawing/2014/main" val="20000"/>
                    </a:ext>
                  </a:extLst>
                </a:gridCol>
                <a:gridCol w="2813375">
                  <a:extLst>
                    <a:ext uri="{9D8B030D-6E8A-4147-A177-3AD203B41FA5}">
                      <a16:colId xmlns:a16="http://schemas.microsoft.com/office/drawing/2014/main" val="20001"/>
                    </a:ext>
                  </a:extLst>
                </a:gridCol>
                <a:gridCol w="3920250">
                  <a:extLst>
                    <a:ext uri="{9D8B030D-6E8A-4147-A177-3AD203B41FA5}">
                      <a16:colId xmlns:a16="http://schemas.microsoft.com/office/drawing/2014/main" val="20002"/>
                    </a:ext>
                  </a:extLst>
                </a:gridCol>
              </a:tblGrid>
              <a:tr h="494450">
                <a:tc>
                  <a:txBody>
                    <a:bodyPr/>
                    <a:lstStyle/>
                    <a:p>
                      <a:pPr marL="0" marR="0" lvl="0" indent="0" algn="l" rtl="0">
                        <a:spcBef>
                          <a:spcPts val="0"/>
                        </a:spcBef>
                        <a:spcAft>
                          <a:spcPts val="0"/>
                        </a:spcAft>
                        <a:buNone/>
                      </a:pPr>
                      <a:r>
                        <a:rPr lang="en-US" sz="2400"/>
                        <a:t>Addressing Mode</a:t>
                      </a:r>
                      <a:endParaRPr/>
                    </a:p>
                  </a:txBody>
                  <a:tcPr marL="121925" marR="121925" marT="60950" marB="60950"/>
                </a:tc>
                <a:tc>
                  <a:txBody>
                    <a:bodyPr/>
                    <a:lstStyle/>
                    <a:p>
                      <a:pPr marL="0" marR="0" lvl="0" indent="0" algn="l" rtl="0">
                        <a:spcBef>
                          <a:spcPts val="0"/>
                        </a:spcBef>
                        <a:spcAft>
                          <a:spcPts val="0"/>
                        </a:spcAft>
                        <a:buNone/>
                      </a:pPr>
                      <a:r>
                        <a:rPr lang="en-US" sz="2400"/>
                        <a:t>Example</a:t>
                      </a:r>
                      <a:endParaRPr/>
                    </a:p>
                  </a:txBody>
                  <a:tcPr marL="121925" marR="121925" marT="60950" marB="60950"/>
                </a:tc>
                <a:tc>
                  <a:txBody>
                    <a:bodyPr/>
                    <a:lstStyle/>
                    <a:p>
                      <a:pPr marL="0" marR="0" lvl="0" indent="0" algn="l" rtl="0">
                        <a:spcBef>
                          <a:spcPts val="0"/>
                        </a:spcBef>
                        <a:spcAft>
                          <a:spcPts val="0"/>
                        </a:spcAft>
                        <a:buNone/>
                      </a:pPr>
                      <a:r>
                        <a:rPr lang="en-US" sz="2400"/>
                        <a:t>Micro-operation</a:t>
                      </a:r>
                      <a:endParaRPr/>
                    </a:p>
                  </a:txBody>
                  <a:tcPr marL="121925" marR="121925" marT="60950" marB="60950"/>
                </a:tc>
                <a:extLst>
                  <a:ext uri="{0D108BD9-81ED-4DB2-BD59-A6C34878D82A}">
                    <a16:rowId xmlns:a16="http://schemas.microsoft.com/office/drawing/2014/main" val="10000"/>
                  </a:ext>
                </a:extLst>
              </a:tr>
              <a:tr h="494450">
                <a:tc>
                  <a:txBody>
                    <a:bodyPr/>
                    <a:lstStyle/>
                    <a:p>
                      <a:pPr marL="0" marR="0" lvl="0" indent="0" algn="l" rtl="0">
                        <a:spcBef>
                          <a:spcPts val="0"/>
                        </a:spcBef>
                        <a:spcAft>
                          <a:spcPts val="0"/>
                        </a:spcAft>
                        <a:buNone/>
                      </a:pPr>
                      <a:r>
                        <a:rPr lang="en-US" sz="2400"/>
                        <a:t>Register direct</a:t>
                      </a:r>
                      <a:endParaRPr/>
                    </a:p>
                  </a:txBody>
                  <a:tcPr marL="121925" marR="121925" marT="60950" marB="60950"/>
                </a:tc>
                <a:tc>
                  <a:txBody>
                    <a:bodyPr/>
                    <a:lstStyle/>
                    <a:p>
                      <a:pPr marL="0" marR="0" lvl="0" indent="0" algn="l" rtl="0">
                        <a:spcBef>
                          <a:spcPts val="0"/>
                        </a:spcBef>
                        <a:spcAft>
                          <a:spcPts val="0"/>
                        </a:spcAft>
                        <a:buNone/>
                      </a:pPr>
                      <a:r>
                        <a:rPr lang="en-US" sz="2400"/>
                        <a:t>ADD   R1,R2</a:t>
                      </a:r>
                      <a:endParaRPr/>
                    </a:p>
                  </a:txBody>
                  <a:tcPr marL="121925" marR="121925" marT="60950" marB="60950"/>
                </a:tc>
                <a:tc>
                  <a:txBody>
                    <a:bodyPr/>
                    <a:lstStyle/>
                    <a:p>
                      <a:pPr marL="0" marR="0" lvl="0" indent="0" algn="l" rtl="0">
                        <a:spcBef>
                          <a:spcPts val="0"/>
                        </a:spcBef>
                        <a:spcAft>
                          <a:spcPts val="0"/>
                        </a:spcAft>
                        <a:buNone/>
                      </a:pPr>
                      <a:r>
                        <a:rPr lang="en-US" sz="2400"/>
                        <a:t>R1 = R1 + R2</a:t>
                      </a:r>
                      <a:endParaRPr/>
                    </a:p>
                  </a:txBody>
                  <a:tcPr marL="121925" marR="121925" marT="60950" marB="60950"/>
                </a:tc>
                <a:extLst>
                  <a:ext uri="{0D108BD9-81ED-4DB2-BD59-A6C34878D82A}">
                    <a16:rowId xmlns:a16="http://schemas.microsoft.com/office/drawing/2014/main" val="10001"/>
                  </a:ext>
                </a:extLst>
              </a:tr>
              <a:tr h="494450">
                <a:tc>
                  <a:txBody>
                    <a:bodyPr/>
                    <a:lstStyle/>
                    <a:p>
                      <a:pPr marL="0" marR="0" lvl="0" indent="0" algn="l" rtl="0">
                        <a:spcBef>
                          <a:spcPts val="0"/>
                        </a:spcBef>
                        <a:spcAft>
                          <a:spcPts val="0"/>
                        </a:spcAft>
                        <a:buNone/>
                      </a:pPr>
                      <a:r>
                        <a:rPr lang="en-US" sz="2400"/>
                        <a:t>Immediate</a:t>
                      </a:r>
                      <a:endParaRPr/>
                    </a:p>
                  </a:txBody>
                  <a:tcPr marL="121925" marR="121925" marT="60950" marB="60950"/>
                </a:tc>
                <a:tc>
                  <a:txBody>
                    <a:bodyPr/>
                    <a:lstStyle/>
                    <a:p>
                      <a:pPr marL="0" marR="0" lvl="0" indent="0" algn="l" rtl="0">
                        <a:spcBef>
                          <a:spcPts val="0"/>
                        </a:spcBef>
                        <a:spcAft>
                          <a:spcPts val="0"/>
                        </a:spcAft>
                        <a:buNone/>
                      </a:pPr>
                      <a:r>
                        <a:rPr lang="en-US" sz="2400"/>
                        <a:t>ADD   R1,#15</a:t>
                      </a:r>
                      <a:endParaRPr/>
                    </a:p>
                  </a:txBody>
                  <a:tcPr marL="121925" marR="121925" marT="60950" marB="60950"/>
                </a:tc>
                <a:tc>
                  <a:txBody>
                    <a:bodyPr/>
                    <a:lstStyle/>
                    <a:p>
                      <a:pPr marL="0" marR="0" lvl="0" indent="0" algn="l" rtl="0">
                        <a:spcBef>
                          <a:spcPts val="0"/>
                        </a:spcBef>
                        <a:spcAft>
                          <a:spcPts val="0"/>
                        </a:spcAft>
                        <a:buNone/>
                      </a:pPr>
                      <a:r>
                        <a:rPr lang="en-US" sz="2400"/>
                        <a:t>R1 = R1 + 15</a:t>
                      </a:r>
                      <a:endParaRPr/>
                    </a:p>
                  </a:txBody>
                  <a:tcPr marL="121925" marR="121925" marT="60950" marB="60950"/>
                </a:tc>
                <a:extLst>
                  <a:ext uri="{0D108BD9-81ED-4DB2-BD59-A6C34878D82A}">
                    <a16:rowId xmlns:a16="http://schemas.microsoft.com/office/drawing/2014/main" val="10002"/>
                  </a:ext>
                </a:extLst>
              </a:tr>
              <a:tr h="494450">
                <a:tc>
                  <a:txBody>
                    <a:bodyPr/>
                    <a:lstStyle/>
                    <a:p>
                      <a:pPr marL="0" marR="0" lvl="0" indent="0" algn="l" rtl="0">
                        <a:spcBef>
                          <a:spcPts val="0"/>
                        </a:spcBef>
                        <a:spcAft>
                          <a:spcPts val="0"/>
                        </a:spcAft>
                        <a:buNone/>
                      </a:pPr>
                      <a:r>
                        <a:rPr lang="en-US" sz="2400"/>
                        <a:t>Displacement</a:t>
                      </a:r>
                      <a:endParaRPr/>
                    </a:p>
                  </a:txBody>
                  <a:tcPr marL="121925" marR="121925" marT="60950" marB="60950"/>
                </a:tc>
                <a:tc>
                  <a:txBody>
                    <a:bodyPr/>
                    <a:lstStyle/>
                    <a:p>
                      <a:pPr marL="0" marR="0" lvl="0" indent="0" algn="l" rtl="0">
                        <a:spcBef>
                          <a:spcPts val="0"/>
                        </a:spcBef>
                        <a:spcAft>
                          <a:spcPts val="0"/>
                        </a:spcAft>
                        <a:buNone/>
                      </a:pPr>
                      <a:r>
                        <a:rPr lang="en-US" sz="2400"/>
                        <a:t>ADD   R1,220(R5)</a:t>
                      </a:r>
                      <a:endParaRPr/>
                    </a:p>
                  </a:txBody>
                  <a:tcPr marL="121925" marR="121925" marT="60950" marB="60950"/>
                </a:tc>
                <a:tc>
                  <a:txBody>
                    <a:bodyPr/>
                    <a:lstStyle/>
                    <a:p>
                      <a:pPr marL="0" marR="0" lvl="0" indent="0" algn="l" rtl="0">
                        <a:spcBef>
                          <a:spcPts val="0"/>
                        </a:spcBef>
                        <a:spcAft>
                          <a:spcPts val="0"/>
                        </a:spcAft>
                        <a:buNone/>
                      </a:pPr>
                      <a:r>
                        <a:rPr lang="en-US" sz="2400"/>
                        <a:t>R1 = R1 + Mem[220+R5]</a:t>
                      </a:r>
                      <a:endParaRPr/>
                    </a:p>
                  </a:txBody>
                  <a:tcPr marL="121925" marR="121925" marT="60950" marB="60950"/>
                </a:tc>
                <a:extLst>
                  <a:ext uri="{0D108BD9-81ED-4DB2-BD59-A6C34878D82A}">
                    <a16:rowId xmlns:a16="http://schemas.microsoft.com/office/drawing/2014/main" val="10003"/>
                  </a:ext>
                </a:extLst>
              </a:tr>
              <a:tr h="494450">
                <a:tc>
                  <a:txBody>
                    <a:bodyPr/>
                    <a:lstStyle/>
                    <a:p>
                      <a:pPr marL="0" marR="0" lvl="0" indent="0" algn="l" rtl="0">
                        <a:spcBef>
                          <a:spcPts val="0"/>
                        </a:spcBef>
                        <a:spcAft>
                          <a:spcPts val="0"/>
                        </a:spcAft>
                        <a:buNone/>
                      </a:pPr>
                      <a:r>
                        <a:rPr lang="en-US" sz="2400"/>
                        <a:t>Register indirect</a:t>
                      </a:r>
                      <a:endParaRPr/>
                    </a:p>
                  </a:txBody>
                  <a:tcPr marL="121925" marR="121925" marT="60950" marB="60950"/>
                </a:tc>
                <a:tc>
                  <a:txBody>
                    <a:bodyPr/>
                    <a:lstStyle/>
                    <a:p>
                      <a:pPr marL="0" marR="0" lvl="0" indent="0" algn="l" rtl="0">
                        <a:spcBef>
                          <a:spcPts val="0"/>
                        </a:spcBef>
                        <a:spcAft>
                          <a:spcPts val="0"/>
                        </a:spcAft>
                        <a:buNone/>
                      </a:pPr>
                      <a:r>
                        <a:rPr lang="en-US" sz="2400"/>
                        <a:t>ADD   R1,(R3)</a:t>
                      </a:r>
                      <a:endParaRPr/>
                    </a:p>
                  </a:txBody>
                  <a:tcPr marL="121925" marR="121925" marT="60950" marB="60950"/>
                </a:tc>
                <a:tc>
                  <a:txBody>
                    <a:bodyPr/>
                    <a:lstStyle/>
                    <a:p>
                      <a:pPr marL="0" marR="0" lvl="0" indent="0" algn="l" rtl="0">
                        <a:spcBef>
                          <a:spcPts val="0"/>
                        </a:spcBef>
                        <a:spcAft>
                          <a:spcPts val="0"/>
                        </a:spcAft>
                        <a:buNone/>
                      </a:pPr>
                      <a:r>
                        <a:rPr lang="en-US" sz="2400"/>
                        <a:t>R1 = R1 + Mem[R3]</a:t>
                      </a:r>
                      <a:endParaRPr/>
                    </a:p>
                  </a:txBody>
                  <a:tcPr marL="121925" marR="121925" marT="60950" marB="60950"/>
                </a:tc>
                <a:extLst>
                  <a:ext uri="{0D108BD9-81ED-4DB2-BD59-A6C34878D82A}">
                    <a16:rowId xmlns:a16="http://schemas.microsoft.com/office/drawing/2014/main" val="10004"/>
                  </a:ext>
                </a:extLst>
              </a:tr>
              <a:tr h="494450">
                <a:tc>
                  <a:txBody>
                    <a:bodyPr/>
                    <a:lstStyle/>
                    <a:p>
                      <a:pPr marL="0" marR="0" lvl="0" indent="0" algn="l" rtl="0">
                        <a:spcBef>
                          <a:spcPts val="0"/>
                        </a:spcBef>
                        <a:spcAft>
                          <a:spcPts val="0"/>
                        </a:spcAft>
                        <a:buNone/>
                      </a:pPr>
                      <a:r>
                        <a:rPr lang="en-US" sz="2400"/>
                        <a:t>Indexed</a:t>
                      </a:r>
                      <a:endParaRPr/>
                    </a:p>
                  </a:txBody>
                  <a:tcPr marL="121925" marR="121925" marT="60950" marB="60950"/>
                </a:tc>
                <a:tc>
                  <a:txBody>
                    <a:bodyPr/>
                    <a:lstStyle/>
                    <a:p>
                      <a:pPr marL="0" marR="0" lvl="0" indent="0" algn="l" rtl="0">
                        <a:spcBef>
                          <a:spcPts val="0"/>
                        </a:spcBef>
                        <a:spcAft>
                          <a:spcPts val="0"/>
                        </a:spcAft>
                        <a:buNone/>
                      </a:pPr>
                      <a:r>
                        <a:rPr lang="en-US" sz="2400"/>
                        <a:t>ADD   R1,(R2+R3)</a:t>
                      </a:r>
                      <a:endParaRPr/>
                    </a:p>
                  </a:txBody>
                  <a:tcPr marL="121925" marR="121925" marT="60950" marB="60950"/>
                </a:tc>
                <a:tc>
                  <a:txBody>
                    <a:bodyPr/>
                    <a:lstStyle/>
                    <a:p>
                      <a:pPr marL="0" marR="0" lvl="0" indent="0" algn="l" rtl="0">
                        <a:spcBef>
                          <a:spcPts val="0"/>
                        </a:spcBef>
                        <a:spcAft>
                          <a:spcPts val="0"/>
                        </a:spcAft>
                        <a:buNone/>
                      </a:pPr>
                      <a:r>
                        <a:rPr lang="en-US" sz="2400"/>
                        <a:t>R1 = R1 + Mem[R2+R3]</a:t>
                      </a:r>
                      <a:endParaRPr/>
                    </a:p>
                  </a:txBody>
                  <a:tcPr marL="121925" marR="121925" marT="60950" marB="60950"/>
                </a:tc>
                <a:extLst>
                  <a:ext uri="{0D108BD9-81ED-4DB2-BD59-A6C34878D82A}">
                    <a16:rowId xmlns:a16="http://schemas.microsoft.com/office/drawing/2014/main" val="10005"/>
                  </a:ext>
                </a:extLst>
              </a:tr>
              <a:tr h="494450">
                <a:tc>
                  <a:txBody>
                    <a:bodyPr/>
                    <a:lstStyle/>
                    <a:p>
                      <a:pPr marL="0" marR="0" lvl="0" indent="0" algn="l" rtl="0">
                        <a:spcBef>
                          <a:spcPts val="0"/>
                        </a:spcBef>
                        <a:spcAft>
                          <a:spcPts val="0"/>
                        </a:spcAft>
                        <a:buNone/>
                      </a:pPr>
                      <a:r>
                        <a:rPr lang="en-US" sz="2400"/>
                        <a:t>Direct</a:t>
                      </a:r>
                      <a:endParaRPr/>
                    </a:p>
                  </a:txBody>
                  <a:tcPr marL="121925" marR="121925" marT="60950" marB="60950"/>
                </a:tc>
                <a:tc>
                  <a:txBody>
                    <a:bodyPr/>
                    <a:lstStyle/>
                    <a:p>
                      <a:pPr marL="0" marR="0" lvl="0" indent="0" algn="l" rtl="0">
                        <a:spcBef>
                          <a:spcPts val="0"/>
                        </a:spcBef>
                        <a:spcAft>
                          <a:spcPts val="0"/>
                        </a:spcAft>
                        <a:buNone/>
                      </a:pPr>
                      <a:r>
                        <a:rPr lang="en-US" sz="2400"/>
                        <a:t>ADD   R1, (1000)</a:t>
                      </a:r>
                      <a:endParaRPr/>
                    </a:p>
                  </a:txBody>
                  <a:tcPr marL="121925" marR="121925" marT="60950" marB="60950"/>
                </a:tc>
                <a:tc>
                  <a:txBody>
                    <a:bodyPr/>
                    <a:lstStyle/>
                    <a:p>
                      <a:pPr marL="0" marR="0" lvl="0" indent="0" algn="l" rtl="0">
                        <a:spcBef>
                          <a:spcPts val="0"/>
                        </a:spcBef>
                        <a:spcAft>
                          <a:spcPts val="0"/>
                        </a:spcAft>
                        <a:buNone/>
                      </a:pPr>
                      <a:r>
                        <a:rPr lang="en-US" sz="2400"/>
                        <a:t>R1 = R1 + Mem[1000]</a:t>
                      </a:r>
                      <a:endParaRPr/>
                    </a:p>
                  </a:txBody>
                  <a:tcPr marL="121925" marR="121925" marT="60950" marB="60950"/>
                </a:tc>
                <a:extLst>
                  <a:ext uri="{0D108BD9-81ED-4DB2-BD59-A6C34878D82A}">
                    <a16:rowId xmlns:a16="http://schemas.microsoft.com/office/drawing/2014/main" val="10006"/>
                  </a:ext>
                </a:extLst>
              </a:tr>
              <a:tr h="494450">
                <a:tc>
                  <a:txBody>
                    <a:bodyPr/>
                    <a:lstStyle/>
                    <a:p>
                      <a:pPr marL="0" marR="0" lvl="0" indent="0" algn="l" rtl="0">
                        <a:spcBef>
                          <a:spcPts val="0"/>
                        </a:spcBef>
                        <a:spcAft>
                          <a:spcPts val="0"/>
                        </a:spcAft>
                        <a:buNone/>
                      </a:pPr>
                      <a:r>
                        <a:rPr lang="en-US" sz="2400"/>
                        <a:t>Memory indirect</a:t>
                      </a:r>
                      <a:endParaRPr/>
                    </a:p>
                  </a:txBody>
                  <a:tcPr marL="121925" marR="121925" marT="60950" marB="60950"/>
                </a:tc>
                <a:tc>
                  <a:txBody>
                    <a:bodyPr/>
                    <a:lstStyle/>
                    <a:p>
                      <a:pPr marL="0" marR="0" lvl="0" indent="0" algn="l" rtl="0">
                        <a:spcBef>
                          <a:spcPts val="0"/>
                        </a:spcBef>
                        <a:spcAft>
                          <a:spcPts val="0"/>
                        </a:spcAft>
                        <a:buNone/>
                      </a:pPr>
                      <a:r>
                        <a:rPr lang="en-US" sz="2400"/>
                        <a:t>ADD   R1,@(R4)</a:t>
                      </a:r>
                      <a:endParaRPr/>
                    </a:p>
                  </a:txBody>
                  <a:tcPr marL="121925" marR="121925" marT="60950" marB="60950"/>
                </a:tc>
                <a:tc>
                  <a:txBody>
                    <a:bodyPr/>
                    <a:lstStyle/>
                    <a:p>
                      <a:pPr marL="0" marR="0" lvl="0" indent="0" algn="l" rtl="0">
                        <a:spcBef>
                          <a:spcPts val="0"/>
                        </a:spcBef>
                        <a:spcAft>
                          <a:spcPts val="0"/>
                        </a:spcAft>
                        <a:buNone/>
                      </a:pPr>
                      <a:r>
                        <a:rPr lang="en-US" sz="2400"/>
                        <a:t>R1 = R1 + Mem[Mem[R4]]</a:t>
                      </a:r>
                      <a:endParaRPr/>
                    </a:p>
                  </a:txBody>
                  <a:tcPr marL="121925" marR="121925" marT="60950" marB="60950"/>
                </a:tc>
                <a:extLst>
                  <a:ext uri="{0D108BD9-81ED-4DB2-BD59-A6C34878D82A}">
                    <a16:rowId xmlns:a16="http://schemas.microsoft.com/office/drawing/2014/main" val="10007"/>
                  </a:ext>
                </a:extLst>
              </a:tr>
              <a:tr h="494450">
                <a:tc>
                  <a:txBody>
                    <a:bodyPr/>
                    <a:lstStyle/>
                    <a:p>
                      <a:pPr marL="0" marR="0" lvl="0" indent="0" algn="l" rtl="0">
                        <a:spcBef>
                          <a:spcPts val="0"/>
                        </a:spcBef>
                        <a:spcAft>
                          <a:spcPts val="0"/>
                        </a:spcAft>
                        <a:buNone/>
                      </a:pPr>
                      <a:r>
                        <a:rPr lang="en-US" sz="2400"/>
                        <a:t>Autoincrement</a:t>
                      </a:r>
                      <a:endParaRPr sz="2400"/>
                    </a:p>
                  </a:txBody>
                  <a:tcPr marL="121925" marR="121925" marT="60950" marB="60950"/>
                </a:tc>
                <a:tc>
                  <a:txBody>
                    <a:bodyPr/>
                    <a:lstStyle/>
                    <a:p>
                      <a:pPr marL="0" marR="0" lvl="0" indent="0" algn="l" rtl="0">
                        <a:spcBef>
                          <a:spcPts val="0"/>
                        </a:spcBef>
                        <a:spcAft>
                          <a:spcPts val="0"/>
                        </a:spcAft>
                        <a:buNone/>
                      </a:pPr>
                      <a:r>
                        <a:rPr lang="en-US" sz="2400"/>
                        <a:t>ADD   R1,(R2)+</a:t>
                      </a:r>
                      <a:endParaRPr/>
                    </a:p>
                  </a:txBody>
                  <a:tcPr marL="121925" marR="121925" marT="60950" marB="60950"/>
                </a:tc>
                <a:tc>
                  <a:txBody>
                    <a:bodyPr/>
                    <a:lstStyle/>
                    <a:p>
                      <a:pPr marL="0" marR="0" lvl="0" indent="0" algn="l" rtl="0">
                        <a:spcBef>
                          <a:spcPts val="0"/>
                        </a:spcBef>
                        <a:spcAft>
                          <a:spcPts val="0"/>
                        </a:spcAft>
                        <a:buNone/>
                      </a:pPr>
                      <a:r>
                        <a:rPr lang="en-US" sz="2400"/>
                        <a:t>R1 = R1 + Mem[R2]; R2++</a:t>
                      </a:r>
                      <a:endParaRPr/>
                    </a:p>
                  </a:txBody>
                  <a:tcPr marL="121925" marR="121925" marT="60950" marB="60950"/>
                </a:tc>
                <a:extLst>
                  <a:ext uri="{0D108BD9-81ED-4DB2-BD59-A6C34878D82A}">
                    <a16:rowId xmlns:a16="http://schemas.microsoft.com/office/drawing/2014/main" val="10008"/>
                  </a:ext>
                </a:extLst>
              </a:tr>
              <a:tr h="494450">
                <a:tc>
                  <a:txBody>
                    <a:bodyPr/>
                    <a:lstStyle/>
                    <a:p>
                      <a:pPr marL="0" marR="0" lvl="0" indent="0" algn="l" rtl="0">
                        <a:spcBef>
                          <a:spcPts val="0"/>
                        </a:spcBef>
                        <a:spcAft>
                          <a:spcPts val="0"/>
                        </a:spcAft>
                        <a:buNone/>
                      </a:pPr>
                      <a:r>
                        <a:rPr lang="en-US" sz="2400"/>
                        <a:t>Autodecrement</a:t>
                      </a:r>
                      <a:endParaRPr sz="2400"/>
                    </a:p>
                  </a:txBody>
                  <a:tcPr marL="121925" marR="121925" marT="60950" marB="60950"/>
                </a:tc>
                <a:tc>
                  <a:txBody>
                    <a:bodyPr/>
                    <a:lstStyle/>
                    <a:p>
                      <a:pPr marL="0" marR="0" lvl="0" indent="0" algn="l" rtl="0">
                        <a:spcBef>
                          <a:spcPts val="0"/>
                        </a:spcBef>
                        <a:spcAft>
                          <a:spcPts val="0"/>
                        </a:spcAft>
                        <a:buNone/>
                      </a:pPr>
                      <a:r>
                        <a:rPr lang="en-US" sz="2400"/>
                        <a:t>ADD   R1,(R2)-</a:t>
                      </a:r>
                      <a:endParaRPr/>
                    </a:p>
                  </a:txBody>
                  <a:tcPr marL="121925" marR="121925" marT="60950" marB="60950"/>
                </a:tc>
                <a:tc>
                  <a:txBody>
                    <a:bodyPr/>
                    <a:lstStyle/>
                    <a:p>
                      <a:pPr marL="0" marR="0" lvl="0" indent="0" algn="l" rtl="0">
                        <a:lnSpc>
                          <a:spcPct val="100000"/>
                        </a:lnSpc>
                        <a:spcBef>
                          <a:spcPts val="0"/>
                        </a:spcBef>
                        <a:spcAft>
                          <a:spcPts val="0"/>
                        </a:spcAft>
                        <a:buClr>
                          <a:schemeClr val="dk1"/>
                        </a:buClr>
                        <a:buSzPts val="2400"/>
                        <a:buFont typeface="Calibri"/>
                        <a:buNone/>
                      </a:pPr>
                      <a:r>
                        <a:rPr lang="en-US" sz="2400"/>
                        <a:t>R1 = R1 + Mem[R2]; R2--</a:t>
                      </a:r>
                      <a:endParaRPr/>
                    </a:p>
                  </a:txBody>
                  <a:tcPr marL="121925" marR="121925" marT="60950" marB="60950"/>
                </a:tc>
                <a:extLst>
                  <a:ext uri="{0D108BD9-81ED-4DB2-BD59-A6C34878D82A}">
                    <a16:rowId xmlns:a16="http://schemas.microsoft.com/office/drawing/2014/main" val="10009"/>
                  </a:ext>
                </a:extLst>
              </a:tr>
              <a:tr h="494450">
                <a:tc>
                  <a:txBody>
                    <a:bodyPr/>
                    <a:lstStyle/>
                    <a:p>
                      <a:pPr marL="0" marR="0" lvl="0" indent="0" algn="l" rtl="0">
                        <a:spcBef>
                          <a:spcPts val="0"/>
                        </a:spcBef>
                        <a:spcAft>
                          <a:spcPts val="0"/>
                        </a:spcAft>
                        <a:buNone/>
                      </a:pPr>
                      <a:r>
                        <a:rPr lang="en-US" sz="2400"/>
                        <a:t>Scaled</a:t>
                      </a:r>
                      <a:endParaRPr/>
                    </a:p>
                  </a:txBody>
                  <a:tcPr marL="121925" marR="121925" marT="60950" marB="60950"/>
                </a:tc>
                <a:tc>
                  <a:txBody>
                    <a:bodyPr/>
                    <a:lstStyle/>
                    <a:p>
                      <a:pPr marL="0" marR="0" lvl="0" indent="0" algn="l" rtl="0">
                        <a:spcBef>
                          <a:spcPts val="0"/>
                        </a:spcBef>
                        <a:spcAft>
                          <a:spcPts val="0"/>
                        </a:spcAft>
                        <a:buNone/>
                      </a:pPr>
                      <a:r>
                        <a:rPr lang="en-US" sz="2400"/>
                        <a:t>ADD   R1,50(R2)[R3]</a:t>
                      </a:r>
                      <a:endParaRPr/>
                    </a:p>
                  </a:txBody>
                  <a:tcPr marL="121925" marR="121925" marT="60950" marB="60950"/>
                </a:tc>
                <a:tc>
                  <a:txBody>
                    <a:bodyPr/>
                    <a:lstStyle/>
                    <a:p>
                      <a:pPr marL="0" marR="0" lvl="0" indent="0" algn="l" rtl="0">
                        <a:spcBef>
                          <a:spcPts val="0"/>
                        </a:spcBef>
                        <a:spcAft>
                          <a:spcPts val="0"/>
                        </a:spcAft>
                        <a:buNone/>
                      </a:pPr>
                      <a:r>
                        <a:rPr lang="en-US" sz="2400"/>
                        <a:t>R1 = R1 + Mem[50+R2+R3*d]</a:t>
                      </a:r>
                      <a:endParaRPr/>
                    </a:p>
                  </a:txBody>
                  <a:tcPr marL="121925" marR="121925" marT="60950" marB="60950"/>
                </a:tc>
                <a:extLst>
                  <a:ext uri="{0D108BD9-81ED-4DB2-BD59-A6C34878D82A}">
                    <a16:rowId xmlns:a16="http://schemas.microsoft.com/office/drawing/2014/main" val="10010"/>
                  </a:ext>
                </a:extLst>
              </a:tr>
            </a:tbl>
          </a:graphicData>
        </a:graphic>
      </p:graphicFrame>
      <p:sp>
        <p:nvSpPr>
          <p:cNvPr id="1350" name="Google Shape;1350;p103"/>
          <p:cNvSpPr txBox="1"/>
          <p:nvPr/>
        </p:nvSpPr>
        <p:spPr>
          <a:xfrm>
            <a:off x="0" y="482600"/>
            <a:ext cx="2540000" cy="107721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Addressing Modes in VAX</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354"/>
        <p:cNvGrpSpPr/>
        <p:nvPr/>
      </p:nvGrpSpPr>
      <p:grpSpPr>
        <a:xfrm>
          <a:off x="0" y="0"/>
          <a:ext cx="0" cy="0"/>
          <a:chOff x="0" y="0"/>
          <a:chExt cx="0" cy="0"/>
        </a:xfrm>
      </p:grpSpPr>
      <p:sp>
        <p:nvSpPr>
          <p:cNvPr id="1355" name="Google Shape;1355;p104"/>
          <p:cNvSpPr txBox="1">
            <a:spLocks noGrp="1"/>
          </p:cNvSpPr>
          <p:nvPr>
            <p:ph type="body" idx="1"/>
          </p:nvPr>
        </p:nvSpPr>
        <p:spPr>
          <a:xfrm>
            <a:off x="609600" y="685801"/>
            <a:ext cx="10972800" cy="5610827"/>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0000"/>
              </a:lnSpc>
              <a:spcBef>
                <a:spcPts val="0"/>
              </a:spcBef>
              <a:spcAft>
                <a:spcPts val="0"/>
              </a:spcAft>
              <a:buClr>
                <a:schemeClr val="dk1"/>
              </a:buClr>
              <a:buSzPts val="3200"/>
              <a:buChar char="•"/>
            </a:pPr>
            <a:r>
              <a:rPr lang="en-US" sz="3200" b="1"/>
              <a:t>Reduced Instruction Set Computer (RISC)</a:t>
            </a:r>
            <a:endParaRPr/>
          </a:p>
          <a:p>
            <a:pPr marL="685800" lvl="1" indent="-228600" algn="l" rtl="0">
              <a:lnSpc>
                <a:spcPct val="110000"/>
              </a:lnSpc>
              <a:spcBef>
                <a:spcPts val="1200"/>
              </a:spcBef>
              <a:spcAft>
                <a:spcPts val="0"/>
              </a:spcAft>
              <a:buClr>
                <a:schemeClr val="dk1"/>
              </a:buClr>
              <a:buSzPts val="2667"/>
              <a:buChar char="•"/>
            </a:pPr>
            <a:r>
              <a:rPr lang="en-US" sz="2667"/>
              <a:t>Very widely used among many manufacturers today.</a:t>
            </a:r>
            <a:endParaRPr/>
          </a:p>
          <a:p>
            <a:pPr marL="685800" lvl="1" indent="-228600" algn="l" rtl="0">
              <a:lnSpc>
                <a:spcPct val="110000"/>
              </a:lnSpc>
              <a:spcBef>
                <a:spcPts val="1200"/>
              </a:spcBef>
              <a:spcAft>
                <a:spcPts val="0"/>
              </a:spcAft>
              <a:buClr>
                <a:schemeClr val="dk1"/>
              </a:buClr>
              <a:buSzPts val="2667"/>
              <a:buChar char="•"/>
            </a:pPr>
            <a:r>
              <a:rPr lang="en-US" sz="2667"/>
              <a:t>Also referred to as </a:t>
            </a:r>
            <a:r>
              <a:rPr lang="en-US" sz="2667" i="1">
                <a:solidFill>
                  <a:srgbClr val="800000"/>
                </a:solidFill>
              </a:rPr>
              <a:t>Load-Store Architecture</a:t>
            </a:r>
            <a:r>
              <a:rPr lang="en-US" sz="2667"/>
              <a:t>.</a:t>
            </a:r>
            <a:endParaRPr/>
          </a:p>
          <a:p>
            <a:pPr marL="1143000" lvl="2" indent="-228600" algn="l" rtl="0">
              <a:lnSpc>
                <a:spcPct val="110000"/>
              </a:lnSpc>
              <a:spcBef>
                <a:spcPts val="600"/>
              </a:spcBef>
              <a:spcAft>
                <a:spcPts val="0"/>
              </a:spcAft>
              <a:buClr>
                <a:schemeClr val="dk1"/>
              </a:buClr>
              <a:buSzPts val="2400"/>
              <a:buChar char="•"/>
            </a:pPr>
            <a:r>
              <a:rPr lang="en-US" sz="2400"/>
              <a:t>Only LOAD and STORE instructions access memory.</a:t>
            </a:r>
            <a:endParaRPr/>
          </a:p>
          <a:p>
            <a:pPr marL="1143000" lvl="2" indent="-228600" algn="l" rtl="0">
              <a:lnSpc>
                <a:spcPct val="110000"/>
              </a:lnSpc>
              <a:spcBef>
                <a:spcPts val="600"/>
              </a:spcBef>
              <a:spcAft>
                <a:spcPts val="0"/>
              </a:spcAft>
              <a:buClr>
                <a:schemeClr val="dk1"/>
              </a:buClr>
              <a:buSzPts val="2400"/>
              <a:buChar char="•"/>
            </a:pPr>
            <a:r>
              <a:rPr lang="en-US" sz="2400"/>
              <a:t>All other instructions operate on processor registers.</a:t>
            </a:r>
            <a:endParaRPr/>
          </a:p>
          <a:p>
            <a:pPr marL="685800" lvl="1" indent="-228600" algn="l" rtl="0">
              <a:lnSpc>
                <a:spcPct val="110000"/>
              </a:lnSpc>
              <a:spcBef>
                <a:spcPts val="1200"/>
              </a:spcBef>
              <a:spcAft>
                <a:spcPts val="0"/>
              </a:spcAft>
              <a:buClr>
                <a:schemeClr val="dk1"/>
              </a:buClr>
              <a:buSzPts val="2667"/>
              <a:buChar char="•"/>
            </a:pPr>
            <a:r>
              <a:rPr lang="en-US" sz="2667"/>
              <a:t>Main features:</a:t>
            </a:r>
            <a:endParaRPr/>
          </a:p>
          <a:p>
            <a:pPr marL="1143000" lvl="2" indent="-228600" algn="l" rtl="0">
              <a:lnSpc>
                <a:spcPct val="110000"/>
              </a:lnSpc>
              <a:spcBef>
                <a:spcPts val="600"/>
              </a:spcBef>
              <a:spcAft>
                <a:spcPts val="0"/>
              </a:spcAft>
              <a:buClr>
                <a:schemeClr val="dk1"/>
              </a:buClr>
              <a:buSzPts val="2400"/>
              <a:buChar char="•"/>
            </a:pPr>
            <a:r>
              <a:rPr lang="en-US" sz="2400"/>
              <a:t>Simple architecture for the sake of efficient pipelining.</a:t>
            </a:r>
            <a:endParaRPr/>
          </a:p>
          <a:p>
            <a:pPr marL="1143000" lvl="2" indent="-228600" algn="l" rtl="0">
              <a:lnSpc>
                <a:spcPct val="110000"/>
              </a:lnSpc>
              <a:spcBef>
                <a:spcPts val="600"/>
              </a:spcBef>
              <a:spcAft>
                <a:spcPts val="0"/>
              </a:spcAft>
              <a:buClr>
                <a:schemeClr val="dk1"/>
              </a:buClr>
              <a:buSzPts val="2400"/>
              <a:buChar char="•"/>
            </a:pPr>
            <a:r>
              <a:rPr lang="en-US" sz="2400"/>
              <a:t>Simple instruction set with very few addressing modes.</a:t>
            </a:r>
            <a:endParaRPr/>
          </a:p>
          <a:p>
            <a:pPr marL="1143000" lvl="2" indent="-228600" algn="l" rtl="0">
              <a:lnSpc>
                <a:spcPct val="110000"/>
              </a:lnSpc>
              <a:spcBef>
                <a:spcPts val="600"/>
              </a:spcBef>
              <a:spcAft>
                <a:spcPts val="0"/>
              </a:spcAft>
              <a:buClr>
                <a:schemeClr val="dk1"/>
              </a:buClr>
              <a:buSzPts val="2400"/>
              <a:buChar char="•"/>
            </a:pPr>
            <a:r>
              <a:rPr lang="en-US" sz="2400"/>
              <a:t>Large number of general-purpose registers; very few special-purpose.</a:t>
            </a:r>
            <a:endParaRPr/>
          </a:p>
          <a:p>
            <a:pPr marL="1143000" lvl="2" indent="-228600" algn="l" rtl="0">
              <a:lnSpc>
                <a:spcPct val="110000"/>
              </a:lnSpc>
              <a:spcBef>
                <a:spcPts val="600"/>
              </a:spcBef>
              <a:spcAft>
                <a:spcPts val="0"/>
              </a:spcAft>
              <a:buClr>
                <a:schemeClr val="dk1"/>
              </a:buClr>
              <a:buSzPts val="2400"/>
              <a:buChar char="•"/>
            </a:pPr>
            <a:r>
              <a:rPr lang="en-US" sz="2400"/>
              <a:t>Instruction length and encoding uniform for easy instruction decoding.</a:t>
            </a:r>
            <a:endParaRPr/>
          </a:p>
          <a:p>
            <a:pPr marL="1143000" lvl="2" indent="-228600" algn="l" rtl="0">
              <a:lnSpc>
                <a:spcPct val="110000"/>
              </a:lnSpc>
              <a:spcBef>
                <a:spcPts val="600"/>
              </a:spcBef>
              <a:spcAft>
                <a:spcPts val="0"/>
              </a:spcAft>
              <a:buClr>
                <a:schemeClr val="dk1"/>
              </a:buClr>
              <a:buSzPts val="2400"/>
              <a:buChar char="•"/>
            </a:pPr>
            <a:r>
              <a:rPr lang="en-US" sz="2400"/>
              <a:t>Compiler assisted scheduling of pipeline for improved performance.</a:t>
            </a:r>
            <a:endParaRPr/>
          </a:p>
        </p:txBody>
      </p:sp>
      <p:sp>
        <p:nvSpPr>
          <p:cNvPr id="1356" name="Google Shape;1356;p104"/>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102</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360"/>
        <p:cNvGrpSpPr/>
        <p:nvPr/>
      </p:nvGrpSpPr>
      <p:grpSpPr>
        <a:xfrm>
          <a:off x="0" y="0"/>
          <a:ext cx="0" cy="0"/>
          <a:chOff x="0" y="0"/>
          <a:chExt cx="0" cy="0"/>
        </a:xfrm>
      </p:grpSpPr>
      <p:sp>
        <p:nvSpPr>
          <p:cNvPr id="1361" name="Google Shape;1361;p10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endParaRPr/>
          </a:p>
        </p:txBody>
      </p:sp>
      <p:sp>
        <p:nvSpPr>
          <p:cNvPr id="1362" name="Google Shape;1362;p10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685800" lvl="1" indent="-228600" algn="l" rtl="0">
              <a:lnSpc>
                <a:spcPct val="110000"/>
              </a:lnSpc>
              <a:spcBef>
                <a:spcPts val="0"/>
              </a:spcBef>
              <a:spcAft>
                <a:spcPts val="0"/>
              </a:spcAft>
              <a:buClr>
                <a:schemeClr val="dk1"/>
              </a:buClr>
              <a:buSzPts val="2667"/>
              <a:buChar char="•"/>
            </a:pPr>
            <a:r>
              <a:rPr lang="en-US" sz="2667"/>
              <a:t>RISC Examples:</a:t>
            </a:r>
            <a:endParaRPr/>
          </a:p>
          <a:p>
            <a:pPr marL="1143000" lvl="2" indent="-228600" algn="l" rtl="0">
              <a:lnSpc>
                <a:spcPct val="110000"/>
              </a:lnSpc>
              <a:spcBef>
                <a:spcPts val="600"/>
              </a:spcBef>
              <a:spcAft>
                <a:spcPts val="0"/>
              </a:spcAft>
              <a:buClr>
                <a:schemeClr val="dk1"/>
              </a:buClr>
              <a:buSzPts val="2400"/>
              <a:buChar char="•"/>
            </a:pPr>
            <a:r>
              <a:rPr lang="en-US" sz="2400"/>
              <a:t>CDC 6600	(1964)</a:t>
            </a:r>
            <a:endParaRPr/>
          </a:p>
          <a:p>
            <a:pPr marL="1143000" lvl="2" indent="-228600" algn="l" rtl="0">
              <a:lnSpc>
                <a:spcPct val="110000"/>
              </a:lnSpc>
              <a:spcBef>
                <a:spcPts val="600"/>
              </a:spcBef>
              <a:spcAft>
                <a:spcPts val="0"/>
              </a:spcAft>
              <a:buClr>
                <a:schemeClr val="dk1"/>
              </a:buClr>
              <a:buSzPts val="2400"/>
              <a:buChar char="•"/>
            </a:pPr>
            <a:r>
              <a:rPr lang="en-US" sz="2400"/>
              <a:t>MIPS family	(1980-90)</a:t>
            </a:r>
            <a:endParaRPr/>
          </a:p>
          <a:p>
            <a:pPr marL="1143000" lvl="2" indent="-228600" algn="l" rtl="0">
              <a:lnSpc>
                <a:spcPct val="110000"/>
              </a:lnSpc>
              <a:spcBef>
                <a:spcPts val="600"/>
              </a:spcBef>
              <a:spcAft>
                <a:spcPts val="0"/>
              </a:spcAft>
              <a:buClr>
                <a:schemeClr val="dk1"/>
              </a:buClr>
              <a:buSzPts val="2400"/>
              <a:buChar char="•"/>
            </a:pPr>
            <a:r>
              <a:rPr lang="en-US" sz="2400"/>
              <a:t>SPARC</a:t>
            </a:r>
            <a:endParaRPr/>
          </a:p>
          <a:p>
            <a:pPr marL="1143000" lvl="2" indent="-228600" algn="l" rtl="0">
              <a:lnSpc>
                <a:spcPct val="110000"/>
              </a:lnSpc>
              <a:spcBef>
                <a:spcPts val="600"/>
              </a:spcBef>
              <a:spcAft>
                <a:spcPts val="0"/>
              </a:spcAft>
              <a:buClr>
                <a:schemeClr val="dk1"/>
              </a:buClr>
              <a:buSzPts val="2400"/>
              <a:buChar char="•"/>
            </a:pPr>
            <a:r>
              <a:rPr lang="en-US" sz="2400"/>
              <a:t>ARM microcontroller family</a:t>
            </a:r>
            <a:endParaRPr/>
          </a:p>
        </p:txBody>
      </p:sp>
      <p:sp>
        <p:nvSpPr>
          <p:cNvPr id="1363" name="Google Shape;1363;p105"/>
          <p:cNvSpPr txBox="1">
            <a:spLocks noGrp="1"/>
          </p:cNvSpPr>
          <p:nvPr>
            <p:ph type="sldNum" idx="12"/>
          </p:nvPr>
        </p:nvSpPr>
        <p:spPr>
          <a:xfrm>
            <a:off x="8737600" y="6518275"/>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103</a:t>
            </a:fld>
            <a:endParaRPr/>
          </a:p>
        </p:txBody>
      </p:sp>
      <p:sp>
        <p:nvSpPr>
          <p:cNvPr id="1364" name="Google Shape;1364;p105"/>
          <p:cNvSpPr txBox="1"/>
          <p:nvPr/>
        </p:nvSpPr>
        <p:spPr>
          <a:xfrm>
            <a:off x="5926364" y="2616200"/>
            <a:ext cx="5960836" cy="2780248"/>
          </a:xfrm>
          <a:prstGeom prst="rect">
            <a:avLst/>
          </a:prstGeom>
          <a:solidFill>
            <a:srgbClr val="DDEAF6"/>
          </a:solidFill>
          <a:ln w="25400" cap="flat" cmpd="sng">
            <a:solidFill>
              <a:srgbClr val="800000"/>
            </a:solidFill>
            <a:prstDash val="solid"/>
            <a:round/>
            <a:headEnd type="none" w="sm" len="sm"/>
            <a:tailEnd type="none" w="sm" len="sm"/>
          </a:ln>
        </p:spPr>
        <p:txBody>
          <a:bodyPr spcFirstLastPara="1" wrap="square" lIns="91425" tIns="45700" rIns="91425" bIns="45700" anchor="t" anchorCtr="0">
            <a:spAutoFit/>
          </a:bodyPr>
          <a:lstStyle/>
          <a:p>
            <a:pPr marL="241294" marR="0" lvl="0" indent="-241294"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Almost all the computers today use a RISC based pipeline for efficient implementation.</a:t>
            </a:r>
            <a:endParaRPr/>
          </a:p>
          <a:p>
            <a:pPr marL="850879" marR="0" lvl="1" indent="-241294" algn="l" rtl="0">
              <a:spcBef>
                <a:spcPts val="4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RISC based computers use compilers to translate into RISC instructions.</a:t>
            </a:r>
            <a:endParaRPr/>
          </a:p>
          <a:p>
            <a:pPr marL="850879" marR="0" lvl="1" indent="-241294" algn="l" rtl="0">
              <a:spcBef>
                <a:spcPts val="4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CISC based computers (e.g. x86) use hardware to translate into RISC instructions.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64"/>
                                        </p:tgtEl>
                                        <p:attrNameLst>
                                          <p:attrName>style.visibility</p:attrName>
                                        </p:attrNameLst>
                                      </p:cBhvr>
                                      <p:to>
                                        <p:strVal val="visible"/>
                                      </p:to>
                                    </p:set>
                                    <p:animEffect transition="in" filter="fade">
                                      <p:cBhvr>
                                        <p:cTn id="7" dur="500"/>
                                        <p:tgtEl>
                                          <p:spTgt spid="1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368"/>
        <p:cNvGrpSpPr/>
        <p:nvPr/>
      </p:nvGrpSpPr>
      <p:grpSpPr>
        <a:xfrm>
          <a:off x="0" y="0"/>
          <a:ext cx="0" cy="0"/>
          <a:chOff x="0" y="0"/>
          <a:chExt cx="0" cy="0"/>
        </a:xfrm>
      </p:grpSpPr>
      <p:sp>
        <p:nvSpPr>
          <p:cNvPr id="1369" name="Google Shape;1369;p10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Results of a Comparative Study</a:t>
            </a:r>
            <a:endParaRPr/>
          </a:p>
        </p:txBody>
      </p:sp>
      <p:sp>
        <p:nvSpPr>
          <p:cNvPr id="1370" name="Google Shape;1370;p10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110000"/>
              </a:lnSpc>
              <a:spcBef>
                <a:spcPts val="0"/>
              </a:spcBef>
              <a:spcAft>
                <a:spcPts val="0"/>
              </a:spcAft>
              <a:buClr>
                <a:schemeClr val="dk1"/>
              </a:buClr>
              <a:buSzPct val="100000"/>
              <a:buChar char="•"/>
            </a:pPr>
            <a:r>
              <a:rPr lang="en-US"/>
              <a:t>A quantitative comparison of VAX 8700 (a CISC machine)  and MIPS M2000 (a RISC machine) with comparable organizations was carried out in 1991.</a:t>
            </a:r>
            <a:endParaRPr/>
          </a:p>
          <a:p>
            <a:pPr marL="228600" lvl="0" indent="-228600" algn="l" rtl="0">
              <a:lnSpc>
                <a:spcPct val="110000"/>
              </a:lnSpc>
              <a:spcBef>
                <a:spcPts val="600"/>
              </a:spcBef>
              <a:spcAft>
                <a:spcPts val="0"/>
              </a:spcAft>
              <a:buClr>
                <a:schemeClr val="dk1"/>
              </a:buClr>
              <a:buSzPct val="100000"/>
              <a:buChar char="•"/>
            </a:pPr>
            <a:r>
              <a:rPr lang="en-US"/>
              <a:t>Some findings:</a:t>
            </a:r>
            <a:endParaRPr/>
          </a:p>
          <a:p>
            <a:pPr marL="685800" lvl="1" indent="-228600" algn="l" rtl="0">
              <a:lnSpc>
                <a:spcPct val="110000"/>
              </a:lnSpc>
              <a:spcBef>
                <a:spcPts val="600"/>
              </a:spcBef>
              <a:spcAft>
                <a:spcPts val="0"/>
              </a:spcAft>
              <a:buClr>
                <a:schemeClr val="dk1"/>
              </a:buClr>
              <a:buSzPct val="100000"/>
              <a:buChar char="•"/>
            </a:pPr>
            <a:r>
              <a:rPr lang="en-US"/>
              <a:t>MIPS required execution of about twice the number of instructions as compared to VAX.</a:t>
            </a:r>
            <a:endParaRPr/>
          </a:p>
          <a:p>
            <a:pPr marL="685800" lvl="1" indent="-228600" algn="l" rtl="0">
              <a:lnSpc>
                <a:spcPct val="110000"/>
              </a:lnSpc>
              <a:spcBef>
                <a:spcPts val="600"/>
              </a:spcBef>
              <a:spcAft>
                <a:spcPts val="0"/>
              </a:spcAft>
              <a:buClr>
                <a:schemeClr val="dk1"/>
              </a:buClr>
              <a:buSzPct val="100000"/>
              <a:buChar char="•"/>
            </a:pPr>
            <a:r>
              <a:rPr lang="en-US"/>
              <a:t>Cycles Per Instructions (CPI) for VAX was about six times larger than that of MIPS.</a:t>
            </a:r>
            <a:endParaRPr/>
          </a:p>
          <a:p>
            <a:pPr marL="685800" lvl="1" indent="-228600" algn="l" rtl="0">
              <a:lnSpc>
                <a:spcPct val="110000"/>
              </a:lnSpc>
              <a:spcBef>
                <a:spcPts val="600"/>
              </a:spcBef>
              <a:spcAft>
                <a:spcPts val="0"/>
              </a:spcAft>
              <a:buClr>
                <a:schemeClr val="dk1"/>
              </a:buClr>
              <a:buSzPct val="100000"/>
              <a:buChar char="•"/>
            </a:pPr>
            <a:r>
              <a:rPr lang="en-US"/>
              <a:t>Hence, MIPS had three times  the performance of VAX.</a:t>
            </a:r>
            <a:endParaRPr/>
          </a:p>
          <a:p>
            <a:pPr marL="685800" lvl="1" indent="-228600" algn="l" rtl="0">
              <a:lnSpc>
                <a:spcPct val="110000"/>
              </a:lnSpc>
              <a:spcBef>
                <a:spcPts val="600"/>
              </a:spcBef>
              <a:spcAft>
                <a:spcPts val="0"/>
              </a:spcAft>
              <a:buClr>
                <a:schemeClr val="dk1"/>
              </a:buClr>
              <a:buSzPct val="100000"/>
              <a:buChar char="•"/>
            </a:pPr>
            <a:r>
              <a:rPr lang="en-US"/>
              <a:t>Also, much less hardware is required to build MIPS as compared to VAX.</a:t>
            </a:r>
            <a:endParaRPr/>
          </a:p>
          <a:p>
            <a:pPr marL="228600" lvl="0" indent="-64135" algn="l" rtl="0">
              <a:lnSpc>
                <a:spcPct val="110000"/>
              </a:lnSpc>
              <a:spcBef>
                <a:spcPts val="600"/>
              </a:spcBef>
              <a:spcAft>
                <a:spcPts val="0"/>
              </a:spcAft>
              <a:buClr>
                <a:schemeClr val="dk1"/>
              </a:buClr>
              <a:buSzPct val="100000"/>
              <a:buNone/>
            </a:pPr>
            <a:endParaRPr/>
          </a:p>
          <a:p>
            <a:pPr marL="685800" lvl="1" indent="-87630" algn="l" rtl="0">
              <a:lnSpc>
                <a:spcPct val="110000"/>
              </a:lnSpc>
              <a:spcBef>
                <a:spcPts val="600"/>
              </a:spcBef>
              <a:spcAft>
                <a:spcPts val="0"/>
              </a:spcAft>
              <a:buClr>
                <a:schemeClr val="dk1"/>
              </a:buClr>
              <a:buSzPct val="100000"/>
              <a:buNone/>
            </a:pPr>
            <a:endParaRPr/>
          </a:p>
        </p:txBody>
      </p:sp>
      <p:sp>
        <p:nvSpPr>
          <p:cNvPr id="1371" name="Google Shape;1371;p10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104</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383"/>
        <p:cNvGrpSpPr/>
        <p:nvPr/>
      </p:nvGrpSpPr>
      <p:grpSpPr>
        <a:xfrm>
          <a:off x="0" y="0"/>
          <a:ext cx="0" cy="0"/>
          <a:chOff x="0" y="0"/>
          <a:chExt cx="0" cy="0"/>
        </a:xfrm>
      </p:grpSpPr>
      <p:sp>
        <p:nvSpPr>
          <p:cNvPr id="1384" name="Google Shape;1384;p108"/>
          <p:cNvSpPr txBox="1">
            <a:spLocks noGrp="1"/>
          </p:cNvSpPr>
          <p:nvPr>
            <p:ph type="title"/>
          </p:nvPr>
        </p:nvSpPr>
        <p:spPr>
          <a:xfrm>
            <a:off x="2286000" y="1141414"/>
            <a:ext cx="8782050" cy="436403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Calibri"/>
              <a:buNone/>
            </a:pPr>
            <a:r>
              <a:rPr lang="en-US" sz="4800"/>
              <a:t>The Instruction Set Architecture (ISA): From CISC to RISC</a:t>
            </a:r>
            <a:endParaRPr/>
          </a:p>
        </p:txBody>
      </p:sp>
      <p:sp>
        <p:nvSpPr>
          <p:cNvPr id="1385" name="Google Shape;1385;p108"/>
          <p:cNvSpPr txBox="1">
            <a:spLocks noGrp="1"/>
          </p:cNvSpPr>
          <p:nvPr>
            <p:ph type="subTitle" idx="4294967295"/>
          </p:nvPr>
        </p:nvSpPr>
        <p:spPr>
          <a:xfrm>
            <a:off x="2286000" y="3810000"/>
            <a:ext cx="7696200" cy="2057400"/>
          </a:xfrm>
          <a:prstGeom prst="rect">
            <a:avLst/>
          </a:prstGeom>
          <a:noFill/>
          <a:ln>
            <a:noFill/>
          </a:ln>
        </p:spPr>
        <p:txBody>
          <a:bodyPr spcFirstLastPara="1" wrap="square" lIns="0" tIns="0" rIns="0" bIns="0" anchor="ctr" anchorCtr="0">
            <a:normAutofit/>
          </a:bodyPr>
          <a:lstStyle/>
          <a:p>
            <a:pPr marL="228600" marR="0" lvl="0" indent="-50800" algn="l" rtl="0">
              <a:lnSpc>
                <a:spcPct val="11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390"/>
        <p:cNvGrpSpPr/>
        <p:nvPr/>
      </p:nvGrpSpPr>
      <p:grpSpPr>
        <a:xfrm>
          <a:off x="0" y="0"/>
          <a:ext cx="0" cy="0"/>
          <a:chOff x="0" y="0"/>
          <a:chExt cx="0" cy="0"/>
        </a:xfrm>
      </p:grpSpPr>
      <p:sp>
        <p:nvSpPr>
          <p:cNvPr id="1391" name="Google Shape;1391;p109"/>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Complex Instructions</a:t>
            </a:r>
            <a:endParaRPr/>
          </a:p>
        </p:txBody>
      </p:sp>
      <p:sp>
        <p:nvSpPr>
          <p:cNvPr id="1392" name="Google Shape;1392;p109"/>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a:bodyPr>
          <a:lstStyle/>
          <a:p>
            <a:pPr marL="468313" lvl="0" indent="-468313" algn="l" rtl="0">
              <a:lnSpc>
                <a:spcPct val="110000"/>
              </a:lnSpc>
              <a:spcBef>
                <a:spcPts val="0"/>
              </a:spcBef>
              <a:spcAft>
                <a:spcPts val="0"/>
              </a:spcAft>
              <a:buClr>
                <a:srgbClr val="660000"/>
              </a:buClr>
              <a:buSzPts val="1960"/>
              <a:buFont typeface="Noto Sans Symbols"/>
              <a:buChar char="□"/>
            </a:pPr>
            <a:r>
              <a:rPr lang="en-US"/>
              <a:t>The ISA for MIPS was simple.</a:t>
            </a:r>
            <a:endParaRPr/>
          </a:p>
          <a:p>
            <a:pPr marL="468313" lvl="0" indent="-468313" algn="l" rtl="0">
              <a:lnSpc>
                <a:spcPct val="110000"/>
              </a:lnSpc>
              <a:spcBef>
                <a:spcPts val="600"/>
              </a:spcBef>
              <a:spcAft>
                <a:spcPts val="0"/>
              </a:spcAft>
              <a:buClr>
                <a:srgbClr val="660000"/>
              </a:buClr>
              <a:buSzPts val="1960"/>
              <a:buFont typeface="Noto Sans Symbols"/>
              <a:buChar char="□"/>
            </a:pPr>
            <a:r>
              <a:rPr lang="en-US"/>
              <a:t>Instead, we can have more complex instructions.</a:t>
            </a:r>
            <a:endParaRPr/>
          </a:p>
          <a:p>
            <a:pPr marL="906463" lvl="1" indent="-436563" algn="l" rtl="0">
              <a:lnSpc>
                <a:spcPct val="110000"/>
              </a:lnSpc>
              <a:spcBef>
                <a:spcPts val="600"/>
              </a:spcBef>
              <a:spcAft>
                <a:spcPts val="0"/>
              </a:spcAft>
              <a:buClr>
                <a:srgbClr val="999966"/>
              </a:buClr>
              <a:buSzPts val="1800"/>
              <a:buFont typeface="Noto Sans Symbols"/>
              <a:buChar char="■"/>
            </a:pPr>
            <a:r>
              <a:rPr lang="en-US"/>
              <a:t>Complex Instruction Set Computers (CISC)</a:t>
            </a:r>
            <a:endParaRPr/>
          </a:p>
          <a:p>
            <a:pPr marL="906463" lvl="1" indent="-436563" algn="l" rtl="0">
              <a:lnSpc>
                <a:spcPct val="110000"/>
              </a:lnSpc>
              <a:spcBef>
                <a:spcPts val="600"/>
              </a:spcBef>
              <a:spcAft>
                <a:spcPts val="0"/>
              </a:spcAft>
              <a:buClr>
                <a:srgbClr val="999966"/>
              </a:buClr>
              <a:buSzPts val="1800"/>
              <a:buFont typeface="Noto Sans Symbols"/>
              <a:buChar char="■"/>
            </a:pPr>
            <a:r>
              <a:rPr lang="en-US"/>
              <a:t>Motivation for designing CISC ISA is to provide an ISA that supports the complex operations and data structures of high level languages (HLLs).</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397"/>
        <p:cNvGrpSpPr/>
        <p:nvPr/>
      </p:nvGrpSpPr>
      <p:grpSpPr>
        <a:xfrm>
          <a:off x="0" y="0"/>
          <a:ext cx="0" cy="0"/>
          <a:chOff x="0" y="0"/>
          <a:chExt cx="0" cy="0"/>
        </a:xfrm>
      </p:grpSpPr>
      <p:sp>
        <p:nvSpPr>
          <p:cNvPr id="1398" name="Google Shape;1398;p110"/>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Reasons for the CISC style</a:t>
            </a:r>
            <a:endParaRPr/>
          </a:p>
        </p:txBody>
      </p:sp>
      <p:sp>
        <p:nvSpPr>
          <p:cNvPr id="1399" name="Google Shape;1399;p110"/>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a:bodyPr>
          <a:lstStyle/>
          <a:p>
            <a:pPr marL="468313" lvl="0" indent="-468313" algn="l" rtl="0">
              <a:lnSpc>
                <a:spcPct val="110000"/>
              </a:lnSpc>
              <a:spcBef>
                <a:spcPts val="0"/>
              </a:spcBef>
              <a:spcAft>
                <a:spcPts val="0"/>
              </a:spcAft>
              <a:buClr>
                <a:srgbClr val="660000"/>
              </a:buClr>
              <a:buSzPts val="1960"/>
              <a:buFont typeface="Noto Sans Symbols"/>
              <a:buChar char="□"/>
            </a:pPr>
            <a:r>
              <a:rPr lang="en-US"/>
              <a:t>Lesser memory requirements: Memory technology was slow and also small. Complex instructions leads to programs which has lesser memory requirements.</a:t>
            </a:r>
            <a:endParaRPr/>
          </a:p>
          <a:p>
            <a:pPr marL="468313" lvl="0" indent="-468313" algn="l" rtl="0">
              <a:lnSpc>
                <a:spcPct val="110000"/>
              </a:lnSpc>
              <a:spcBef>
                <a:spcPts val="600"/>
              </a:spcBef>
              <a:spcAft>
                <a:spcPts val="0"/>
              </a:spcAft>
              <a:buClr>
                <a:srgbClr val="660000"/>
              </a:buClr>
              <a:buSzPts val="1960"/>
              <a:buFont typeface="Noto Sans Symbols"/>
              <a:buChar char="□"/>
            </a:pPr>
            <a:r>
              <a:rPr lang="en-US"/>
              <a:t>Hardware based computations are faster than doing it in software:</a:t>
            </a:r>
            <a:endParaRPr/>
          </a:p>
          <a:p>
            <a:pPr marL="906463" lvl="1" indent="-436563" algn="l" rtl="0">
              <a:lnSpc>
                <a:spcPct val="110000"/>
              </a:lnSpc>
              <a:spcBef>
                <a:spcPts val="600"/>
              </a:spcBef>
              <a:spcAft>
                <a:spcPts val="0"/>
              </a:spcAft>
              <a:buClr>
                <a:srgbClr val="999966"/>
              </a:buClr>
              <a:buSzPts val="1800"/>
              <a:buFont typeface="Noto Sans Symbols"/>
              <a:buChar char="■"/>
            </a:pPr>
            <a:r>
              <a:rPr lang="en-US"/>
              <a:t>time is saved in fetching and decoding several instructions. </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404"/>
        <p:cNvGrpSpPr/>
        <p:nvPr/>
      </p:nvGrpSpPr>
      <p:grpSpPr>
        <a:xfrm>
          <a:off x="0" y="0"/>
          <a:ext cx="0" cy="0"/>
          <a:chOff x="0" y="0"/>
          <a:chExt cx="0" cy="0"/>
        </a:xfrm>
      </p:grpSpPr>
      <p:sp>
        <p:nvSpPr>
          <p:cNvPr id="1405" name="Google Shape;1405;p111"/>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Examples</a:t>
            </a:r>
            <a:endParaRPr/>
          </a:p>
        </p:txBody>
      </p:sp>
      <p:sp>
        <p:nvSpPr>
          <p:cNvPr id="1406" name="Google Shape;1406;p111"/>
          <p:cNvSpPr txBox="1">
            <a:spLocks noGrp="1"/>
          </p:cNvSpPr>
          <p:nvPr>
            <p:ph type="body" idx="4294967295"/>
          </p:nvPr>
        </p:nvSpPr>
        <p:spPr>
          <a:xfrm>
            <a:off x="850900" y="1422400"/>
            <a:ext cx="10496550" cy="4708527"/>
          </a:xfrm>
          <a:prstGeom prst="rect">
            <a:avLst/>
          </a:prstGeom>
          <a:noFill/>
          <a:ln>
            <a:noFill/>
          </a:ln>
        </p:spPr>
        <p:txBody>
          <a:bodyPr spcFirstLastPara="1" wrap="square" lIns="91425" tIns="45700" rIns="91425" bIns="45700" anchor="t" anchorCtr="0">
            <a:normAutofit/>
          </a:bodyPr>
          <a:lstStyle/>
          <a:p>
            <a:pPr marL="468313" lvl="0" indent="-468313" algn="l" rtl="0">
              <a:lnSpc>
                <a:spcPct val="80000"/>
              </a:lnSpc>
              <a:spcBef>
                <a:spcPts val="0"/>
              </a:spcBef>
              <a:spcAft>
                <a:spcPts val="0"/>
              </a:spcAft>
              <a:buClr>
                <a:srgbClr val="660000"/>
              </a:buClr>
              <a:buSzPts val="1400"/>
              <a:buFont typeface="Noto Sans Symbols"/>
              <a:buChar char="□"/>
            </a:pPr>
            <a:r>
              <a:rPr lang="en-US" sz="2000"/>
              <a:t>VAX-11/780 was an ultimate CISC processor in 1978, supported 22 addressing modes, and has a variable instruction size ranging from 2 to 57. </a:t>
            </a:r>
            <a:endParaRPr/>
          </a:p>
          <a:p>
            <a:pPr marL="468313" lvl="0" indent="-468313" algn="l" rtl="0">
              <a:lnSpc>
                <a:spcPct val="80000"/>
              </a:lnSpc>
              <a:spcBef>
                <a:spcPts val="1100"/>
              </a:spcBef>
              <a:spcAft>
                <a:spcPts val="0"/>
              </a:spcAft>
              <a:buClr>
                <a:srgbClr val="660000"/>
              </a:buClr>
              <a:buSzPts val="1400"/>
              <a:buFont typeface="Noto Sans Symbols"/>
              <a:buChar char="□"/>
            </a:pPr>
            <a:r>
              <a:rPr lang="en-US" sz="2000"/>
              <a:t>For example it has an autoincrement addressing mode:</a:t>
            </a:r>
            <a:endParaRPr/>
          </a:p>
          <a:p>
            <a:pPr marL="906463" lvl="1" indent="-436563" algn="l" rtl="0">
              <a:lnSpc>
                <a:spcPct val="80000"/>
              </a:lnSpc>
              <a:spcBef>
                <a:spcPts val="1050"/>
              </a:spcBef>
              <a:spcAft>
                <a:spcPts val="0"/>
              </a:spcAft>
              <a:buClr>
                <a:srgbClr val="999966"/>
              </a:buClr>
              <a:buSzPts val="1350"/>
              <a:buFont typeface="Noto Sans Symbols"/>
              <a:buChar char="■"/>
            </a:pPr>
            <a:r>
              <a:rPr lang="en-US" sz="1800"/>
              <a:t>a single instruction can read data from memory, add to the content of a register, store it back in memory and increment the memory pointer.</a:t>
            </a:r>
            <a:endParaRPr/>
          </a:p>
          <a:p>
            <a:pPr marL="906463" lvl="1" indent="-436563" algn="l" rtl="0">
              <a:lnSpc>
                <a:spcPct val="80000"/>
              </a:lnSpc>
              <a:spcBef>
                <a:spcPts val="1050"/>
              </a:spcBef>
              <a:spcAft>
                <a:spcPts val="0"/>
              </a:spcAft>
              <a:buClr>
                <a:schemeClr val="dk1"/>
              </a:buClr>
              <a:buSzPts val="1350"/>
              <a:buNone/>
            </a:pPr>
            <a:r>
              <a:rPr lang="en-US" sz="1800"/>
              <a:t>            (R2)=(R2)+R1, R2=R2+1</a:t>
            </a:r>
            <a:endParaRPr/>
          </a:p>
          <a:p>
            <a:pPr marL="906463" lvl="1" indent="-436563" algn="l" rtl="0">
              <a:lnSpc>
                <a:spcPct val="80000"/>
              </a:lnSpc>
              <a:spcBef>
                <a:spcPts val="1050"/>
              </a:spcBef>
              <a:spcAft>
                <a:spcPts val="0"/>
              </a:spcAft>
              <a:buClr>
                <a:schemeClr val="dk1"/>
              </a:buClr>
              <a:buSzPts val="1350"/>
              <a:buNone/>
            </a:pPr>
            <a:r>
              <a:rPr lang="en-US" sz="1800"/>
              <a:t>The Complex Instruction can be written as a group of simple instructions (like we have seen in MIPS ISA):</a:t>
            </a:r>
            <a:endParaRPr/>
          </a:p>
          <a:p>
            <a:pPr marL="906463" lvl="1" indent="-436563" algn="l" rtl="0">
              <a:lnSpc>
                <a:spcPct val="80000"/>
              </a:lnSpc>
              <a:spcBef>
                <a:spcPts val="1050"/>
              </a:spcBef>
              <a:spcAft>
                <a:spcPts val="0"/>
              </a:spcAft>
              <a:buClr>
                <a:schemeClr val="dk1"/>
              </a:buClr>
              <a:buSzPts val="1350"/>
              <a:buNone/>
            </a:pPr>
            <a:r>
              <a:rPr lang="en-US" sz="1800"/>
              <a:t>          R4=(R2)   #load instruction, I-type</a:t>
            </a:r>
            <a:endParaRPr/>
          </a:p>
          <a:p>
            <a:pPr marL="906463" lvl="1" indent="-436563" algn="l" rtl="0">
              <a:lnSpc>
                <a:spcPct val="80000"/>
              </a:lnSpc>
              <a:spcBef>
                <a:spcPts val="1050"/>
              </a:spcBef>
              <a:spcAft>
                <a:spcPts val="0"/>
              </a:spcAft>
              <a:buClr>
                <a:schemeClr val="dk1"/>
              </a:buClr>
              <a:buSzPts val="1350"/>
              <a:buNone/>
            </a:pPr>
            <a:r>
              <a:rPr lang="en-US" sz="1800"/>
              <a:t>          R4=R4+R1 #add instruction, R-type</a:t>
            </a:r>
            <a:endParaRPr/>
          </a:p>
          <a:p>
            <a:pPr marL="906463" lvl="1" indent="-436563" algn="l" rtl="0">
              <a:lnSpc>
                <a:spcPct val="80000"/>
              </a:lnSpc>
              <a:spcBef>
                <a:spcPts val="1050"/>
              </a:spcBef>
              <a:spcAft>
                <a:spcPts val="0"/>
              </a:spcAft>
              <a:buClr>
                <a:schemeClr val="dk1"/>
              </a:buClr>
              <a:buSzPts val="1350"/>
              <a:buNone/>
            </a:pPr>
            <a:r>
              <a:rPr lang="en-US" sz="1800"/>
              <a:t>          (R2)=R4 #Store instruction, I-type</a:t>
            </a:r>
            <a:endParaRPr/>
          </a:p>
          <a:p>
            <a:pPr marL="906463" lvl="1" indent="-436563" algn="l" rtl="0">
              <a:lnSpc>
                <a:spcPct val="80000"/>
              </a:lnSpc>
              <a:spcBef>
                <a:spcPts val="1050"/>
              </a:spcBef>
              <a:spcAft>
                <a:spcPts val="0"/>
              </a:spcAft>
              <a:buClr>
                <a:schemeClr val="dk1"/>
              </a:buClr>
              <a:buSzPts val="1350"/>
              <a:buNone/>
            </a:pPr>
            <a:r>
              <a:rPr lang="en-US" sz="1800"/>
              <a:t>          R2=R2+1</a:t>
            </a:r>
            <a:endParaRPr/>
          </a:p>
          <a:p>
            <a:pPr marL="906463" lvl="1" indent="-436563" algn="l" rtl="0">
              <a:lnSpc>
                <a:spcPct val="80000"/>
              </a:lnSpc>
              <a:spcBef>
                <a:spcPts val="1050"/>
              </a:spcBef>
              <a:spcAft>
                <a:spcPts val="0"/>
              </a:spcAft>
              <a:buClr>
                <a:srgbClr val="999966"/>
              </a:buClr>
              <a:buSzPts val="1350"/>
              <a:buFont typeface="Noto Sans Symbols"/>
              <a:buChar char="■"/>
            </a:pPr>
            <a:r>
              <a:rPr lang="en-US" sz="1800"/>
              <a:t>The CISC instruction may be faster than the 4 RISC instructions. But there are other costs, which needs to be investigated.</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411"/>
        <p:cNvGrpSpPr/>
        <p:nvPr/>
      </p:nvGrpSpPr>
      <p:grpSpPr>
        <a:xfrm>
          <a:off x="0" y="0"/>
          <a:ext cx="0" cy="0"/>
          <a:chOff x="0" y="0"/>
          <a:chExt cx="0" cy="0"/>
        </a:xfrm>
      </p:grpSpPr>
      <p:sp>
        <p:nvSpPr>
          <p:cNvPr id="1412" name="Google Shape;1412;p112"/>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CISC vs RISC</a:t>
            </a:r>
            <a:endParaRPr/>
          </a:p>
        </p:txBody>
      </p:sp>
      <p:graphicFrame>
        <p:nvGraphicFramePr>
          <p:cNvPr id="1413" name="Google Shape;1413;p112"/>
          <p:cNvGraphicFramePr/>
          <p:nvPr/>
        </p:nvGraphicFramePr>
        <p:xfrm>
          <a:off x="1778000" y="1530349"/>
          <a:ext cx="8712175" cy="4794225"/>
        </p:xfrm>
        <a:graphic>
          <a:graphicData uri="http://schemas.openxmlformats.org/drawingml/2006/table">
            <a:tbl>
              <a:tblPr>
                <a:noFill/>
                <a:tableStyleId>{C27E9FFD-D140-43D9-9319-91134215A3CE}</a:tableStyleId>
              </a:tblPr>
              <a:tblGrid>
                <a:gridCol w="2177425">
                  <a:extLst>
                    <a:ext uri="{9D8B030D-6E8A-4147-A177-3AD203B41FA5}">
                      <a16:colId xmlns:a16="http://schemas.microsoft.com/office/drawing/2014/main" val="20000"/>
                    </a:ext>
                  </a:extLst>
                </a:gridCol>
                <a:gridCol w="2179900">
                  <a:extLst>
                    <a:ext uri="{9D8B030D-6E8A-4147-A177-3AD203B41FA5}">
                      <a16:colId xmlns:a16="http://schemas.microsoft.com/office/drawing/2014/main" val="20001"/>
                    </a:ext>
                  </a:extLst>
                </a:gridCol>
                <a:gridCol w="2177425">
                  <a:extLst>
                    <a:ext uri="{9D8B030D-6E8A-4147-A177-3AD203B41FA5}">
                      <a16:colId xmlns:a16="http://schemas.microsoft.com/office/drawing/2014/main" val="20002"/>
                    </a:ext>
                  </a:extLst>
                </a:gridCol>
                <a:gridCol w="2177425">
                  <a:extLst>
                    <a:ext uri="{9D8B030D-6E8A-4147-A177-3AD203B41FA5}">
                      <a16:colId xmlns:a16="http://schemas.microsoft.com/office/drawing/2014/main" val="20003"/>
                    </a:ext>
                  </a:extLst>
                </a:gridCol>
              </a:tblGrid>
              <a:tr h="639225">
                <a:tc>
                  <a:txBody>
                    <a:bodyPr/>
                    <a:lstStyle/>
                    <a:p>
                      <a:pPr marL="0" marR="0" lvl="0" indent="0" algn="ctr" rtl="0">
                        <a:lnSpc>
                          <a:spcPct val="93000"/>
                        </a:lnSpc>
                        <a:spcBef>
                          <a:spcPts val="0"/>
                        </a:spcBef>
                        <a:spcAft>
                          <a:spcPts val="0"/>
                        </a:spcAft>
                        <a:buClr>
                          <a:schemeClr val="dk1"/>
                        </a:buClr>
                        <a:buSzPts val="1120"/>
                        <a:buFont typeface="Calibri"/>
                        <a:buNone/>
                      </a:pPr>
                      <a:endParaRPr sz="1600" b="1" i="0" u="none" strike="noStrike" cap="none">
                        <a:solidFill>
                          <a:srgbClr val="000000"/>
                        </a:solidFill>
                        <a:latin typeface="Times New Roman"/>
                        <a:ea typeface="Times New Roman"/>
                        <a:cs typeface="Times New Roman"/>
                        <a:sym typeface="Times New Roman"/>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CISC</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RISC</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711875">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Characteristics</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VAX 11/780</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Intel 486</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MIPS R4000</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10050">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Number of Instructions</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303</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235</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94</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711875">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Addressing Modes</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22</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11</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1</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710050">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Instruction Size (bytes)</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2-57</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1-12</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4</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311150">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Number of general purpose registers</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16</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8</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93000"/>
                        </a:lnSpc>
                        <a:spcBef>
                          <a:spcPts val="0"/>
                        </a:spcBef>
                        <a:spcAft>
                          <a:spcPts val="0"/>
                        </a:spcAft>
                        <a:buClr>
                          <a:srgbClr val="000000"/>
                        </a:buClr>
                        <a:buSzPts val="1120"/>
                        <a:buFont typeface="Times New Roman"/>
                        <a:buNone/>
                      </a:pPr>
                      <a:r>
                        <a:rPr lang="en-US" sz="1600" b="1" i="0" u="none" strike="noStrike" cap="none">
                          <a:solidFill>
                            <a:srgbClr val="000000"/>
                          </a:solidFill>
                          <a:latin typeface="Times New Roman"/>
                          <a:ea typeface="Times New Roman"/>
                          <a:cs typeface="Times New Roman"/>
                          <a:sym typeface="Times New Roman"/>
                        </a:rPr>
                        <a:t>32</a:t>
                      </a:r>
                      <a:endParaRPr/>
                    </a:p>
                  </a:txBody>
                  <a:tcPr marL="90000" marR="90000" marT="60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418"/>
        <p:cNvGrpSpPr/>
        <p:nvPr/>
      </p:nvGrpSpPr>
      <p:grpSpPr>
        <a:xfrm>
          <a:off x="0" y="0"/>
          <a:ext cx="0" cy="0"/>
          <a:chOff x="0" y="0"/>
          <a:chExt cx="0" cy="0"/>
        </a:xfrm>
      </p:grpSpPr>
      <p:sp>
        <p:nvSpPr>
          <p:cNvPr id="1419" name="Google Shape;1419;p113"/>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The Problems of CISC: Why RISC?</a:t>
            </a:r>
            <a:endParaRPr/>
          </a:p>
        </p:txBody>
      </p:sp>
      <p:sp>
        <p:nvSpPr>
          <p:cNvPr id="1420" name="Google Shape;1420;p113"/>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a:bodyPr>
          <a:lstStyle/>
          <a:p>
            <a:pPr marL="468313" lvl="0" indent="-468313" algn="l" rtl="0">
              <a:lnSpc>
                <a:spcPct val="110000"/>
              </a:lnSpc>
              <a:spcBef>
                <a:spcPts val="0"/>
              </a:spcBef>
              <a:spcAft>
                <a:spcPts val="0"/>
              </a:spcAft>
              <a:buClr>
                <a:srgbClr val="660000"/>
              </a:buClr>
              <a:buSzPts val="1960"/>
              <a:buFont typeface="Noto Sans Symbols"/>
              <a:buChar char="□"/>
            </a:pPr>
            <a:r>
              <a:rPr lang="en-US"/>
              <a:t>Limited Usage of the Complex Instructions: Complex instructions were used much lesser than expected.</a:t>
            </a:r>
            <a:endParaRPr/>
          </a:p>
          <a:p>
            <a:pPr marL="906463" lvl="1" indent="-436563" algn="l" rtl="0">
              <a:lnSpc>
                <a:spcPct val="110000"/>
              </a:lnSpc>
              <a:spcBef>
                <a:spcPts val="600"/>
              </a:spcBef>
              <a:spcAft>
                <a:spcPts val="0"/>
              </a:spcAft>
              <a:buClr>
                <a:srgbClr val="999966"/>
              </a:buClr>
              <a:buSzPts val="1800"/>
              <a:buFont typeface="Noto Sans Symbols"/>
              <a:buChar char="■"/>
            </a:pPr>
            <a:r>
              <a:rPr lang="en-US"/>
              <a:t>Like, sortup reg1, reg2 is a complex instruction to arrange the array from address stored in reg1 to reg2 in a non-descending order is used quite less. Further, the corresponding way of doing the sort hardwired may not be the best way of doing so (the best sorting depends on the type of data).</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425"/>
        <p:cNvGrpSpPr/>
        <p:nvPr/>
      </p:nvGrpSpPr>
      <p:grpSpPr>
        <a:xfrm>
          <a:off x="0" y="0"/>
          <a:ext cx="0" cy="0"/>
          <a:chOff x="0" y="0"/>
          <a:chExt cx="0" cy="0"/>
        </a:xfrm>
      </p:grpSpPr>
      <p:sp>
        <p:nvSpPr>
          <p:cNvPr id="1426" name="Google Shape;1426;p114"/>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The Problems of CISC: Why RISC?</a:t>
            </a:r>
            <a:endParaRPr/>
          </a:p>
        </p:txBody>
      </p:sp>
      <p:sp>
        <p:nvSpPr>
          <p:cNvPr id="1427" name="Google Shape;1427;p114"/>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a:bodyPr>
          <a:lstStyle/>
          <a:p>
            <a:pPr marL="468313" lvl="0" indent="-468313" algn="l" rtl="0">
              <a:lnSpc>
                <a:spcPct val="110000"/>
              </a:lnSpc>
              <a:spcBef>
                <a:spcPts val="0"/>
              </a:spcBef>
              <a:spcAft>
                <a:spcPts val="0"/>
              </a:spcAft>
              <a:buClr>
                <a:srgbClr val="660000"/>
              </a:buClr>
              <a:buSzPts val="1960"/>
              <a:buFont typeface="Noto Sans Symbols"/>
              <a:buChar char="□"/>
            </a:pPr>
            <a:r>
              <a:rPr lang="en-US"/>
              <a:t>Difficulty of Compilers: With the development of compilers, it was observed that compilers tend to synthesize codes that have simple instructions.</a:t>
            </a:r>
            <a:endParaRPr/>
          </a:p>
          <a:p>
            <a:pPr marL="906463" lvl="1" indent="-436563" algn="l" rtl="0">
              <a:lnSpc>
                <a:spcPct val="110000"/>
              </a:lnSpc>
              <a:spcBef>
                <a:spcPts val="600"/>
              </a:spcBef>
              <a:spcAft>
                <a:spcPts val="0"/>
              </a:spcAft>
              <a:buClr>
                <a:srgbClr val="999966"/>
              </a:buClr>
              <a:buSzPts val="1800"/>
              <a:buFont typeface="Noto Sans Symbols"/>
              <a:buChar char="■"/>
            </a:pPr>
            <a:r>
              <a:rPr lang="en-US"/>
              <a:t>Simple ISA also helps in writing efficient compilers.</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432"/>
        <p:cNvGrpSpPr/>
        <p:nvPr/>
      </p:nvGrpSpPr>
      <p:grpSpPr>
        <a:xfrm>
          <a:off x="0" y="0"/>
          <a:ext cx="0" cy="0"/>
          <a:chOff x="0" y="0"/>
          <a:chExt cx="0" cy="0"/>
        </a:xfrm>
      </p:grpSpPr>
      <p:sp>
        <p:nvSpPr>
          <p:cNvPr id="1433" name="Google Shape;1433;p115"/>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The Problems of CISC: Why RISC?</a:t>
            </a:r>
            <a:endParaRPr/>
          </a:p>
        </p:txBody>
      </p:sp>
      <p:sp>
        <p:nvSpPr>
          <p:cNvPr id="1434" name="Google Shape;1434;p115"/>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a:bodyPr>
          <a:lstStyle/>
          <a:p>
            <a:pPr marL="468313" lvl="0" indent="-468313" algn="l" rtl="0">
              <a:lnSpc>
                <a:spcPct val="110000"/>
              </a:lnSpc>
              <a:spcBef>
                <a:spcPts val="0"/>
              </a:spcBef>
              <a:spcAft>
                <a:spcPts val="0"/>
              </a:spcAft>
              <a:buClr>
                <a:srgbClr val="660000"/>
              </a:buClr>
              <a:buSzPts val="1960"/>
              <a:buFont typeface="Noto Sans Symbols"/>
              <a:buChar char="□"/>
            </a:pPr>
            <a:r>
              <a:rPr lang="en-US"/>
              <a:t>Few Data Types: CISC ISA tends to have a variety of data structures, from simple data types to  complex data structures.</a:t>
            </a:r>
            <a:endParaRPr/>
          </a:p>
          <a:p>
            <a:pPr marL="468313" lvl="0" indent="-468313" algn="l" rtl="0">
              <a:lnSpc>
                <a:spcPct val="110000"/>
              </a:lnSpc>
              <a:spcBef>
                <a:spcPts val="600"/>
              </a:spcBef>
              <a:spcAft>
                <a:spcPts val="0"/>
              </a:spcAft>
              <a:buClr>
                <a:srgbClr val="660000"/>
              </a:buClr>
              <a:buSzPts val="1960"/>
              <a:buFont typeface="Noto Sans Symbols"/>
              <a:buChar char="□"/>
            </a:pPr>
            <a:r>
              <a:rPr lang="en-US"/>
              <a:t>Beneficial to design a system that supports simple data types efficiently, and from which the complex data types can be synthesized. </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439"/>
        <p:cNvGrpSpPr/>
        <p:nvPr/>
      </p:nvGrpSpPr>
      <p:grpSpPr>
        <a:xfrm>
          <a:off x="0" y="0"/>
          <a:ext cx="0" cy="0"/>
          <a:chOff x="0" y="0"/>
          <a:chExt cx="0" cy="0"/>
        </a:xfrm>
      </p:grpSpPr>
      <p:sp>
        <p:nvSpPr>
          <p:cNvPr id="1440" name="Google Shape;1440;p116"/>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The Problems of CISC: Why RISC?</a:t>
            </a:r>
            <a:endParaRPr/>
          </a:p>
        </p:txBody>
      </p:sp>
      <p:sp>
        <p:nvSpPr>
          <p:cNvPr id="1441" name="Google Shape;1441;p116"/>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a:bodyPr>
          <a:lstStyle/>
          <a:p>
            <a:pPr marL="468313" lvl="0" indent="-468313" algn="l" rtl="0">
              <a:lnSpc>
                <a:spcPct val="90000"/>
              </a:lnSpc>
              <a:spcBef>
                <a:spcPts val="0"/>
              </a:spcBef>
              <a:spcAft>
                <a:spcPts val="0"/>
              </a:spcAft>
              <a:buClr>
                <a:srgbClr val="660000"/>
              </a:buClr>
              <a:buSzPts val="1960"/>
              <a:buFont typeface="Noto Sans Symbols"/>
              <a:buChar char="□"/>
            </a:pPr>
            <a:r>
              <a:rPr lang="en-US"/>
              <a:t>Simple Addressing Modes: CISC designs provide large number of addressing modes.</a:t>
            </a:r>
            <a:endParaRPr/>
          </a:p>
          <a:p>
            <a:pPr marL="906463" lvl="1" indent="-436563" algn="l" rtl="0">
              <a:lnSpc>
                <a:spcPct val="90000"/>
              </a:lnSpc>
              <a:spcBef>
                <a:spcPts val="600"/>
              </a:spcBef>
              <a:spcAft>
                <a:spcPts val="0"/>
              </a:spcAft>
              <a:buClr>
                <a:srgbClr val="999966"/>
              </a:buClr>
              <a:buSzPts val="1800"/>
              <a:buFont typeface="Noto Sans Symbols"/>
              <a:buChar char="■"/>
            </a:pPr>
            <a:r>
              <a:rPr lang="en-US"/>
              <a:t>support complex data structures</a:t>
            </a:r>
            <a:endParaRPr/>
          </a:p>
          <a:p>
            <a:pPr marL="906463" lvl="1" indent="-436563" algn="l" rtl="0">
              <a:lnSpc>
                <a:spcPct val="90000"/>
              </a:lnSpc>
              <a:spcBef>
                <a:spcPts val="600"/>
              </a:spcBef>
              <a:spcAft>
                <a:spcPts val="0"/>
              </a:spcAft>
              <a:buClr>
                <a:srgbClr val="999966"/>
              </a:buClr>
              <a:buSzPts val="1800"/>
              <a:buFont typeface="Noto Sans Symbols"/>
              <a:buChar char="■"/>
            </a:pPr>
            <a:r>
              <a:rPr lang="en-US"/>
              <a:t>provide flexibility to access operands</a:t>
            </a:r>
            <a:endParaRPr/>
          </a:p>
          <a:p>
            <a:pPr marL="468313" lvl="0" indent="-468313" algn="l" rtl="0">
              <a:lnSpc>
                <a:spcPct val="90000"/>
              </a:lnSpc>
              <a:spcBef>
                <a:spcPts val="600"/>
              </a:spcBef>
              <a:spcAft>
                <a:spcPts val="0"/>
              </a:spcAft>
              <a:buClr>
                <a:srgbClr val="660000"/>
              </a:buClr>
              <a:buSzPts val="1960"/>
              <a:buFont typeface="Noto Sans Symbols"/>
              <a:buChar char="□"/>
            </a:pPr>
            <a:r>
              <a:rPr lang="en-US"/>
              <a:t>Inefficient Instruction Decoding:</a:t>
            </a:r>
            <a:endParaRPr/>
          </a:p>
          <a:p>
            <a:pPr marL="906463" lvl="1" indent="-436563" algn="l" rtl="0">
              <a:lnSpc>
                <a:spcPct val="90000"/>
              </a:lnSpc>
              <a:spcBef>
                <a:spcPts val="600"/>
              </a:spcBef>
              <a:spcAft>
                <a:spcPts val="0"/>
              </a:spcAft>
              <a:buClr>
                <a:srgbClr val="999966"/>
              </a:buClr>
              <a:buSzPts val="1800"/>
              <a:buFont typeface="Noto Sans Symbols"/>
              <a:buChar char="■"/>
            </a:pPr>
            <a:r>
              <a:rPr lang="en-US"/>
              <a:t>Problems arise because of variable instruction execution times, as the time depends on the location of the operands.</a:t>
            </a:r>
            <a:endParaRPr/>
          </a:p>
          <a:p>
            <a:pPr marL="906463" lvl="1" indent="-436563" algn="l" rtl="0">
              <a:lnSpc>
                <a:spcPct val="90000"/>
              </a:lnSpc>
              <a:spcBef>
                <a:spcPts val="600"/>
              </a:spcBef>
              <a:spcAft>
                <a:spcPts val="0"/>
              </a:spcAft>
              <a:buClr>
                <a:srgbClr val="999966"/>
              </a:buClr>
              <a:buSzPts val="1800"/>
              <a:buFont typeface="Noto Sans Symbols"/>
              <a:buChar char="■"/>
            </a:pPr>
            <a:r>
              <a:rPr lang="en-US"/>
              <a:t>Variable instruction length</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446"/>
        <p:cNvGrpSpPr/>
        <p:nvPr/>
      </p:nvGrpSpPr>
      <p:grpSpPr>
        <a:xfrm>
          <a:off x="0" y="0"/>
          <a:ext cx="0" cy="0"/>
          <a:chOff x="0" y="0"/>
          <a:chExt cx="0" cy="0"/>
        </a:xfrm>
      </p:grpSpPr>
      <p:sp>
        <p:nvSpPr>
          <p:cNvPr id="1447" name="Google Shape;1447;p117"/>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Large Register Sets</a:t>
            </a:r>
            <a:endParaRPr/>
          </a:p>
        </p:txBody>
      </p:sp>
      <p:sp>
        <p:nvSpPr>
          <p:cNvPr id="1448" name="Google Shape;1448;p117"/>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lnSpcReduction="10000"/>
          </a:bodyPr>
          <a:lstStyle/>
          <a:p>
            <a:pPr marL="468313" lvl="0" indent="-468313" algn="l" rtl="0">
              <a:lnSpc>
                <a:spcPct val="90000"/>
              </a:lnSpc>
              <a:spcBef>
                <a:spcPts val="0"/>
              </a:spcBef>
              <a:spcAft>
                <a:spcPts val="0"/>
              </a:spcAft>
              <a:buClr>
                <a:srgbClr val="660000"/>
              </a:buClr>
              <a:buSzPts val="1960"/>
              <a:buFont typeface="Noto Sans Symbols"/>
              <a:buChar char="□"/>
            </a:pPr>
            <a:r>
              <a:rPr lang="en-US"/>
              <a:t>Several researchers have studied the procedure calls in HLLs.</a:t>
            </a:r>
            <a:endParaRPr/>
          </a:p>
          <a:p>
            <a:pPr marL="468313" lvl="0" indent="-468313" algn="l" rtl="0">
              <a:lnSpc>
                <a:spcPct val="90000"/>
              </a:lnSpc>
              <a:spcBef>
                <a:spcPts val="1300"/>
              </a:spcBef>
              <a:spcAft>
                <a:spcPts val="0"/>
              </a:spcAft>
              <a:buClr>
                <a:srgbClr val="660000"/>
              </a:buClr>
              <a:buSzPts val="1960"/>
              <a:buFont typeface="Noto Sans Symbols"/>
              <a:buChar char="□"/>
            </a:pPr>
            <a:r>
              <a:rPr lang="en-US"/>
              <a:t>Study shows that C programs have 12 to  15% call/return instructions.</a:t>
            </a:r>
            <a:endParaRPr/>
          </a:p>
          <a:p>
            <a:pPr marL="468313" lvl="0" indent="-468313" algn="l" rtl="0">
              <a:lnSpc>
                <a:spcPct val="90000"/>
              </a:lnSpc>
              <a:spcBef>
                <a:spcPts val="1300"/>
              </a:spcBef>
              <a:spcAft>
                <a:spcPts val="0"/>
              </a:spcAft>
              <a:buClr>
                <a:srgbClr val="660000"/>
              </a:buClr>
              <a:buSzPts val="1960"/>
              <a:buFont typeface="Noto Sans Symbols"/>
              <a:buChar char="□"/>
            </a:pPr>
            <a:r>
              <a:rPr lang="en-US"/>
              <a:t>Of machine language instructions, it is around 30%.</a:t>
            </a:r>
            <a:endParaRPr/>
          </a:p>
          <a:p>
            <a:pPr marL="468313" lvl="0" indent="-468313" algn="l" rtl="0">
              <a:lnSpc>
                <a:spcPct val="90000"/>
              </a:lnSpc>
              <a:spcBef>
                <a:spcPts val="1300"/>
              </a:spcBef>
              <a:spcAft>
                <a:spcPts val="0"/>
              </a:spcAft>
              <a:buClr>
                <a:srgbClr val="660000"/>
              </a:buClr>
              <a:buSzPts val="1960"/>
              <a:buFont typeface="Noto Sans Symbols"/>
              <a:buChar char="□"/>
            </a:pPr>
            <a:r>
              <a:rPr lang="en-US"/>
              <a:t>Call/return instructions have around 50% memory references: memory is used for local variables, parameters, storing activation record.</a:t>
            </a:r>
            <a:endParaRPr/>
          </a:p>
          <a:p>
            <a:pPr marL="468313" lvl="0" indent="-468313" algn="l" rtl="0">
              <a:lnSpc>
                <a:spcPct val="90000"/>
              </a:lnSpc>
              <a:spcBef>
                <a:spcPts val="1300"/>
              </a:spcBef>
              <a:spcAft>
                <a:spcPts val="0"/>
              </a:spcAft>
              <a:buClr>
                <a:srgbClr val="660000"/>
              </a:buClr>
              <a:buSzPts val="1960"/>
              <a:buFont typeface="Noto Sans Symbols"/>
              <a:buChar char="□"/>
            </a:pPr>
            <a:r>
              <a:rPr lang="en-US"/>
              <a:t>Thus it is important to have proper support for call/return instructions.</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453"/>
        <p:cNvGrpSpPr/>
        <p:nvPr/>
      </p:nvGrpSpPr>
      <p:grpSpPr>
        <a:xfrm>
          <a:off x="0" y="0"/>
          <a:ext cx="0" cy="0"/>
          <a:chOff x="0" y="0"/>
          <a:chExt cx="0" cy="0"/>
        </a:xfrm>
      </p:grpSpPr>
      <p:sp>
        <p:nvSpPr>
          <p:cNvPr id="1454" name="Google Shape;1454;p118"/>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Large Register Sets</a:t>
            </a:r>
            <a:endParaRPr/>
          </a:p>
        </p:txBody>
      </p:sp>
      <p:sp>
        <p:nvSpPr>
          <p:cNvPr id="1455" name="Google Shape;1455;p118"/>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a:bodyPr>
          <a:lstStyle/>
          <a:p>
            <a:pPr marL="468313" lvl="0" indent="-468313" algn="l" rtl="0">
              <a:lnSpc>
                <a:spcPct val="90000"/>
              </a:lnSpc>
              <a:spcBef>
                <a:spcPts val="0"/>
              </a:spcBef>
              <a:spcAft>
                <a:spcPts val="0"/>
              </a:spcAft>
              <a:buClr>
                <a:srgbClr val="660000"/>
              </a:buClr>
              <a:buSzPts val="1960"/>
              <a:buFont typeface="Noto Sans Symbols"/>
              <a:buChar char="□"/>
            </a:pPr>
            <a:r>
              <a:rPr lang="en-US"/>
              <a:t>Research shows that 1.25 % of the called procedure has more than six arguments.</a:t>
            </a:r>
            <a:endParaRPr/>
          </a:p>
          <a:p>
            <a:pPr marL="468313" lvl="0" indent="-468313" algn="l" rtl="0">
              <a:lnSpc>
                <a:spcPct val="90000"/>
              </a:lnSpc>
              <a:spcBef>
                <a:spcPts val="600"/>
              </a:spcBef>
              <a:spcAft>
                <a:spcPts val="0"/>
              </a:spcAft>
              <a:buClr>
                <a:srgbClr val="660000"/>
              </a:buClr>
              <a:buSzPts val="1960"/>
              <a:buFont typeface="Noto Sans Symbols"/>
              <a:buChar char="□"/>
            </a:pPr>
            <a:r>
              <a:rPr lang="en-US"/>
              <a:t>More than 93% of them have less than six local variables.</a:t>
            </a:r>
            <a:endParaRPr/>
          </a:p>
          <a:p>
            <a:pPr marL="468313" lvl="0" indent="-468313" algn="l" rtl="0">
              <a:lnSpc>
                <a:spcPct val="90000"/>
              </a:lnSpc>
              <a:spcBef>
                <a:spcPts val="600"/>
              </a:spcBef>
              <a:spcAft>
                <a:spcPts val="0"/>
              </a:spcAft>
              <a:buClr>
                <a:srgbClr val="660000"/>
              </a:buClr>
              <a:buSzPts val="1960"/>
              <a:buFont typeface="Noto Sans Symbols"/>
              <a:buChar char="□"/>
            </a:pPr>
            <a:r>
              <a:rPr lang="en-US"/>
              <a:t>These figures show that activation records are not large.</a:t>
            </a:r>
            <a:endParaRPr/>
          </a:p>
          <a:p>
            <a:pPr marL="906463" lvl="1" indent="-436563" algn="l" rtl="0">
              <a:lnSpc>
                <a:spcPct val="90000"/>
              </a:lnSpc>
              <a:spcBef>
                <a:spcPts val="600"/>
              </a:spcBef>
              <a:spcAft>
                <a:spcPts val="0"/>
              </a:spcAft>
              <a:buClr>
                <a:srgbClr val="999966"/>
              </a:buClr>
              <a:buSzPts val="1800"/>
              <a:buFont typeface="Noto Sans Symbols"/>
              <a:buChar char="■"/>
            </a:pPr>
            <a:r>
              <a:rPr lang="en-US"/>
              <a:t>If we have large number of registers one can avoid memory references for most procedure calls.</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495"/>
        <p:cNvGrpSpPr/>
        <p:nvPr/>
      </p:nvGrpSpPr>
      <p:grpSpPr>
        <a:xfrm>
          <a:off x="0" y="0"/>
          <a:ext cx="0" cy="0"/>
          <a:chOff x="0" y="0"/>
          <a:chExt cx="0" cy="0"/>
        </a:xfrm>
      </p:grpSpPr>
      <p:sp>
        <p:nvSpPr>
          <p:cNvPr id="1496" name="Google Shape;1496;p124"/>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Combination of RISC and CISC</a:t>
            </a:r>
            <a:endParaRPr/>
          </a:p>
        </p:txBody>
      </p:sp>
      <p:sp>
        <p:nvSpPr>
          <p:cNvPr id="1497" name="Google Shape;1497;p124"/>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a:bodyPr>
          <a:lstStyle/>
          <a:p>
            <a:pPr marL="468313" lvl="0" indent="-468313" algn="l" rtl="0">
              <a:lnSpc>
                <a:spcPct val="110000"/>
              </a:lnSpc>
              <a:spcBef>
                <a:spcPts val="0"/>
              </a:spcBef>
              <a:spcAft>
                <a:spcPts val="0"/>
              </a:spcAft>
              <a:buClr>
                <a:srgbClr val="660000"/>
              </a:buClr>
              <a:buSzPts val="1960"/>
              <a:buFont typeface="Noto Sans Symbols"/>
              <a:buChar char="□"/>
            </a:pPr>
            <a:r>
              <a:rPr lang="en-US"/>
              <a:t>Modern processors, like the Intel Pentium tries to combine the advantages in a single machine. </a:t>
            </a:r>
            <a:endParaRPr/>
          </a:p>
          <a:p>
            <a:pPr marL="468313" lvl="0" indent="-468313" algn="l" rtl="0">
              <a:lnSpc>
                <a:spcPct val="110000"/>
              </a:lnSpc>
              <a:spcBef>
                <a:spcPts val="600"/>
              </a:spcBef>
              <a:spcAft>
                <a:spcPts val="0"/>
              </a:spcAft>
              <a:buClr>
                <a:srgbClr val="660000"/>
              </a:buClr>
              <a:buSzPts val="1960"/>
              <a:buFont typeface="Noto Sans Symbols"/>
              <a:buChar char="□"/>
            </a:pPr>
            <a:r>
              <a:rPr lang="en-US"/>
              <a:t>Front end hardware translators are used that replaces CISC instructions with a sequence of one or more RISC instructions.</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502"/>
        <p:cNvGrpSpPr/>
        <p:nvPr/>
      </p:nvGrpSpPr>
      <p:grpSpPr>
        <a:xfrm>
          <a:off x="0" y="0"/>
          <a:ext cx="0" cy="0"/>
          <a:chOff x="0" y="0"/>
          <a:chExt cx="0" cy="0"/>
        </a:xfrm>
      </p:grpSpPr>
      <p:sp>
        <p:nvSpPr>
          <p:cNvPr id="1503" name="Google Shape;1503;p125"/>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 Single Instruction Processor</a:t>
            </a:r>
            <a:endParaRPr/>
          </a:p>
        </p:txBody>
      </p:sp>
      <p:sp>
        <p:nvSpPr>
          <p:cNvPr id="1504" name="Google Shape;1504;p125"/>
          <p:cNvSpPr txBox="1">
            <a:spLocks noGrp="1"/>
          </p:cNvSpPr>
          <p:nvPr>
            <p:ph type="body" idx="4294967295"/>
          </p:nvPr>
        </p:nvSpPr>
        <p:spPr>
          <a:xfrm>
            <a:off x="1981200" y="1828800"/>
            <a:ext cx="8229600" cy="4306888"/>
          </a:xfrm>
          <a:prstGeom prst="rect">
            <a:avLst/>
          </a:prstGeom>
          <a:noFill/>
          <a:ln>
            <a:noFill/>
          </a:ln>
        </p:spPr>
        <p:txBody>
          <a:bodyPr spcFirstLastPara="1" wrap="square" lIns="91425" tIns="45700" rIns="91425" bIns="45700" anchor="t" anchorCtr="0">
            <a:normAutofit/>
          </a:bodyPr>
          <a:lstStyle/>
          <a:p>
            <a:pPr marL="468313" lvl="0" indent="-468313" algn="l" rtl="0">
              <a:lnSpc>
                <a:spcPct val="90000"/>
              </a:lnSpc>
              <a:spcBef>
                <a:spcPts val="0"/>
              </a:spcBef>
              <a:spcAft>
                <a:spcPts val="0"/>
              </a:spcAft>
              <a:buClr>
                <a:srgbClr val="660000"/>
              </a:buClr>
              <a:buSzPts val="1960"/>
              <a:buFont typeface="Noto Sans Symbols"/>
              <a:buChar char="□"/>
            </a:pPr>
            <a:r>
              <a:rPr lang="en-US"/>
              <a:t>How much can we simplify?</a:t>
            </a:r>
            <a:endParaRPr/>
          </a:p>
          <a:p>
            <a:pPr marL="468313" lvl="0" indent="-468313" algn="l" rtl="0">
              <a:lnSpc>
                <a:spcPct val="90000"/>
              </a:lnSpc>
              <a:spcBef>
                <a:spcPts val="1300"/>
              </a:spcBef>
              <a:spcAft>
                <a:spcPts val="0"/>
              </a:spcAft>
              <a:buClr>
                <a:srgbClr val="660000"/>
              </a:buClr>
              <a:buSzPts val="1960"/>
              <a:buFont typeface="Noto Sans Symbols"/>
              <a:buChar char="□"/>
            </a:pPr>
            <a:r>
              <a:rPr lang="en-US"/>
              <a:t>What is the ultimate RISC processor?</a:t>
            </a:r>
            <a:endParaRPr/>
          </a:p>
          <a:p>
            <a:pPr marL="906463" lvl="1" indent="-436563" algn="l" rtl="0">
              <a:lnSpc>
                <a:spcPct val="90000"/>
              </a:lnSpc>
              <a:spcBef>
                <a:spcPts val="1200"/>
              </a:spcBef>
              <a:spcAft>
                <a:spcPts val="0"/>
              </a:spcAft>
              <a:buClr>
                <a:srgbClr val="999966"/>
              </a:buClr>
              <a:buSzPts val="1800"/>
              <a:buFont typeface="Noto Sans Symbols"/>
              <a:buChar char="■"/>
            </a:pPr>
            <a:r>
              <a:rPr lang="en-US"/>
              <a:t>URISC</a:t>
            </a:r>
            <a:endParaRPr/>
          </a:p>
          <a:p>
            <a:pPr marL="468313" lvl="0" indent="-468313" algn="l" rtl="0">
              <a:lnSpc>
                <a:spcPct val="90000"/>
              </a:lnSpc>
              <a:spcBef>
                <a:spcPts val="1300"/>
              </a:spcBef>
              <a:spcAft>
                <a:spcPts val="0"/>
              </a:spcAft>
              <a:buClr>
                <a:srgbClr val="660000"/>
              </a:buClr>
              <a:buSzPts val="1960"/>
              <a:buFont typeface="Noto Sans Symbols"/>
              <a:buChar char="□"/>
            </a:pPr>
            <a:r>
              <a:rPr lang="en-US"/>
              <a:t>If we neglect the input/output, interrupts, scheduling, and other such operations, for computations a single instruction is sufficient!</a:t>
            </a:r>
            <a:endParaRPr/>
          </a:p>
          <a:p>
            <a:pPr marL="468313" lvl="0" indent="-468313" algn="l" rtl="0">
              <a:lnSpc>
                <a:spcPct val="90000"/>
              </a:lnSpc>
              <a:spcBef>
                <a:spcPts val="1300"/>
              </a:spcBef>
              <a:spcAft>
                <a:spcPts val="0"/>
              </a:spcAft>
              <a:buClr>
                <a:srgbClr val="660000"/>
              </a:buClr>
              <a:buSzPts val="1960"/>
              <a:buFont typeface="Noto Sans Symbols"/>
              <a:buChar char="□"/>
            </a:pPr>
            <a:r>
              <a:rPr lang="en-US"/>
              <a:t>Thus extra instructions are added, only for performance.</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509"/>
        <p:cNvGrpSpPr/>
        <p:nvPr/>
      </p:nvGrpSpPr>
      <p:grpSpPr>
        <a:xfrm>
          <a:off x="0" y="0"/>
          <a:ext cx="0" cy="0"/>
          <a:chOff x="0" y="0"/>
          <a:chExt cx="0" cy="0"/>
        </a:xfrm>
      </p:grpSpPr>
      <p:sp>
        <p:nvSpPr>
          <p:cNvPr id="1510" name="Google Shape;1510;p126"/>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What is the instruction?</a:t>
            </a:r>
            <a:endParaRPr/>
          </a:p>
        </p:txBody>
      </p:sp>
      <p:sp>
        <p:nvSpPr>
          <p:cNvPr id="1511" name="Google Shape;1511;p126"/>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fontScale="92500" lnSpcReduction="10000"/>
          </a:bodyPr>
          <a:lstStyle/>
          <a:p>
            <a:pPr marL="468313" lvl="0" indent="-468313" algn="l" rtl="0">
              <a:lnSpc>
                <a:spcPct val="90000"/>
              </a:lnSpc>
              <a:spcBef>
                <a:spcPts val="0"/>
              </a:spcBef>
              <a:spcAft>
                <a:spcPts val="0"/>
              </a:spcAft>
              <a:buClr>
                <a:srgbClr val="660000"/>
              </a:buClr>
              <a:buSzPct val="70000"/>
              <a:buFont typeface="Noto Sans Symbols"/>
              <a:buChar char="□"/>
            </a:pPr>
            <a:r>
              <a:rPr lang="en-US" sz="2400"/>
              <a:t>The instruction does not need any opcode.</a:t>
            </a:r>
            <a:endParaRPr/>
          </a:p>
          <a:p>
            <a:pPr marL="468313" lvl="0" indent="-468313" algn="l" rtl="0">
              <a:lnSpc>
                <a:spcPct val="90000"/>
              </a:lnSpc>
              <a:spcBef>
                <a:spcPts val="1200"/>
              </a:spcBef>
              <a:spcAft>
                <a:spcPts val="0"/>
              </a:spcAft>
              <a:buClr>
                <a:srgbClr val="660000"/>
              </a:buClr>
              <a:buSzPct val="70000"/>
              <a:buFont typeface="Noto Sans Symbols"/>
              <a:buChar char="□"/>
            </a:pPr>
            <a:r>
              <a:rPr lang="en-US" sz="2400"/>
              <a:t>Capability to perform arithmetic is needed:</a:t>
            </a:r>
            <a:endParaRPr/>
          </a:p>
          <a:p>
            <a:pPr marL="906463" lvl="1" indent="-436563" algn="l" rtl="0">
              <a:lnSpc>
                <a:spcPct val="90000"/>
              </a:lnSpc>
              <a:spcBef>
                <a:spcPts val="1100"/>
              </a:spcBef>
              <a:spcAft>
                <a:spcPts val="0"/>
              </a:spcAft>
              <a:buClr>
                <a:srgbClr val="999966"/>
              </a:buClr>
              <a:buSzPct val="75000"/>
              <a:buFont typeface="Noto Sans Symbols"/>
              <a:buChar char="■"/>
            </a:pPr>
            <a:r>
              <a:rPr lang="en-US" sz="2000"/>
              <a:t>so, we have two operands</a:t>
            </a:r>
            <a:endParaRPr/>
          </a:p>
          <a:p>
            <a:pPr marL="906463" lvl="1" indent="-436563" algn="l" rtl="0">
              <a:lnSpc>
                <a:spcPct val="90000"/>
              </a:lnSpc>
              <a:spcBef>
                <a:spcPts val="1100"/>
              </a:spcBef>
              <a:spcAft>
                <a:spcPts val="0"/>
              </a:spcAft>
              <a:buClr>
                <a:srgbClr val="999966"/>
              </a:buClr>
              <a:buSzPct val="75000"/>
              <a:buFont typeface="Noto Sans Symbols"/>
              <a:buChar char="■"/>
            </a:pPr>
            <a:r>
              <a:rPr lang="en-US" sz="2000"/>
              <a:t>we re-use the second operand as the destination</a:t>
            </a:r>
            <a:endParaRPr/>
          </a:p>
          <a:p>
            <a:pPr marL="906463" lvl="1" indent="-436563" algn="l" rtl="0">
              <a:lnSpc>
                <a:spcPct val="90000"/>
              </a:lnSpc>
              <a:spcBef>
                <a:spcPts val="1100"/>
              </a:spcBef>
              <a:spcAft>
                <a:spcPts val="0"/>
              </a:spcAft>
              <a:buClr>
                <a:srgbClr val="999966"/>
              </a:buClr>
              <a:buSzPct val="75000"/>
              <a:buFont typeface="Noto Sans Symbols"/>
              <a:buChar char="■"/>
            </a:pPr>
            <a:r>
              <a:rPr lang="en-US" sz="2000"/>
              <a:t>since, there is no load/store instructions, two memory addresses are needed:</a:t>
            </a:r>
            <a:endParaRPr/>
          </a:p>
          <a:p>
            <a:pPr marL="1376363" lvl="2" indent="-468313" algn="l" rtl="0">
              <a:lnSpc>
                <a:spcPct val="90000"/>
              </a:lnSpc>
              <a:spcBef>
                <a:spcPts val="1050"/>
              </a:spcBef>
              <a:spcAft>
                <a:spcPts val="0"/>
              </a:spcAft>
              <a:buClr>
                <a:srgbClr val="660000"/>
              </a:buClr>
              <a:buSzPct val="65000"/>
              <a:buFont typeface="Noto Sans Symbols"/>
              <a:buChar char="□"/>
            </a:pPr>
            <a:r>
              <a:rPr lang="en-US" sz="1800"/>
              <a:t>source1 and source2/destination</a:t>
            </a:r>
            <a:endParaRPr/>
          </a:p>
          <a:p>
            <a:pPr marL="468313" lvl="0" indent="-468313" algn="l" rtl="0">
              <a:lnSpc>
                <a:spcPct val="90000"/>
              </a:lnSpc>
              <a:spcBef>
                <a:spcPts val="1200"/>
              </a:spcBef>
              <a:spcAft>
                <a:spcPts val="0"/>
              </a:spcAft>
              <a:buClr>
                <a:srgbClr val="660000"/>
              </a:buClr>
              <a:buSzPct val="70000"/>
              <a:buFont typeface="Noto Sans Symbols"/>
              <a:buChar char="□"/>
            </a:pPr>
            <a:r>
              <a:rPr lang="en-US" sz="2400"/>
              <a:t>Further, we need conditional branches:</a:t>
            </a:r>
            <a:endParaRPr/>
          </a:p>
          <a:p>
            <a:pPr marL="906463" lvl="1" indent="-436563" algn="l" rtl="0">
              <a:lnSpc>
                <a:spcPct val="90000"/>
              </a:lnSpc>
              <a:spcBef>
                <a:spcPts val="1100"/>
              </a:spcBef>
              <a:spcAft>
                <a:spcPts val="0"/>
              </a:spcAft>
              <a:buClr>
                <a:srgbClr val="999966"/>
              </a:buClr>
              <a:buSzPct val="75000"/>
              <a:buFont typeface="Noto Sans Symbols"/>
              <a:buChar char="■"/>
            </a:pPr>
            <a:r>
              <a:rPr lang="en-US" sz="2000"/>
              <a:t>thus the instruction also has a third address, which specifies the target address.</a:t>
            </a:r>
            <a:endParaRPr/>
          </a:p>
          <a:p>
            <a:pPr marL="906463" lvl="1" indent="-436563" algn="l" rtl="0">
              <a:lnSpc>
                <a:spcPct val="90000"/>
              </a:lnSpc>
              <a:spcBef>
                <a:spcPts val="1100"/>
              </a:spcBef>
              <a:spcAft>
                <a:spcPts val="0"/>
              </a:spcAft>
              <a:buClr>
                <a:srgbClr val="999966"/>
              </a:buClr>
              <a:buSzPct val="75000"/>
              <a:buFont typeface="Noto Sans Symbols"/>
              <a:buChar char="■"/>
            </a:pPr>
            <a:r>
              <a:rPr lang="en-US" sz="2000"/>
              <a:t>The branch condition is specified, by using subtraction as the arithmetic operation, and using the sign of the result as the condition.</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516"/>
        <p:cNvGrpSpPr/>
        <p:nvPr/>
      </p:nvGrpSpPr>
      <p:grpSpPr>
        <a:xfrm>
          <a:off x="0" y="0"/>
          <a:ext cx="0" cy="0"/>
          <a:chOff x="0" y="0"/>
          <a:chExt cx="0" cy="0"/>
        </a:xfrm>
      </p:grpSpPr>
      <p:sp>
        <p:nvSpPr>
          <p:cNvPr id="1517" name="Google Shape;1517;p127"/>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The URISC instruction</a:t>
            </a:r>
            <a:endParaRPr/>
          </a:p>
        </p:txBody>
      </p:sp>
      <p:sp>
        <p:nvSpPr>
          <p:cNvPr id="1518" name="Google Shape;1518;p127"/>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a:bodyPr>
          <a:lstStyle/>
          <a:p>
            <a:pPr marL="469900" lvl="0" indent="-468313" algn="l" rtl="0">
              <a:lnSpc>
                <a:spcPct val="110000"/>
              </a:lnSpc>
              <a:spcBef>
                <a:spcPts val="0"/>
              </a:spcBef>
              <a:spcAft>
                <a:spcPts val="0"/>
              </a:spcAft>
              <a:buClr>
                <a:schemeClr val="dk1"/>
              </a:buClr>
              <a:buSzPts val="1960"/>
              <a:buNone/>
            </a:pPr>
            <a:r>
              <a:rPr lang="en-US"/>
              <a:t>subtract operand1 from operand2, replace operand2 with the result, and jump to target address in case of negative result</a:t>
            </a:r>
            <a:endParaRPr/>
          </a:p>
          <a:p>
            <a:pPr marL="469900" lvl="0" indent="-468313" algn="l" rtl="0">
              <a:lnSpc>
                <a:spcPct val="110000"/>
              </a:lnSpc>
              <a:spcBef>
                <a:spcPts val="600"/>
              </a:spcBef>
              <a:spcAft>
                <a:spcPts val="0"/>
              </a:spcAft>
              <a:buClr>
                <a:schemeClr val="dk1"/>
              </a:buClr>
              <a:buSzPts val="1960"/>
              <a:buNone/>
            </a:pPr>
            <a:endParaRPr/>
          </a:p>
          <a:p>
            <a:pPr marL="469900" lvl="0" indent="-468313" algn="l" rtl="0">
              <a:lnSpc>
                <a:spcPct val="110000"/>
              </a:lnSpc>
              <a:spcBef>
                <a:spcPts val="600"/>
              </a:spcBef>
              <a:spcAft>
                <a:spcPts val="0"/>
              </a:spcAft>
              <a:buClr>
                <a:schemeClr val="dk1"/>
              </a:buClr>
              <a:buSzPts val="1960"/>
              <a:buNone/>
            </a:pPr>
            <a:r>
              <a:rPr lang="en-US"/>
              <a:t>label: urisc dest, src1, target</a:t>
            </a:r>
            <a:endParaRPr/>
          </a:p>
          <a:p>
            <a:pPr marL="469900" lvl="0" indent="-468313" algn="l" rtl="0">
              <a:lnSpc>
                <a:spcPct val="110000"/>
              </a:lnSpc>
              <a:spcBef>
                <a:spcPts val="600"/>
              </a:spcBef>
              <a:spcAft>
                <a:spcPts val="0"/>
              </a:spcAft>
              <a:buClr>
                <a:schemeClr val="dk1"/>
              </a:buClr>
              <a:buSzPts val="1960"/>
              <a:buNone/>
            </a:pPr>
            <a:endParaRPr/>
          </a:p>
          <a:p>
            <a:pPr marL="469900" lvl="0" indent="-468313" algn="l" rtl="0">
              <a:lnSpc>
                <a:spcPct val="110000"/>
              </a:lnSpc>
              <a:spcBef>
                <a:spcPts val="600"/>
              </a:spcBef>
              <a:spcAft>
                <a:spcPts val="0"/>
              </a:spcAft>
              <a:buClr>
                <a:schemeClr val="dk1"/>
              </a:buClr>
              <a:buSzPts val="1960"/>
              <a:buNone/>
            </a:pPr>
            <a:r>
              <a:rPr lang="en-US"/>
              <a:t>Note, that the opcode is not needed.</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523"/>
        <p:cNvGrpSpPr/>
        <p:nvPr/>
      </p:nvGrpSpPr>
      <p:grpSpPr>
        <a:xfrm>
          <a:off x="0" y="0"/>
          <a:ext cx="0" cy="0"/>
          <a:chOff x="0" y="0"/>
          <a:chExt cx="0" cy="0"/>
        </a:xfrm>
      </p:grpSpPr>
      <p:sp>
        <p:nvSpPr>
          <p:cNvPr id="1524" name="Google Shape;1524;p128"/>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Exiting the program</a:t>
            </a:r>
            <a:endParaRPr/>
          </a:p>
        </p:txBody>
      </p:sp>
      <p:sp>
        <p:nvSpPr>
          <p:cNvPr id="1525" name="Google Shape;1525;p128"/>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a:bodyPr>
          <a:lstStyle/>
          <a:p>
            <a:pPr marL="468313" lvl="0" indent="-468313" algn="l" rtl="0">
              <a:lnSpc>
                <a:spcPct val="110000"/>
              </a:lnSpc>
              <a:spcBef>
                <a:spcPts val="0"/>
              </a:spcBef>
              <a:spcAft>
                <a:spcPts val="0"/>
              </a:spcAft>
              <a:buClr>
                <a:srgbClr val="660000"/>
              </a:buClr>
              <a:buSzPts val="1960"/>
              <a:buFont typeface="Noto Sans Symbols"/>
              <a:buChar char="□"/>
            </a:pPr>
            <a:r>
              <a:rPr lang="en-US"/>
              <a:t>The convention will be that the program execution starts at the memory location 1.</a:t>
            </a:r>
            <a:endParaRPr/>
          </a:p>
          <a:p>
            <a:pPr marL="468313" lvl="0" indent="-468313" algn="l" rtl="0">
              <a:lnSpc>
                <a:spcPct val="110000"/>
              </a:lnSpc>
              <a:spcBef>
                <a:spcPts val="600"/>
              </a:spcBef>
              <a:spcAft>
                <a:spcPts val="0"/>
              </a:spcAft>
              <a:buClr>
                <a:srgbClr val="660000"/>
              </a:buClr>
              <a:buSzPts val="1960"/>
              <a:buFont typeface="Noto Sans Symbols"/>
              <a:buChar char="□"/>
            </a:pPr>
            <a:r>
              <a:rPr lang="en-US"/>
              <a:t>Branching to memory location 0, terminates the program.</a:t>
            </a:r>
            <a:endParaRPr/>
          </a:p>
          <a:p>
            <a:pPr marL="468313" lvl="0" indent="-468313" algn="l" rtl="0">
              <a:lnSpc>
                <a:spcPct val="110000"/>
              </a:lnSpc>
              <a:spcBef>
                <a:spcPts val="600"/>
              </a:spcBef>
              <a:spcAft>
                <a:spcPts val="0"/>
              </a:spcAft>
              <a:buClr>
                <a:srgbClr val="660000"/>
              </a:buClr>
              <a:buSzPts val="1960"/>
              <a:buFont typeface="Noto Sans Symbols"/>
              <a:buChar char="□"/>
            </a:pPr>
            <a:r>
              <a:rPr lang="en-US"/>
              <a:t>We use the assembler directive, .word to name and initialize one word of memory to be used as an operand</a:t>
            </a:r>
            <a:endParaRPr/>
          </a:p>
          <a:p>
            <a:pPr marL="906463" lvl="1" indent="-436563" algn="l" rtl="0">
              <a:lnSpc>
                <a:spcPct val="110000"/>
              </a:lnSpc>
              <a:spcBef>
                <a:spcPts val="600"/>
              </a:spcBef>
              <a:spcAft>
                <a:spcPts val="0"/>
              </a:spcAft>
              <a:buClr>
                <a:srgbClr val="999966"/>
              </a:buClr>
              <a:buSzPts val="1800"/>
              <a:buFont typeface="Noto Sans Symbols"/>
              <a:buChar char="■"/>
            </a:pPr>
            <a:r>
              <a:rPr lang="en-US"/>
              <a:t>stop: .word 0</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530"/>
        <p:cNvGrpSpPr/>
        <p:nvPr/>
      </p:nvGrpSpPr>
      <p:grpSpPr>
        <a:xfrm>
          <a:off x="0" y="0"/>
          <a:ext cx="0" cy="0"/>
          <a:chOff x="0" y="0"/>
          <a:chExt cx="0" cy="0"/>
        </a:xfrm>
      </p:grpSpPr>
      <p:sp>
        <p:nvSpPr>
          <p:cNvPr id="1531" name="Google Shape;1531;p129"/>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URISC program for move</a:t>
            </a:r>
            <a:endParaRPr/>
          </a:p>
        </p:txBody>
      </p:sp>
      <p:sp>
        <p:nvSpPr>
          <p:cNvPr id="1532" name="Google Shape;1532;p129"/>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a:bodyPr>
          <a:lstStyle/>
          <a:p>
            <a:pPr marL="469900" lvl="0" indent="-468313" algn="l" rtl="0">
              <a:lnSpc>
                <a:spcPct val="110000"/>
              </a:lnSpc>
              <a:spcBef>
                <a:spcPts val="0"/>
              </a:spcBef>
              <a:spcAft>
                <a:spcPts val="0"/>
              </a:spcAft>
              <a:buClr>
                <a:schemeClr val="dk1"/>
              </a:buClr>
              <a:buSzPts val="1960"/>
              <a:buNone/>
            </a:pPr>
            <a:r>
              <a:rPr lang="en-US"/>
              <a:t>stop: .word 0</a:t>
            </a:r>
            <a:endParaRPr/>
          </a:p>
          <a:p>
            <a:pPr marL="469900" lvl="0" indent="-468313" algn="l" rtl="0">
              <a:lnSpc>
                <a:spcPct val="110000"/>
              </a:lnSpc>
              <a:spcBef>
                <a:spcPts val="600"/>
              </a:spcBef>
              <a:spcAft>
                <a:spcPts val="0"/>
              </a:spcAft>
              <a:buClr>
                <a:schemeClr val="dk1"/>
              </a:buClr>
              <a:buSzPts val="1960"/>
              <a:buNone/>
            </a:pPr>
            <a:r>
              <a:rPr lang="en-US"/>
              <a:t>start: urisc dest,dest,+1 			#dest = 0</a:t>
            </a:r>
            <a:endParaRPr/>
          </a:p>
          <a:p>
            <a:pPr marL="469900" lvl="0" indent="-468313" algn="l" rtl="0">
              <a:lnSpc>
                <a:spcPct val="110000"/>
              </a:lnSpc>
              <a:spcBef>
                <a:spcPts val="600"/>
              </a:spcBef>
              <a:spcAft>
                <a:spcPts val="0"/>
              </a:spcAft>
              <a:buClr>
                <a:schemeClr val="dk1"/>
              </a:buClr>
              <a:buSzPts val="1960"/>
              <a:buNone/>
            </a:pPr>
            <a:r>
              <a:rPr lang="en-US"/>
              <a:t>         urisc temp,temp,+1 			#temp=0</a:t>
            </a:r>
            <a:endParaRPr/>
          </a:p>
          <a:p>
            <a:pPr marL="469900" lvl="0" indent="-468313" algn="l" rtl="0">
              <a:lnSpc>
                <a:spcPct val="110000"/>
              </a:lnSpc>
              <a:spcBef>
                <a:spcPts val="600"/>
              </a:spcBef>
              <a:spcAft>
                <a:spcPts val="0"/>
              </a:spcAft>
              <a:buClr>
                <a:schemeClr val="dk1"/>
              </a:buClr>
              <a:buSzPts val="1960"/>
              <a:buNone/>
            </a:pPr>
            <a:r>
              <a:rPr lang="en-US"/>
              <a:t>         urisc src,temp, +1 			#temp=-(src)</a:t>
            </a:r>
            <a:endParaRPr/>
          </a:p>
          <a:p>
            <a:pPr marL="469900" lvl="0" indent="-468313" algn="l" rtl="0">
              <a:lnSpc>
                <a:spcPct val="110000"/>
              </a:lnSpc>
              <a:spcBef>
                <a:spcPts val="600"/>
              </a:spcBef>
              <a:spcAft>
                <a:spcPts val="0"/>
              </a:spcAft>
              <a:buClr>
                <a:schemeClr val="dk1"/>
              </a:buClr>
              <a:buSzPts val="1960"/>
              <a:buNone/>
            </a:pPr>
            <a:r>
              <a:rPr lang="en-US"/>
              <a:t>         urisc temp,dest,+1 			#dest=-(temp)</a:t>
            </a:r>
            <a:endParaRPr/>
          </a:p>
          <a:p>
            <a:pPr marL="469900" lvl="0" indent="-468313" algn="l" rtl="0">
              <a:lnSpc>
                <a:spcPct val="110000"/>
              </a:lnSpc>
              <a:spcBef>
                <a:spcPts val="600"/>
              </a:spcBef>
              <a:spcAft>
                <a:spcPts val="0"/>
              </a:spcAft>
              <a:buClr>
                <a:schemeClr val="dk1"/>
              </a:buClr>
              <a:buSzPts val="1960"/>
              <a:buNone/>
            </a:pPr>
            <a:r>
              <a:rPr lang="en-US"/>
              <a:t>         …</a:t>
            </a:r>
            <a:endParaRPr/>
          </a:p>
          <a:p>
            <a:pPr marL="469900" lvl="0" indent="-468313" algn="l" rtl="0">
              <a:lnSpc>
                <a:spcPct val="110000"/>
              </a:lnSpc>
              <a:spcBef>
                <a:spcPts val="600"/>
              </a:spcBef>
              <a:spcAft>
                <a:spcPts val="0"/>
              </a:spcAft>
              <a:buClr>
                <a:schemeClr val="dk1"/>
              </a:buClr>
              <a:buSzPts val="1960"/>
              <a:buNone/>
            </a:pPr>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537"/>
        <p:cNvGrpSpPr/>
        <p:nvPr/>
      </p:nvGrpSpPr>
      <p:grpSpPr>
        <a:xfrm>
          <a:off x="0" y="0"/>
          <a:ext cx="0" cy="0"/>
          <a:chOff x="0" y="0"/>
          <a:chExt cx="0" cy="0"/>
        </a:xfrm>
      </p:grpSpPr>
      <p:sp>
        <p:nvSpPr>
          <p:cNvPr id="1538" name="Google Shape;1538;p130"/>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Assignments</a:t>
            </a:r>
            <a:endParaRPr/>
          </a:p>
        </p:txBody>
      </p:sp>
      <p:sp>
        <p:nvSpPr>
          <p:cNvPr id="1539" name="Google Shape;1539;p130"/>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fontScale="92500" lnSpcReduction="10000"/>
          </a:bodyPr>
          <a:lstStyle/>
          <a:p>
            <a:pPr marL="468313" lvl="0" indent="-468313" algn="l" rtl="0">
              <a:lnSpc>
                <a:spcPct val="90000"/>
              </a:lnSpc>
              <a:spcBef>
                <a:spcPts val="0"/>
              </a:spcBef>
              <a:spcAft>
                <a:spcPts val="0"/>
              </a:spcAft>
              <a:buClr>
                <a:srgbClr val="660000"/>
              </a:buClr>
              <a:buSzPct val="70000"/>
              <a:buFont typeface="Noto Sans Symbols"/>
              <a:buChar char="□"/>
            </a:pPr>
            <a:r>
              <a:rPr lang="en-US"/>
              <a:t>ex1: uadd dest,src1,src2</a:t>
            </a:r>
            <a:endParaRPr/>
          </a:p>
          <a:p>
            <a:pPr marL="468313" lvl="0" indent="-468313" algn="l" rtl="0">
              <a:lnSpc>
                <a:spcPct val="90000"/>
              </a:lnSpc>
              <a:spcBef>
                <a:spcPts val="1300"/>
              </a:spcBef>
              <a:spcAft>
                <a:spcPts val="0"/>
              </a:spcAft>
              <a:buClr>
                <a:srgbClr val="660000"/>
              </a:buClr>
              <a:buSzPct val="70000"/>
              <a:buFont typeface="Noto Sans Symbols"/>
              <a:buChar char="□"/>
            </a:pPr>
            <a:r>
              <a:rPr lang="en-US"/>
              <a:t>ex2: uswap src1,src2</a:t>
            </a:r>
            <a:endParaRPr/>
          </a:p>
          <a:p>
            <a:pPr marL="468313" lvl="0" indent="-468313" algn="l" rtl="0">
              <a:lnSpc>
                <a:spcPct val="90000"/>
              </a:lnSpc>
              <a:spcBef>
                <a:spcPts val="1300"/>
              </a:spcBef>
              <a:spcAft>
                <a:spcPts val="0"/>
              </a:spcAft>
              <a:buClr>
                <a:srgbClr val="660000"/>
              </a:buClr>
              <a:buSzPct val="70000"/>
              <a:buFont typeface="Noto Sans Symbols"/>
              <a:buChar char="□"/>
            </a:pPr>
            <a:r>
              <a:rPr lang="en-US"/>
              <a:t>ex3: uj label</a:t>
            </a:r>
            <a:endParaRPr/>
          </a:p>
          <a:p>
            <a:pPr marL="468313" lvl="0" indent="-468313" algn="l" rtl="0">
              <a:lnSpc>
                <a:spcPct val="90000"/>
              </a:lnSpc>
              <a:spcBef>
                <a:spcPts val="1300"/>
              </a:spcBef>
              <a:spcAft>
                <a:spcPts val="0"/>
              </a:spcAft>
              <a:buClr>
                <a:srgbClr val="660000"/>
              </a:buClr>
              <a:buSzPct val="70000"/>
              <a:buFont typeface="Noto Sans Symbols"/>
              <a:buChar char="□"/>
            </a:pPr>
            <a:r>
              <a:rPr lang="en-US"/>
              <a:t>ubge: src1, src2, label #if (src1)≥(src2), goto label</a:t>
            </a:r>
            <a:endParaRPr/>
          </a:p>
          <a:p>
            <a:pPr marL="468313" lvl="0" indent="-468313" algn="l" rtl="0">
              <a:lnSpc>
                <a:spcPct val="90000"/>
              </a:lnSpc>
              <a:spcBef>
                <a:spcPts val="1300"/>
              </a:spcBef>
              <a:spcAft>
                <a:spcPts val="0"/>
              </a:spcAft>
              <a:buClr>
                <a:srgbClr val="660000"/>
              </a:buClr>
              <a:buSzPct val="70000"/>
              <a:buFont typeface="Noto Sans Symbols"/>
              <a:buChar char="□"/>
            </a:pPr>
            <a:r>
              <a:rPr lang="en-US"/>
              <a:t>ubeq: src1,src2,label #if (src1)=(src2), goto label</a:t>
            </a:r>
            <a:endParaRPr/>
          </a:p>
          <a:p>
            <a:pPr marL="468313" lvl="0" indent="-468313" algn="l" rtl="0">
              <a:lnSpc>
                <a:spcPct val="90000"/>
              </a:lnSpc>
              <a:spcBef>
                <a:spcPts val="1300"/>
              </a:spcBef>
              <a:spcAft>
                <a:spcPts val="0"/>
              </a:spcAft>
              <a:buClr>
                <a:schemeClr val="dk1"/>
              </a:buClr>
              <a:buSzPct val="70000"/>
              <a:buNone/>
            </a:pPr>
            <a:endParaRPr b="1"/>
          </a:p>
          <a:p>
            <a:pPr marL="468313" lvl="0" indent="-468313" algn="l" rtl="0">
              <a:lnSpc>
                <a:spcPct val="90000"/>
              </a:lnSpc>
              <a:spcBef>
                <a:spcPts val="1300"/>
              </a:spcBef>
              <a:spcAft>
                <a:spcPts val="0"/>
              </a:spcAft>
              <a:buClr>
                <a:schemeClr val="dk1"/>
              </a:buClr>
              <a:buSzPct val="70000"/>
              <a:buNone/>
            </a:pPr>
            <a:endParaRPr b="1"/>
          </a:p>
          <a:p>
            <a:pPr marL="468313" lvl="0" indent="-468313" algn="l" rtl="0">
              <a:lnSpc>
                <a:spcPct val="90000"/>
              </a:lnSpc>
              <a:spcBef>
                <a:spcPts val="1300"/>
              </a:spcBef>
              <a:spcAft>
                <a:spcPts val="0"/>
              </a:spcAft>
              <a:buClr>
                <a:schemeClr val="dk1"/>
              </a:buClr>
              <a:buSzPct val="70000"/>
              <a:buNone/>
            </a:pPr>
            <a:r>
              <a:rPr lang="en-US" b="1"/>
              <a:t>    Use at1 and at2 as temporary registers  for the assembler.</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sp>
        <p:nvSpPr>
          <p:cNvPr id="1545" name="Google Shape;1545;p131"/>
          <p:cNvSpPr txBox="1">
            <a:spLocks noGrp="1"/>
          </p:cNvSpPr>
          <p:nvPr>
            <p:ph type="title" idx="4294967295"/>
          </p:nvPr>
        </p:nvSpPr>
        <p:spPr>
          <a:xfrm>
            <a:off x="19812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a:t>uadd</a:t>
            </a:r>
            <a:endParaRPr/>
          </a:p>
        </p:txBody>
      </p:sp>
      <p:sp>
        <p:nvSpPr>
          <p:cNvPr id="1546" name="Google Shape;1546;p131"/>
          <p:cNvSpPr txBox="1">
            <a:spLocks noGrp="1"/>
          </p:cNvSpPr>
          <p:nvPr>
            <p:ph type="body" idx="4294967295"/>
          </p:nvPr>
        </p:nvSpPr>
        <p:spPr>
          <a:xfrm>
            <a:off x="1981200" y="1828801"/>
            <a:ext cx="8229600" cy="4302125"/>
          </a:xfrm>
          <a:prstGeom prst="rect">
            <a:avLst/>
          </a:prstGeom>
          <a:noFill/>
          <a:ln>
            <a:noFill/>
          </a:ln>
        </p:spPr>
        <p:txBody>
          <a:bodyPr spcFirstLastPara="1" wrap="square" lIns="91425" tIns="45700" rIns="91425" bIns="45700" anchor="t" anchorCtr="0">
            <a:normAutofit/>
          </a:bodyPr>
          <a:lstStyle/>
          <a:p>
            <a:pPr marL="469900" lvl="0" indent="-468313" algn="l" rtl="0">
              <a:lnSpc>
                <a:spcPct val="110000"/>
              </a:lnSpc>
              <a:spcBef>
                <a:spcPts val="0"/>
              </a:spcBef>
              <a:spcAft>
                <a:spcPts val="0"/>
              </a:spcAft>
              <a:buClr>
                <a:schemeClr val="dk1"/>
              </a:buClr>
              <a:buSzPts val="1960"/>
              <a:buNone/>
            </a:pPr>
            <a:r>
              <a:rPr lang="en-US"/>
              <a:t>urisc  at1, at1, +1 				#at1 = 0</a:t>
            </a:r>
            <a:endParaRPr/>
          </a:p>
          <a:p>
            <a:pPr marL="469900" lvl="0" indent="-468313" algn="l" rtl="0">
              <a:lnSpc>
                <a:spcPct val="110000"/>
              </a:lnSpc>
              <a:spcBef>
                <a:spcPts val="600"/>
              </a:spcBef>
              <a:spcAft>
                <a:spcPts val="0"/>
              </a:spcAft>
              <a:buClr>
                <a:schemeClr val="dk1"/>
              </a:buClr>
              <a:buSzPts val="1960"/>
              <a:buNone/>
            </a:pPr>
            <a:r>
              <a:rPr lang="en-US"/>
              <a:t>urisc src1,at1,+1 				#at1 = -(src1)</a:t>
            </a:r>
            <a:endParaRPr/>
          </a:p>
          <a:p>
            <a:pPr marL="469900" lvl="0" indent="-468313" algn="l" rtl="0">
              <a:lnSpc>
                <a:spcPct val="110000"/>
              </a:lnSpc>
              <a:spcBef>
                <a:spcPts val="600"/>
              </a:spcBef>
              <a:spcAft>
                <a:spcPts val="0"/>
              </a:spcAft>
              <a:buClr>
                <a:schemeClr val="dk1"/>
              </a:buClr>
              <a:buSzPts val="1960"/>
              <a:buNone/>
            </a:pPr>
            <a:r>
              <a:rPr lang="en-US"/>
              <a:t>urisc src2,at1,+1 			#at1 = -(src1)-(src2)</a:t>
            </a:r>
            <a:endParaRPr/>
          </a:p>
          <a:p>
            <a:pPr marL="469900" lvl="0" indent="-468313" algn="l" rtl="0">
              <a:lnSpc>
                <a:spcPct val="110000"/>
              </a:lnSpc>
              <a:spcBef>
                <a:spcPts val="600"/>
              </a:spcBef>
              <a:spcAft>
                <a:spcPts val="0"/>
              </a:spcAft>
              <a:buClr>
                <a:schemeClr val="dk1"/>
              </a:buClr>
              <a:buSzPts val="1960"/>
              <a:buNone/>
            </a:pPr>
            <a:r>
              <a:rPr lang="en-US"/>
              <a:t>urisc dest,dest,+1 				#dest=0</a:t>
            </a:r>
            <a:endParaRPr/>
          </a:p>
          <a:p>
            <a:pPr marL="469900" lvl="0" indent="-468313" algn="l" rtl="0">
              <a:lnSpc>
                <a:spcPct val="110000"/>
              </a:lnSpc>
              <a:spcBef>
                <a:spcPts val="600"/>
              </a:spcBef>
              <a:spcAft>
                <a:spcPts val="0"/>
              </a:spcAft>
              <a:buClr>
                <a:schemeClr val="dk1"/>
              </a:buClr>
              <a:buSzPts val="1960"/>
              <a:buNone/>
            </a:pPr>
            <a:r>
              <a:rPr lang="en-US"/>
              <a:t>urisc at1,dest,+1 		#dest = -(at1)=(src1)+(src2)</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558"/>
        <p:cNvGrpSpPr/>
        <p:nvPr/>
      </p:nvGrpSpPr>
      <p:grpSpPr>
        <a:xfrm>
          <a:off x="0" y="0"/>
          <a:ext cx="0" cy="0"/>
          <a:chOff x="0" y="0"/>
          <a:chExt cx="0" cy="0"/>
        </a:xfrm>
      </p:grpSpPr>
      <p:sp>
        <p:nvSpPr>
          <p:cNvPr id="1559" name="Google Shape;1559;p133"/>
          <p:cNvSpPr txBox="1"/>
          <p:nvPr/>
        </p:nvSpPr>
        <p:spPr>
          <a:xfrm>
            <a:off x="2955926" y="546100"/>
            <a:ext cx="7407275" cy="1739900"/>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r>
              <a:rPr lang="en-US" sz="5400">
                <a:solidFill>
                  <a:srgbClr val="420000"/>
                </a:solidFill>
                <a:latin typeface="Times New Roman"/>
                <a:ea typeface="Times New Roman"/>
                <a:cs typeface="Times New Roman"/>
                <a:sym typeface="Times New Roman"/>
              </a:rPr>
              <a:t>Basic Operations</a:t>
            </a:r>
            <a:br>
              <a:rPr lang="en-US" sz="5400">
                <a:solidFill>
                  <a:srgbClr val="420000"/>
                </a:solidFill>
                <a:latin typeface="Times New Roman"/>
                <a:ea typeface="Times New Roman"/>
                <a:cs typeface="Times New Roman"/>
                <a:sym typeface="Times New Roman"/>
              </a:rPr>
            </a:br>
            <a:endParaRPr sz="5400">
              <a:solidFill>
                <a:srgbClr val="420000"/>
              </a:solidFill>
              <a:latin typeface="Times New Roman"/>
              <a:ea typeface="Times New Roman"/>
              <a:cs typeface="Times New Roman"/>
              <a:sym typeface="Times New Roman"/>
            </a:endParaRPr>
          </a:p>
        </p:txBody>
      </p:sp>
      <p:sp>
        <p:nvSpPr>
          <p:cNvPr id="1560" name="Google Shape;1560;p133"/>
          <p:cNvSpPr txBox="1"/>
          <p:nvPr/>
        </p:nvSpPr>
        <p:spPr>
          <a:xfrm>
            <a:off x="920750" y="1849438"/>
            <a:ext cx="9442450" cy="4627562"/>
          </a:xfrm>
          <a:prstGeom prst="rect">
            <a:avLst/>
          </a:prstGeom>
          <a:noFill/>
          <a:ln>
            <a:noFill/>
          </a:ln>
        </p:spPr>
        <p:txBody>
          <a:bodyPr spcFirstLastPara="1" wrap="square" lIns="91425" tIns="0" rIns="91425" bIns="45700" anchor="t" anchorCtr="0">
            <a:noAutofit/>
          </a:bodyPr>
          <a:lstStyle/>
          <a:p>
            <a:pPr marL="25400" marR="0" lvl="0" indent="-124460" algn="l" rtl="0">
              <a:lnSpc>
                <a:spcPct val="80000"/>
              </a:lnSpc>
              <a:spcBef>
                <a:spcPts val="0"/>
              </a:spcBef>
              <a:spcAft>
                <a:spcPts val="0"/>
              </a:spcAft>
              <a:buClr>
                <a:srgbClr val="660000"/>
              </a:buClr>
              <a:buSzPts val="1960"/>
              <a:buFont typeface="Noto Sans Symbols"/>
              <a:buChar char="❖"/>
            </a:pPr>
            <a:r>
              <a:rPr lang="en-US" sz="2800">
                <a:solidFill>
                  <a:srgbClr val="320E04"/>
                </a:solidFill>
                <a:latin typeface="Arial"/>
                <a:ea typeface="Arial"/>
                <a:cs typeface="Arial"/>
                <a:sym typeface="Arial"/>
              </a:rPr>
              <a:t>Instruction should execute</a:t>
            </a:r>
            <a:endParaRPr/>
          </a:p>
          <a:p>
            <a:pPr marL="25400" marR="0" lvl="0" indent="-124460" algn="l" rtl="0">
              <a:lnSpc>
                <a:spcPct val="80000"/>
              </a:lnSpc>
              <a:spcBef>
                <a:spcPts val="700"/>
              </a:spcBef>
              <a:spcAft>
                <a:spcPts val="0"/>
              </a:spcAft>
              <a:buClr>
                <a:srgbClr val="660000"/>
              </a:buClr>
              <a:buSzPts val="1960"/>
              <a:buFont typeface="Noto Sans Symbols"/>
              <a:buChar char="⮚"/>
            </a:pPr>
            <a:r>
              <a:rPr lang="en-US" sz="2800">
                <a:solidFill>
                  <a:srgbClr val="320E04"/>
                </a:solidFill>
                <a:latin typeface="Arial"/>
                <a:ea typeface="Arial"/>
                <a:cs typeface="Arial"/>
                <a:sym typeface="Arial"/>
              </a:rPr>
              <a:t> Subtract</a:t>
            </a:r>
            <a:endParaRPr/>
          </a:p>
          <a:p>
            <a:pPr marL="25400" marR="0" lvl="0" indent="-124460" algn="l" rtl="0">
              <a:lnSpc>
                <a:spcPct val="80000"/>
              </a:lnSpc>
              <a:spcBef>
                <a:spcPts val="700"/>
              </a:spcBef>
              <a:spcAft>
                <a:spcPts val="0"/>
              </a:spcAft>
              <a:buClr>
                <a:srgbClr val="660000"/>
              </a:buClr>
              <a:buSzPts val="1960"/>
              <a:buFont typeface="Noto Sans Symbols"/>
              <a:buChar char="⮚"/>
            </a:pPr>
            <a:r>
              <a:rPr lang="en-US" sz="2800">
                <a:solidFill>
                  <a:srgbClr val="320E04"/>
                </a:solidFill>
                <a:latin typeface="Arial"/>
                <a:ea typeface="Arial"/>
                <a:cs typeface="Arial"/>
                <a:sym typeface="Arial"/>
              </a:rPr>
              <a:t> Branch if less than equal</a:t>
            </a:r>
            <a:endParaRPr/>
          </a:p>
          <a:p>
            <a:pPr marL="25400" marR="0" lvl="0" indent="-124460" algn="l" rtl="0">
              <a:lnSpc>
                <a:spcPct val="80000"/>
              </a:lnSpc>
              <a:spcBef>
                <a:spcPts val="700"/>
              </a:spcBef>
              <a:spcAft>
                <a:spcPts val="0"/>
              </a:spcAft>
              <a:buClr>
                <a:srgbClr val="660000"/>
              </a:buClr>
              <a:buSzPts val="1960"/>
              <a:buFont typeface="Noto Sans Symbols"/>
              <a:buChar char="⮚"/>
            </a:pPr>
            <a:r>
              <a:rPr lang="en-US" sz="2800">
                <a:solidFill>
                  <a:srgbClr val="320E04"/>
                </a:solidFill>
                <a:latin typeface="Arial"/>
                <a:ea typeface="Arial"/>
                <a:cs typeface="Arial"/>
                <a:sym typeface="Arial"/>
              </a:rPr>
              <a:t> Memory Operations needed</a:t>
            </a:r>
            <a:endParaRPr/>
          </a:p>
          <a:p>
            <a:pPr marL="25400" marR="0" lvl="0" indent="0" algn="l" rtl="0">
              <a:lnSpc>
                <a:spcPct val="80000"/>
              </a:lnSpc>
              <a:spcBef>
                <a:spcPts val="700"/>
              </a:spcBef>
              <a:spcAft>
                <a:spcPts val="0"/>
              </a:spcAft>
              <a:buNone/>
            </a:pPr>
            <a:endParaRPr sz="2800">
              <a:solidFill>
                <a:srgbClr val="320E04"/>
              </a:solidFill>
              <a:latin typeface="Arial"/>
              <a:ea typeface="Arial"/>
              <a:cs typeface="Arial"/>
              <a:sym typeface="Arial"/>
            </a:endParaRPr>
          </a:p>
          <a:p>
            <a:pPr marL="25400" marR="0" lvl="0" indent="-124460" algn="l" rtl="0">
              <a:lnSpc>
                <a:spcPct val="80000"/>
              </a:lnSpc>
              <a:spcBef>
                <a:spcPts val="700"/>
              </a:spcBef>
              <a:spcAft>
                <a:spcPts val="0"/>
              </a:spcAft>
              <a:buClr>
                <a:srgbClr val="660000"/>
              </a:buClr>
              <a:buSzPts val="1960"/>
              <a:buFont typeface="Noto Sans Symbols"/>
              <a:buChar char="❖"/>
            </a:pPr>
            <a:r>
              <a:rPr lang="en-US" sz="2800">
                <a:solidFill>
                  <a:srgbClr val="320E04"/>
                </a:solidFill>
                <a:latin typeface="Arial"/>
                <a:ea typeface="Arial"/>
                <a:cs typeface="Arial"/>
                <a:sym typeface="Arial"/>
              </a:rPr>
              <a:t>Theorem states that any instruction that has </a:t>
            </a:r>
            <a:endParaRPr/>
          </a:p>
          <a:p>
            <a:pPr marL="25400" marR="0" lvl="0" indent="0" algn="l" rtl="0">
              <a:lnSpc>
                <a:spcPct val="80000"/>
              </a:lnSpc>
              <a:spcBef>
                <a:spcPts val="700"/>
              </a:spcBef>
              <a:spcAft>
                <a:spcPts val="0"/>
              </a:spcAft>
              <a:buNone/>
            </a:pPr>
            <a:r>
              <a:rPr lang="en-US" sz="2800">
                <a:solidFill>
                  <a:srgbClr val="320E04"/>
                </a:solidFill>
                <a:latin typeface="Arial"/>
                <a:ea typeface="Arial"/>
                <a:cs typeface="Arial"/>
                <a:sym typeface="Arial"/>
              </a:rPr>
              <a:t>     this capability can be used as an URISC instruction </a:t>
            </a:r>
            <a:endParaRPr/>
          </a:p>
          <a:p>
            <a:pPr marL="25400" marR="0" lvl="0" indent="0" algn="l" rtl="0">
              <a:lnSpc>
                <a:spcPct val="80000"/>
              </a:lnSpc>
              <a:spcBef>
                <a:spcPts val="350"/>
              </a:spcBef>
              <a:spcAft>
                <a:spcPts val="0"/>
              </a:spcAft>
              <a:buNone/>
            </a:pPr>
            <a:endParaRPr sz="1400">
              <a:solidFill>
                <a:srgbClr val="320E04"/>
              </a:solidFill>
              <a:latin typeface="Arial"/>
              <a:ea typeface="Arial"/>
              <a:cs typeface="Arial"/>
              <a:sym typeface="Arial"/>
            </a:endParaRPr>
          </a:p>
          <a:p>
            <a:pPr marL="25400" marR="0" lvl="0" indent="0" algn="l" rtl="0">
              <a:lnSpc>
                <a:spcPct val="80000"/>
              </a:lnSpc>
              <a:spcBef>
                <a:spcPts val="350"/>
              </a:spcBef>
              <a:spcAft>
                <a:spcPts val="0"/>
              </a:spcAft>
              <a:buNone/>
            </a:pPr>
            <a:r>
              <a:rPr lang="en-US" sz="1400">
                <a:solidFill>
                  <a:srgbClr val="320E04"/>
                </a:solidFill>
                <a:latin typeface="Arial"/>
                <a:ea typeface="Arial"/>
                <a:cs typeface="Arial"/>
                <a:sym typeface="Arial"/>
              </a:rPr>
              <a:t>		Reference:   The Ultimate Reduced Instruction Set Computer</a:t>
            </a:r>
            <a:endParaRPr/>
          </a:p>
          <a:p>
            <a:pPr marL="25400" marR="0" lvl="0" indent="0" algn="l" rtl="0">
              <a:lnSpc>
                <a:spcPct val="80000"/>
              </a:lnSpc>
              <a:spcBef>
                <a:spcPts val="350"/>
              </a:spcBef>
              <a:spcAft>
                <a:spcPts val="0"/>
              </a:spcAft>
              <a:buNone/>
            </a:pPr>
            <a:r>
              <a:rPr lang="en-US" sz="1400">
                <a:solidFill>
                  <a:srgbClr val="320E04"/>
                </a:solidFill>
                <a:latin typeface="Arial"/>
                <a:ea typeface="Arial"/>
                <a:cs typeface="Arial"/>
                <a:sym typeface="Arial"/>
              </a:rPr>
              <a:t>               		 Int.J.Elect.Enging Educ., Vol 25, pp 327-334</a:t>
            </a:r>
            <a:endParaRPr/>
          </a:p>
          <a:p>
            <a:pPr marL="25400" marR="0" lvl="0" indent="0" algn="l" rtl="0">
              <a:lnSpc>
                <a:spcPct val="80000"/>
              </a:lnSpc>
              <a:spcBef>
                <a:spcPts val="150"/>
              </a:spcBef>
              <a:spcAft>
                <a:spcPts val="0"/>
              </a:spcAft>
              <a:buNone/>
            </a:pPr>
            <a:r>
              <a:rPr lang="en-US" sz="600">
                <a:solidFill>
                  <a:srgbClr val="320E04"/>
                </a:solidFill>
                <a:latin typeface="Arial"/>
                <a:ea typeface="Arial"/>
                <a:cs typeface="Arial"/>
                <a:sym typeface="Arial"/>
              </a:rPr>
              <a:t>    </a:t>
            </a:r>
            <a:endParaRPr/>
          </a:p>
          <a:p>
            <a:pPr marL="25400" marR="0" lvl="0" indent="0" algn="l" rtl="0">
              <a:lnSpc>
                <a:spcPct val="80000"/>
              </a:lnSpc>
              <a:spcBef>
                <a:spcPts val="150"/>
              </a:spcBef>
              <a:spcAft>
                <a:spcPts val="0"/>
              </a:spcAft>
              <a:buNone/>
            </a:pPr>
            <a:endParaRPr sz="600">
              <a:solidFill>
                <a:srgbClr val="320E04"/>
              </a:solidFill>
              <a:latin typeface="Arial"/>
              <a:ea typeface="Arial"/>
              <a:cs typeface="Arial"/>
              <a:sym typeface="Arial"/>
            </a:endParaRPr>
          </a:p>
          <a:p>
            <a:pPr marL="25400" marR="0" lvl="0" indent="0" algn="l" rtl="0">
              <a:lnSpc>
                <a:spcPct val="80000"/>
              </a:lnSpc>
              <a:spcBef>
                <a:spcPts val="150"/>
              </a:spcBef>
              <a:spcAft>
                <a:spcPts val="0"/>
              </a:spcAft>
              <a:buNone/>
            </a:pPr>
            <a:r>
              <a:rPr lang="en-US" sz="600">
                <a:solidFill>
                  <a:srgbClr val="320E04"/>
                </a:solidFill>
                <a:latin typeface="Arial"/>
                <a:ea typeface="Arial"/>
                <a:cs typeface="Arial"/>
                <a:sym typeface="Arial"/>
              </a:rPr>
              <a:t>							 </a:t>
            </a:r>
            <a:endParaRPr/>
          </a:p>
          <a:p>
            <a:pPr marL="25400" marR="0" lvl="0" indent="0" algn="l" rtl="0">
              <a:lnSpc>
                <a:spcPct val="80000"/>
              </a:lnSpc>
              <a:spcBef>
                <a:spcPts val="150"/>
              </a:spcBef>
              <a:spcAft>
                <a:spcPts val="0"/>
              </a:spcAft>
              <a:buNone/>
            </a:pPr>
            <a:endParaRPr sz="600">
              <a:solidFill>
                <a:srgbClr val="320E04"/>
              </a:solidFill>
              <a:latin typeface="Arial"/>
              <a:ea typeface="Arial"/>
              <a:cs typeface="Arial"/>
              <a:sym typeface="Arial"/>
            </a:endParaRPr>
          </a:p>
          <a:p>
            <a:pPr marL="25400" marR="0" lvl="0" indent="0" algn="l" rtl="0">
              <a:lnSpc>
                <a:spcPct val="80000"/>
              </a:lnSpc>
              <a:spcBef>
                <a:spcPts val="150"/>
              </a:spcBef>
              <a:spcAft>
                <a:spcPts val="0"/>
              </a:spcAft>
              <a:buNone/>
            </a:pPr>
            <a:r>
              <a:rPr lang="en-US" sz="600">
                <a:solidFill>
                  <a:srgbClr val="320E04"/>
                </a:solidFill>
                <a:latin typeface="Arial"/>
                <a:ea typeface="Arial"/>
                <a:cs typeface="Arial"/>
                <a:sym typeface="Arial"/>
              </a:rPr>
              <a:t>       </a:t>
            </a:r>
            <a:endParaRPr/>
          </a:p>
          <a:p>
            <a:pPr marL="25400" marR="0" lvl="0" indent="0" algn="l" rtl="0">
              <a:lnSpc>
                <a:spcPct val="80000"/>
              </a:lnSpc>
              <a:spcBef>
                <a:spcPts val="150"/>
              </a:spcBef>
              <a:spcAft>
                <a:spcPts val="0"/>
              </a:spcAft>
              <a:buNone/>
            </a:pPr>
            <a:r>
              <a:rPr lang="en-US" sz="600">
                <a:solidFill>
                  <a:srgbClr val="320E04"/>
                </a:solidFill>
                <a:latin typeface="Arial"/>
                <a:ea typeface="Arial"/>
                <a:cs typeface="Arial"/>
                <a:sym typeface="Arial"/>
              </a:rPr>
              <a:t>          </a:t>
            </a:r>
            <a:endParaRPr/>
          </a:p>
        </p:txBody>
      </p:sp>
      <p:sp>
        <p:nvSpPr>
          <p:cNvPr id="1561" name="Google Shape;1561;p133"/>
          <p:cNvSpPr/>
          <p:nvPr/>
        </p:nvSpPr>
        <p:spPr>
          <a:xfrm>
            <a:off x="3810000" y="2967039"/>
            <a:ext cx="4572000" cy="36988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566"/>
        <p:cNvGrpSpPr/>
        <p:nvPr/>
      </p:nvGrpSpPr>
      <p:grpSpPr>
        <a:xfrm>
          <a:off x="0" y="0"/>
          <a:ext cx="0" cy="0"/>
          <a:chOff x="0" y="0"/>
          <a:chExt cx="0" cy="0"/>
        </a:xfrm>
      </p:grpSpPr>
      <p:sp>
        <p:nvSpPr>
          <p:cNvPr id="1567" name="Google Shape;1567;p134"/>
          <p:cNvSpPr txBox="1"/>
          <p:nvPr/>
        </p:nvSpPr>
        <p:spPr>
          <a:xfrm>
            <a:off x="2133601" y="698500"/>
            <a:ext cx="7407275" cy="1739900"/>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r>
              <a:rPr lang="en-US" sz="5400">
                <a:solidFill>
                  <a:srgbClr val="420000"/>
                </a:solidFill>
                <a:latin typeface="Times New Roman"/>
                <a:ea typeface="Times New Roman"/>
                <a:cs typeface="Times New Roman"/>
                <a:sym typeface="Times New Roman"/>
              </a:rPr>
              <a:t>Motivation</a:t>
            </a:r>
            <a:br>
              <a:rPr lang="en-US" sz="5400">
                <a:solidFill>
                  <a:srgbClr val="420000"/>
                </a:solidFill>
                <a:latin typeface="Times New Roman"/>
                <a:ea typeface="Times New Roman"/>
                <a:cs typeface="Times New Roman"/>
                <a:sym typeface="Times New Roman"/>
              </a:rPr>
            </a:br>
            <a:endParaRPr sz="5400">
              <a:solidFill>
                <a:srgbClr val="420000"/>
              </a:solidFill>
              <a:latin typeface="Times New Roman"/>
              <a:ea typeface="Times New Roman"/>
              <a:cs typeface="Times New Roman"/>
              <a:sym typeface="Times New Roman"/>
            </a:endParaRPr>
          </a:p>
        </p:txBody>
      </p:sp>
      <p:sp>
        <p:nvSpPr>
          <p:cNvPr id="1568" name="Google Shape;1568;p134"/>
          <p:cNvSpPr txBox="1"/>
          <p:nvPr/>
        </p:nvSpPr>
        <p:spPr>
          <a:xfrm>
            <a:off x="1581151" y="1824038"/>
            <a:ext cx="9375776" cy="4830762"/>
          </a:xfrm>
          <a:prstGeom prst="rect">
            <a:avLst/>
          </a:prstGeom>
          <a:noFill/>
          <a:ln>
            <a:noFill/>
          </a:ln>
        </p:spPr>
        <p:txBody>
          <a:bodyPr spcFirstLastPara="1" wrap="square" lIns="91425" tIns="0" rIns="91425" bIns="45700" anchor="t" anchorCtr="0">
            <a:noAutofit/>
          </a:bodyPr>
          <a:lstStyle/>
          <a:p>
            <a:pPr marL="26988" marR="0" lvl="0" indent="0" algn="l" rtl="0">
              <a:lnSpc>
                <a:spcPct val="90000"/>
              </a:lnSpc>
              <a:spcBef>
                <a:spcPts val="0"/>
              </a:spcBef>
              <a:spcAft>
                <a:spcPts val="0"/>
              </a:spcAft>
              <a:buNone/>
            </a:pPr>
            <a:r>
              <a:rPr lang="en-US" sz="2400">
                <a:solidFill>
                  <a:srgbClr val="320E04"/>
                </a:solidFill>
                <a:latin typeface="Arial"/>
                <a:ea typeface="Arial"/>
                <a:cs typeface="Arial"/>
                <a:sym typeface="Arial"/>
              </a:rPr>
              <a:t>       </a:t>
            </a:r>
            <a:endParaRPr/>
          </a:p>
          <a:p>
            <a:pPr marL="26988" marR="0" lvl="0" indent="-106680" algn="l" rtl="0">
              <a:lnSpc>
                <a:spcPct val="90000"/>
              </a:lnSpc>
              <a:spcBef>
                <a:spcPts val="600"/>
              </a:spcBef>
              <a:spcAft>
                <a:spcPts val="0"/>
              </a:spcAft>
              <a:buClr>
                <a:srgbClr val="660000"/>
              </a:buClr>
              <a:buSzPts val="1680"/>
              <a:buFont typeface="Noto Sans Symbols"/>
              <a:buChar char="❖"/>
            </a:pPr>
            <a:r>
              <a:rPr lang="en-US" sz="2400">
                <a:solidFill>
                  <a:srgbClr val="320E04"/>
                </a:solidFill>
                <a:latin typeface="Arial"/>
                <a:ea typeface="Arial"/>
                <a:cs typeface="Arial"/>
                <a:sym typeface="Arial"/>
              </a:rPr>
              <a:t>   How much can RISC be reduced to ?</a:t>
            </a:r>
            <a:endParaRPr/>
          </a:p>
          <a:p>
            <a:pPr marL="26988" marR="0" lvl="0" indent="-106680" algn="l" rtl="0">
              <a:lnSpc>
                <a:spcPct val="90000"/>
              </a:lnSpc>
              <a:spcBef>
                <a:spcPts val="600"/>
              </a:spcBef>
              <a:spcAft>
                <a:spcPts val="0"/>
              </a:spcAft>
              <a:buClr>
                <a:srgbClr val="660000"/>
              </a:buClr>
              <a:buSzPts val="1680"/>
              <a:buFont typeface="Noto Sans Symbols"/>
              <a:buChar char="❖"/>
            </a:pPr>
            <a:r>
              <a:rPr lang="en-US" sz="2400">
                <a:solidFill>
                  <a:srgbClr val="320E04"/>
                </a:solidFill>
                <a:latin typeface="Arial"/>
                <a:ea typeface="Arial"/>
                <a:cs typeface="Arial"/>
                <a:sym typeface="Arial"/>
              </a:rPr>
              <a:t>   Main idea was to a create a fast, simple computer</a:t>
            </a:r>
            <a:endParaRPr/>
          </a:p>
          <a:p>
            <a:pPr marL="26988" marR="0" lvl="0" indent="0" algn="l" rtl="0">
              <a:lnSpc>
                <a:spcPct val="90000"/>
              </a:lnSpc>
              <a:spcBef>
                <a:spcPts val="600"/>
              </a:spcBef>
              <a:spcAft>
                <a:spcPts val="0"/>
              </a:spcAft>
              <a:buClr>
                <a:srgbClr val="660000"/>
              </a:buClr>
              <a:buSzPts val="1680"/>
              <a:buFont typeface="Noto Sans Symbols"/>
              <a:buNone/>
            </a:pPr>
            <a:endParaRPr sz="2400">
              <a:solidFill>
                <a:srgbClr val="320E04"/>
              </a:solidFill>
              <a:latin typeface="Arial"/>
              <a:ea typeface="Arial"/>
              <a:cs typeface="Arial"/>
              <a:sym typeface="Arial"/>
            </a:endParaRPr>
          </a:p>
          <a:p>
            <a:pPr marL="26988" marR="0" lvl="0" indent="-106680" algn="l" rtl="0">
              <a:lnSpc>
                <a:spcPct val="90000"/>
              </a:lnSpc>
              <a:spcBef>
                <a:spcPts val="600"/>
              </a:spcBef>
              <a:spcAft>
                <a:spcPts val="0"/>
              </a:spcAft>
              <a:buClr>
                <a:srgbClr val="660000"/>
              </a:buClr>
              <a:buSzPts val="1680"/>
              <a:buFont typeface="Noto Sans Symbols"/>
              <a:buChar char="❖"/>
            </a:pPr>
            <a:r>
              <a:rPr lang="en-US" sz="2400">
                <a:solidFill>
                  <a:srgbClr val="320E04"/>
                </a:solidFill>
                <a:latin typeface="Arial"/>
                <a:ea typeface="Arial"/>
                <a:cs typeface="Arial"/>
                <a:sym typeface="Arial"/>
              </a:rPr>
              <a:t>   Simple Instructions means a simple hardware</a:t>
            </a:r>
            <a:endParaRPr/>
          </a:p>
          <a:p>
            <a:pPr marL="26988" marR="0" lvl="0" indent="0" algn="l" rtl="0">
              <a:lnSpc>
                <a:spcPct val="90000"/>
              </a:lnSpc>
              <a:spcBef>
                <a:spcPts val="600"/>
              </a:spcBef>
              <a:spcAft>
                <a:spcPts val="0"/>
              </a:spcAft>
              <a:buNone/>
            </a:pPr>
            <a:r>
              <a:rPr lang="en-US" sz="2400">
                <a:solidFill>
                  <a:srgbClr val="320E04"/>
                </a:solidFill>
                <a:latin typeface="Arial"/>
                <a:ea typeface="Arial"/>
                <a:cs typeface="Arial"/>
                <a:sym typeface="Arial"/>
              </a:rPr>
              <a:t>      and a faster clock       </a:t>
            </a:r>
            <a:endParaRPr/>
          </a:p>
          <a:p>
            <a:pPr marL="26988" marR="0" lvl="0" indent="0" algn="l" rtl="0">
              <a:lnSpc>
                <a:spcPct val="90000"/>
              </a:lnSpc>
              <a:spcBef>
                <a:spcPts val="600"/>
              </a:spcBef>
              <a:spcAft>
                <a:spcPts val="0"/>
              </a:spcAft>
              <a:buNone/>
            </a:pPr>
            <a:endParaRPr sz="2400">
              <a:solidFill>
                <a:srgbClr val="320E04"/>
              </a:solidFill>
              <a:latin typeface="Arial"/>
              <a:ea typeface="Arial"/>
              <a:cs typeface="Arial"/>
              <a:sym typeface="Arial"/>
            </a:endParaRPr>
          </a:p>
          <a:p>
            <a:pPr marL="26988" marR="0" lvl="0" indent="-106680" algn="l" rtl="0">
              <a:lnSpc>
                <a:spcPct val="90000"/>
              </a:lnSpc>
              <a:spcBef>
                <a:spcPts val="600"/>
              </a:spcBef>
              <a:spcAft>
                <a:spcPts val="0"/>
              </a:spcAft>
              <a:buClr>
                <a:srgbClr val="660000"/>
              </a:buClr>
              <a:buSzPts val="1680"/>
              <a:buFont typeface="Noto Sans Symbols"/>
              <a:buChar char="❖"/>
            </a:pPr>
            <a:r>
              <a:rPr lang="en-US" sz="2400">
                <a:solidFill>
                  <a:srgbClr val="320E04"/>
                </a:solidFill>
                <a:latin typeface="Arial"/>
                <a:ea typeface="Arial"/>
                <a:cs typeface="Arial"/>
                <a:sym typeface="Arial"/>
              </a:rPr>
              <a:t>   Eliminates the decode stages in other computers</a:t>
            </a:r>
            <a:endParaRPr/>
          </a:p>
          <a:p>
            <a:pPr marL="26988" marR="0" lvl="0" indent="-106680" algn="l" rtl="0">
              <a:lnSpc>
                <a:spcPct val="90000"/>
              </a:lnSpc>
              <a:spcBef>
                <a:spcPts val="600"/>
              </a:spcBef>
              <a:spcAft>
                <a:spcPts val="0"/>
              </a:spcAft>
              <a:buClr>
                <a:srgbClr val="660000"/>
              </a:buClr>
              <a:buSzPts val="1680"/>
              <a:buFont typeface="Noto Sans Symbols"/>
              <a:buChar char="❖"/>
            </a:pPr>
            <a:r>
              <a:rPr lang="en-US" sz="2400">
                <a:solidFill>
                  <a:srgbClr val="320E04"/>
                </a:solidFill>
                <a:latin typeface="Arial"/>
                <a:ea typeface="Arial"/>
                <a:cs typeface="Arial"/>
                <a:sym typeface="Arial"/>
              </a:rPr>
              <a:t>   URISC is extreme in simplicity</a:t>
            </a:r>
            <a:endParaRPr/>
          </a:p>
          <a:p>
            <a:pPr marL="26988" marR="0" lvl="0" indent="0" algn="l" rtl="0">
              <a:lnSpc>
                <a:spcPct val="90000"/>
              </a:lnSpc>
              <a:spcBef>
                <a:spcPts val="600"/>
              </a:spcBef>
              <a:spcAft>
                <a:spcPts val="0"/>
              </a:spcAft>
              <a:buNone/>
            </a:pPr>
            <a:r>
              <a:rPr lang="en-US" sz="2400">
                <a:solidFill>
                  <a:srgbClr val="320E04"/>
                </a:solidFill>
                <a:latin typeface="Arial"/>
                <a:ea typeface="Arial"/>
                <a:cs typeface="Arial"/>
                <a:sym typeface="Arial"/>
              </a:rPr>
              <a:t>                                                               </a:t>
            </a:r>
            <a:endParaRPr/>
          </a:p>
          <a:p>
            <a:pPr marL="26988" marR="0" lvl="0" indent="0" algn="l" rtl="0">
              <a:lnSpc>
                <a:spcPct val="90000"/>
              </a:lnSpc>
              <a:spcBef>
                <a:spcPts val="600"/>
              </a:spcBef>
              <a:spcAft>
                <a:spcPts val="0"/>
              </a:spcAft>
              <a:buNone/>
            </a:pPr>
            <a:endParaRPr sz="2400">
              <a:solidFill>
                <a:srgbClr val="320E04"/>
              </a:solidFill>
              <a:latin typeface="Arial"/>
              <a:ea typeface="Arial"/>
              <a:cs typeface="Arial"/>
              <a:sym typeface="Arial"/>
            </a:endParaRPr>
          </a:p>
          <a:p>
            <a:pPr marL="26988" marR="0" lvl="0" indent="0" algn="l" rtl="0">
              <a:lnSpc>
                <a:spcPct val="90000"/>
              </a:lnSpc>
              <a:spcBef>
                <a:spcPts val="600"/>
              </a:spcBef>
              <a:spcAft>
                <a:spcPts val="0"/>
              </a:spcAft>
              <a:buNone/>
            </a:pPr>
            <a:endParaRPr sz="2400">
              <a:solidFill>
                <a:srgbClr val="320E04"/>
              </a:solidFill>
              <a:latin typeface="Arial"/>
              <a:ea typeface="Arial"/>
              <a:cs typeface="Arial"/>
              <a:sym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573"/>
        <p:cNvGrpSpPr/>
        <p:nvPr/>
      </p:nvGrpSpPr>
      <p:grpSpPr>
        <a:xfrm>
          <a:off x="0" y="0"/>
          <a:ext cx="0" cy="0"/>
          <a:chOff x="0" y="0"/>
          <a:chExt cx="0" cy="0"/>
        </a:xfrm>
      </p:grpSpPr>
      <p:sp>
        <p:nvSpPr>
          <p:cNvPr id="1574" name="Google Shape;1574;p135"/>
          <p:cNvSpPr txBox="1"/>
          <p:nvPr/>
        </p:nvSpPr>
        <p:spPr>
          <a:xfrm>
            <a:off x="1733550" y="-1076325"/>
            <a:ext cx="10096500" cy="2689225"/>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br>
              <a:rPr lang="en-US" sz="5400">
                <a:solidFill>
                  <a:srgbClr val="420000"/>
                </a:solidFill>
                <a:latin typeface="Times New Roman"/>
                <a:ea typeface="Times New Roman"/>
                <a:cs typeface="Times New Roman"/>
                <a:sym typeface="Times New Roman"/>
              </a:rPr>
            </a:br>
            <a:br>
              <a:rPr lang="en-US" sz="5400">
                <a:solidFill>
                  <a:srgbClr val="420000"/>
                </a:solidFill>
                <a:latin typeface="Times New Roman"/>
                <a:ea typeface="Times New Roman"/>
                <a:cs typeface="Times New Roman"/>
                <a:sym typeface="Times New Roman"/>
              </a:rPr>
            </a:br>
            <a:r>
              <a:rPr lang="en-US" sz="5400">
                <a:solidFill>
                  <a:srgbClr val="420000"/>
                </a:solidFill>
                <a:latin typeface="Times New Roman"/>
                <a:ea typeface="Times New Roman"/>
                <a:cs typeface="Times New Roman"/>
                <a:sym typeface="Times New Roman"/>
              </a:rPr>
              <a:t>URISC is Turing Compatible</a:t>
            </a:r>
            <a:endParaRPr/>
          </a:p>
        </p:txBody>
      </p:sp>
      <p:sp>
        <p:nvSpPr>
          <p:cNvPr id="1575" name="Google Shape;1575;p135"/>
          <p:cNvSpPr txBox="1"/>
          <p:nvPr/>
        </p:nvSpPr>
        <p:spPr>
          <a:xfrm>
            <a:off x="463550" y="2247900"/>
            <a:ext cx="10953749" cy="3757614"/>
          </a:xfrm>
          <a:prstGeom prst="rect">
            <a:avLst/>
          </a:prstGeom>
          <a:noFill/>
          <a:ln>
            <a:noFill/>
          </a:ln>
        </p:spPr>
        <p:txBody>
          <a:bodyPr spcFirstLastPara="1" wrap="square" lIns="91425" tIns="0" rIns="91425" bIns="45700" anchor="t" anchorCtr="0">
            <a:noAutofit/>
          </a:bodyPr>
          <a:lstStyle/>
          <a:p>
            <a:pPr marL="25400" marR="0" lvl="0" indent="-106680" algn="l" rtl="0">
              <a:lnSpc>
                <a:spcPct val="90000"/>
              </a:lnSpc>
              <a:spcBef>
                <a:spcPts val="0"/>
              </a:spcBef>
              <a:spcAft>
                <a:spcPts val="0"/>
              </a:spcAft>
              <a:buClr>
                <a:srgbClr val="660000"/>
              </a:buClr>
              <a:buSzPts val="1680"/>
              <a:buFont typeface="Noto Sans Symbols"/>
              <a:buChar char="❖"/>
            </a:pPr>
            <a:r>
              <a:rPr lang="en-US" sz="2400">
                <a:solidFill>
                  <a:srgbClr val="320E04"/>
                </a:solidFill>
                <a:latin typeface="Arial"/>
                <a:ea typeface="Arial"/>
                <a:cs typeface="Arial"/>
                <a:sym typeface="Arial"/>
              </a:rPr>
              <a:t>Being equivalent to a universal Turing machine essentially means being able to perform any computational task that takes finite input and returns finite output in finitely-many steps. </a:t>
            </a:r>
            <a:endParaRPr/>
          </a:p>
          <a:p>
            <a:pPr marL="457200" marR="0" lvl="1" indent="0" algn="ctr" rtl="0">
              <a:lnSpc>
                <a:spcPct val="90000"/>
              </a:lnSpc>
              <a:spcBef>
                <a:spcPts val="400"/>
              </a:spcBef>
              <a:spcAft>
                <a:spcPts val="0"/>
              </a:spcAft>
              <a:buNone/>
            </a:pPr>
            <a:endParaRPr sz="1600" b="0" i="0" u="none" strike="noStrike" cap="none">
              <a:solidFill>
                <a:srgbClr val="000000"/>
              </a:solidFill>
              <a:latin typeface="Times New Roman"/>
              <a:ea typeface="Times New Roman"/>
              <a:cs typeface="Times New Roman"/>
              <a:sym typeface="Times New Roman"/>
            </a:endParaRPr>
          </a:p>
          <a:p>
            <a:pPr marL="457200" marR="0" lvl="1" indent="0" algn="ctr" rtl="0">
              <a:lnSpc>
                <a:spcPct val="90000"/>
              </a:lnSpc>
              <a:spcBef>
                <a:spcPts val="400"/>
              </a:spcBef>
              <a:spcAft>
                <a:spcPts val="0"/>
              </a:spcAft>
              <a:buNone/>
            </a:pPr>
            <a:endParaRPr sz="1600" b="0" i="0" u="none" strike="noStrike" cap="none">
              <a:solidFill>
                <a:srgbClr val="000000"/>
              </a:solidFill>
              <a:latin typeface="Times New Roman"/>
              <a:ea typeface="Times New Roman"/>
              <a:cs typeface="Times New Roman"/>
              <a:sym typeface="Times New Roman"/>
            </a:endParaRPr>
          </a:p>
          <a:p>
            <a:pPr marL="25400" marR="0" lvl="0" indent="-106680" algn="l" rtl="0">
              <a:lnSpc>
                <a:spcPct val="90000"/>
              </a:lnSpc>
              <a:spcBef>
                <a:spcPts val="600"/>
              </a:spcBef>
              <a:spcAft>
                <a:spcPts val="0"/>
              </a:spcAft>
              <a:buClr>
                <a:srgbClr val="660000"/>
              </a:buClr>
              <a:buSzPts val="1680"/>
              <a:buFont typeface="Noto Sans Symbols"/>
              <a:buChar char="❖"/>
            </a:pPr>
            <a:r>
              <a:rPr lang="en-US" sz="2400">
                <a:solidFill>
                  <a:srgbClr val="320E04"/>
                </a:solidFill>
                <a:latin typeface="Arial"/>
                <a:ea typeface="Arial"/>
                <a:cs typeface="Arial"/>
                <a:sym typeface="Arial"/>
              </a:rPr>
              <a:t>By creating other instructions based on subtract, branch if negative or equal it can be shown that URISC is Turing compatible.</a:t>
            </a:r>
            <a:endParaRPr/>
          </a:p>
          <a:p>
            <a:pPr marL="25400" marR="0" lvl="0" indent="0" algn="l" rtl="0">
              <a:lnSpc>
                <a:spcPct val="90000"/>
              </a:lnSpc>
              <a:spcBef>
                <a:spcPts val="600"/>
              </a:spcBef>
              <a:spcAft>
                <a:spcPts val="0"/>
              </a:spcAft>
              <a:buNone/>
            </a:pPr>
            <a:r>
              <a:rPr lang="en-US" sz="2400">
                <a:solidFill>
                  <a:srgbClr val="320E04"/>
                </a:solidFill>
                <a:latin typeface="Arial"/>
                <a:ea typeface="Arial"/>
                <a:cs typeface="Arial"/>
                <a:sym typeface="Arial"/>
              </a:rPr>
              <a:t>                                                            </a:t>
            </a:r>
            <a:endParaRPr/>
          </a:p>
          <a:p>
            <a:pPr marL="25400" marR="0" lvl="0" indent="0" algn="l" rtl="0">
              <a:lnSpc>
                <a:spcPct val="90000"/>
              </a:lnSpc>
              <a:spcBef>
                <a:spcPts val="600"/>
              </a:spcBef>
              <a:spcAft>
                <a:spcPts val="0"/>
              </a:spcAft>
              <a:buNone/>
            </a:pPr>
            <a:endParaRPr sz="2400">
              <a:solidFill>
                <a:srgbClr val="320E04"/>
              </a:solidFill>
              <a:latin typeface="Arial"/>
              <a:ea typeface="Arial"/>
              <a:cs typeface="Arial"/>
              <a:sym typeface="Aria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588"/>
        <p:cNvGrpSpPr/>
        <p:nvPr/>
      </p:nvGrpSpPr>
      <p:grpSpPr>
        <a:xfrm>
          <a:off x="0" y="0"/>
          <a:ext cx="0" cy="0"/>
          <a:chOff x="0" y="0"/>
          <a:chExt cx="0" cy="0"/>
        </a:xfrm>
      </p:grpSpPr>
      <p:sp>
        <p:nvSpPr>
          <p:cNvPr id="1589" name="Google Shape;1589;p137"/>
          <p:cNvSpPr txBox="1"/>
          <p:nvPr/>
        </p:nvSpPr>
        <p:spPr>
          <a:xfrm>
            <a:off x="1981200" y="533400"/>
            <a:ext cx="8229600" cy="1143000"/>
          </a:xfrm>
          <a:prstGeom prst="rect">
            <a:avLst/>
          </a:prstGeom>
          <a:noFill/>
          <a:ln>
            <a:noFill/>
          </a:ln>
        </p:spPr>
        <p:txBody>
          <a:bodyPr spcFirstLastPara="1" wrap="square" lIns="90000" tIns="46800" rIns="90000" bIns="46800" anchor="ctr" anchorCtr="0">
            <a:noAutofit/>
          </a:bodyPr>
          <a:lstStyle/>
          <a:p>
            <a:pPr marL="0" marR="0" lvl="0" indent="0" algn="l" rtl="0">
              <a:spcBef>
                <a:spcPts val="0"/>
              </a:spcBef>
              <a:spcAft>
                <a:spcPts val="0"/>
              </a:spcAft>
              <a:buClr>
                <a:srgbClr val="420000"/>
              </a:buClr>
              <a:buSzPts val="4400"/>
              <a:buFont typeface="Times New Roman"/>
              <a:buNone/>
            </a:pPr>
            <a:r>
              <a:rPr lang="en-US" sz="4400">
                <a:solidFill>
                  <a:srgbClr val="420000"/>
                </a:solidFill>
                <a:latin typeface="Times New Roman"/>
                <a:ea typeface="Times New Roman"/>
                <a:cs typeface="Times New Roman"/>
                <a:sym typeface="Times New Roman"/>
              </a:rPr>
              <a:t>Machine Level Interpretation</a:t>
            </a:r>
            <a:endParaRPr/>
          </a:p>
        </p:txBody>
      </p:sp>
      <p:sp>
        <p:nvSpPr>
          <p:cNvPr id="1590" name="Google Shape;1590;p137"/>
          <p:cNvSpPr txBox="1"/>
          <p:nvPr/>
        </p:nvSpPr>
        <p:spPr>
          <a:xfrm>
            <a:off x="1981200" y="1828801"/>
            <a:ext cx="8229600" cy="4302125"/>
          </a:xfrm>
          <a:prstGeom prst="rect">
            <a:avLst/>
          </a:prstGeom>
          <a:noFill/>
          <a:ln>
            <a:noFill/>
          </a:ln>
        </p:spPr>
        <p:txBody>
          <a:bodyPr spcFirstLastPara="1" wrap="square" lIns="91425" tIns="45700" rIns="91425" bIns="45700" anchor="t" anchorCtr="0">
            <a:noAutofit/>
          </a:bodyPr>
          <a:lstStyle/>
          <a:p>
            <a:pPr marL="363538" marR="0" lvl="0" indent="-282575" algn="l" rtl="0">
              <a:spcBef>
                <a:spcPts val="0"/>
              </a:spcBef>
              <a:spcAft>
                <a:spcPts val="0"/>
              </a:spcAft>
              <a:buClr>
                <a:srgbClr val="660000"/>
              </a:buClr>
              <a:buSzPts val="2240"/>
              <a:buFont typeface="Noto Sans Symbols"/>
              <a:buChar char="❖"/>
            </a:pPr>
            <a:r>
              <a:rPr lang="en-US" sz="3200">
                <a:solidFill>
                  <a:srgbClr val="000000"/>
                </a:solidFill>
                <a:latin typeface="Times New Roman"/>
                <a:ea typeface="Times New Roman"/>
                <a:cs typeface="Times New Roman"/>
                <a:sym typeface="Times New Roman"/>
              </a:rPr>
              <a:t>&lt;L&gt;  : &lt;A&gt;, &lt;B&gt;, &lt;P&gt;</a:t>
            </a:r>
            <a:endParaRPr/>
          </a:p>
          <a:p>
            <a:pPr marL="363538" marR="0" lvl="0" indent="-282575" algn="l" rtl="0">
              <a:spcBef>
                <a:spcPts val="800"/>
              </a:spcBef>
              <a:spcAft>
                <a:spcPts val="0"/>
              </a:spcAft>
              <a:buNone/>
            </a:pPr>
            <a:endParaRPr sz="3200">
              <a:solidFill>
                <a:srgbClr val="000000"/>
              </a:solidFill>
              <a:latin typeface="Times New Roman"/>
              <a:ea typeface="Times New Roman"/>
              <a:cs typeface="Times New Roman"/>
              <a:sym typeface="Times New Roman"/>
            </a:endParaRPr>
          </a:p>
          <a:p>
            <a:pPr marL="363538" marR="0" lvl="0" indent="-282575" algn="l" rtl="0">
              <a:spcBef>
                <a:spcPts val="800"/>
              </a:spcBef>
              <a:spcAft>
                <a:spcPts val="0"/>
              </a:spcAft>
              <a:buNone/>
            </a:pPr>
            <a:r>
              <a:rPr lang="en-US" sz="3200">
                <a:solidFill>
                  <a:srgbClr val="000000"/>
                </a:solidFill>
                <a:latin typeface="Times New Roman"/>
                <a:ea typeface="Times New Roman"/>
                <a:cs typeface="Times New Roman"/>
                <a:sym typeface="Times New Roman"/>
              </a:rPr>
              <a:t>  L: Instruction Label</a:t>
            </a:r>
            <a:endParaRPr/>
          </a:p>
          <a:p>
            <a:pPr marL="363538" marR="0" lvl="0" indent="-282575" algn="l" rtl="0">
              <a:spcBef>
                <a:spcPts val="800"/>
              </a:spcBef>
              <a:spcAft>
                <a:spcPts val="0"/>
              </a:spcAft>
              <a:buNone/>
            </a:pPr>
            <a:r>
              <a:rPr lang="en-US" sz="3200">
                <a:solidFill>
                  <a:srgbClr val="000000"/>
                </a:solidFill>
                <a:latin typeface="Times New Roman"/>
                <a:ea typeface="Times New Roman"/>
                <a:cs typeface="Times New Roman"/>
                <a:sym typeface="Times New Roman"/>
              </a:rPr>
              <a:t>  P: Jump Target Label</a:t>
            </a:r>
            <a:endParaRPr/>
          </a:p>
          <a:p>
            <a:pPr marL="363538" marR="0" lvl="0" indent="-282575" algn="l" rtl="0">
              <a:spcBef>
                <a:spcPts val="800"/>
              </a:spcBef>
              <a:spcAft>
                <a:spcPts val="0"/>
              </a:spcAft>
              <a:buNone/>
            </a:pPr>
            <a:r>
              <a:rPr lang="en-US" sz="3200">
                <a:solidFill>
                  <a:srgbClr val="000000"/>
                </a:solidFill>
                <a:latin typeface="Times New Roman"/>
                <a:ea typeface="Times New Roman"/>
                <a:cs typeface="Times New Roman"/>
                <a:sym typeface="Times New Roman"/>
              </a:rPr>
              <a:t>  A,B: References to the memory where the </a:t>
            </a:r>
            <a:endParaRPr/>
          </a:p>
          <a:p>
            <a:pPr marL="363538" marR="0" lvl="0" indent="-282575" algn="l" rtl="0">
              <a:spcBef>
                <a:spcPts val="800"/>
              </a:spcBef>
              <a:spcAft>
                <a:spcPts val="0"/>
              </a:spcAft>
              <a:buNone/>
            </a:pPr>
            <a:r>
              <a:rPr lang="en-US" sz="3200">
                <a:solidFill>
                  <a:srgbClr val="000000"/>
                </a:solidFill>
                <a:latin typeface="Times New Roman"/>
                <a:ea typeface="Times New Roman"/>
                <a:cs typeface="Times New Roman"/>
                <a:sym typeface="Times New Roman"/>
              </a:rPr>
              <a:t>        operands are located.</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595"/>
        <p:cNvGrpSpPr/>
        <p:nvPr/>
      </p:nvGrpSpPr>
      <p:grpSpPr>
        <a:xfrm>
          <a:off x="0" y="0"/>
          <a:ext cx="0" cy="0"/>
          <a:chOff x="0" y="0"/>
          <a:chExt cx="0" cy="0"/>
        </a:xfrm>
      </p:grpSpPr>
      <p:sp>
        <p:nvSpPr>
          <p:cNvPr id="1596" name="Google Shape;1596;p138"/>
          <p:cNvSpPr txBox="1"/>
          <p:nvPr/>
        </p:nvSpPr>
        <p:spPr>
          <a:xfrm>
            <a:off x="2133601" y="850900"/>
            <a:ext cx="7407275" cy="1739900"/>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r>
              <a:rPr lang="en-US" sz="5400">
                <a:solidFill>
                  <a:srgbClr val="420000"/>
                </a:solidFill>
                <a:latin typeface="Times New Roman"/>
                <a:ea typeface="Times New Roman"/>
                <a:cs typeface="Times New Roman"/>
                <a:sym typeface="Times New Roman"/>
              </a:rPr>
              <a:t>Example Programs</a:t>
            </a:r>
            <a:br>
              <a:rPr lang="en-US" sz="5400">
                <a:solidFill>
                  <a:srgbClr val="420000"/>
                </a:solidFill>
                <a:latin typeface="Times New Roman"/>
                <a:ea typeface="Times New Roman"/>
                <a:cs typeface="Times New Roman"/>
                <a:sym typeface="Times New Roman"/>
              </a:rPr>
            </a:br>
            <a:endParaRPr sz="5400">
              <a:solidFill>
                <a:srgbClr val="420000"/>
              </a:solidFill>
              <a:latin typeface="Times New Roman"/>
              <a:ea typeface="Times New Roman"/>
              <a:cs typeface="Times New Roman"/>
              <a:sym typeface="Times New Roman"/>
            </a:endParaRPr>
          </a:p>
        </p:txBody>
      </p:sp>
      <p:sp>
        <p:nvSpPr>
          <p:cNvPr id="1597" name="Google Shape;1597;p138"/>
          <p:cNvSpPr txBox="1"/>
          <p:nvPr/>
        </p:nvSpPr>
        <p:spPr>
          <a:xfrm>
            <a:off x="801757" y="2001839"/>
            <a:ext cx="12211878" cy="4700587"/>
          </a:xfrm>
          <a:prstGeom prst="rect">
            <a:avLst/>
          </a:prstGeom>
          <a:noFill/>
          <a:ln>
            <a:noFill/>
          </a:ln>
        </p:spPr>
        <p:txBody>
          <a:bodyPr spcFirstLastPara="1" wrap="square" lIns="91425" tIns="0" rIns="91425" bIns="45700" anchor="t" anchorCtr="0">
            <a:noAutofit/>
          </a:bodyPr>
          <a:lstStyle/>
          <a:p>
            <a:pPr marL="25400" marR="0" lvl="0" indent="-88900" algn="l" rtl="0">
              <a:lnSpc>
                <a:spcPct val="90000"/>
              </a:lnSpc>
              <a:spcBef>
                <a:spcPts val="0"/>
              </a:spcBef>
              <a:spcAft>
                <a:spcPts val="0"/>
              </a:spcAft>
              <a:buClr>
                <a:srgbClr val="660000"/>
              </a:buClr>
              <a:buSzPts val="1400"/>
              <a:buFont typeface="Noto Sans Symbols"/>
              <a:buChar char="❖"/>
            </a:pPr>
            <a:r>
              <a:rPr lang="en-US" sz="2000">
                <a:solidFill>
                  <a:srgbClr val="320E04"/>
                </a:solidFill>
                <a:latin typeface="Arial"/>
                <a:ea typeface="Arial"/>
                <a:cs typeface="Arial"/>
                <a:sym typeface="Arial"/>
              </a:rPr>
              <a:t>SUB(A,B) // B </a:t>
            </a:r>
            <a:r>
              <a:rPr lang="en-US" sz="2200">
                <a:solidFill>
                  <a:srgbClr val="320E04"/>
                </a:solidFill>
                <a:latin typeface="Noto Sans Symbols"/>
                <a:ea typeface="Noto Sans Symbols"/>
                <a:cs typeface="Noto Sans Symbols"/>
                <a:sym typeface="Noto Sans Symbols"/>
              </a:rPr>
              <a:t>←</a:t>
            </a:r>
            <a:r>
              <a:rPr lang="en-US" sz="2200">
                <a:solidFill>
                  <a:srgbClr val="320E04"/>
                </a:solidFill>
                <a:latin typeface="Arial"/>
                <a:ea typeface="Arial"/>
                <a:cs typeface="Arial"/>
                <a:sym typeface="Arial"/>
              </a:rPr>
              <a:t> B - A, no branch</a:t>
            </a:r>
            <a:endParaRPr/>
          </a:p>
          <a:p>
            <a:pPr marL="457200" marR="0" lvl="1" indent="0" algn="ctr" rtl="0">
              <a:lnSpc>
                <a:spcPct val="90000"/>
              </a:lnSpc>
              <a:spcBef>
                <a:spcPts val="650"/>
              </a:spcBef>
              <a:spcAft>
                <a:spcPts val="0"/>
              </a:spcAft>
              <a:buNone/>
            </a:pPr>
            <a:r>
              <a:rPr lang="en-US" sz="2600" b="0" i="0" u="none" strike="noStrike" cap="none">
                <a:solidFill>
                  <a:srgbClr val="000000"/>
                </a:solidFill>
                <a:latin typeface="Times New Roman"/>
                <a:ea typeface="Times New Roman"/>
                <a:cs typeface="Times New Roman"/>
                <a:sym typeface="Times New Roman"/>
              </a:rPr>
              <a:t>SUB:A,B,END</a:t>
            </a:r>
            <a:endParaRPr/>
          </a:p>
          <a:p>
            <a:pPr marL="457200" marR="0" lvl="1" indent="0" algn="ctr" rtl="0">
              <a:lnSpc>
                <a:spcPct val="90000"/>
              </a:lnSpc>
              <a:spcBef>
                <a:spcPts val="650"/>
              </a:spcBef>
              <a:spcAft>
                <a:spcPts val="0"/>
              </a:spcAft>
              <a:buNone/>
            </a:pPr>
            <a:r>
              <a:rPr lang="en-US" sz="2600" b="0" i="0" u="none" strike="noStrike" cap="none">
                <a:solidFill>
                  <a:srgbClr val="000000"/>
                </a:solidFill>
                <a:latin typeface="Times New Roman"/>
                <a:ea typeface="Times New Roman"/>
                <a:cs typeface="Times New Roman"/>
                <a:sym typeface="Times New Roman"/>
              </a:rPr>
              <a:t>END: …</a:t>
            </a:r>
            <a:endParaRPr/>
          </a:p>
          <a:p>
            <a:pPr marL="25400" marR="0" lvl="0" indent="-88900" algn="l" rtl="0">
              <a:lnSpc>
                <a:spcPct val="90000"/>
              </a:lnSpc>
              <a:spcBef>
                <a:spcPts val="550"/>
              </a:spcBef>
              <a:spcAft>
                <a:spcPts val="0"/>
              </a:spcAft>
              <a:buClr>
                <a:srgbClr val="660000"/>
              </a:buClr>
              <a:buSzPts val="1400"/>
              <a:buFont typeface="Noto Sans Symbols"/>
              <a:buChar char="❖"/>
            </a:pPr>
            <a:r>
              <a:rPr lang="en-US" sz="2000">
                <a:solidFill>
                  <a:srgbClr val="320E04"/>
                </a:solidFill>
                <a:latin typeface="Arial"/>
                <a:ea typeface="Arial"/>
                <a:cs typeface="Arial"/>
                <a:sym typeface="Arial"/>
              </a:rPr>
              <a:t>SETZERO(A) // A </a:t>
            </a:r>
            <a:r>
              <a:rPr lang="en-US" sz="2200">
                <a:solidFill>
                  <a:srgbClr val="320E04"/>
                </a:solidFill>
                <a:latin typeface="Noto Sans Symbols"/>
                <a:ea typeface="Noto Sans Symbols"/>
                <a:cs typeface="Noto Sans Symbols"/>
                <a:sym typeface="Noto Sans Symbols"/>
              </a:rPr>
              <a:t>←</a:t>
            </a:r>
            <a:r>
              <a:rPr lang="en-US" sz="2200">
                <a:solidFill>
                  <a:srgbClr val="320E04"/>
                </a:solidFill>
                <a:latin typeface="Arial"/>
                <a:ea typeface="Arial"/>
                <a:cs typeface="Arial"/>
                <a:sym typeface="Arial"/>
              </a:rPr>
              <a:t> 0</a:t>
            </a:r>
            <a:endParaRPr/>
          </a:p>
          <a:p>
            <a:pPr marL="457200" marR="0" lvl="1" indent="0" algn="ctr" rtl="0">
              <a:lnSpc>
                <a:spcPct val="90000"/>
              </a:lnSpc>
              <a:spcBef>
                <a:spcPts val="650"/>
              </a:spcBef>
              <a:spcAft>
                <a:spcPts val="0"/>
              </a:spcAft>
              <a:buNone/>
            </a:pPr>
            <a:r>
              <a:rPr lang="en-US" sz="2600" b="0" i="0" u="none" strike="noStrike" cap="none">
                <a:solidFill>
                  <a:srgbClr val="000000"/>
                </a:solidFill>
                <a:latin typeface="Times New Roman"/>
                <a:ea typeface="Times New Roman"/>
                <a:cs typeface="Times New Roman"/>
                <a:sym typeface="Times New Roman"/>
              </a:rPr>
              <a:t>SETZERO:A,A,END</a:t>
            </a:r>
            <a:endParaRPr/>
          </a:p>
          <a:p>
            <a:pPr marL="457200" marR="0" lvl="1" indent="0" algn="ctr" rtl="0">
              <a:lnSpc>
                <a:spcPct val="90000"/>
              </a:lnSpc>
              <a:spcBef>
                <a:spcPts val="650"/>
              </a:spcBef>
              <a:spcAft>
                <a:spcPts val="0"/>
              </a:spcAft>
              <a:buNone/>
            </a:pPr>
            <a:r>
              <a:rPr lang="en-US" sz="2600" b="0" i="0" u="none" strike="noStrike" cap="none">
                <a:solidFill>
                  <a:srgbClr val="000000"/>
                </a:solidFill>
                <a:latin typeface="Times New Roman"/>
                <a:ea typeface="Times New Roman"/>
                <a:cs typeface="Times New Roman"/>
                <a:sym typeface="Times New Roman"/>
              </a:rPr>
              <a:t>END: ...</a:t>
            </a:r>
            <a:endParaRPr/>
          </a:p>
          <a:p>
            <a:pPr marL="25400" marR="0" lvl="0" indent="-88900" algn="l" rtl="0">
              <a:lnSpc>
                <a:spcPct val="90000"/>
              </a:lnSpc>
              <a:spcBef>
                <a:spcPts val="550"/>
              </a:spcBef>
              <a:spcAft>
                <a:spcPts val="0"/>
              </a:spcAft>
              <a:buClr>
                <a:srgbClr val="660000"/>
              </a:buClr>
              <a:buSzPts val="1400"/>
              <a:buFont typeface="Noto Sans Symbols"/>
              <a:buChar char="❖"/>
            </a:pPr>
            <a:r>
              <a:rPr lang="en-US" sz="2000">
                <a:solidFill>
                  <a:srgbClr val="320E04"/>
                </a:solidFill>
                <a:latin typeface="Arial"/>
                <a:ea typeface="Arial"/>
                <a:cs typeface="Arial"/>
                <a:sym typeface="Arial"/>
              </a:rPr>
              <a:t>ADD(A,B) // B </a:t>
            </a:r>
            <a:r>
              <a:rPr lang="en-US" sz="2200">
                <a:solidFill>
                  <a:srgbClr val="320E04"/>
                </a:solidFill>
                <a:latin typeface="Noto Sans Symbols"/>
                <a:ea typeface="Noto Sans Symbols"/>
                <a:cs typeface="Noto Sans Symbols"/>
                <a:sym typeface="Noto Sans Symbols"/>
              </a:rPr>
              <a:t>←</a:t>
            </a:r>
            <a:r>
              <a:rPr lang="en-US" sz="2200">
                <a:solidFill>
                  <a:srgbClr val="320E04"/>
                </a:solidFill>
                <a:latin typeface="Arial"/>
                <a:ea typeface="Arial"/>
                <a:cs typeface="Arial"/>
                <a:sym typeface="Arial"/>
              </a:rPr>
              <a:t> A + B, Assumes T0 is set to 0</a:t>
            </a:r>
            <a:endParaRPr/>
          </a:p>
          <a:p>
            <a:pPr marL="457200" marR="0" lvl="1" indent="0" algn="ctr" rtl="0">
              <a:lnSpc>
                <a:spcPct val="90000"/>
              </a:lnSpc>
              <a:spcBef>
                <a:spcPts val="550"/>
              </a:spcBef>
              <a:spcAft>
                <a:spcPts val="0"/>
              </a:spcAft>
              <a:buNone/>
            </a:pPr>
            <a:r>
              <a:rPr lang="en-US" sz="2200" b="0" i="0" u="none" strike="noStrike" cap="none">
                <a:solidFill>
                  <a:srgbClr val="000000"/>
                </a:solidFill>
                <a:latin typeface="Times New Roman"/>
                <a:ea typeface="Times New Roman"/>
                <a:cs typeface="Times New Roman"/>
                <a:sym typeface="Times New Roman"/>
              </a:rPr>
              <a:t>ADD0:A,T0,ADD1</a:t>
            </a:r>
            <a:endParaRPr/>
          </a:p>
          <a:p>
            <a:pPr marL="457200" marR="0" lvl="1" indent="0" algn="ctr" rtl="0">
              <a:lnSpc>
                <a:spcPct val="90000"/>
              </a:lnSpc>
              <a:spcBef>
                <a:spcPts val="550"/>
              </a:spcBef>
              <a:spcAft>
                <a:spcPts val="0"/>
              </a:spcAft>
              <a:buNone/>
            </a:pPr>
            <a:r>
              <a:rPr lang="en-US" sz="2200" b="0" i="0" u="none" strike="noStrike" cap="none">
                <a:solidFill>
                  <a:srgbClr val="000000"/>
                </a:solidFill>
                <a:latin typeface="Times New Roman"/>
                <a:ea typeface="Times New Roman"/>
                <a:cs typeface="Times New Roman"/>
                <a:sym typeface="Times New Roman"/>
              </a:rPr>
              <a:t>ADD1:T0,B,END</a:t>
            </a:r>
            <a:endParaRPr/>
          </a:p>
          <a:p>
            <a:pPr marL="457200" marR="0" lvl="1" indent="0" algn="ctr" rtl="0">
              <a:lnSpc>
                <a:spcPct val="90000"/>
              </a:lnSpc>
              <a:spcBef>
                <a:spcPts val="550"/>
              </a:spcBef>
              <a:spcAft>
                <a:spcPts val="0"/>
              </a:spcAft>
              <a:buNone/>
            </a:pPr>
            <a:r>
              <a:rPr lang="en-US" sz="2200" b="0" i="0" u="none" strike="noStrike" cap="none">
                <a:solidFill>
                  <a:srgbClr val="000000"/>
                </a:solidFill>
                <a:latin typeface="Times New Roman"/>
                <a:ea typeface="Times New Roman"/>
                <a:cs typeface="Times New Roman"/>
                <a:sym typeface="Times New Roman"/>
              </a:rPr>
              <a:t>END: ...</a:t>
            </a:r>
            <a:endParaRPr/>
          </a:p>
          <a:p>
            <a:pPr marL="457200" marR="0" lvl="1" indent="0" algn="ctr" rtl="0">
              <a:lnSpc>
                <a:spcPct val="90000"/>
              </a:lnSpc>
              <a:spcBef>
                <a:spcPts val="550"/>
              </a:spcBef>
              <a:spcAft>
                <a:spcPts val="0"/>
              </a:spcAft>
              <a:buNone/>
            </a:pPr>
            <a:r>
              <a:rPr lang="en-US" sz="2200" b="0" i="0" u="none" strike="noStrike" cap="none">
                <a:solidFill>
                  <a:srgbClr val="000000"/>
                </a:solidFill>
                <a:latin typeface="Times New Roman"/>
                <a:ea typeface="Times New Roman"/>
                <a:cs typeface="Times New Roman"/>
                <a:sym typeface="Times New Roman"/>
              </a:rPr>
              <a:t>						</a:t>
            </a:r>
            <a:endParaRPr/>
          </a:p>
          <a:p>
            <a:pPr marL="457200" marR="0" lvl="1" indent="0" algn="ctr" rtl="0">
              <a:lnSpc>
                <a:spcPct val="90000"/>
              </a:lnSpc>
              <a:spcBef>
                <a:spcPts val="550"/>
              </a:spcBef>
              <a:spcAft>
                <a:spcPts val="0"/>
              </a:spcAft>
              <a:buNone/>
            </a:pPr>
            <a:endParaRPr sz="22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602"/>
        <p:cNvGrpSpPr/>
        <p:nvPr/>
      </p:nvGrpSpPr>
      <p:grpSpPr>
        <a:xfrm>
          <a:off x="0" y="0"/>
          <a:ext cx="0" cy="0"/>
          <a:chOff x="0" y="0"/>
          <a:chExt cx="0" cy="0"/>
        </a:xfrm>
      </p:grpSpPr>
      <p:sp>
        <p:nvSpPr>
          <p:cNvPr id="1603" name="Google Shape;1603;p139"/>
          <p:cNvSpPr txBox="1"/>
          <p:nvPr/>
        </p:nvSpPr>
        <p:spPr>
          <a:xfrm>
            <a:off x="2209801" y="850900"/>
            <a:ext cx="7407275" cy="1739900"/>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r>
              <a:rPr lang="en-US" sz="5400">
                <a:solidFill>
                  <a:srgbClr val="420000"/>
                </a:solidFill>
                <a:latin typeface="Times New Roman"/>
                <a:ea typeface="Times New Roman"/>
                <a:cs typeface="Times New Roman"/>
                <a:sym typeface="Times New Roman"/>
              </a:rPr>
              <a:t>Example Programs</a:t>
            </a:r>
            <a:br>
              <a:rPr lang="en-US" sz="5400">
                <a:solidFill>
                  <a:srgbClr val="420000"/>
                </a:solidFill>
                <a:latin typeface="Times New Roman"/>
                <a:ea typeface="Times New Roman"/>
                <a:cs typeface="Times New Roman"/>
                <a:sym typeface="Times New Roman"/>
              </a:rPr>
            </a:br>
            <a:endParaRPr sz="5400">
              <a:solidFill>
                <a:srgbClr val="420000"/>
              </a:solidFill>
              <a:latin typeface="Times New Roman"/>
              <a:ea typeface="Times New Roman"/>
              <a:cs typeface="Times New Roman"/>
              <a:sym typeface="Times New Roman"/>
            </a:endParaRPr>
          </a:p>
        </p:txBody>
      </p:sp>
      <p:sp>
        <p:nvSpPr>
          <p:cNvPr id="1604" name="Google Shape;1604;p139"/>
          <p:cNvSpPr txBox="1"/>
          <p:nvPr/>
        </p:nvSpPr>
        <p:spPr>
          <a:xfrm>
            <a:off x="1035051" y="1798638"/>
            <a:ext cx="10604499" cy="4627562"/>
          </a:xfrm>
          <a:prstGeom prst="rect">
            <a:avLst/>
          </a:prstGeom>
          <a:noFill/>
          <a:ln>
            <a:noFill/>
          </a:ln>
        </p:spPr>
        <p:txBody>
          <a:bodyPr spcFirstLastPara="1" wrap="square" lIns="91425" tIns="0" rIns="91425" bIns="45700" anchor="t" anchorCtr="0">
            <a:noAutofit/>
          </a:bodyPr>
          <a:lstStyle/>
          <a:p>
            <a:pPr marL="25400" marR="0" lvl="0" indent="-97790" algn="l" rtl="0">
              <a:spcBef>
                <a:spcPts val="0"/>
              </a:spcBef>
              <a:spcAft>
                <a:spcPts val="0"/>
              </a:spcAft>
              <a:buClr>
                <a:srgbClr val="660000"/>
              </a:buClr>
              <a:buSzPts val="1540"/>
              <a:buFont typeface="Noto Sans Symbols"/>
              <a:buChar char="❖"/>
            </a:pPr>
            <a:r>
              <a:rPr lang="en-US" sz="2200">
                <a:solidFill>
                  <a:srgbClr val="320E04"/>
                </a:solidFill>
                <a:latin typeface="Arial"/>
                <a:ea typeface="Arial"/>
                <a:cs typeface="Arial"/>
                <a:sym typeface="Arial"/>
              </a:rPr>
              <a:t>MOVE(A,B) // B </a:t>
            </a:r>
            <a:r>
              <a:rPr lang="en-US" sz="2400">
                <a:solidFill>
                  <a:srgbClr val="320E04"/>
                </a:solidFill>
                <a:latin typeface="Noto Sans Symbols"/>
                <a:ea typeface="Noto Sans Symbols"/>
                <a:cs typeface="Noto Sans Symbols"/>
                <a:sym typeface="Noto Sans Symbols"/>
              </a:rPr>
              <a:t>←</a:t>
            </a:r>
            <a:r>
              <a:rPr lang="en-US" sz="2400">
                <a:solidFill>
                  <a:srgbClr val="320E04"/>
                </a:solidFill>
                <a:latin typeface="Arial"/>
                <a:ea typeface="Arial"/>
                <a:cs typeface="Arial"/>
                <a:sym typeface="Arial"/>
              </a:rPr>
              <a:t> </a:t>
            </a:r>
            <a:r>
              <a:rPr lang="en-US" sz="2200">
                <a:solidFill>
                  <a:srgbClr val="320E04"/>
                </a:solidFill>
                <a:latin typeface="Arial"/>
                <a:ea typeface="Arial"/>
                <a:cs typeface="Arial"/>
                <a:sym typeface="Arial"/>
              </a:rPr>
              <a:t>A        </a:t>
            </a:r>
            <a:r>
              <a:rPr lang="en-US" sz="2400">
                <a:solidFill>
                  <a:srgbClr val="320E04"/>
                </a:solidFill>
                <a:latin typeface="Arial"/>
                <a:ea typeface="Arial"/>
                <a:cs typeface="Arial"/>
                <a:sym typeface="Arial"/>
              </a:rPr>
              <a:t>Assumes T0 is set 0</a:t>
            </a:r>
            <a:endParaRPr/>
          </a:p>
          <a:p>
            <a:pPr marL="457200" marR="0" lvl="1" indent="0" algn="ctr" rtl="0">
              <a:spcBef>
                <a:spcPts val="600"/>
              </a:spcBef>
              <a:spcAft>
                <a:spcPts val="0"/>
              </a:spcAft>
              <a:buNone/>
            </a:pPr>
            <a:r>
              <a:rPr lang="en-US" sz="2400" b="0" i="0" u="none" strike="noStrike" cap="none">
                <a:solidFill>
                  <a:srgbClr val="000000"/>
                </a:solidFill>
                <a:latin typeface="Times New Roman"/>
                <a:ea typeface="Times New Roman"/>
                <a:cs typeface="Times New Roman"/>
                <a:sym typeface="Times New Roman"/>
              </a:rPr>
              <a:t>MOV0: B,B, MOV1</a:t>
            </a:r>
            <a:endParaRPr/>
          </a:p>
          <a:p>
            <a:pPr marL="457200" marR="0" lvl="1" indent="0" algn="ctr" rtl="0">
              <a:spcBef>
                <a:spcPts val="600"/>
              </a:spcBef>
              <a:spcAft>
                <a:spcPts val="0"/>
              </a:spcAft>
              <a:buNone/>
            </a:pPr>
            <a:r>
              <a:rPr lang="en-US" sz="2400" b="0" i="0" u="none" strike="noStrike" cap="none">
                <a:solidFill>
                  <a:srgbClr val="000000"/>
                </a:solidFill>
                <a:latin typeface="Times New Roman"/>
                <a:ea typeface="Times New Roman"/>
                <a:cs typeface="Times New Roman"/>
                <a:sym typeface="Times New Roman"/>
              </a:rPr>
              <a:t>MOV1: A,T0, MOV2</a:t>
            </a:r>
            <a:endParaRPr/>
          </a:p>
          <a:p>
            <a:pPr marL="457200" marR="0" lvl="1" indent="0" algn="ctr" rtl="0">
              <a:spcBef>
                <a:spcPts val="600"/>
              </a:spcBef>
              <a:spcAft>
                <a:spcPts val="0"/>
              </a:spcAft>
              <a:buNone/>
            </a:pPr>
            <a:r>
              <a:rPr lang="en-US" sz="2400" b="0" i="0" u="none" strike="noStrike" cap="none">
                <a:solidFill>
                  <a:srgbClr val="000000"/>
                </a:solidFill>
                <a:latin typeface="Times New Roman"/>
                <a:ea typeface="Times New Roman"/>
                <a:cs typeface="Times New Roman"/>
                <a:sym typeface="Times New Roman"/>
              </a:rPr>
              <a:t>MOV2: T0,B, END</a:t>
            </a:r>
            <a:endParaRPr/>
          </a:p>
          <a:p>
            <a:pPr marL="457200" marR="0" lvl="1" indent="0" algn="ctr" rtl="0">
              <a:spcBef>
                <a:spcPts val="600"/>
              </a:spcBef>
              <a:spcAft>
                <a:spcPts val="0"/>
              </a:spcAft>
              <a:buNone/>
            </a:pPr>
            <a:r>
              <a:rPr lang="en-US" sz="2400" b="0" i="0" u="none" strike="noStrike" cap="none">
                <a:solidFill>
                  <a:srgbClr val="000000"/>
                </a:solidFill>
                <a:latin typeface="Times New Roman"/>
                <a:ea typeface="Times New Roman"/>
                <a:cs typeface="Times New Roman"/>
                <a:sym typeface="Times New Roman"/>
              </a:rPr>
              <a:t>END: ...</a:t>
            </a:r>
            <a:endParaRPr/>
          </a:p>
          <a:p>
            <a:pPr marL="457200" marR="0" lvl="1" indent="0" algn="ctr" rtl="0">
              <a:spcBef>
                <a:spcPts val="600"/>
              </a:spcBef>
              <a:spcAft>
                <a:spcPts val="0"/>
              </a:spcAft>
              <a:buNone/>
            </a:pPr>
            <a:endParaRPr sz="2400" b="0" i="0" u="none" strike="noStrike" cap="none">
              <a:solidFill>
                <a:srgbClr val="000000"/>
              </a:solidFill>
              <a:latin typeface="Times New Roman"/>
              <a:ea typeface="Times New Roman"/>
              <a:cs typeface="Times New Roman"/>
              <a:sym typeface="Times New Roman"/>
            </a:endParaRPr>
          </a:p>
          <a:p>
            <a:pPr marL="25400" marR="0" lvl="0" indent="-97790" algn="l" rtl="0">
              <a:spcBef>
                <a:spcPts val="550"/>
              </a:spcBef>
              <a:spcAft>
                <a:spcPts val="0"/>
              </a:spcAft>
              <a:buClr>
                <a:srgbClr val="660000"/>
              </a:buClr>
              <a:buSzPts val="1540"/>
              <a:buFont typeface="Noto Sans Symbols"/>
              <a:buChar char="❖"/>
            </a:pPr>
            <a:r>
              <a:rPr lang="en-US" sz="2200">
                <a:solidFill>
                  <a:srgbClr val="320E04"/>
                </a:solidFill>
                <a:latin typeface="Arial"/>
                <a:ea typeface="Arial"/>
                <a:cs typeface="Arial"/>
                <a:sym typeface="Arial"/>
              </a:rPr>
              <a:t>JUMP(Target) // Unconditional Jump</a:t>
            </a:r>
            <a:endParaRPr/>
          </a:p>
          <a:p>
            <a:pPr marL="457200" marR="0" lvl="1" indent="0" algn="ctr" rtl="0">
              <a:spcBef>
                <a:spcPts val="600"/>
              </a:spcBef>
              <a:spcAft>
                <a:spcPts val="0"/>
              </a:spcAft>
              <a:buNone/>
            </a:pPr>
            <a:r>
              <a:rPr lang="en-US" sz="2400" b="0" i="0" u="none" strike="noStrike" cap="none">
                <a:solidFill>
                  <a:srgbClr val="000000"/>
                </a:solidFill>
                <a:latin typeface="Times New Roman"/>
                <a:ea typeface="Times New Roman"/>
                <a:cs typeface="Times New Roman"/>
                <a:sym typeface="Times New Roman"/>
              </a:rPr>
              <a:t>JUMP:T0,T0,Target</a:t>
            </a:r>
            <a:endParaRPr/>
          </a:p>
          <a:p>
            <a:pPr marL="457200" marR="0" lvl="1" indent="0" algn="ctr" rtl="0">
              <a:spcBef>
                <a:spcPts val="600"/>
              </a:spcBef>
              <a:spcAft>
                <a:spcPts val="0"/>
              </a:spcAft>
              <a:buNone/>
            </a:pPr>
            <a:endParaRPr sz="2400" b="0" i="0" u="none" strike="noStrike" cap="none">
              <a:solidFill>
                <a:srgbClr val="000000"/>
              </a:solidFill>
              <a:latin typeface="Times New Roman"/>
              <a:ea typeface="Times New Roman"/>
              <a:cs typeface="Times New Roman"/>
              <a:sym typeface="Times New Roman"/>
            </a:endParaRPr>
          </a:p>
          <a:p>
            <a:pPr marL="457200" marR="0" lvl="1" indent="0" algn="ctr" rtl="0">
              <a:spcBef>
                <a:spcPts val="600"/>
              </a:spcBef>
              <a:spcAft>
                <a:spcPts val="0"/>
              </a:spcAft>
              <a:buNone/>
            </a:pPr>
            <a:endParaRPr sz="2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616"/>
        <p:cNvGrpSpPr/>
        <p:nvPr/>
      </p:nvGrpSpPr>
      <p:grpSpPr>
        <a:xfrm>
          <a:off x="0" y="0"/>
          <a:ext cx="0" cy="0"/>
          <a:chOff x="0" y="0"/>
          <a:chExt cx="0" cy="0"/>
        </a:xfrm>
      </p:grpSpPr>
      <p:sp>
        <p:nvSpPr>
          <p:cNvPr id="1617" name="Google Shape;1617;p141"/>
          <p:cNvSpPr txBox="1"/>
          <p:nvPr/>
        </p:nvSpPr>
        <p:spPr>
          <a:xfrm>
            <a:off x="1981201" y="331789"/>
            <a:ext cx="7407275" cy="2562225"/>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r>
              <a:rPr lang="en-US" sz="5400">
                <a:solidFill>
                  <a:srgbClr val="420000"/>
                </a:solidFill>
                <a:latin typeface="Times New Roman"/>
                <a:ea typeface="Times New Roman"/>
                <a:cs typeface="Times New Roman"/>
                <a:sym typeface="Times New Roman"/>
              </a:rPr>
              <a:t>URISC is a Multicycle Processor</a:t>
            </a:r>
            <a:br>
              <a:rPr lang="en-US" sz="5400">
                <a:solidFill>
                  <a:srgbClr val="420000"/>
                </a:solidFill>
                <a:latin typeface="Times New Roman"/>
                <a:ea typeface="Times New Roman"/>
                <a:cs typeface="Times New Roman"/>
                <a:sym typeface="Times New Roman"/>
              </a:rPr>
            </a:br>
            <a:endParaRPr sz="5400">
              <a:solidFill>
                <a:srgbClr val="420000"/>
              </a:solidFill>
              <a:latin typeface="Times New Roman"/>
              <a:ea typeface="Times New Roman"/>
              <a:cs typeface="Times New Roman"/>
              <a:sym typeface="Times New Roman"/>
            </a:endParaRPr>
          </a:p>
        </p:txBody>
      </p:sp>
      <p:sp>
        <p:nvSpPr>
          <p:cNvPr id="1618" name="Google Shape;1618;p141"/>
          <p:cNvSpPr txBox="1"/>
          <p:nvPr/>
        </p:nvSpPr>
        <p:spPr>
          <a:xfrm>
            <a:off x="2743201" y="2286001"/>
            <a:ext cx="7407275" cy="4627563"/>
          </a:xfrm>
          <a:prstGeom prst="rect">
            <a:avLst/>
          </a:prstGeom>
          <a:noFill/>
          <a:ln>
            <a:noFill/>
          </a:ln>
        </p:spPr>
        <p:txBody>
          <a:bodyPr spcFirstLastPara="1" wrap="square" lIns="91425" tIns="0" rIns="91425" bIns="45700" anchor="t" anchorCtr="0">
            <a:noAutofit/>
          </a:bodyPr>
          <a:lstStyle/>
          <a:p>
            <a:pPr marL="25400" marR="0" lvl="0" indent="-97790" algn="l" rtl="0">
              <a:lnSpc>
                <a:spcPct val="80000"/>
              </a:lnSpc>
              <a:spcBef>
                <a:spcPts val="0"/>
              </a:spcBef>
              <a:spcAft>
                <a:spcPts val="0"/>
              </a:spcAft>
              <a:buClr>
                <a:srgbClr val="660000"/>
              </a:buClr>
              <a:buSzPts val="1540"/>
              <a:buFont typeface="Noto Sans Symbols"/>
              <a:buChar char="❖"/>
            </a:pPr>
            <a:r>
              <a:rPr lang="en-US" sz="2200">
                <a:solidFill>
                  <a:srgbClr val="320E04"/>
                </a:solidFill>
                <a:latin typeface="Arial"/>
                <a:ea typeface="Arial"/>
                <a:cs typeface="Arial"/>
                <a:sym typeface="Arial"/>
              </a:rPr>
              <a:t>Takes 4 clock cycles to complete a single instruction.</a:t>
            </a:r>
            <a:endParaRPr/>
          </a:p>
          <a:p>
            <a:pPr marL="25400" marR="0" lvl="0" indent="0" algn="l" rtl="0">
              <a:lnSpc>
                <a:spcPct val="80000"/>
              </a:lnSpc>
              <a:spcBef>
                <a:spcPts val="550"/>
              </a:spcBef>
              <a:spcAft>
                <a:spcPts val="0"/>
              </a:spcAft>
              <a:buNone/>
            </a:pPr>
            <a:endParaRPr sz="2200">
              <a:solidFill>
                <a:srgbClr val="320E04"/>
              </a:solidFill>
              <a:latin typeface="Arial"/>
              <a:ea typeface="Arial"/>
              <a:cs typeface="Arial"/>
              <a:sym typeface="Arial"/>
            </a:endParaRPr>
          </a:p>
          <a:p>
            <a:pPr marL="25400" marR="0" lvl="0" indent="-97790" algn="l" rtl="0">
              <a:lnSpc>
                <a:spcPct val="80000"/>
              </a:lnSpc>
              <a:spcBef>
                <a:spcPts val="550"/>
              </a:spcBef>
              <a:spcAft>
                <a:spcPts val="0"/>
              </a:spcAft>
              <a:buClr>
                <a:srgbClr val="660000"/>
              </a:buClr>
              <a:buSzPts val="1540"/>
              <a:buFont typeface="Noto Sans Symbols"/>
              <a:buChar char="❖"/>
            </a:pPr>
            <a:r>
              <a:rPr lang="en-US" sz="2200">
                <a:solidFill>
                  <a:srgbClr val="320E04"/>
                </a:solidFill>
                <a:latin typeface="Arial"/>
                <a:ea typeface="Arial"/>
                <a:cs typeface="Arial"/>
                <a:sym typeface="Arial"/>
              </a:rPr>
              <a:t>During each clock cycle a different set of control signals is output from the control unit.  These control signals effect the flow of data in the processor/datapath.</a:t>
            </a:r>
            <a:endParaRPr/>
          </a:p>
          <a:p>
            <a:pPr marL="25400" marR="0" lvl="0" indent="0" algn="l" rtl="0">
              <a:lnSpc>
                <a:spcPct val="80000"/>
              </a:lnSpc>
              <a:spcBef>
                <a:spcPts val="550"/>
              </a:spcBef>
              <a:spcAft>
                <a:spcPts val="0"/>
              </a:spcAft>
              <a:buNone/>
            </a:pPr>
            <a:endParaRPr sz="2200">
              <a:solidFill>
                <a:srgbClr val="320E04"/>
              </a:solidFill>
              <a:latin typeface="Arial"/>
              <a:ea typeface="Arial"/>
              <a:cs typeface="Arial"/>
              <a:sym typeface="Arial"/>
            </a:endParaRPr>
          </a:p>
          <a:p>
            <a:pPr marL="25400" marR="0" lvl="0" indent="-97790" algn="l" rtl="0">
              <a:lnSpc>
                <a:spcPct val="80000"/>
              </a:lnSpc>
              <a:spcBef>
                <a:spcPts val="550"/>
              </a:spcBef>
              <a:spcAft>
                <a:spcPts val="0"/>
              </a:spcAft>
              <a:buClr>
                <a:srgbClr val="660000"/>
              </a:buClr>
              <a:buSzPts val="1540"/>
              <a:buFont typeface="Noto Sans Symbols"/>
              <a:buChar char="❖"/>
            </a:pPr>
            <a:r>
              <a:rPr lang="en-US" sz="2200">
                <a:solidFill>
                  <a:srgbClr val="320E04"/>
                </a:solidFill>
                <a:latin typeface="Arial"/>
                <a:ea typeface="Arial"/>
                <a:cs typeface="Arial"/>
                <a:sym typeface="Arial"/>
              </a:rPr>
              <a:t>A counter counts what microinstruction we are on. For each value of the counter a different set of microinstructions is output.</a:t>
            </a:r>
            <a:endParaRPr/>
          </a:p>
          <a:p>
            <a:pPr marL="25400" marR="0" lvl="0" indent="0" algn="l" rtl="0">
              <a:lnSpc>
                <a:spcPct val="80000"/>
              </a:lnSpc>
              <a:spcBef>
                <a:spcPts val="550"/>
              </a:spcBef>
              <a:spcAft>
                <a:spcPts val="0"/>
              </a:spcAft>
              <a:buNone/>
            </a:pPr>
            <a:endParaRPr sz="2200">
              <a:solidFill>
                <a:srgbClr val="320E04"/>
              </a:solidFill>
              <a:latin typeface="Arial"/>
              <a:ea typeface="Arial"/>
              <a:cs typeface="Arial"/>
              <a:sym typeface="Arial"/>
            </a:endParaRPr>
          </a:p>
          <a:p>
            <a:pPr marL="25400" marR="0" lvl="0" indent="-97790" algn="l" rtl="0">
              <a:lnSpc>
                <a:spcPct val="80000"/>
              </a:lnSpc>
              <a:spcBef>
                <a:spcPts val="550"/>
              </a:spcBef>
              <a:spcAft>
                <a:spcPts val="0"/>
              </a:spcAft>
              <a:buClr>
                <a:srgbClr val="660000"/>
              </a:buClr>
              <a:buSzPts val="1540"/>
              <a:buFont typeface="Noto Sans Symbols"/>
              <a:buChar char="❖"/>
            </a:pPr>
            <a:r>
              <a:rPr lang="en-US" sz="2200">
                <a:solidFill>
                  <a:srgbClr val="320E04"/>
                </a:solidFill>
                <a:latin typeface="Arial"/>
                <a:ea typeface="Arial"/>
                <a:cs typeface="Arial"/>
                <a:sym typeface="Arial"/>
              </a:rPr>
              <a:t>At the end of the instruction (after microinstruction 4 or earlier) the counter is reset to 0, and execution of the next instruction begins</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623"/>
        <p:cNvGrpSpPr/>
        <p:nvPr/>
      </p:nvGrpSpPr>
      <p:grpSpPr>
        <a:xfrm>
          <a:off x="0" y="0"/>
          <a:ext cx="0" cy="0"/>
          <a:chOff x="0" y="0"/>
          <a:chExt cx="0" cy="0"/>
        </a:xfrm>
      </p:grpSpPr>
      <p:sp>
        <p:nvSpPr>
          <p:cNvPr id="1624" name="Google Shape;1624;p142"/>
          <p:cNvSpPr txBox="1"/>
          <p:nvPr/>
        </p:nvSpPr>
        <p:spPr>
          <a:xfrm>
            <a:off x="2133601" y="850900"/>
            <a:ext cx="7407275" cy="1739900"/>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r>
              <a:rPr lang="en-US" sz="5400">
                <a:solidFill>
                  <a:srgbClr val="420000"/>
                </a:solidFill>
                <a:latin typeface="Times New Roman"/>
                <a:ea typeface="Times New Roman"/>
                <a:cs typeface="Times New Roman"/>
                <a:sym typeface="Times New Roman"/>
              </a:rPr>
              <a:t>Hardware Implementation</a:t>
            </a:r>
            <a:br>
              <a:rPr lang="en-US" sz="5400">
                <a:solidFill>
                  <a:srgbClr val="420000"/>
                </a:solidFill>
                <a:latin typeface="Times New Roman"/>
                <a:ea typeface="Times New Roman"/>
                <a:cs typeface="Times New Roman"/>
                <a:sym typeface="Times New Roman"/>
              </a:rPr>
            </a:br>
            <a:endParaRPr sz="5400">
              <a:solidFill>
                <a:srgbClr val="420000"/>
              </a:solidFill>
              <a:latin typeface="Times New Roman"/>
              <a:ea typeface="Times New Roman"/>
              <a:cs typeface="Times New Roman"/>
              <a:sym typeface="Times New Roman"/>
            </a:endParaRPr>
          </a:p>
        </p:txBody>
      </p:sp>
      <p:sp>
        <p:nvSpPr>
          <p:cNvPr id="1625" name="Google Shape;1625;p142"/>
          <p:cNvSpPr txBox="1"/>
          <p:nvPr/>
        </p:nvSpPr>
        <p:spPr>
          <a:xfrm>
            <a:off x="2438401" y="2001838"/>
            <a:ext cx="7407275" cy="4627562"/>
          </a:xfrm>
          <a:prstGeom prst="rect">
            <a:avLst/>
          </a:prstGeom>
          <a:noFill/>
          <a:ln>
            <a:noFill/>
          </a:ln>
        </p:spPr>
        <p:txBody>
          <a:bodyPr spcFirstLastPara="1" wrap="square" lIns="91425" tIns="0" rIns="91425" bIns="45700" anchor="t" anchorCtr="0">
            <a:noAutofit/>
          </a:bodyPr>
          <a:lstStyle/>
          <a:p>
            <a:pPr marL="457200" marR="0" lvl="1" indent="0" algn="ctr" rtl="0">
              <a:spcBef>
                <a:spcPts val="0"/>
              </a:spcBef>
              <a:spcAft>
                <a:spcPts val="0"/>
              </a:spcAft>
              <a:buNone/>
            </a:pPr>
            <a:endParaRPr sz="2800" b="0" i="0" u="none" strike="noStrike" cap="none">
              <a:solidFill>
                <a:srgbClr val="000000"/>
              </a:solidFill>
              <a:latin typeface="Times New Roman"/>
              <a:ea typeface="Times New Roman"/>
              <a:cs typeface="Times New Roman"/>
              <a:sym typeface="Times New Roman"/>
            </a:endParaRPr>
          </a:p>
          <a:p>
            <a:pPr marL="457200" marR="0" lvl="1" indent="0" algn="ctr" rtl="0">
              <a:spcBef>
                <a:spcPts val="700"/>
              </a:spcBef>
              <a:spcAft>
                <a:spcPts val="0"/>
              </a:spcAft>
              <a:buNone/>
            </a:pPr>
            <a:endParaRPr sz="2800" b="0" i="0" u="none" strike="noStrike" cap="none">
              <a:solidFill>
                <a:srgbClr val="000000"/>
              </a:solidFill>
              <a:latin typeface="Times New Roman"/>
              <a:ea typeface="Times New Roman"/>
              <a:cs typeface="Times New Roman"/>
              <a:sym typeface="Times New Roman"/>
            </a:endParaRPr>
          </a:p>
          <a:p>
            <a:pPr marL="457200" marR="0" lvl="1" indent="0" algn="ctr" rtl="0">
              <a:spcBef>
                <a:spcPts val="700"/>
              </a:spcBef>
              <a:spcAft>
                <a:spcPts val="0"/>
              </a:spcAft>
              <a:buNone/>
            </a:pPr>
            <a:endParaRPr sz="2800" b="0" i="0" u="none" strike="noStrike" cap="none">
              <a:solidFill>
                <a:srgbClr val="000000"/>
              </a:solidFill>
              <a:latin typeface="Times New Roman"/>
              <a:ea typeface="Times New Roman"/>
              <a:cs typeface="Times New Roman"/>
              <a:sym typeface="Times New Roman"/>
            </a:endParaRPr>
          </a:p>
          <a:p>
            <a:pPr marL="457200" marR="0" lvl="1" indent="0" algn="ctr" rtl="0">
              <a:spcBef>
                <a:spcPts val="700"/>
              </a:spcBef>
              <a:spcAft>
                <a:spcPts val="0"/>
              </a:spcAft>
              <a:buNone/>
            </a:pPr>
            <a:endParaRPr sz="2800" b="0" i="0" u="none" strike="noStrike" cap="none">
              <a:solidFill>
                <a:srgbClr val="000000"/>
              </a:solidFill>
              <a:latin typeface="Times New Roman"/>
              <a:ea typeface="Times New Roman"/>
              <a:cs typeface="Times New Roman"/>
              <a:sym typeface="Times New Roman"/>
            </a:endParaRPr>
          </a:p>
          <a:p>
            <a:pPr marL="457200" marR="0" lvl="1" indent="0" algn="ctr" rtl="0">
              <a:spcBef>
                <a:spcPts val="700"/>
              </a:spcBef>
              <a:spcAft>
                <a:spcPts val="0"/>
              </a:spcAft>
              <a:buNone/>
            </a:pPr>
            <a:endParaRPr sz="2800" b="0" i="0" u="none" strike="noStrike" cap="none">
              <a:solidFill>
                <a:srgbClr val="000000"/>
              </a:solidFill>
              <a:latin typeface="Times New Roman"/>
              <a:ea typeface="Times New Roman"/>
              <a:cs typeface="Times New Roman"/>
              <a:sym typeface="Times New Roman"/>
            </a:endParaRPr>
          </a:p>
          <a:p>
            <a:pPr marL="457200" marR="0" lvl="1" indent="-133350" algn="l" rtl="0">
              <a:spcBef>
                <a:spcPts val="700"/>
              </a:spcBef>
              <a:spcAft>
                <a:spcPts val="0"/>
              </a:spcAft>
              <a:buClr>
                <a:srgbClr val="999966"/>
              </a:buClr>
              <a:buSzPts val="2100"/>
              <a:buFont typeface="Noto Sans Symbols"/>
              <a:buChar char="❖"/>
            </a:pPr>
            <a:r>
              <a:rPr lang="en-US" sz="2800" b="0" i="0" u="none" strike="noStrike" cap="none">
                <a:solidFill>
                  <a:srgbClr val="000000"/>
                </a:solidFill>
                <a:latin typeface="Times New Roman"/>
                <a:ea typeface="Times New Roman"/>
                <a:cs typeface="Times New Roman"/>
                <a:sym typeface="Times New Roman"/>
              </a:rPr>
              <a:t>URISC hardware can be implemented in various forms best suited for optimizing one instruction</a:t>
            </a:r>
            <a:endParaRPr/>
          </a:p>
        </p:txBody>
      </p:sp>
      <p:pic>
        <p:nvPicPr>
          <p:cNvPr id="1626" name="Google Shape;1626;p142"/>
          <p:cNvPicPr preferRelativeResize="0"/>
          <p:nvPr/>
        </p:nvPicPr>
        <p:blipFill rotWithShape="1">
          <a:blip r:embed="rId3">
            <a:alphaModFix/>
          </a:blip>
          <a:srcRect/>
          <a:stretch/>
        </p:blipFill>
        <p:spPr>
          <a:xfrm>
            <a:off x="3429001" y="2257426"/>
            <a:ext cx="4886325" cy="1933575"/>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631"/>
        <p:cNvGrpSpPr/>
        <p:nvPr/>
      </p:nvGrpSpPr>
      <p:grpSpPr>
        <a:xfrm>
          <a:off x="0" y="0"/>
          <a:ext cx="0" cy="0"/>
          <a:chOff x="0" y="0"/>
          <a:chExt cx="0" cy="0"/>
        </a:xfrm>
      </p:grpSpPr>
      <p:sp>
        <p:nvSpPr>
          <p:cNvPr id="1632" name="Google Shape;1632;p143"/>
          <p:cNvSpPr txBox="1"/>
          <p:nvPr/>
        </p:nvSpPr>
        <p:spPr>
          <a:xfrm>
            <a:off x="2362201" y="241300"/>
            <a:ext cx="7407275" cy="1739900"/>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r>
              <a:rPr lang="en-US" sz="5400">
                <a:solidFill>
                  <a:srgbClr val="420000"/>
                </a:solidFill>
                <a:latin typeface="Times New Roman"/>
                <a:ea typeface="Times New Roman"/>
                <a:cs typeface="Times New Roman"/>
                <a:sym typeface="Times New Roman"/>
              </a:rPr>
              <a:t>Hardware Implementation</a:t>
            </a:r>
            <a:br>
              <a:rPr lang="en-US" sz="5400">
                <a:solidFill>
                  <a:srgbClr val="420000"/>
                </a:solidFill>
                <a:latin typeface="Times New Roman"/>
                <a:ea typeface="Times New Roman"/>
                <a:cs typeface="Times New Roman"/>
                <a:sym typeface="Times New Roman"/>
              </a:rPr>
            </a:br>
            <a:endParaRPr sz="5400">
              <a:solidFill>
                <a:srgbClr val="420000"/>
              </a:solidFill>
              <a:latin typeface="Times New Roman"/>
              <a:ea typeface="Times New Roman"/>
              <a:cs typeface="Times New Roman"/>
              <a:sym typeface="Times New Roman"/>
            </a:endParaRPr>
          </a:p>
        </p:txBody>
      </p:sp>
      <p:sp>
        <p:nvSpPr>
          <p:cNvPr id="1633" name="Google Shape;1633;p143"/>
          <p:cNvSpPr txBox="1"/>
          <p:nvPr/>
        </p:nvSpPr>
        <p:spPr>
          <a:xfrm>
            <a:off x="2743201" y="1295401"/>
            <a:ext cx="7407275" cy="4627563"/>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1634" name="Google Shape;1634;p143"/>
          <p:cNvGraphicFramePr/>
          <p:nvPr/>
        </p:nvGraphicFramePr>
        <p:xfrm>
          <a:off x="4495801" y="1143000"/>
          <a:ext cx="3552825" cy="5334000"/>
        </p:xfrm>
        <a:graphic>
          <a:graphicData uri="http://schemas.openxmlformats.org/presentationml/2006/ole">
            <mc:AlternateContent xmlns:mc="http://schemas.openxmlformats.org/markup-compatibility/2006">
              <mc:Choice xmlns:v="urn:schemas-microsoft-com:vml" Requires="v">
                <p:oleObj r:id="rId3" imgW="3552825" imgH="5334000" progId="">
                  <p:embed/>
                </p:oleObj>
              </mc:Choice>
              <mc:Fallback>
                <p:oleObj r:id="rId3" imgW="3552825" imgH="5334000" progId="">
                  <p:embed/>
                  <p:pic>
                    <p:nvPicPr>
                      <p:cNvPr id="1634" name="Google Shape;1634;p143"/>
                      <p:cNvPicPr preferRelativeResize="0"/>
                      <p:nvPr/>
                    </p:nvPicPr>
                    <p:blipFill rotWithShape="1">
                      <a:blip r:embed="rId4">
                        <a:alphaModFix/>
                      </a:blip>
                      <a:srcRect/>
                      <a:stretch/>
                    </p:blipFill>
                    <p:spPr>
                      <a:xfrm>
                        <a:off x="4495801" y="1143000"/>
                        <a:ext cx="3552825" cy="5334000"/>
                      </a:xfrm>
                      <a:prstGeom prst="rect">
                        <a:avLst/>
                      </a:prstGeom>
                      <a:noFill/>
                      <a:ln>
                        <a:noFill/>
                      </a:ln>
                    </p:spPr>
                  </p:pic>
                </p:oleObj>
              </mc:Fallback>
            </mc:AlternateContent>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1639"/>
        <p:cNvGrpSpPr/>
        <p:nvPr/>
      </p:nvGrpSpPr>
      <p:grpSpPr>
        <a:xfrm>
          <a:off x="0" y="0"/>
          <a:ext cx="0" cy="0"/>
          <a:chOff x="0" y="0"/>
          <a:chExt cx="0" cy="0"/>
        </a:xfrm>
      </p:grpSpPr>
      <p:sp>
        <p:nvSpPr>
          <p:cNvPr id="1640" name="Google Shape;1640;p144"/>
          <p:cNvSpPr txBox="1"/>
          <p:nvPr/>
        </p:nvSpPr>
        <p:spPr>
          <a:xfrm>
            <a:off x="2286001" y="927100"/>
            <a:ext cx="7407275" cy="1739900"/>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r>
              <a:rPr lang="en-US" sz="5400">
                <a:solidFill>
                  <a:srgbClr val="420000"/>
                </a:solidFill>
                <a:latin typeface="Times New Roman"/>
                <a:ea typeface="Times New Roman"/>
                <a:cs typeface="Times New Roman"/>
                <a:sym typeface="Times New Roman"/>
              </a:rPr>
              <a:t>Hardware Implementation</a:t>
            </a:r>
            <a:br>
              <a:rPr lang="en-US" sz="5400">
                <a:solidFill>
                  <a:srgbClr val="420000"/>
                </a:solidFill>
                <a:latin typeface="Times New Roman"/>
                <a:ea typeface="Times New Roman"/>
                <a:cs typeface="Times New Roman"/>
                <a:sym typeface="Times New Roman"/>
              </a:rPr>
            </a:br>
            <a:endParaRPr sz="5400">
              <a:solidFill>
                <a:srgbClr val="420000"/>
              </a:solidFill>
              <a:latin typeface="Times New Roman"/>
              <a:ea typeface="Times New Roman"/>
              <a:cs typeface="Times New Roman"/>
              <a:sym typeface="Times New Roman"/>
            </a:endParaRPr>
          </a:p>
        </p:txBody>
      </p:sp>
      <p:sp>
        <p:nvSpPr>
          <p:cNvPr id="1641" name="Google Shape;1641;p144"/>
          <p:cNvSpPr txBox="1"/>
          <p:nvPr/>
        </p:nvSpPr>
        <p:spPr>
          <a:xfrm>
            <a:off x="2438401" y="2078038"/>
            <a:ext cx="7407275" cy="4627562"/>
          </a:xfrm>
          <a:prstGeom prst="rect">
            <a:avLst/>
          </a:prstGeom>
          <a:noFill/>
          <a:ln>
            <a:noFill/>
          </a:ln>
        </p:spPr>
        <p:txBody>
          <a:bodyPr spcFirstLastPara="1" wrap="square" lIns="91425" tIns="0" rIns="91425" bIns="45700" anchor="t" anchorCtr="0">
            <a:noAutofit/>
          </a:bodyPr>
          <a:lstStyle/>
          <a:p>
            <a:pPr marL="25400" marR="0" lvl="0" indent="-97790" algn="l" rtl="0">
              <a:lnSpc>
                <a:spcPct val="90000"/>
              </a:lnSpc>
              <a:spcBef>
                <a:spcPts val="0"/>
              </a:spcBef>
              <a:spcAft>
                <a:spcPts val="0"/>
              </a:spcAft>
              <a:buClr>
                <a:srgbClr val="660000"/>
              </a:buClr>
              <a:buSzPts val="1540"/>
              <a:buFont typeface="Noto Sans Symbols"/>
              <a:buChar char="❖"/>
            </a:pPr>
            <a:r>
              <a:rPr lang="en-US" sz="2200">
                <a:solidFill>
                  <a:srgbClr val="320E04"/>
                </a:solidFill>
                <a:latin typeface="Arial"/>
                <a:ea typeface="Arial"/>
                <a:cs typeface="Arial"/>
                <a:sym typeface="Arial"/>
              </a:rPr>
              <a:t>The URISC Computer uses minimal hardware.</a:t>
            </a:r>
            <a:endParaRPr/>
          </a:p>
          <a:p>
            <a:pPr marL="25400" marR="0" lvl="0" indent="-97790" algn="l" rtl="0">
              <a:lnSpc>
                <a:spcPct val="90000"/>
              </a:lnSpc>
              <a:spcBef>
                <a:spcPts val="550"/>
              </a:spcBef>
              <a:spcAft>
                <a:spcPts val="0"/>
              </a:spcAft>
              <a:buClr>
                <a:srgbClr val="660000"/>
              </a:buClr>
              <a:buSzPts val="1540"/>
              <a:buFont typeface="Noto Sans Symbols"/>
              <a:buChar char="❖"/>
            </a:pPr>
            <a:r>
              <a:rPr lang="en-US" sz="2200">
                <a:solidFill>
                  <a:srgbClr val="320E04"/>
                </a:solidFill>
                <a:latin typeface="Arial"/>
                <a:ea typeface="Arial"/>
                <a:cs typeface="Arial"/>
                <a:sym typeface="Arial"/>
              </a:rPr>
              <a:t>To implement the instruction we need to:</a:t>
            </a:r>
            <a:endParaRPr/>
          </a:p>
          <a:p>
            <a:pPr marL="457200" marR="0" lvl="1" indent="0" algn="ctr" rtl="0">
              <a:lnSpc>
                <a:spcPct val="90000"/>
              </a:lnSpc>
              <a:spcBef>
                <a:spcPts val="475"/>
              </a:spcBef>
              <a:spcAft>
                <a:spcPts val="0"/>
              </a:spcAft>
              <a:buNone/>
            </a:pPr>
            <a:r>
              <a:rPr lang="en-US" sz="1900" b="0" i="0" u="none" strike="noStrike" cap="none">
                <a:solidFill>
                  <a:srgbClr val="000000"/>
                </a:solidFill>
                <a:latin typeface="Times New Roman"/>
                <a:ea typeface="Times New Roman"/>
                <a:cs typeface="Times New Roman"/>
                <a:sym typeface="Times New Roman"/>
              </a:rPr>
              <a:t>check to see if PC = 0</a:t>
            </a:r>
            <a:endParaRPr/>
          </a:p>
          <a:p>
            <a:pPr marL="457200" marR="0" lvl="1" indent="0" algn="ctr" rtl="0">
              <a:lnSpc>
                <a:spcPct val="90000"/>
              </a:lnSpc>
              <a:spcBef>
                <a:spcPts val="475"/>
              </a:spcBef>
              <a:spcAft>
                <a:spcPts val="0"/>
              </a:spcAft>
              <a:buNone/>
            </a:pPr>
            <a:r>
              <a:rPr lang="en-US" sz="1900" b="0" i="0" u="none" strike="noStrike" cap="none">
                <a:solidFill>
                  <a:srgbClr val="000000"/>
                </a:solidFill>
                <a:latin typeface="Times New Roman"/>
                <a:ea typeface="Times New Roman"/>
                <a:cs typeface="Times New Roman"/>
                <a:sym typeface="Times New Roman"/>
              </a:rPr>
              <a:t>load the first operand</a:t>
            </a:r>
            <a:endParaRPr/>
          </a:p>
          <a:p>
            <a:pPr marL="457200" marR="0" lvl="1" indent="0" algn="ctr" rtl="0">
              <a:lnSpc>
                <a:spcPct val="90000"/>
              </a:lnSpc>
              <a:spcBef>
                <a:spcPts val="475"/>
              </a:spcBef>
              <a:spcAft>
                <a:spcPts val="0"/>
              </a:spcAft>
              <a:buNone/>
            </a:pPr>
            <a:r>
              <a:rPr lang="en-US" sz="1900" b="0" i="0" u="none" strike="noStrike" cap="none">
                <a:solidFill>
                  <a:srgbClr val="000000"/>
                </a:solidFill>
                <a:latin typeface="Times New Roman"/>
                <a:ea typeface="Times New Roman"/>
                <a:cs typeface="Times New Roman"/>
                <a:sym typeface="Times New Roman"/>
              </a:rPr>
              <a:t>increment PC</a:t>
            </a:r>
            <a:endParaRPr/>
          </a:p>
          <a:p>
            <a:pPr marL="457200" marR="0" lvl="1" indent="0" algn="ctr" rtl="0">
              <a:lnSpc>
                <a:spcPct val="90000"/>
              </a:lnSpc>
              <a:spcBef>
                <a:spcPts val="475"/>
              </a:spcBef>
              <a:spcAft>
                <a:spcPts val="0"/>
              </a:spcAft>
              <a:buNone/>
            </a:pPr>
            <a:r>
              <a:rPr lang="en-US" sz="1900" b="0" i="0" u="none" strike="noStrike" cap="none">
                <a:solidFill>
                  <a:srgbClr val="000000"/>
                </a:solidFill>
                <a:latin typeface="Times New Roman"/>
                <a:ea typeface="Times New Roman"/>
                <a:cs typeface="Times New Roman"/>
                <a:sym typeface="Times New Roman"/>
              </a:rPr>
              <a:t>load the second operand</a:t>
            </a:r>
            <a:endParaRPr/>
          </a:p>
          <a:p>
            <a:pPr marL="457200" marR="0" lvl="1" indent="0" algn="ctr" rtl="0">
              <a:lnSpc>
                <a:spcPct val="90000"/>
              </a:lnSpc>
              <a:spcBef>
                <a:spcPts val="475"/>
              </a:spcBef>
              <a:spcAft>
                <a:spcPts val="0"/>
              </a:spcAft>
              <a:buNone/>
            </a:pPr>
            <a:r>
              <a:rPr lang="en-US" sz="1900" b="0" i="0" u="none" strike="noStrike" cap="none">
                <a:solidFill>
                  <a:srgbClr val="000000"/>
                </a:solidFill>
                <a:latin typeface="Times New Roman"/>
                <a:ea typeface="Times New Roman"/>
                <a:cs typeface="Times New Roman"/>
                <a:sym typeface="Times New Roman"/>
              </a:rPr>
              <a:t>subtract the operand</a:t>
            </a:r>
            <a:endParaRPr/>
          </a:p>
          <a:p>
            <a:pPr marL="457200" marR="0" lvl="1" indent="0" algn="ctr" rtl="0">
              <a:lnSpc>
                <a:spcPct val="90000"/>
              </a:lnSpc>
              <a:spcBef>
                <a:spcPts val="475"/>
              </a:spcBef>
              <a:spcAft>
                <a:spcPts val="0"/>
              </a:spcAft>
              <a:buNone/>
            </a:pPr>
            <a:r>
              <a:rPr lang="en-US" sz="1900" b="0" i="0" u="none" strike="noStrike" cap="none">
                <a:solidFill>
                  <a:srgbClr val="000000"/>
                </a:solidFill>
                <a:latin typeface="Times New Roman"/>
                <a:ea typeface="Times New Roman"/>
                <a:cs typeface="Times New Roman"/>
                <a:sym typeface="Times New Roman"/>
              </a:rPr>
              <a:t>store result in to the second operand</a:t>
            </a:r>
            <a:endParaRPr/>
          </a:p>
          <a:p>
            <a:pPr marL="457200" marR="0" lvl="1" indent="0" algn="ctr" rtl="0">
              <a:lnSpc>
                <a:spcPct val="90000"/>
              </a:lnSpc>
              <a:spcBef>
                <a:spcPts val="475"/>
              </a:spcBef>
              <a:spcAft>
                <a:spcPts val="0"/>
              </a:spcAft>
              <a:buNone/>
            </a:pPr>
            <a:r>
              <a:rPr lang="en-US" sz="1900" b="0" i="0" u="none" strike="noStrike" cap="none">
                <a:solidFill>
                  <a:srgbClr val="000000"/>
                </a:solidFill>
                <a:latin typeface="Times New Roman"/>
                <a:ea typeface="Times New Roman"/>
                <a:cs typeface="Times New Roman"/>
                <a:sym typeface="Times New Roman"/>
              </a:rPr>
              <a:t>increment PC</a:t>
            </a:r>
            <a:endParaRPr/>
          </a:p>
          <a:p>
            <a:pPr marL="457200" marR="0" lvl="1" indent="0" algn="ctr" rtl="0">
              <a:lnSpc>
                <a:spcPct val="90000"/>
              </a:lnSpc>
              <a:spcBef>
                <a:spcPts val="475"/>
              </a:spcBef>
              <a:spcAft>
                <a:spcPts val="0"/>
              </a:spcAft>
              <a:buNone/>
            </a:pPr>
            <a:r>
              <a:rPr lang="en-US" sz="1900" b="0" i="0" u="none" strike="noStrike" cap="none">
                <a:solidFill>
                  <a:srgbClr val="000000"/>
                </a:solidFill>
                <a:latin typeface="Times New Roman"/>
                <a:ea typeface="Times New Roman"/>
                <a:cs typeface="Times New Roman"/>
                <a:sym typeface="Times New Roman"/>
              </a:rPr>
              <a:t>load target</a:t>
            </a:r>
            <a:endParaRPr/>
          </a:p>
          <a:p>
            <a:pPr marL="457200" marR="0" lvl="1" indent="0" algn="ctr" rtl="0">
              <a:lnSpc>
                <a:spcPct val="90000"/>
              </a:lnSpc>
              <a:spcBef>
                <a:spcPts val="475"/>
              </a:spcBef>
              <a:spcAft>
                <a:spcPts val="0"/>
              </a:spcAft>
              <a:buNone/>
            </a:pPr>
            <a:r>
              <a:rPr lang="en-US" sz="1900" b="0" i="0" u="none" strike="noStrike" cap="none">
                <a:solidFill>
                  <a:srgbClr val="000000"/>
                </a:solidFill>
                <a:latin typeface="Times New Roman"/>
                <a:ea typeface="Times New Roman"/>
                <a:cs typeface="Times New Roman"/>
                <a:sym typeface="Times New Roman"/>
              </a:rPr>
              <a:t>increment PC</a:t>
            </a:r>
            <a:endParaRPr/>
          </a:p>
          <a:p>
            <a:pPr marL="457200" marR="0" lvl="1" indent="0" algn="ctr" rtl="0">
              <a:lnSpc>
                <a:spcPct val="90000"/>
              </a:lnSpc>
              <a:spcBef>
                <a:spcPts val="475"/>
              </a:spcBef>
              <a:spcAft>
                <a:spcPts val="0"/>
              </a:spcAft>
              <a:buNone/>
            </a:pPr>
            <a:r>
              <a:rPr lang="en-US" sz="1900" b="0" i="0" u="none" strike="noStrike" cap="none">
                <a:solidFill>
                  <a:srgbClr val="000000"/>
                </a:solidFill>
                <a:latin typeface="Times New Roman"/>
                <a:ea typeface="Times New Roman"/>
                <a:cs typeface="Times New Roman"/>
                <a:sym typeface="Times New Roman"/>
              </a:rPr>
              <a:t>if result is negative, set PC to target</a:t>
            </a:r>
            <a:endParaRPr/>
          </a:p>
          <a:p>
            <a:pPr marL="457200" marR="0" lvl="1" indent="0" algn="ctr" rtl="0">
              <a:lnSpc>
                <a:spcPct val="90000"/>
              </a:lnSpc>
              <a:spcBef>
                <a:spcPts val="475"/>
              </a:spcBef>
              <a:spcAft>
                <a:spcPts val="0"/>
              </a:spcAft>
              <a:buNone/>
            </a:pPr>
            <a:r>
              <a:rPr lang="en-US" sz="1900" b="0" i="0" u="none" strike="noStrike" cap="none">
                <a:solidFill>
                  <a:srgbClr val="000000"/>
                </a:solidFill>
                <a:latin typeface="Times New Roman"/>
                <a:ea typeface="Times New Roman"/>
                <a:cs typeface="Times New Roman"/>
                <a:sym typeface="Times New Roman"/>
              </a:rPr>
              <a:t>						</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1646"/>
        <p:cNvGrpSpPr/>
        <p:nvPr/>
      </p:nvGrpSpPr>
      <p:grpSpPr>
        <a:xfrm>
          <a:off x="0" y="0"/>
          <a:ext cx="0" cy="0"/>
          <a:chOff x="0" y="0"/>
          <a:chExt cx="0" cy="0"/>
        </a:xfrm>
      </p:grpSpPr>
      <p:sp>
        <p:nvSpPr>
          <p:cNvPr id="1647" name="Google Shape;1647;p145"/>
          <p:cNvSpPr txBox="1"/>
          <p:nvPr/>
        </p:nvSpPr>
        <p:spPr>
          <a:xfrm>
            <a:off x="1981200" y="533400"/>
            <a:ext cx="8229600" cy="1143000"/>
          </a:xfrm>
          <a:prstGeom prst="rect">
            <a:avLst/>
          </a:prstGeom>
          <a:noFill/>
          <a:ln>
            <a:noFill/>
          </a:ln>
        </p:spPr>
        <p:txBody>
          <a:bodyPr spcFirstLastPara="1" wrap="square" lIns="90000" tIns="46800" rIns="90000" bIns="46800" anchor="ctr" anchorCtr="0">
            <a:noAutofit/>
          </a:bodyPr>
          <a:lstStyle/>
          <a:p>
            <a:pPr marL="0" marR="0" lvl="0" indent="0" algn="l" rtl="0">
              <a:spcBef>
                <a:spcPts val="0"/>
              </a:spcBef>
              <a:spcAft>
                <a:spcPts val="0"/>
              </a:spcAft>
              <a:buClr>
                <a:srgbClr val="420000"/>
              </a:buClr>
              <a:buSzPts val="4400"/>
              <a:buFont typeface="Times New Roman"/>
              <a:buNone/>
            </a:pPr>
            <a:r>
              <a:rPr lang="en-US" sz="4400">
                <a:solidFill>
                  <a:srgbClr val="420000"/>
                </a:solidFill>
                <a:latin typeface="Times New Roman"/>
                <a:ea typeface="Times New Roman"/>
                <a:cs typeface="Times New Roman"/>
                <a:sym typeface="Times New Roman"/>
              </a:rPr>
              <a:t>Cycle 1 – PC check to 0</a:t>
            </a:r>
            <a:endParaRPr/>
          </a:p>
        </p:txBody>
      </p:sp>
      <p:grpSp>
        <p:nvGrpSpPr>
          <p:cNvPr id="1648" name="Google Shape;1648;p145"/>
          <p:cNvGrpSpPr/>
          <p:nvPr/>
        </p:nvGrpSpPr>
        <p:grpSpPr>
          <a:xfrm>
            <a:off x="4702176" y="1828800"/>
            <a:ext cx="2786063" cy="4300538"/>
            <a:chOff x="2002" y="1152"/>
            <a:chExt cx="1755" cy="2709"/>
          </a:xfrm>
        </p:grpSpPr>
        <p:graphicFrame>
          <p:nvGraphicFramePr>
            <p:cNvPr id="1649" name="Google Shape;1649;p145"/>
            <p:cNvGraphicFramePr/>
            <p:nvPr/>
          </p:nvGraphicFramePr>
          <p:xfrm>
            <a:off x="2002" y="1152"/>
            <a:ext cx="1755" cy="2709"/>
          </p:xfrm>
          <a:graphic>
            <a:graphicData uri="http://schemas.openxmlformats.org/presentationml/2006/ole">
              <mc:AlternateContent xmlns:mc="http://schemas.openxmlformats.org/markup-compatibility/2006">
                <mc:Choice xmlns:v="urn:schemas-microsoft-com:vml" Requires="v">
                  <p:oleObj r:id="rId3" imgW="1755" imgH="2709" progId="">
                    <p:embed/>
                  </p:oleObj>
                </mc:Choice>
                <mc:Fallback>
                  <p:oleObj r:id="rId3" imgW="1755" imgH="2709" progId="">
                    <p:embed/>
                    <p:pic>
                      <p:nvPicPr>
                        <p:cNvPr id="1649" name="Google Shape;1649;p145"/>
                        <p:cNvPicPr preferRelativeResize="0"/>
                        <p:nvPr/>
                      </p:nvPicPr>
                      <p:blipFill rotWithShape="1">
                        <a:blip r:embed="rId4">
                          <a:alphaModFix/>
                        </a:blip>
                        <a:srcRect/>
                        <a:stretch/>
                      </p:blipFill>
                      <p:spPr>
                        <a:xfrm>
                          <a:off x="2002" y="1152"/>
                          <a:ext cx="1755" cy="2709"/>
                        </a:xfrm>
                        <a:prstGeom prst="rect">
                          <a:avLst/>
                        </a:prstGeom>
                        <a:noFill/>
                        <a:ln>
                          <a:noFill/>
                        </a:ln>
                      </p:spPr>
                    </p:pic>
                  </p:oleObj>
                </mc:Fallback>
              </mc:AlternateContent>
            </a:graphicData>
          </a:graphic>
        </p:graphicFrame>
        <p:sp>
          <p:nvSpPr>
            <p:cNvPr id="1650" name="Google Shape;1650;p145"/>
            <p:cNvSpPr txBox="1"/>
            <p:nvPr/>
          </p:nvSpPr>
          <p:spPr>
            <a:xfrm>
              <a:off x="2002" y="1152"/>
              <a:ext cx="1755" cy="2709"/>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3073" name="Picture 1">
            <a:extLst>
              <a:ext uri="{FF2B5EF4-FFF2-40B4-BE49-F238E27FC236}">
                <a16:creationId xmlns:a16="http://schemas.microsoft.com/office/drawing/2014/main" id="{5AB4975C-0BFE-9EDE-CE24-EB58CD3791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655"/>
        <p:cNvGrpSpPr/>
        <p:nvPr/>
      </p:nvGrpSpPr>
      <p:grpSpPr>
        <a:xfrm>
          <a:off x="0" y="0"/>
          <a:ext cx="0" cy="0"/>
          <a:chOff x="0" y="0"/>
          <a:chExt cx="0" cy="0"/>
        </a:xfrm>
      </p:grpSpPr>
      <p:sp>
        <p:nvSpPr>
          <p:cNvPr id="1656" name="Google Shape;1656;p146"/>
          <p:cNvSpPr txBox="1"/>
          <p:nvPr/>
        </p:nvSpPr>
        <p:spPr>
          <a:xfrm>
            <a:off x="1981200" y="533400"/>
            <a:ext cx="8229600" cy="1143000"/>
          </a:xfrm>
          <a:prstGeom prst="rect">
            <a:avLst/>
          </a:prstGeom>
          <a:noFill/>
          <a:ln>
            <a:noFill/>
          </a:ln>
        </p:spPr>
        <p:txBody>
          <a:bodyPr spcFirstLastPara="1" wrap="square" lIns="90000" tIns="46800" rIns="90000" bIns="46800" anchor="ctr" anchorCtr="0">
            <a:noAutofit/>
          </a:bodyPr>
          <a:lstStyle/>
          <a:p>
            <a:pPr marL="0" marR="0" lvl="0" indent="0" algn="l" rtl="0">
              <a:spcBef>
                <a:spcPts val="0"/>
              </a:spcBef>
              <a:spcAft>
                <a:spcPts val="0"/>
              </a:spcAft>
              <a:buClr>
                <a:srgbClr val="420000"/>
              </a:buClr>
              <a:buSzPts val="4400"/>
              <a:buFont typeface="Times New Roman"/>
              <a:buNone/>
            </a:pPr>
            <a:r>
              <a:rPr lang="en-US" sz="4400">
                <a:solidFill>
                  <a:srgbClr val="420000"/>
                </a:solidFill>
                <a:latin typeface="Times New Roman"/>
                <a:ea typeface="Times New Roman"/>
                <a:cs typeface="Times New Roman"/>
                <a:sym typeface="Times New Roman"/>
              </a:rPr>
              <a:t>Cycle 2 Loading New Operand</a:t>
            </a:r>
            <a:endParaRPr/>
          </a:p>
        </p:txBody>
      </p:sp>
      <p:grpSp>
        <p:nvGrpSpPr>
          <p:cNvPr id="1657" name="Google Shape;1657;p146"/>
          <p:cNvGrpSpPr/>
          <p:nvPr/>
        </p:nvGrpSpPr>
        <p:grpSpPr>
          <a:xfrm>
            <a:off x="4702176" y="1828800"/>
            <a:ext cx="2786063" cy="4300538"/>
            <a:chOff x="2002" y="1152"/>
            <a:chExt cx="1755" cy="2709"/>
          </a:xfrm>
        </p:grpSpPr>
        <p:graphicFrame>
          <p:nvGraphicFramePr>
            <p:cNvPr id="1658" name="Google Shape;1658;p146"/>
            <p:cNvGraphicFramePr/>
            <p:nvPr/>
          </p:nvGraphicFramePr>
          <p:xfrm>
            <a:off x="2002" y="1152"/>
            <a:ext cx="1755" cy="2709"/>
          </p:xfrm>
          <a:graphic>
            <a:graphicData uri="http://schemas.openxmlformats.org/presentationml/2006/ole">
              <mc:AlternateContent xmlns:mc="http://schemas.openxmlformats.org/markup-compatibility/2006">
                <mc:Choice xmlns:v="urn:schemas-microsoft-com:vml" Requires="v">
                  <p:oleObj r:id="rId3" imgW="1755" imgH="2709" progId="">
                    <p:embed/>
                  </p:oleObj>
                </mc:Choice>
                <mc:Fallback>
                  <p:oleObj r:id="rId3" imgW="1755" imgH="2709" progId="">
                    <p:embed/>
                    <p:pic>
                      <p:nvPicPr>
                        <p:cNvPr id="1658" name="Google Shape;1658;p146"/>
                        <p:cNvPicPr preferRelativeResize="0"/>
                        <p:nvPr/>
                      </p:nvPicPr>
                      <p:blipFill rotWithShape="1">
                        <a:blip r:embed="rId4">
                          <a:alphaModFix/>
                        </a:blip>
                        <a:srcRect/>
                        <a:stretch/>
                      </p:blipFill>
                      <p:spPr>
                        <a:xfrm>
                          <a:off x="2002" y="1152"/>
                          <a:ext cx="1755" cy="2709"/>
                        </a:xfrm>
                        <a:prstGeom prst="rect">
                          <a:avLst/>
                        </a:prstGeom>
                        <a:noFill/>
                        <a:ln>
                          <a:noFill/>
                        </a:ln>
                      </p:spPr>
                    </p:pic>
                  </p:oleObj>
                </mc:Fallback>
              </mc:AlternateContent>
            </a:graphicData>
          </a:graphic>
        </p:graphicFrame>
        <p:sp>
          <p:nvSpPr>
            <p:cNvPr id="1659" name="Google Shape;1659;p146"/>
            <p:cNvSpPr txBox="1"/>
            <p:nvPr/>
          </p:nvSpPr>
          <p:spPr>
            <a:xfrm>
              <a:off x="2002" y="1152"/>
              <a:ext cx="1755" cy="2709"/>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4097" name="Picture 1">
            <a:extLst>
              <a:ext uri="{FF2B5EF4-FFF2-40B4-BE49-F238E27FC236}">
                <a16:creationId xmlns:a16="http://schemas.microsoft.com/office/drawing/2014/main" id="{4A1373A2-D891-E49D-37A6-C23ED9332B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1664"/>
        <p:cNvGrpSpPr/>
        <p:nvPr/>
      </p:nvGrpSpPr>
      <p:grpSpPr>
        <a:xfrm>
          <a:off x="0" y="0"/>
          <a:ext cx="0" cy="0"/>
          <a:chOff x="0" y="0"/>
          <a:chExt cx="0" cy="0"/>
        </a:xfrm>
      </p:grpSpPr>
      <p:sp>
        <p:nvSpPr>
          <p:cNvPr id="1665" name="Google Shape;1665;p147"/>
          <p:cNvSpPr txBox="1"/>
          <p:nvPr/>
        </p:nvSpPr>
        <p:spPr>
          <a:xfrm>
            <a:off x="1981200" y="533400"/>
            <a:ext cx="8229600" cy="1143000"/>
          </a:xfrm>
          <a:prstGeom prst="rect">
            <a:avLst/>
          </a:prstGeom>
          <a:noFill/>
          <a:ln>
            <a:noFill/>
          </a:ln>
        </p:spPr>
        <p:txBody>
          <a:bodyPr spcFirstLastPara="1" wrap="square" lIns="90000" tIns="46800" rIns="90000" bIns="46800" anchor="ctr" anchorCtr="0">
            <a:noAutofit/>
          </a:bodyPr>
          <a:lstStyle/>
          <a:p>
            <a:pPr marL="0" marR="0" lvl="0" indent="0" algn="l" rtl="0">
              <a:spcBef>
                <a:spcPts val="0"/>
              </a:spcBef>
              <a:spcAft>
                <a:spcPts val="0"/>
              </a:spcAft>
              <a:buClr>
                <a:srgbClr val="420000"/>
              </a:buClr>
              <a:buSzPts val="4400"/>
              <a:buFont typeface="Times New Roman"/>
              <a:buNone/>
            </a:pPr>
            <a:r>
              <a:rPr lang="en-US" sz="4400">
                <a:solidFill>
                  <a:srgbClr val="420000"/>
                </a:solidFill>
                <a:latin typeface="Times New Roman"/>
                <a:ea typeface="Times New Roman"/>
                <a:cs typeface="Times New Roman"/>
                <a:sym typeface="Times New Roman"/>
              </a:rPr>
              <a:t>Cycle 3 PC Increment</a:t>
            </a:r>
            <a:endParaRPr/>
          </a:p>
        </p:txBody>
      </p:sp>
      <p:grpSp>
        <p:nvGrpSpPr>
          <p:cNvPr id="1666" name="Google Shape;1666;p147"/>
          <p:cNvGrpSpPr/>
          <p:nvPr/>
        </p:nvGrpSpPr>
        <p:grpSpPr>
          <a:xfrm>
            <a:off x="4702176" y="1828800"/>
            <a:ext cx="2786063" cy="4300538"/>
            <a:chOff x="2002" y="1152"/>
            <a:chExt cx="1755" cy="2709"/>
          </a:xfrm>
        </p:grpSpPr>
        <p:graphicFrame>
          <p:nvGraphicFramePr>
            <p:cNvPr id="1667" name="Google Shape;1667;p147"/>
            <p:cNvGraphicFramePr/>
            <p:nvPr/>
          </p:nvGraphicFramePr>
          <p:xfrm>
            <a:off x="2002" y="1152"/>
            <a:ext cx="1755" cy="2709"/>
          </p:xfrm>
          <a:graphic>
            <a:graphicData uri="http://schemas.openxmlformats.org/presentationml/2006/ole">
              <mc:AlternateContent xmlns:mc="http://schemas.openxmlformats.org/markup-compatibility/2006">
                <mc:Choice xmlns:v="urn:schemas-microsoft-com:vml" Requires="v">
                  <p:oleObj r:id="rId3" imgW="1755" imgH="2709" progId="">
                    <p:embed/>
                  </p:oleObj>
                </mc:Choice>
                <mc:Fallback>
                  <p:oleObj r:id="rId3" imgW="1755" imgH="2709" progId="">
                    <p:embed/>
                    <p:pic>
                      <p:nvPicPr>
                        <p:cNvPr id="1667" name="Google Shape;1667;p147"/>
                        <p:cNvPicPr preferRelativeResize="0"/>
                        <p:nvPr/>
                      </p:nvPicPr>
                      <p:blipFill rotWithShape="1">
                        <a:blip r:embed="rId4">
                          <a:alphaModFix/>
                        </a:blip>
                        <a:srcRect/>
                        <a:stretch/>
                      </p:blipFill>
                      <p:spPr>
                        <a:xfrm>
                          <a:off x="2002" y="1152"/>
                          <a:ext cx="1755" cy="2709"/>
                        </a:xfrm>
                        <a:prstGeom prst="rect">
                          <a:avLst/>
                        </a:prstGeom>
                        <a:noFill/>
                        <a:ln>
                          <a:noFill/>
                        </a:ln>
                      </p:spPr>
                    </p:pic>
                  </p:oleObj>
                </mc:Fallback>
              </mc:AlternateContent>
            </a:graphicData>
          </a:graphic>
        </p:graphicFrame>
        <p:sp>
          <p:nvSpPr>
            <p:cNvPr id="1668" name="Google Shape;1668;p147"/>
            <p:cNvSpPr txBox="1"/>
            <p:nvPr/>
          </p:nvSpPr>
          <p:spPr>
            <a:xfrm>
              <a:off x="2002" y="1152"/>
              <a:ext cx="1755" cy="2709"/>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5121" name="Picture 1">
            <a:extLst>
              <a:ext uri="{FF2B5EF4-FFF2-40B4-BE49-F238E27FC236}">
                <a16:creationId xmlns:a16="http://schemas.microsoft.com/office/drawing/2014/main" id="{6C7BCBC7-C694-8814-F349-117A69BE21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673"/>
        <p:cNvGrpSpPr/>
        <p:nvPr/>
      </p:nvGrpSpPr>
      <p:grpSpPr>
        <a:xfrm>
          <a:off x="0" y="0"/>
          <a:ext cx="0" cy="0"/>
          <a:chOff x="0" y="0"/>
          <a:chExt cx="0" cy="0"/>
        </a:xfrm>
      </p:grpSpPr>
      <p:sp>
        <p:nvSpPr>
          <p:cNvPr id="1674" name="Google Shape;1674;p148"/>
          <p:cNvSpPr txBox="1"/>
          <p:nvPr/>
        </p:nvSpPr>
        <p:spPr>
          <a:xfrm>
            <a:off x="1981200" y="533400"/>
            <a:ext cx="8229600" cy="1143000"/>
          </a:xfrm>
          <a:prstGeom prst="rect">
            <a:avLst/>
          </a:prstGeom>
          <a:noFill/>
          <a:ln>
            <a:noFill/>
          </a:ln>
        </p:spPr>
        <p:txBody>
          <a:bodyPr spcFirstLastPara="1" wrap="square" lIns="90000" tIns="46800" rIns="90000" bIns="46800" anchor="ctr" anchorCtr="0">
            <a:noAutofit/>
          </a:bodyPr>
          <a:lstStyle/>
          <a:p>
            <a:pPr marL="0" marR="0" lvl="0" indent="0" algn="l" rtl="0">
              <a:spcBef>
                <a:spcPts val="0"/>
              </a:spcBef>
              <a:spcAft>
                <a:spcPts val="0"/>
              </a:spcAft>
              <a:buClr>
                <a:srgbClr val="420000"/>
              </a:buClr>
              <a:buSzPts val="4400"/>
              <a:buFont typeface="Times New Roman"/>
              <a:buNone/>
            </a:pPr>
            <a:r>
              <a:rPr lang="en-US" sz="4400">
                <a:solidFill>
                  <a:srgbClr val="420000"/>
                </a:solidFill>
                <a:latin typeface="Times New Roman"/>
                <a:ea typeface="Times New Roman"/>
                <a:cs typeface="Times New Roman"/>
                <a:sym typeface="Times New Roman"/>
              </a:rPr>
              <a:t>Cycle 4 Load Second Operand</a:t>
            </a:r>
            <a:endParaRPr/>
          </a:p>
        </p:txBody>
      </p:sp>
      <p:grpSp>
        <p:nvGrpSpPr>
          <p:cNvPr id="1675" name="Google Shape;1675;p148"/>
          <p:cNvGrpSpPr/>
          <p:nvPr/>
        </p:nvGrpSpPr>
        <p:grpSpPr>
          <a:xfrm>
            <a:off x="4702176" y="1828800"/>
            <a:ext cx="2786063" cy="4300538"/>
            <a:chOff x="2002" y="1152"/>
            <a:chExt cx="1755" cy="2709"/>
          </a:xfrm>
        </p:grpSpPr>
        <p:graphicFrame>
          <p:nvGraphicFramePr>
            <p:cNvPr id="1676" name="Google Shape;1676;p148"/>
            <p:cNvGraphicFramePr/>
            <p:nvPr/>
          </p:nvGraphicFramePr>
          <p:xfrm>
            <a:off x="2002" y="1152"/>
            <a:ext cx="1755" cy="2709"/>
          </p:xfrm>
          <a:graphic>
            <a:graphicData uri="http://schemas.openxmlformats.org/presentationml/2006/ole">
              <mc:AlternateContent xmlns:mc="http://schemas.openxmlformats.org/markup-compatibility/2006">
                <mc:Choice xmlns:v="urn:schemas-microsoft-com:vml" Requires="v">
                  <p:oleObj r:id="rId3" imgW="1755" imgH="2709" progId="">
                    <p:embed/>
                  </p:oleObj>
                </mc:Choice>
                <mc:Fallback>
                  <p:oleObj r:id="rId3" imgW="1755" imgH="2709" progId="">
                    <p:embed/>
                    <p:pic>
                      <p:nvPicPr>
                        <p:cNvPr id="1676" name="Google Shape;1676;p148"/>
                        <p:cNvPicPr preferRelativeResize="0"/>
                        <p:nvPr/>
                      </p:nvPicPr>
                      <p:blipFill rotWithShape="1">
                        <a:blip r:embed="rId4">
                          <a:alphaModFix/>
                        </a:blip>
                        <a:srcRect/>
                        <a:stretch/>
                      </p:blipFill>
                      <p:spPr>
                        <a:xfrm>
                          <a:off x="2002" y="1152"/>
                          <a:ext cx="1755" cy="2709"/>
                        </a:xfrm>
                        <a:prstGeom prst="rect">
                          <a:avLst/>
                        </a:prstGeom>
                        <a:noFill/>
                        <a:ln>
                          <a:noFill/>
                        </a:ln>
                      </p:spPr>
                    </p:pic>
                  </p:oleObj>
                </mc:Fallback>
              </mc:AlternateContent>
            </a:graphicData>
          </a:graphic>
        </p:graphicFrame>
        <p:sp>
          <p:nvSpPr>
            <p:cNvPr id="1677" name="Google Shape;1677;p148"/>
            <p:cNvSpPr txBox="1"/>
            <p:nvPr/>
          </p:nvSpPr>
          <p:spPr>
            <a:xfrm>
              <a:off x="2002" y="1152"/>
              <a:ext cx="1755" cy="2709"/>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6145" name="Picture 1">
            <a:extLst>
              <a:ext uri="{FF2B5EF4-FFF2-40B4-BE49-F238E27FC236}">
                <a16:creationId xmlns:a16="http://schemas.microsoft.com/office/drawing/2014/main" id="{638B2685-033D-7378-94B1-B663FB34D3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1682"/>
        <p:cNvGrpSpPr/>
        <p:nvPr/>
      </p:nvGrpSpPr>
      <p:grpSpPr>
        <a:xfrm>
          <a:off x="0" y="0"/>
          <a:ext cx="0" cy="0"/>
          <a:chOff x="0" y="0"/>
          <a:chExt cx="0" cy="0"/>
        </a:xfrm>
      </p:grpSpPr>
      <p:sp>
        <p:nvSpPr>
          <p:cNvPr id="1683" name="Google Shape;1683;p149"/>
          <p:cNvSpPr txBox="1"/>
          <p:nvPr/>
        </p:nvSpPr>
        <p:spPr>
          <a:xfrm>
            <a:off x="1981200" y="533400"/>
            <a:ext cx="8229600" cy="1143000"/>
          </a:xfrm>
          <a:prstGeom prst="rect">
            <a:avLst/>
          </a:prstGeom>
          <a:noFill/>
          <a:ln>
            <a:noFill/>
          </a:ln>
        </p:spPr>
        <p:txBody>
          <a:bodyPr spcFirstLastPara="1" wrap="square" lIns="90000" tIns="46800" rIns="90000" bIns="46800" anchor="ctr" anchorCtr="0">
            <a:noAutofit/>
          </a:bodyPr>
          <a:lstStyle/>
          <a:p>
            <a:pPr marL="0" marR="0" lvl="0" indent="0" algn="l" rtl="0">
              <a:spcBef>
                <a:spcPts val="0"/>
              </a:spcBef>
              <a:spcAft>
                <a:spcPts val="0"/>
              </a:spcAft>
              <a:buClr>
                <a:srgbClr val="420000"/>
              </a:buClr>
              <a:buSzPts val="4400"/>
              <a:buFont typeface="Times New Roman"/>
              <a:buNone/>
            </a:pPr>
            <a:r>
              <a:rPr lang="en-US" sz="4400">
                <a:solidFill>
                  <a:srgbClr val="420000"/>
                </a:solidFill>
                <a:latin typeface="Times New Roman"/>
                <a:ea typeface="Times New Roman"/>
                <a:cs typeface="Times New Roman"/>
                <a:sym typeface="Times New Roman"/>
              </a:rPr>
              <a:t>Cycle 5 Subtract and Store </a:t>
            </a:r>
            <a:endParaRPr/>
          </a:p>
        </p:txBody>
      </p:sp>
      <p:grpSp>
        <p:nvGrpSpPr>
          <p:cNvPr id="1684" name="Google Shape;1684;p149"/>
          <p:cNvGrpSpPr/>
          <p:nvPr/>
        </p:nvGrpSpPr>
        <p:grpSpPr>
          <a:xfrm>
            <a:off x="4702176" y="1828800"/>
            <a:ext cx="2786063" cy="4300538"/>
            <a:chOff x="2002" y="1152"/>
            <a:chExt cx="1755" cy="2709"/>
          </a:xfrm>
        </p:grpSpPr>
        <p:graphicFrame>
          <p:nvGraphicFramePr>
            <p:cNvPr id="1685" name="Google Shape;1685;p149"/>
            <p:cNvGraphicFramePr/>
            <p:nvPr/>
          </p:nvGraphicFramePr>
          <p:xfrm>
            <a:off x="2002" y="1152"/>
            <a:ext cx="1755" cy="2709"/>
          </p:xfrm>
          <a:graphic>
            <a:graphicData uri="http://schemas.openxmlformats.org/presentationml/2006/ole">
              <mc:AlternateContent xmlns:mc="http://schemas.openxmlformats.org/markup-compatibility/2006">
                <mc:Choice xmlns:v="urn:schemas-microsoft-com:vml" Requires="v">
                  <p:oleObj r:id="rId3" imgW="1755" imgH="2709" progId="">
                    <p:embed/>
                  </p:oleObj>
                </mc:Choice>
                <mc:Fallback>
                  <p:oleObj r:id="rId3" imgW="1755" imgH="2709" progId="">
                    <p:embed/>
                    <p:pic>
                      <p:nvPicPr>
                        <p:cNvPr id="1685" name="Google Shape;1685;p149"/>
                        <p:cNvPicPr preferRelativeResize="0"/>
                        <p:nvPr/>
                      </p:nvPicPr>
                      <p:blipFill rotWithShape="1">
                        <a:blip r:embed="rId4">
                          <a:alphaModFix/>
                        </a:blip>
                        <a:srcRect/>
                        <a:stretch/>
                      </p:blipFill>
                      <p:spPr>
                        <a:xfrm>
                          <a:off x="2002" y="1152"/>
                          <a:ext cx="1755" cy="2709"/>
                        </a:xfrm>
                        <a:prstGeom prst="rect">
                          <a:avLst/>
                        </a:prstGeom>
                        <a:noFill/>
                        <a:ln>
                          <a:noFill/>
                        </a:ln>
                      </p:spPr>
                    </p:pic>
                  </p:oleObj>
                </mc:Fallback>
              </mc:AlternateContent>
            </a:graphicData>
          </a:graphic>
        </p:graphicFrame>
        <p:sp>
          <p:nvSpPr>
            <p:cNvPr id="1686" name="Google Shape;1686;p149"/>
            <p:cNvSpPr txBox="1"/>
            <p:nvPr/>
          </p:nvSpPr>
          <p:spPr>
            <a:xfrm>
              <a:off x="2002" y="1152"/>
              <a:ext cx="1755" cy="2709"/>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7169" name="Picture 1">
            <a:extLst>
              <a:ext uri="{FF2B5EF4-FFF2-40B4-BE49-F238E27FC236}">
                <a16:creationId xmlns:a16="http://schemas.microsoft.com/office/drawing/2014/main" id="{6F5B9C66-8B7F-77C2-7B4E-C7772AAEAF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1691"/>
        <p:cNvGrpSpPr/>
        <p:nvPr/>
      </p:nvGrpSpPr>
      <p:grpSpPr>
        <a:xfrm>
          <a:off x="0" y="0"/>
          <a:ext cx="0" cy="0"/>
          <a:chOff x="0" y="0"/>
          <a:chExt cx="0" cy="0"/>
        </a:xfrm>
      </p:grpSpPr>
      <p:sp>
        <p:nvSpPr>
          <p:cNvPr id="1692" name="Google Shape;1692;p150"/>
          <p:cNvSpPr txBox="1"/>
          <p:nvPr/>
        </p:nvSpPr>
        <p:spPr>
          <a:xfrm>
            <a:off x="1981200" y="533400"/>
            <a:ext cx="8229600" cy="1143000"/>
          </a:xfrm>
          <a:prstGeom prst="rect">
            <a:avLst/>
          </a:prstGeom>
          <a:noFill/>
          <a:ln>
            <a:noFill/>
          </a:ln>
        </p:spPr>
        <p:txBody>
          <a:bodyPr spcFirstLastPara="1" wrap="square" lIns="90000" tIns="46800" rIns="90000" bIns="46800" anchor="ctr" anchorCtr="0">
            <a:noAutofit/>
          </a:bodyPr>
          <a:lstStyle/>
          <a:p>
            <a:pPr marL="0" marR="0" lvl="0" indent="0" algn="l" rtl="0">
              <a:spcBef>
                <a:spcPts val="0"/>
              </a:spcBef>
              <a:spcAft>
                <a:spcPts val="0"/>
              </a:spcAft>
              <a:buClr>
                <a:srgbClr val="420000"/>
              </a:buClr>
              <a:buSzPts val="4400"/>
              <a:buFont typeface="Times New Roman"/>
              <a:buNone/>
            </a:pPr>
            <a:r>
              <a:rPr lang="en-US" sz="4400">
                <a:solidFill>
                  <a:srgbClr val="420000"/>
                </a:solidFill>
                <a:latin typeface="Times New Roman"/>
                <a:ea typeface="Times New Roman"/>
                <a:cs typeface="Times New Roman"/>
                <a:sym typeface="Times New Roman"/>
              </a:rPr>
              <a:t>Cycle 6 Load Target</a:t>
            </a:r>
            <a:endParaRPr/>
          </a:p>
        </p:txBody>
      </p:sp>
      <p:grpSp>
        <p:nvGrpSpPr>
          <p:cNvPr id="1693" name="Google Shape;1693;p150"/>
          <p:cNvGrpSpPr/>
          <p:nvPr/>
        </p:nvGrpSpPr>
        <p:grpSpPr>
          <a:xfrm>
            <a:off x="4702176" y="1828800"/>
            <a:ext cx="2786063" cy="4300538"/>
            <a:chOff x="2002" y="1152"/>
            <a:chExt cx="1755" cy="2709"/>
          </a:xfrm>
        </p:grpSpPr>
        <p:graphicFrame>
          <p:nvGraphicFramePr>
            <p:cNvPr id="1694" name="Google Shape;1694;p150"/>
            <p:cNvGraphicFramePr/>
            <p:nvPr/>
          </p:nvGraphicFramePr>
          <p:xfrm>
            <a:off x="2002" y="1152"/>
            <a:ext cx="1755" cy="2709"/>
          </p:xfrm>
          <a:graphic>
            <a:graphicData uri="http://schemas.openxmlformats.org/presentationml/2006/ole">
              <mc:AlternateContent xmlns:mc="http://schemas.openxmlformats.org/markup-compatibility/2006">
                <mc:Choice xmlns:v="urn:schemas-microsoft-com:vml" Requires="v">
                  <p:oleObj r:id="rId3" imgW="1755" imgH="2709" progId="">
                    <p:embed/>
                  </p:oleObj>
                </mc:Choice>
                <mc:Fallback>
                  <p:oleObj r:id="rId3" imgW="1755" imgH="2709" progId="">
                    <p:embed/>
                    <p:pic>
                      <p:nvPicPr>
                        <p:cNvPr id="1694" name="Google Shape;1694;p150"/>
                        <p:cNvPicPr preferRelativeResize="0"/>
                        <p:nvPr/>
                      </p:nvPicPr>
                      <p:blipFill rotWithShape="1">
                        <a:blip r:embed="rId4">
                          <a:alphaModFix/>
                        </a:blip>
                        <a:srcRect/>
                        <a:stretch/>
                      </p:blipFill>
                      <p:spPr>
                        <a:xfrm>
                          <a:off x="2002" y="1152"/>
                          <a:ext cx="1755" cy="2709"/>
                        </a:xfrm>
                        <a:prstGeom prst="rect">
                          <a:avLst/>
                        </a:prstGeom>
                        <a:noFill/>
                        <a:ln>
                          <a:noFill/>
                        </a:ln>
                      </p:spPr>
                    </p:pic>
                  </p:oleObj>
                </mc:Fallback>
              </mc:AlternateContent>
            </a:graphicData>
          </a:graphic>
        </p:graphicFrame>
        <p:sp>
          <p:nvSpPr>
            <p:cNvPr id="1695" name="Google Shape;1695;p150"/>
            <p:cNvSpPr txBox="1"/>
            <p:nvPr/>
          </p:nvSpPr>
          <p:spPr>
            <a:xfrm>
              <a:off x="2002" y="1152"/>
              <a:ext cx="1755" cy="2709"/>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8193" name="Picture 1">
            <a:extLst>
              <a:ext uri="{FF2B5EF4-FFF2-40B4-BE49-F238E27FC236}">
                <a16:creationId xmlns:a16="http://schemas.microsoft.com/office/drawing/2014/main" id="{E2AEE1C0-3629-5E41-8DB8-4ACB7784FF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1700"/>
        <p:cNvGrpSpPr/>
        <p:nvPr/>
      </p:nvGrpSpPr>
      <p:grpSpPr>
        <a:xfrm>
          <a:off x="0" y="0"/>
          <a:ext cx="0" cy="0"/>
          <a:chOff x="0" y="0"/>
          <a:chExt cx="0" cy="0"/>
        </a:xfrm>
      </p:grpSpPr>
      <p:sp>
        <p:nvSpPr>
          <p:cNvPr id="1701" name="Google Shape;1701;p151"/>
          <p:cNvSpPr txBox="1"/>
          <p:nvPr/>
        </p:nvSpPr>
        <p:spPr>
          <a:xfrm>
            <a:off x="1981200" y="533400"/>
            <a:ext cx="8229600" cy="1143000"/>
          </a:xfrm>
          <a:prstGeom prst="rect">
            <a:avLst/>
          </a:prstGeom>
          <a:noFill/>
          <a:ln>
            <a:noFill/>
          </a:ln>
        </p:spPr>
        <p:txBody>
          <a:bodyPr spcFirstLastPara="1" wrap="square" lIns="90000" tIns="46800" rIns="90000" bIns="46800" anchor="ctr" anchorCtr="0">
            <a:noAutofit/>
          </a:bodyPr>
          <a:lstStyle/>
          <a:p>
            <a:pPr marL="0" marR="0" lvl="0" indent="0" algn="l" rtl="0">
              <a:spcBef>
                <a:spcPts val="0"/>
              </a:spcBef>
              <a:spcAft>
                <a:spcPts val="0"/>
              </a:spcAft>
              <a:buClr>
                <a:srgbClr val="420000"/>
              </a:buClr>
              <a:buSzPts val="4400"/>
              <a:buFont typeface="Times New Roman"/>
              <a:buNone/>
            </a:pPr>
            <a:r>
              <a:rPr lang="en-US" sz="4400">
                <a:solidFill>
                  <a:srgbClr val="420000"/>
                </a:solidFill>
                <a:latin typeface="Times New Roman"/>
                <a:ea typeface="Times New Roman"/>
                <a:cs typeface="Times New Roman"/>
                <a:sym typeface="Times New Roman"/>
              </a:rPr>
              <a:t>Cycle 7 Load target IF PC -ive</a:t>
            </a:r>
            <a:endParaRPr/>
          </a:p>
        </p:txBody>
      </p:sp>
      <p:grpSp>
        <p:nvGrpSpPr>
          <p:cNvPr id="1702" name="Google Shape;1702;p151"/>
          <p:cNvGrpSpPr/>
          <p:nvPr/>
        </p:nvGrpSpPr>
        <p:grpSpPr>
          <a:xfrm>
            <a:off x="4702176" y="1828800"/>
            <a:ext cx="2786063" cy="4300538"/>
            <a:chOff x="2002" y="1152"/>
            <a:chExt cx="1755" cy="2709"/>
          </a:xfrm>
        </p:grpSpPr>
        <p:graphicFrame>
          <p:nvGraphicFramePr>
            <p:cNvPr id="1703" name="Google Shape;1703;p151"/>
            <p:cNvGraphicFramePr/>
            <p:nvPr/>
          </p:nvGraphicFramePr>
          <p:xfrm>
            <a:off x="2002" y="1152"/>
            <a:ext cx="1755" cy="2709"/>
          </p:xfrm>
          <a:graphic>
            <a:graphicData uri="http://schemas.openxmlformats.org/presentationml/2006/ole">
              <mc:AlternateContent xmlns:mc="http://schemas.openxmlformats.org/markup-compatibility/2006">
                <mc:Choice xmlns:v="urn:schemas-microsoft-com:vml" Requires="v">
                  <p:oleObj r:id="rId3" imgW="1755" imgH="2709" progId="">
                    <p:embed/>
                  </p:oleObj>
                </mc:Choice>
                <mc:Fallback>
                  <p:oleObj r:id="rId3" imgW="1755" imgH="2709" progId="">
                    <p:embed/>
                    <p:pic>
                      <p:nvPicPr>
                        <p:cNvPr id="1703" name="Google Shape;1703;p151"/>
                        <p:cNvPicPr preferRelativeResize="0"/>
                        <p:nvPr/>
                      </p:nvPicPr>
                      <p:blipFill rotWithShape="1">
                        <a:blip r:embed="rId4">
                          <a:alphaModFix/>
                        </a:blip>
                        <a:srcRect/>
                        <a:stretch/>
                      </p:blipFill>
                      <p:spPr>
                        <a:xfrm>
                          <a:off x="2002" y="1152"/>
                          <a:ext cx="1755" cy="2709"/>
                        </a:xfrm>
                        <a:prstGeom prst="rect">
                          <a:avLst/>
                        </a:prstGeom>
                        <a:noFill/>
                        <a:ln>
                          <a:noFill/>
                        </a:ln>
                      </p:spPr>
                    </p:pic>
                  </p:oleObj>
                </mc:Fallback>
              </mc:AlternateContent>
            </a:graphicData>
          </a:graphic>
        </p:graphicFrame>
        <p:sp>
          <p:nvSpPr>
            <p:cNvPr id="1704" name="Google Shape;1704;p151"/>
            <p:cNvSpPr txBox="1"/>
            <p:nvPr/>
          </p:nvSpPr>
          <p:spPr>
            <a:xfrm>
              <a:off x="2002" y="1152"/>
              <a:ext cx="1755" cy="2709"/>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9217" name="Picture 1">
            <a:extLst>
              <a:ext uri="{FF2B5EF4-FFF2-40B4-BE49-F238E27FC236}">
                <a16:creationId xmlns:a16="http://schemas.microsoft.com/office/drawing/2014/main" id="{A5F22B3B-DFE4-0956-173E-537AD5F65A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152"/>
          <p:cNvSpPr txBox="1"/>
          <p:nvPr/>
        </p:nvSpPr>
        <p:spPr>
          <a:xfrm>
            <a:off x="2286001" y="798513"/>
            <a:ext cx="7407275" cy="1739900"/>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r>
              <a:rPr lang="en-US" sz="5400">
                <a:solidFill>
                  <a:srgbClr val="420000"/>
                </a:solidFill>
                <a:latin typeface="Times New Roman"/>
                <a:ea typeface="Times New Roman"/>
                <a:cs typeface="Times New Roman"/>
                <a:sym typeface="Times New Roman"/>
              </a:rPr>
              <a:t>Problems with URISC</a:t>
            </a:r>
            <a:br>
              <a:rPr lang="en-US" sz="5400">
                <a:solidFill>
                  <a:srgbClr val="420000"/>
                </a:solidFill>
                <a:latin typeface="Times New Roman"/>
                <a:ea typeface="Times New Roman"/>
                <a:cs typeface="Times New Roman"/>
                <a:sym typeface="Times New Roman"/>
              </a:rPr>
            </a:br>
            <a:endParaRPr sz="5400">
              <a:solidFill>
                <a:srgbClr val="420000"/>
              </a:solidFill>
              <a:latin typeface="Times New Roman"/>
              <a:ea typeface="Times New Roman"/>
              <a:cs typeface="Times New Roman"/>
              <a:sym typeface="Times New Roman"/>
            </a:endParaRPr>
          </a:p>
        </p:txBody>
      </p:sp>
      <p:sp>
        <p:nvSpPr>
          <p:cNvPr id="1711" name="Google Shape;1711;p152"/>
          <p:cNvSpPr txBox="1"/>
          <p:nvPr/>
        </p:nvSpPr>
        <p:spPr>
          <a:xfrm>
            <a:off x="2209801" y="2154238"/>
            <a:ext cx="7407275" cy="4627562"/>
          </a:xfrm>
          <a:prstGeom prst="rect">
            <a:avLst/>
          </a:prstGeom>
          <a:noFill/>
          <a:ln>
            <a:noFill/>
          </a:ln>
        </p:spPr>
        <p:txBody>
          <a:bodyPr spcFirstLastPara="1" wrap="square" lIns="91425" tIns="0" rIns="91425" bIns="45700" anchor="t" anchorCtr="0">
            <a:noAutofit/>
          </a:bodyPr>
          <a:lstStyle/>
          <a:p>
            <a:pPr marL="457200" marR="0" lvl="1" indent="-133350" algn="l" rtl="0">
              <a:spcBef>
                <a:spcPts val="0"/>
              </a:spcBef>
              <a:spcAft>
                <a:spcPts val="0"/>
              </a:spcAft>
              <a:buClr>
                <a:srgbClr val="999966"/>
              </a:buClr>
              <a:buSzPts val="2100"/>
              <a:buFont typeface="Noto Sans Symbols"/>
              <a:buChar char="❖"/>
            </a:pPr>
            <a:r>
              <a:rPr lang="en-US" sz="2800" b="0" i="0" u="none" strike="noStrike" cap="none">
                <a:solidFill>
                  <a:srgbClr val="000000"/>
                </a:solidFill>
                <a:latin typeface="Times New Roman"/>
                <a:ea typeface="Times New Roman"/>
                <a:cs typeface="Times New Roman"/>
                <a:sym typeface="Times New Roman"/>
              </a:rPr>
              <a:t>URISC architecture is not competitive</a:t>
            </a:r>
            <a:endParaRPr/>
          </a:p>
          <a:p>
            <a:pPr marL="457200" marR="0" lvl="1" indent="0" algn="l" rtl="0">
              <a:spcBef>
                <a:spcPts val="700"/>
              </a:spcBef>
              <a:spcAft>
                <a:spcPts val="0"/>
              </a:spcAft>
              <a:buNone/>
            </a:pPr>
            <a:endParaRPr sz="2800" b="0" i="0" u="none" strike="noStrike" cap="none">
              <a:solidFill>
                <a:srgbClr val="000000"/>
              </a:solidFill>
              <a:latin typeface="Times New Roman"/>
              <a:ea typeface="Times New Roman"/>
              <a:cs typeface="Times New Roman"/>
              <a:sym typeface="Times New Roman"/>
            </a:endParaRPr>
          </a:p>
          <a:p>
            <a:pPr marL="457200" marR="0" lvl="1" indent="-133350" algn="l" rtl="0">
              <a:spcBef>
                <a:spcPts val="700"/>
              </a:spcBef>
              <a:spcAft>
                <a:spcPts val="0"/>
              </a:spcAft>
              <a:buClr>
                <a:srgbClr val="999966"/>
              </a:buClr>
              <a:buSzPts val="2100"/>
              <a:buFont typeface="Noto Sans Symbols"/>
              <a:buChar char="❖"/>
            </a:pPr>
            <a:r>
              <a:rPr lang="en-US" sz="2800" b="0" i="0" u="none" strike="noStrike" cap="none">
                <a:solidFill>
                  <a:srgbClr val="000000"/>
                </a:solidFill>
                <a:latin typeface="Times New Roman"/>
                <a:ea typeface="Times New Roman"/>
                <a:cs typeface="Times New Roman"/>
                <a:sym typeface="Times New Roman"/>
              </a:rPr>
              <a:t>The cycles taken by URISC or the execution time per instruction is on an average 75% more than a MIPS multi-cycle architecture</a:t>
            </a:r>
            <a:endParaRPr/>
          </a:p>
          <a:p>
            <a:pPr marL="457200" marR="0" lvl="1" indent="0" algn="l" rtl="0">
              <a:spcBef>
                <a:spcPts val="700"/>
              </a:spcBef>
              <a:spcAft>
                <a:spcPts val="0"/>
              </a:spcAft>
              <a:buNone/>
            </a:pPr>
            <a:endParaRPr sz="2800" b="0" i="0" u="none" strike="noStrike" cap="none">
              <a:solidFill>
                <a:srgbClr val="000000"/>
              </a:solidFill>
              <a:latin typeface="Times New Roman"/>
              <a:ea typeface="Times New Roman"/>
              <a:cs typeface="Times New Roman"/>
              <a:sym typeface="Times New Roman"/>
            </a:endParaRPr>
          </a:p>
          <a:p>
            <a:pPr marL="457200" marR="0" lvl="1" indent="-133350" algn="l" rtl="0">
              <a:spcBef>
                <a:spcPts val="700"/>
              </a:spcBef>
              <a:spcAft>
                <a:spcPts val="0"/>
              </a:spcAft>
              <a:buClr>
                <a:srgbClr val="999966"/>
              </a:buClr>
              <a:buSzPts val="2100"/>
              <a:buFont typeface="Noto Sans Symbols"/>
              <a:buChar char="❖"/>
            </a:pPr>
            <a:r>
              <a:rPr lang="en-US" sz="2800" b="0" i="0" u="none" strike="noStrike" cap="none">
                <a:solidFill>
                  <a:srgbClr val="000000"/>
                </a:solidFill>
                <a:latin typeface="Times New Roman"/>
                <a:ea typeface="Times New Roman"/>
                <a:cs typeface="Times New Roman"/>
                <a:sym typeface="Times New Roman"/>
              </a:rPr>
              <a:t>But that doesn’t prove it to be sub-optimal</a:t>
            </a:r>
            <a:endParaRPr/>
          </a:p>
          <a:p>
            <a:pPr marL="457200" marR="0" lvl="1" indent="0" algn="l" rtl="0">
              <a:spcBef>
                <a:spcPts val="700"/>
              </a:spcBef>
              <a:spcAft>
                <a:spcPts val="0"/>
              </a:spcAft>
              <a:buNone/>
            </a:pPr>
            <a:endParaRPr sz="2800" b="0" i="0" u="none" strike="noStrike" cap="none">
              <a:solidFill>
                <a:srgbClr val="000000"/>
              </a:solidFill>
              <a:latin typeface="Times New Roman"/>
              <a:ea typeface="Times New Roman"/>
              <a:cs typeface="Times New Roman"/>
              <a:sym typeface="Times New Roman"/>
            </a:endParaRPr>
          </a:p>
          <a:p>
            <a:pPr marL="457200" marR="0" lvl="1" indent="0" algn="l" rtl="0">
              <a:spcBef>
                <a:spcPts val="700"/>
              </a:spcBef>
              <a:spcAft>
                <a:spcPts val="0"/>
              </a:spcAft>
              <a:buNone/>
            </a:pPr>
            <a:endParaRPr sz="2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716"/>
        <p:cNvGrpSpPr/>
        <p:nvPr/>
      </p:nvGrpSpPr>
      <p:grpSpPr>
        <a:xfrm>
          <a:off x="0" y="0"/>
          <a:ext cx="0" cy="0"/>
          <a:chOff x="0" y="0"/>
          <a:chExt cx="0" cy="0"/>
        </a:xfrm>
      </p:grpSpPr>
      <p:sp>
        <p:nvSpPr>
          <p:cNvPr id="1717" name="Google Shape;1717;p153"/>
          <p:cNvSpPr txBox="1"/>
          <p:nvPr/>
        </p:nvSpPr>
        <p:spPr>
          <a:xfrm>
            <a:off x="2133601" y="774700"/>
            <a:ext cx="7407275" cy="1739900"/>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r>
              <a:rPr lang="en-US" sz="5400">
                <a:solidFill>
                  <a:srgbClr val="420000"/>
                </a:solidFill>
                <a:latin typeface="Times New Roman"/>
                <a:ea typeface="Times New Roman"/>
                <a:cs typeface="Times New Roman"/>
                <a:sym typeface="Times New Roman"/>
              </a:rPr>
              <a:t>Optimal Architectures</a:t>
            </a:r>
            <a:br>
              <a:rPr lang="en-US" sz="5400">
                <a:solidFill>
                  <a:srgbClr val="420000"/>
                </a:solidFill>
                <a:latin typeface="Times New Roman"/>
                <a:ea typeface="Times New Roman"/>
                <a:cs typeface="Times New Roman"/>
                <a:sym typeface="Times New Roman"/>
              </a:rPr>
            </a:br>
            <a:endParaRPr sz="5400">
              <a:solidFill>
                <a:srgbClr val="420000"/>
              </a:solidFill>
              <a:latin typeface="Times New Roman"/>
              <a:ea typeface="Times New Roman"/>
              <a:cs typeface="Times New Roman"/>
              <a:sym typeface="Times New Roman"/>
            </a:endParaRPr>
          </a:p>
        </p:txBody>
      </p:sp>
      <p:sp>
        <p:nvSpPr>
          <p:cNvPr id="1718" name="Google Shape;1718;p153"/>
          <p:cNvSpPr txBox="1"/>
          <p:nvPr/>
        </p:nvSpPr>
        <p:spPr>
          <a:xfrm>
            <a:off x="2346326" y="2001838"/>
            <a:ext cx="7407275" cy="4627562"/>
          </a:xfrm>
          <a:prstGeom prst="rect">
            <a:avLst/>
          </a:prstGeom>
          <a:noFill/>
          <a:ln>
            <a:noFill/>
          </a:ln>
        </p:spPr>
        <p:txBody>
          <a:bodyPr spcFirstLastPara="1" wrap="square" lIns="91425" tIns="0" rIns="91425" bIns="45700" anchor="t" anchorCtr="0">
            <a:noAutofit/>
          </a:bodyPr>
          <a:lstStyle/>
          <a:p>
            <a:pPr marL="457200" marR="0" lvl="1" indent="-133350" algn="l" rtl="0">
              <a:spcBef>
                <a:spcPts val="0"/>
              </a:spcBef>
              <a:spcAft>
                <a:spcPts val="0"/>
              </a:spcAft>
              <a:buClr>
                <a:srgbClr val="999966"/>
              </a:buClr>
              <a:buSzPts val="2100"/>
              <a:buFont typeface="Noto Sans Symbols"/>
              <a:buChar char="❖"/>
            </a:pPr>
            <a:r>
              <a:rPr lang="en-US" sz="2800" b="0" i="0" u="none" strike="noStrike" cap="none">
                <a:solidFill>
                  <a:srgbClr val="000000"/>
                </a:solidFill>
                <a:latin typeface="Times New Roman"/>
                <a:ea typeface="Times New Roman"/>
                <a:cs typeface="Times New Roman"/>
                <a:sym typeface="Times New Roman"/>
              </a:rPr>
              <a:t>Class of optimal architectures can be thought of as a surface in a multidimensional computer design space</a:t>
            </a:r>
            <a:endParaRPr/>
          </a:p>
          <a:p>
            <a:pPr marL="457200" marR="0" lvl="1" indent="-133350" algn="l" rtl="0">
              <a:spcBef>
                <a:spcPts val="700"/>
              </a:spcBef>
              <a:spcAft>
                <a:spcPts val="0"/>
              </a:spcAft>
              <a:buClr>
                <a:srgbClr val="999966"/>
              </a:buClr>
              <a:buSzPts val="2100"/>
              <a:buFont typeface="Noto Sans Symbols"/>
              <a:buChar char="❖"/>
            </a:pPr>
            <a:r>
              <a:rPr lang="en-US" sz="2800" b="0" i="0" u="none" strike="noStrike" cap="none">
                <a:solidFill>
                  <a:srgbClr val="000000"/>
                </a:solidFill>
                <a:latin typeface="Times New Roman"/>
                <a:ea typeface="Times New Roman"/>
                <a:cs typeface="Times New Roman"/>
                <a:sym typeface="Times New Roman"/>
              </a:rPr>
              <a:t>Taking typical axes of the space to be processor complexity the program size for some benchmark, and the memory traffic required to execute that benchmark, it’s clear that URISC fares worse than any other architecture</a:t>
            </a:r>
            <a:endParaRPr/>
          </a:p>
          <a:p>
            <a:pPr marL="457200" marR="0" lvl="1" indent="0" algn="l" rtl="0">
              <a:spcBef>
                <a:spcPts val="700"/>
              </a:spcBef>
              <a:spcAft>
                <a:spcPts val="0"/>
              </a:spcAft>
              <a:buNone/>
            </a:pPr>
            <a:r>
              <a:rPr lang="en-US" sz="2800" b="0" i="0" u="none" strike="noStrike" cap="none">
                <a:solidFill>
                  <a:srgbClr val="000000"/>
                </a:solidFill>
                <a:latin typeface="Times New Roman"/>
                <a:ea typeface="Times New Roman"/>
                <a:cs typeface="Times New Roman"/>
                <a:sym typeface="Times New Roman"/>
              </a:rPr>
              <a:t>						</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723"/>
        <p:cNvGrpSpPr/>
        <p:nvPr/>
      </p:nvGrpSpPr>
      <p:grpSpPr>
        <a:xfrm>
          <a:off x="0" y="0"/>
          <a:ext cx="0" cy="0"/>
          <a:chOff x="0" y="0"/>
          <a:chExt cx="0" cy="0"/>
        </a:xfrm>
      </p:grpSpPr>
      <p:sp>
        <p:nvSpPr>
          <p:cNvPr id="1724" name="Google Shape;1724;p154"/>
          <p:cNvSpPr txBox="1"/>
          <p:nvPr/>
        </p:nvSpPr>
        <p:spPr>
          <a:xfrm>
            <a:off x="2209801" y="850900"/>
            <a:ext cx="7407275" cy="1739900"/>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r>
              <a:rPr lang="en-US" sz="5400">
                <a:solidFill>
                  <a:srgbClr val="420000"/>
                </a:solidFill>
                <a:latin typeface="Times New Roman"/>
                <a:ea typeface="Times New Roman"/>
                <a:cs typeface="Times New Roman"/>
                <a:sym typeface="Times New Roman"/>
              </a:rPr>
              <a:t>Optimal Architectures</a:t>
            </a:r>
            <a:br>
              <a:rPr lang="en-US" sz="5400">
                <a:solidFill>
                  <a:srgbClr val="420000"/>
                </a:solidFill>
                <a:latin typeface="Times New Roman"/>
                <a:ea typeface="Times New Roman"/>
                <a:cs typeface="Times New Roman"/>
                <a:sym typeface="Times New Roman"/>
              </a:rPr>
            </a:br>
            <a:endParaRPr sz="5400">
              <a:solidFill>
                <a:srgbClr val="420000"/>
              </a:solidFill>
              <a:latin typeface="Times New Roman"/>
              <a:ea typeface="Times New Roman"/>
              <a:cs typeface="Times New Roman"/>
              <a:sym typeface="Times New Roman"/>
            </a:endParaRPr>
          </a:p>
        </p:txBody>
      </p:sp>
      <p:sp>
        <p:nvSpPr>
          <p:cNvPr id="1725" name="Google Shape;1725;p154"/>
          <p:cNvSpPr txBox="1"/>
          <p:nvPr/>
        </p:nvSpPr>
        <p:spPr>
          <a:xfrm>
            <a:off x="2133601" y="2230438"/>
            <a:ext cx="7407275" cy="4627562"/>
          </a:xfrm>
          <a:prstGeom prst="rect">
            <a:avLst/>
          </a:prstGeom>
          <a:noFill/>
          <a:ln>
            <a:noFill/>
          </a:ln>
        </p:spPr>
        <p:txBody>
          <a:bodyPr spcFirstLastPara="1" wrap="square" lIns="91425" tIns="0" rIns="91425" bIns="45700" anchor="t" anchorCtr="0">
            <a:noAutofit/>
          </a:bodyPr>
          <a:lstStyle/>
          <a:p>
            <a:pPr marL="457200" marR="0" lvl="1" indent="-133350" algn="l" rtl="0">
              <a:spcBef>
                <a:spcPts val="0"/>
              </a:spcBef>
              <a:spcAft>
                <a:spcPts val="0"/>
              </a:spcAft>
              <a:buClr>
                <a:srgbClr val="999966"/>
              </a:buClr>
              <a:buSzPts val="2100"/>
              <a:buFont typeface="Noto Sans Symbols"/>
              <a:buChar char="❖"/>
            </a:pPr>
            <a:r>
              <a:rPr lang="en-US" sz="2800" b="0" i="0" u="none" strike="noStrike" cap="none">
                <a:solidFill>
                  <a:srgbClr val="000000"/>
                </a:solidFill>
                <a:latin typeface="Times New Roman"/>
                <a:ea typeface="Times New Roman"/>
                <a:cs typeface="Times New Roman"/>
                <a:sym typeface="Times New Roman"/>
              </a:rPr>
              <a:t>The minimal ultimate RISC can only be proven to be suboptimal if a processor can be found that is better when measured along at least one axis of the design space while being no worse along any other axes.</a:t>
            </a:r>
            <a:endParaRPr/>
          </a:p>
          <a:p>
            <a:pPr marL="457200" marR="0" lvl="1" indent="0" algn="l" rtl="0">
              <a:spcBef>
                <a:spcPts val="700"/>
              </a:spcBef>
              <a:spcAft>
                <a:spcPts val="0"/>
              </a:spcAft>
              <a:buNone/>
            </a:pPr>
            <a:endParaRPr sz="2800" b="0" i="0" u="none" strike="noStrike" cap="none">
              <a:solidFill>
                <a:srgbClr val="000000"/>
              </a:solidFill>
              <a:latin typeface="Times New Roman"/>
              <a:ea typeface="Times New Roman"/>
              <a:cs typeface="Times New Roman"/>
              <a:sym typeface="Times New Roman"/>
            </a:endParaRPr>
          </a:p>
          <a:p>
            <a:pPr marL="457200" marR="0" lvl="1" indent="0" algn="l" rtl="0">
              <a:spcBef>
                <a:spcPts val="700"/>
              </a:spcBef>
              <a:spcAft>
                <a:spcPts val="0"/>
              </a:spcAft>
              <a:buNone/>
            </a:pPr>
            <a:endParaRPr sz="2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730"/>
        <p:cNvGrpSpPr/>
        <p:nvPr/>
      </p:nvGrpSpPr>
      <p:grpSpPr>
        <a:xfrm>
          <a:off x="0" y="0"/>
          <a:ext cx="0" cy="0"/>
          <a:chOff x="0" y="0"/>
          <a:chExt cx="0" cy="0"/>
        </a:xfrm>
      </p:grpSpPr>
      <p:sp>
        <p:nvSpPr>
          <p:cNvPr id="1731" name="Google Shape;1731;p155"/>
          <p:cNvSpPr txBox="1"/>
          <p:nvPr/>
        </p:nvSpPr>
        <p:spPr>
          <a:xfrm>
            <a:off x="2362201" y="698500"/>
            <a:ext cx="7407275" cy="1739900"/>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r>
              <a:rPr lang="en-US" sz="5400">
                <a:solidFill>
                  <a:srgbClr val="420000"/>
                </a:solidFill>
                <a:latin typeface="Times New Roman"/>
                <a:ea typeface="Times New Roman"/>
                <a:cs typeface="Times New Roman"/>
                <a:sym typeface="Times New Roman"/>
              </a:rPr>
              <a:t>Work on URISC</a:t>
            </a:r>
            <a:br>
              <a:rPr lang="en-US" sz="5400">
                <a:solidFill>
                  <a:srgbClr val="420000"/>
                </a:solidFill>
                <a:latin typeface="Times New Roman"/>
                <a:ea typeface="Times New Roman"/>
                <a:cs typeface="Times New Roman"/>
                <a:sym typeface="Times New Roman"/>
              </a:rPr>
            </a:br>
            <a:endParaRPr sz="5400">
              <a:solidFill>
                <a:srgbClr val="420000"/>
              </a:solidFill>
              <a:latin typeface="Times New Roman"/>
              <a:ea typeface="Times New Roman"/>
              <a:cs typeface="Times New Roman"/>
              <a:sym typeface="Times New Roman"/>
            </a:endParaRPr>
          </a:p>
        </p:txBody>
      </p:sp>
      <p:sp>
        <p:nvSpPr>
          <p:cNvPr id="1732" name="Google Shape;1732;p155"/>
          <p:cNvSpPr txBox="1"/>
          <p:nvPr/>
        </p:nvSpPr>
        <p:spPr>
          <a:xfrm>
            <a:off x="2133601" y="1925638"/>
            <a:ext cx="7407275" cy="4627562"/>
          </a:xfrm>
          <a:prstGeom prst="rect">
            <a:avLst/>
          </a:prstGeom>
          <a:noFill/>
          <a:ln>
            <a:noFill/>
          </a:ln>
        </p:spPr>
        <p:txBody>
          <a:bodyPr spcFirstLastPara="1" wrap="square" lIns="91425" tIns="0" rIns="91425" bIns="45700" anchor="t" anchorCtr="0">
            <a:noAutofit/>
          </a:bodyPr>
          <a:lstStyle/>
          <a:p>
            <a:pPr marL="457200" marR="0" lvl="1" indent="-133350" algn="l" rtl="0">
              <a:lnSpc>
                <a:spcPct val="90000"/>
              </a:lnSpc>
              <a:spcBef>
                <a:spcPts val="0"/>
              </a:spcBef>
              <a:spcAft>
                <a:spcPts val="0"/>
              </a:spcAft>
              <a:buClr>
                <a:srgbClr val="999966"/>
              </a:buClr>
              <a:buSzPts val="2100"/>
              <a:buFont typeface="Noto Sans Symbols"/>
              <a:buChar char="❖"/>
            </a:pPr>
            <a:r>
              <a:rPr lang="en-US" sz="2800" b="0" i="0" u="none" strike="noStrike" cap="none">
                <a:solidFill>
                  <a:srgbClr val="000000"/>
                </a:solidFill>
                <a:latin typeface="Times New Roman"/>
                <a:ea typeface="Times New Roman"/>
                <a:cs typeface="Times New Roman"/>
                <a:sym typeface="Times New Roman"/>
              </a:rPr>
              <a:t>Steve Loughran formally defined, designed and built a 32-bit variant of this architecture as his final-year project at Edinburgh University in 1989</a:t>
            </a:r>
            <a:endParaRPr/>
          </a:p>
          <a:p>
            <a:pPr marL="457200" marR="0" lvl="1" indent="-133350" algn="l" rtl="0">
              <a:lnSpc>
                <a:spcPct val="90000"/>
              </a:lnSpc>
              <a:spcBef>
                <a:spcPts val="700"/>
              </a:spcBef>
              <a:spcAft>
                <a:spcPts val="0"/>
              </a:spcAft>
              <a:buClr>
                <a:srgbClr val="999966"/>
              </a:buClr>
              <a:buSzPts val="2100"/>
              <a:buFont typeface="Noto Sans Symbols"/>
              <a:buChar char="❖"/>
            </a:pPr>
            <a:r>
              <a:rPr lang="en-US" sz="2800" b="0" i="0" u="none" strike="noStrike" cap="none">
                <a:solidFill>
                  <a:srgbClr val="000000"/>
                </a:solidFill>
                <a:latin typeface="Times New Roman"/>
                <a:ea typeface="Times New Roman"/>
                <a:cs typeface="Times New Roman"/>
                <a:sym typeface="Times New Roman"/>
              </a:rPr>
              <a:t>Adam Donlin has proposed using an Ultimate RISC as a host for a dynamically reconfigurable FPGA coprocessor in "Self Modifying Circuitry -- A Platform for Trackable Virtual Circuitry" in </a:t>
            </a:r>
            <a:r>
              <a:rPr lang="en-US" sz="2800" b="0" i="1" u="none" strike="noStrike" cap="none">
                <a:solidFill>
                  <a:srgbClr val="000000"/>
                </a:solidFill>
                <a:latin typeface="Times New Roman"/>
                <a:ea typeface="Times New Roman"/>
                <a:cs typeface="Times New Roman"/>
                <a:sym typeface="Times New Roman"/>
              </a:rPr>
              <a:t>Proceedings of FPL the 9</a:t>
            </a:r>
            <a:r>
              <a:rPr lang="en-US" sz="2800" b="0" i="1" u="none" strike="noStrike" cap="none" baseline="30000">
                <a:solidFill>
                  <a:srgbClr val="000000"/>
                </a:solidFill>
                <a:latin typeface="Times New Roman"/>
                <a:ea typeface="Times New Roman"/>
                <a:cs typeface="Times New Roman"/>
                <a:sym typeface="Times New Roman"/>
              </a:rPr>
              <a:t>th</a:t>
            </a:r>
            <a:r>
              <a:rPr lang="en-US" sz="2800" b="0" i="1" u="none" strike="noStrike" cap="none">
                <a:solidFill>
                  <a:srgbClr val="000000"/>
                </a:solidFill>
                <a:latin typeface="Times New Roman"/>
                <a:ea typeface="Times New Roman"/>
                <a:cs typeface="Times New Roman"/>
                <a:sym typeface="Times New Roman"/>
              </a:rPr>
              <a:t> International Workshop, FPL</a:t>
            </a:r>
            <a:r>
              <a:rPr lang="en-US" sz="2800" b="0" i="1" u="none" strike="noStrike" cap="none" baseline="30000">
                <a:solidFill>
                  <a:srgbClr val="000000"/>
                </a:solidFill>
                <a:latin typeface="Times New Roman"/>
                <a:ea typeface="Times New Roman"/>
                <a:cs typeface="Times New Roman"/>
                <a:sym typeface="Times New Roman"/>
              </a:rPr>
              <a:t>99</a:t>
            </a:r>
            <a:r>
              <a:rPr lang="en-US" sz="2800" b="0" i="0" u="none" strike="noStrike" cap="none">
                <a:solidFill>
                  <a:srgbClr val="000000"/>
                </a:solidFill>
                <a:latin typeface="Times New Roman"/>
                <a:ea typeface="Times New Roman"/>
                <a:cs typeface="Times New Roman"/>
                <a:sym typeface="Times New Roman"/>
              </a:rPr>
              <a:t>, Springer-Verlag, ISSN 0302-9743, Aug 1999.</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737"/>
        <p:cNvGrpSpPr/>
        <p:nvPr/>
      </p:nvGrpSpPr>
      <p:grpSpPr>
        <a:xfrm>
          <a:off x="0" y="0"/>
          <a:ext cx="0" cy="0"/>
          <a:chOff x="0" y="0"/>
          <a:chExt cx="0" cy="0"/>
        </a:xfrm>
      </p:grpSpPr>
      <p:sp>
        <p:nvSpPr>
          <p:cNvPr id="1738" name="Google Shape;1738;p156"/>
          <p:cNvSpPr txBox="1"/>
          <p:nvPr/>
        </p:nvSpPr>
        <p:spPr>
          <a:xfrm>
            <a:off x="2438401" y="774700"/>
            <a:ext cx="7407275" cy="1739900"/>
          </a:xfrm>
          <a:prstGeom prst="rect">
            <a:avLst/>
          </a:prstGeom>
          <a:noFill/>
          <a:ln>
            <a:noFill/>
          </a:ln>
        </p:spPr>
        <p:txBody>
          <a:bodyPr spcFirstLastPara="1" wrap="square" lIns="90000" tIns="46800" rIns="90000" bIns="46800" anchor="b" anchorCtr="0">
            <a:noAutofit/>
          </a:bodyPr>
          <a:lstStyle/>
          <a:p>
            <a:pPr marL="0" marR="0" lvl="0" indent="0" algn="l" rtl="0">
              <a:spcBef>
                <a:spcPts val="0"/>
              </a:spcBef>
              <a:spcAft>
                <a:spcPts val="0"/>
              </a:spcAft>
              <a:buClr>
                <a:srgbClr val="420000"/>
              </a:buClr>
              <a:buSzPts val="5400"/>
              <a:buFont typeface="Times New Roman"/>
              <a:buNone/>
            </a:pPr>
            <a:r>
              <a:rPr lang="en-US" sz="5400">
                <a:solidFill>
                  <a:srgbClr val="420000"/>
                </a:solidFill>
                <a:latin typeface="Times New Roman"/>
                <a:ea typeface="Times New Roman"/>
                <a:cs typeface="Times New Roman"/>
                <a:sym typeface="Times New Roman"/>
              </a:rPr>
              <a:t>Work on URISC</a:t>
            </a:r>
            <a:br>
              <a:rPr lang="en-US" sz="5400">
                <a:solidFill>
                  <a:srgbClr val="420000"/>
                </a:solidFill>
                <a:latin typeface="Times New Roman"/>
                <a:ea typeface="Times New Roman"/>
                <a:cs typeface="Times New Roman"/>
                <a:sym typeface="Times New Roman"/>
              </a:rPr>
            </a:br>
            <a:endParaRPr sz="5400">
              <a:solidFill>
                <a:srgbClr val="420000"/>
              </a:solidFill>
              <a:latin typeface="Times New Roman"/>
              <a:ea typeface="Times New Roman"/>
              <a:cs typeface="Times New Roman"/>
              <a:sym typeface="Times New Roman"/>
            </a:endParaRPr>
          </a:p>
        </p:txBody>
      </p:sp>
      <p:sp>
        <p:nvSpPr>
          <p:cNvPr id="1739" name="Google Shape;1739;p156"/>
          <p:cNvSpPr txBox="1"/>
          <p:nvPr/>
        </p:nvSpPr>
        <p:spPr>
          <a:xfrm>
            <a:off x="2057401" y="2230438"/>
            <a:ext cx="7407275" cy="4627562"/>
          </a:xfrm>
          <a:prstGeom prst="rect">
            <a:avLst/>
          </a:prstGeom>
          <a:noFill/>
          <a:ln>
            <a:noFill/>
          </a:ln>
        </p:spPr>
        <p:txBody>
          <a:bodyPr spcFirstLastPara="1" wrap="square" lIns="91425" tIns="0" rIns="91425" bIns="45700" anchor="t" anchorCtr="0">
            <a:noAutofit/>
          </a:bodyPr>
          <a:lstStyle/>
          <a:p>
            <a:pPr marL="457200" marR="0" lvl="1" indent="-133350" algn="l" rtl="0">
              <a:spcBef>
                <a:spcPts val="0"/>
              </a:spcBef>
              <a:spcAft>
                <a:spcPts val="0"/>
              </a:spcAft>
              <a:buClr>
                <a:srgbClr val="999966"/>
              </a:buClr>
              <a:buSzPts val="2100"/>
              <a:buFont typeface="Noto Sans Symbols"/>
              <a:buChar char="❖"/>
            </a:pPr>
            <a:r>
              <a:rPr lang="en-US" sz="2800" b="0" i="0" u="none" strike="noStrike" cap="none" dirty="0">
                <a:solidFill>
                  <a:srgbClr val="000000"/>
                </a:solidFill>
                <a:latin typeface="Times New Roman"/>
                <a:ea typeface="Times New Roman"/>
                <a:cs typeface="Times New Roman"/>
                <a:sym typeface="Times New Roman"/>
              </a:rPr>
              <a:t>Paul </a:t>
            </a:r>
            <a:r>
              <a:rPr lang="en-US" sz="2800" b="0" i="0" u="none" strike="noStrike" cap="none" dirty="0" err="1">
                <a:solidFill>
                  <a:srgbClr val="000000"/>
                </a:solidFill>
                <a:latin typeface="Times New Roman"/>
                <a:ea typeface="Times New Roman"/>
                <a:cs typeface="Times New Roman"/>
                <a:sym typeface="Times New Roman"/>
              </a:rPr>
              <a:t>Frenger</a:t>
            </a:r>
            <a:r>
              <a:rPr lang="en-US" sz="2800" b="0" i="0" u="none" strike="noStrike" cap="none" dirty="0">
                <a:solidFill>
                  <a:srgbClr val="000000"/>
                </a:solidFill>
                <a:latin typeface="Times New Roman"/>
                <a:ea typeface="Times New Roman"/>
                <a:cs typeface="Times New Roman"/>
                <a:sym typeface="Times New Roman"/>
              </a:rPr>
              <a:t> wrote published a paper in </a:t>
            </a:r>
            <a:r>
              <a:rPr lang="en-US" sz="2800" b="0" i="1" u="none" strike="noStrike" cap="none" dirty="0">
                <a:solidFill>
                  <a:srgbClr val="000000"/>
                </a:solidFill>
                <a:latin typeface="Times New Roman"/>
                <a:ea typeface="Times New Roman"/>
                <a:cs typeface="Times New Roman"/>
                <a:sym typeface="Times New Roman"/>
              </a:rPr>
              <a:t>ACM </a:t>
            </a:r>
            <a:r>
              <a:rPr lang="en-US" sz="2800" b="0" i="1" u="none" strike="noStrike" cap="none" dirty="0" err="1">
                <a:solidFill>
                  <a:srgbClr val="000000"/>
                </a:solidFill>
                <a:latin typeface="Times New Roman"/>
                <a:ea typeface="Times New Roman"/>
                <a:cs typeface="Times New Roman"/>
                <a:sym typeface="Times New Roman"/>
              </a:rPr>
              <a:t>Sigplan</a:t>
            </a:r>
            <a:r>
              <a:rPr lang="en-US" sz="2800" b="0" i="1" u="none" strike="noStrike" cap="none" dirty="0">
                <a:solidFill>
                  <a:srgbClr val="000000"/>
                </a:solidFill>
                <a:latin typeface="Times New Roman"/>
                <a:ea typeface="Times New Roman"/>
                <a:cs typeface="Times New Roman"/>
                <a:sym typeface="Times New Roman"/>
              </a:rPr>
              <a:t> Notices 35</a:t>
            </a:r>
            <a:r>
              <a:rPr lang="en-US" sz="2800" b="0" i="0" u="none" strike="noStrike" cap="none" dirty="0">
                <a:solidFill>
                  <a:srgbClr val="000000"/>
                </a:solidFill>
                <a:latin typeface="Times New Roman"/>
                <a:ea typeface="Times New Roman"/>
                <a:cs typeface="Times New Roman"/>
                <a:sym typeface="Times New Roman"/>
              </a:rPr>
              <a:t>, 2 (Feb 2000) entitled "The Ultimate RISC: A Zero-Instruction Computer";</a:t>
            </a:r>
            <a:endParaRPr dirty="0"/>
          </a:p>
          <a:p>
            <a:pPr marL="457200" marR="0" lvl="1" indent="-133350" algn="l" rtl="0">
              <a:spcBef>
                <a:spcPts val="700"/>
              </a:spcBef>
              <a:spcAft>
                <a:spcPts val="0"/>
              </a:spcAft>
              <a:buClr>
                <a:srgbClr val="999966"/>
              </a:buClr>
              <a:buSzPts val="2100"/>
              <a:buFont typeface="Noto Sans Symbols"/>
              <a:buChar char="❖"/>
            </a:pPr>
            <a:r>
              <a:rPr lang="en-US" sz="2800" b="0" i="1" u="none" strike="noStrike" cap="none" dirty="0">
                <a:solidFill>
                  <a:srgbClr val="000000"/>
                </a:solidFill>
                <a:latin typeface="Times New Roman"/>
                <a:ea typeface="Times New Roman"/>
                <a:cs typeface="Times New Roman"/>
                <a:sym typeface="Times New Roman"/>
              </a:rPr>
              <a:t>ACM Computer Architecture News, 16</a:t>
            </a:r>
            <a:r>
              <a:rPr lang="en-US" sz="2800" b="0" i="0" u="none" strike="noStrike" cap="none" dirty="0">
                <a:solidFill>
                  <a:srgbClr val="000000"/>
                </a:solidFill>
                <a:latin typeface="Times New Roman"/>
                <a:ea typeface="Times New Roman"/>
                <a:cs typeface="Times New Roman"/>
                <a:sym typeface="Times New Roman"/>
              </a:rPr>
              <a:t>, 3 (June 1988), pages 48-55.</a:t>
            </a:r>
            <a:endParaRPr dirty="0"/>
          </a:p>
          <a:p>
            <a:pPr marL="457200" marR="0" lvl="1" indent="-133350" algn="l" rtl="0">
              <a:spcBef>
                <a:spcPts val="700"/>
              </a:spcBef>
              <a:spcAft>
                <a:spcPts val="0"/>
              </a:spcAft>
              <a:buClr>
                <a:srgbClr val="999966"/>
              </a:buClr>
              <a:buSzPts val="2100"/>
              <a:buFont typeface="Noto Sans Symbols"/>
              <a:buChar char="❖"/>
            </a:pPr>
            <a:r>
              <a:rPr lang="en-US" sz="2800" b="0" i="0" u="none" strike="noStrike" cap="none" dirty="0">
                <a:solidFill>
                  <a:srgbClr val="000000"/>
                </a:solidFill>
                <a:latin typeface="Times New Roman"/>
                <a:ea typeface="Times New Roman"/>
                <a:cs typeface="Times New Roman"/>
                <a:sym typeface="Times New Roman"/>
              </a:rPr>
              <a:t>Univ. of Waterloo URISC: F. </a:t>
            </a:r>
            <a:r>
              <a:rPr lang="en-US" sz="2800" b="0" i="0" u="none" strike="noStrike" cap="none" dirty="0" err="1">
                <a:solidFill>
                  <a:srgbClr val="000000"/>
                </a:solidFill>
                <a:latin typeface="Times New Roman"/>
                <a:ea typeface="Times New Roman"/>
                <a:cs typeface="Times New Roman"/>
                <a:sym typeface="Times New Roman"/>
              </a:rPr>
              <a:t>Mavaddat</a:t>
            </a:r>
            <a:r>
              <a:rPr lang="en-US" sz="2800" b="0" i="0" u="none" strike="noStrike" cap="none" dirty="0">
                <a:solidFill>
                  <a:srgbClr val="000000"/>
                </a:solidFill>
                <a:latin typeface="Times New Roman"/>
                <a:ea typeface="Times New Roman"/>
                <a:cs typeface="Times New Roman"/>
                <a:sym typeface="Times New Roman"/>
              </a:rPr>
              <a:t> and B. </a:t>
            </a:r>
            <a:r>
              <a:rPr lang="en-US" sz="2800" b="0" i="0" u="none" strike="noStrike" cap="none" dirty="0" err="1">
                <a:solidFill>
                  <a:srgbClr val="000000"/>
                </a:solidFill>
                <a:latin typeface="Times New Roman"/>
                <a:ea typeface="Times New Roman"/>
                <a:cs typeface="Times New Roman"/>
                <a:sym typeface="Times New Roman"/>
              </a:rPr>
              <a:t>Parhami</a:t>
            </a:r>
            <a:r>
              <a:rPr lang="en-US" sz="2800" b="0" i="0" u="none" strike="noStrike" cap="none" dirty="0">
                <a:solidFill>
                  <a:srgbClr val="000000"/>
                </a:solidFill>
                <a:latin typeface="Times New Roman"/>
                <a:ea typeface="Times New Roman"/>
                <a:cs typeface="Times New Roman"/>
                <a:sym typeface="Times New Roman"/>
              </a:rPr>
              <a:t>, </a:t>
            </a:r>
            <a:r>
              <a:rPr lang="en-US" sz="2800" b="0" i="0" u="sng" strike="noStrike" cap="none" dirty="0">
                <a:solidFill>
                  <a:srgbClr val="996633"/>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URISC: The Ultimate Reduced Instruction Set Computer</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9150</Words>
  <Application>Microsoft Macintosh PowerPoint</Application>
  <PresentationFormat>Widescreen</PresentationFormat>
  <Paragraphs>1526</Paragraphs>
  <Slides>145</Slides>
  <Notes>145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0</vt:i4>
      </vt:variant>
      <vt:variant>
        <vt:lpstr>Slide Titles</vt:lpstr>
      </vt:variant>
      <vt:variant>
        <vt:i4>145</vt:i4>
      </vt:variant>
    </vt:vector>
  </HeadingPairs>
  <TitlesOfParts>
    <vt:vector size="151" baseType="lpstr">
      <vt:lpstr>Noto Sans Symbols</vt:lpstr>
      <vt:lpstr>Arial</vt:lpstr>
      <vt:lpstr>Times New Roman</vt:lpstr>
      <vt:lpstr>Century Gothic</vt:lpstr>
      <vt:lpstr>Calibri</vt:lpstr>
      <vt:lpstr>Office Theme</vt:lpstr>
      <vt:lpstr>PowerPoint Presentation</vt:lpstr>
      <vt:lpstr>Basic Block Diagram of a Computer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Input Unit</vt:lpstr>
      <vt:lpstr>Output Unit</vt:lpstr>
      <vt:lpstr>Basic Operation of a Computer</vt:lpstr>
      <vt:lpstr>Introduction</vt:lpstr>
      <vt:lpstr>For Interfacing with the Primary Memory</vt:lpstr>
      <vt:lpstr>PowerPoint Presentation</vt:lpstr>
      <vt:lpstr>PowerPoint Presentation</vt:lpstr>
      <vt:lpstr>For Keeping Track of Program / Instructions</vt:lpstr>
      <vt:lpstr>Overall Architecture of a Simple Processor</vt:lpstr>
      <vt:lpstr>Example Instructions</vt:lpstr>
      <vt:lpstr>Execution of  ADD  R1,LOCA</vt:lpstr>
      <vt:lpstr>PowerPoint Presentation</vt:lpstr>
      <vt:lpstr>PowerPoint Presentation</vt:lpstr>
      <vt:lpstr>Execution of  ADD  R1,R2</vt:lpstr>
      <vt:lpstr>PowerPoint Presentation</vt:lpstr>
      <vt:lpstr>Bus Architecture</vt:lpstr>
      <vt:lpstr>System-Level Single Bus Architecture</vt:lpstr>
      <vt:lpstr>System-Level Two-Bus Architecture</vt:lpstr>
      <vt:lpstr>Single-Bus Architecture Inside the Processor</vt:lpstr>
      <vt:lpstr>PowerPoint Presentation</vt:lpstr>
      <vt:lpstr>Multi-Bus Architectures</vt:lpstr>
      <vt:lpstr>Memory Addressing Concepts</vt:lpstr>
      <vt:lpstr>Overview of Memory Organization</vt:lpstr>
      <vt:lpstr>Some Terminologies</vt:lpstr>
      <vt:lpstr>How is Memory Organized?</vt:lpstr>
      <vt:lpstr>How do we Specify Memory Sizes?</vt:lpstr>
      <vt:lpstr>PowerPoint Presentation</vt:lpstr>
      <vt:lpstr>PowerPoint Presentation</vt:lpstr>
      <vt:lpstr>Some Examples</vt:lpstr>
      <vt:lpstr>Byte Ordering Conventions</vt:lpstr>
      <vt:lpstr>PowerPoint Presentation</vt:lpstr>
      <vt:lpstr>An Example</vt:lpstr>
      <vt:lpstr>Memory Access by Instructions</vt:lpstr>
      <vt:lpstr>An Example</vt:lpstr>
      <vt:lpstr>Classification of Computer Architecture</vt:lpstr>
      <vt:lpstr>Von-Neumann Architecture</vt:lpstr>
      <vt:lpstr>Harvard Architecture </vt:lpstr>
      <vt:lpstr>Instruction Set Architecture</vt:lpstr>
      <vt:lpstr>Introduction</vt:lpstr>
      <vt:lpstr>Instruction Set Design Issues</vt:lpstr>
      <vt:lpstr>Evolution of Instruction Sets</vt:lpstr>
      <vt:lpstr>Example Code Sequence for Z = X + Y</vt:lpstr>
      <vt:lpstr>PowerPoint Presentation</vt:lpstr>
      <vt:lpstr>PowerPoint Presentation</vt:lpstr>
      <vt:lpstr>PowerPoint Presentation</vt:lpstr>
      <vt:lpstr>About General Purpose Registers (GPRs)</vt:lpstr>
      <vt:lpstr>COMPARISON BETWEEN VARIOUS ARCHITECTURE TYPES</vt:lpstr>
      <vt:lpstr>(a) Stack Architecture</vt:lpstr>
      <vt:lpstr>(a) Stack Architecture</vt:lpstr>
      <vt:lpstr>(a) Stack Architecture</vt:lpstr>
      <vt:lpstr>(a) Stack Architecture</vt:lpstr>
      <vt:lpstr>(a) Stack Architecture</vt:lpstr>
      <vt:lpstr>(a) Stack Architecture</vt:lpstr>
      <vt:lpstr>(a) Stack Architecture</vt:lpstr>
      <vt:lpstr>(a) Stack Architecture</vt:lpstr>
      <vt:lpstr>(a) Stack Architecture</vt:lpstr>
      <vt:lpstr>(b) Accumulator Architecture</vt:lpstr>
      <vt:lpstr>(c) Memory-Memory Architecture</vt:lpstr>
      <vt:lpstr>(d) Load-Store Architecture</vt:lpstr>
      <vt:lpstr>Registers: Pros and Cons</vt:lpstr>
      <vt:lpstr>INSTRUCTION FORMAT AND ADDRESSING MODES</vt:lpstr>
      <vt:lpstr>Instruction Format</vt:lpstr>
      <vt:lpstr>PowerPoint Presentation</vt:lpstr>
      <vt:lpstr>PowerPoint Presentation</vt:lpstr>
      <vt:lpstr>Addressing Modes</vt:lpstr>
      <vt:lpstr>(a) Immediate Addressing</vt:lpstr>
      <vt:lpstr>(b) Direct Addressing</vt:lpstr>
      <vt:lpstr>PowerPoint Presentation</vt:lpstr>
      <vt:lpstr>(c) Indirect Addressing</vt:lpstr>
      <vt:lpstr>PowerPoint Presentation</vt:lpstr>
      <vt:lpstr>(d) Register Addressing</vt:lpstr>
      <vt:lpstr>PowerPoint Presentation</vt:lpstr>
      <vt:lpstr>(e) Register Indirect Addressing</vt:lpstr>
      <vt:lpstr>PowerPoint Presentation</vt:lpstr>
      <vt:lpstr>(f) Relative Addressing (PC Relative)</vt:lpstr>
      <vt:lpstr>(g) Indexed Addressing</vt:lpstr>
      <vt:lpstr>PowerPoint Presentation</vt:lpstr>
      <vt:lpstr>(h) Stack Addressing</vt:lpstr>
      <vt:lpstr>Some Other Addressing Modes</vt:lpstr>
      <vt:lpstr>MIPS Instruction Encoding</vt:lpstr>
      <vt:lpstr>(a) R-type Instruction Encoding</vt:lpstr>
      <vt:lpstr>PowerPoint Presentation</vt:lpstr>
      <vt:lpstr>(b) I-type Instruction Encoding</vt:lpstr>
      <vt:lpstr>PowerPoint Presentation</vt:lpstr>
      <vt:lpstr>(c) J-type Instruction Encoding</vt:lpstr>
      <vt:lpstr>A Quick View</vt:lpstr>
      <vt:lpstr>Addressing Modes in MIPS32</vt:lpstr>
      <vt:lpstr>RISC and CISC Architecture </vt:lpstr>
      <vt:lpstr>Broad Classification</vt:lpstr>
      <vt:lpstr>CISC versus RISC Architectures</vt:lpstr>
      <vt:lpstr>PowerPoint Presentation</vt:lpstr>
      <vt:lpstr>PowerPoint Presentation</vt:lpstr>
      <vt:lpstr>PowerPoint Presentation</vt:lpstr>
      <vt:lpstr>PowerPoint Presentation</vt:lpstr>
      <vt:lpstr>Results of a Comparative Study</vt:lpstr>
      <vt:lpstr>The Instruction Set Architecture (ISA): From CISC to RISC</vt:lpstr>
      <vt:lpstr>Complex Instructions</vt:lpstr>
      <vt:lpstr>Reasons for the CISC style</vt:lpstr>
      <vt:lpstr>Examples</vt:lpstr>
      <vt:lpstr>CISC vs RISC</vt:lpstr>
      <vt:lpstr>The Problems of CISC: Why RISC?</vt:lpstr>
      <vt:lpstr>The Problems of CISC: Why RISC?</vt:lpstr>
      <vt:lpstr>The Problems of CISC: Why RISC?</vt:lpstr>
      <vt:lpstr>The Problems of CISC: Why RISC?</vt:lpstr>
      <vt:lpstr>Large Register Sets</vt:lpstr>
      <vt:lpstr>Large Register Sets</vt:lpstr>
      <vt:lpstr>Combination of RISC and CISC</vt:lpstr>
      <vt:lpstr>A Single Instruction Processor</vt:lpstr>
      <vt:lpstr>What is the instruction?</vt:lpstr>
      <vt:lpstr>The URISC instruction</vt:lpstr>
      <vt:lpstr>Exiting the program</vt:lpstr>
      <vt:lpstr>URISC program for move</vt:lpstr>
      <vt:lpstr>Assignments</vt:lpstr>
      <vt:lpstr>uadd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Microsoft Office User</cp:lastModifiedBy>
  <cp:revision>2</cp:revision>
  <dcterms:created xsi:type="dcterms:W3CDTF">2023-07-29T12:08:44Z</dcterms:created>
  <dcterms:modified xsi:type="dcterms:W3CDTF">2026-08-05T09:48:15Z</dcterms:modified>
</cp:coreProperties>
</file>