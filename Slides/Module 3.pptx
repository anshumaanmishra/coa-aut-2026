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35"/>
  </p:notesMasterIdLst>
  <p:handoutMasterIdLst>
    <p:handoutMasterId r:id="rId36"/>
  </p:handoutMasterIdLst>
  <p:sldIdLst>
    <p:sldId id="256" r:id="rId2"/>
    <p:sldId id="502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9" r:id="rId11"/>
    <p:sldId id="350" r:id="rId12"/>
    <p:sldId id="344" r:id="rId13"/>
    <p:sldId id="345" r:id="rId14"/>
    <p:sldId id="347" r:id="rId15"/>
    <p:sldId id="348" r:id="rId16"/>
    <p:sldId id="351" r:id="rId17"/>
    <p:sldId id="504" r:id="rId18"/>
    <p:sldId id="505" r:id="rId19"/>
    <p:sldId id="506" r:id="rId20"/>
    <p:sldId id="507" r:id="rId21"/>
    <p:sldId id="511" r:id="rId22"/>
    <p:sldId id="512" r:id="rId23"/>
    <p:sldId id="513" r:id="rId24"/>
    <p:sldId id="514" r:id="rId25"/>
    <p:sldId id="515" r:id="rId26"/>
    <p:sldId id="516" r:id="rId27"/>
    <p:sldId id="518" r:id="rId28"/>
    <p:sldId id="517" r:id="rId29"/>
    <p:sldId id="365" r:id="rId30"/>
    <p:sldId id="367" r:id="rId31"/>
    <p:sldId id="368" r:id="rId32"/>
    <p:sldId id="366" r:id="rId33"/>
    <p:sldId id="51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8725B2-BF99-4C32-BE2A-350B70FCF5D3}" v="2" dt="2025-08-04T05:56:45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64"/>
    <p:restoredTop sz="99008" autoAdjust="0"/>
  </p:normalViewPr>
  <p:slideViewPr>
    <p:cSldViewPr snapToGrid="0">
      <p:cViewPr varScale="1">
        <p:scale>
          <a:sx n="75" d="100"/>
          <a:sy n="75" d="100"/>
        </p:scale>
        <p:origin x="192" y="2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ni Bhattacharya" userId="0cbbcaf96de517ff" providerId="LiveId" clId="{A68725B2-BF99-4C32-BE2A-350B70FCF5D3}"/>
    <pc:docChg chg="custSel modSld">
      <pc:chgData name="Sarani Bhattacharya" userId="0cbbcaf96de517ff" providerId="LiveId" clId="{A68725B2-BF99-4C32-BE2A-350B70FCF5D3}" dt="2025-08-04T05:56:45.421" v="1" actId="27636"/>
      <pc:docMkLst>
        <pc:docMk/>
      </pc:docMkLst>
      <pc:sldChg chg="modSp mod">
        <pc:chgData name="Sarani Bhattacharya" userId="0cbbcaf96de517ff" providerId="LiveId" clId="{A68725B2-BF99-4C32-BE2A-350B70FCF5D3}" dt="2025-08-04T05:56:45.421" v="1" actId="27636"/>
        <pc:sldMkLst>
          <pc:docMk/>
          <pc:sldMk cId="0" sldId="256"/>
        </pc:sldMkLst>
        <pc:spChg chg="mod">
          <ac:chgData name="Sarani Bhattacharya" userId="0cbbcaf96de517ff" providerId="LiveId" clId="{A68725B2-BF99-4C32-BE2A-350B70FCF5D3}" dt="2025-08-04T05:56:45.421" v="1" actId="27636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7E906-BE1D-E544-AECB-5C23184F3A7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080E8-F0F7-F247-BE54-A62C7D2D6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534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460DF-EB7B-469A-88A6-9D448ABB3F4B}" type="datetimeFigureOut">
              <a:rPr lang="en-IN" smtClean="0"/>
              <a:t>04-08-2025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67892-E758-4CE4-92A4-618DD948D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3895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2742-209D-4AD4-BCC0-D744EEC86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BB40C-C336-43B4-8A87-78E91DEAD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0F9BE-7EE4-41AE-9D36-3030AC04C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31A0B-D5FE-4D4A-A719-AD639C2046F2}" type="datetime1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EB7A5-46F8-40A4-82B6-04878333C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BF08A-4E85-47CB-AC56-053203DA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319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F563-41BA-4934-90FA-D44B0D71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8FCB-BB80-461A-A0EE-DD05B5FB0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45495-1438-4935-AB17-84E4DE45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5CA60-F708-384A-B26B-55187A59C32E}" type="datetime1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61712-21CA-45C1-A1F8-91E2DCEDD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EE83C-34D9-4B18-B1C1-D4E4528C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693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1A64-4DE2-4354-B466-643C1977D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B15BD-C661-487C-AC09-B37A3ACFF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4BA56-EF52-4182-9AC3-535F07D4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81245-FB1E-DD4B-8ABF-BA899A6DEEE0}" type="datetime1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3EF1A-4522-49B8-B173-4807441D3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E32FA-87C4-4EBB-AE76-4BF91ADA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485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EAE21-13C6-446B-AF3F-F96FDE605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AE339-3E49-4D2B-BE53-095BA5E2A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C131F-A559-4A6F-B802-6B8194664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A92EA-FC68-47AF-B8A5-3B1E4152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B7FB4-1145-8243-92DD-789291CDA5ED}" type="datetime1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835A4-E7E9-4AEA-89C8-72D28D501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0B176-30BA-4D43-AAE7-FCE3D1EE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087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0AA8-73EC-440F-ADFF-EA50D5D6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91440-45FF-4488-87BC-F35B827C0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37B83-4BF8-4951-9574-A1CD18DC0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8ABF3-3772-4234-89E3-589093FE5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8A3C9-D222-460F-9343-56E79B62E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FE556A-A164-4F04-8ECD-A8B2A689D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C9F4D-88BF-A041-8D11-3D32EA954CCE}" type="datetime1">
              <a:rPr lang="en-IN" smtClean="0"/>
              <a:t>04-08-2025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F38F5-8E0A-41CB-B48A-80E2AEA1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4DAA36-931C-4CC3-BCCF-9D41F670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00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0315B-58AB-473A-AAB2-6ABE409C0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79CD0F-8B29-4F0A-848C-8F8A7376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F6DDA-91F1-3A4B-85BF-72AD54A02E68}" type="datetime1">
              <a:rPr lang="en-IN" smtClean="0"/>
              <a:t>04-08-2025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E6270E-ABF7-4C57-88B0-D4A5E33B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1A6B7-0207-49EE-BBDE-A82A2598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219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AE1CFB-D2AF-4959-9D69-11EC0195D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8BD94-2BC3-154B-B820-4D72E3CDEAE7}" type="datetime1">
              <a:rPr lang="en-IN" smtClean="0"/>
              <a:t>04-08-2025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1A2CEA-7878-4D20-AC9F-2CB3B5138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AC79B-4BBE-4EC1-936F-F2AA565F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095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BCAD-58E5-4E36-8B51-1D7C442C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476C6-3C83-4B22-AB72-ED185CC9D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3AC60-2D0C-4ECD-ACFC-C8038D150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48922-2E5A-4FF6-9EBB-7F869BDA7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669DB-B2BC-6741-BE06-CDA7733D8399}" type="datetime1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0A630-E119-4E0B-B7DC-8C7CCF368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7E74E-13CD-4FE7-9281-ECA69C79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482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70500-7D46-4FE1-BFA8-267D29BF7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489865-DC41-4C9A-8FC0-8AC3A422C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7AD87-D6BE-455A-A128-345AA8F6F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2FBD1-7164-4773-82B5-39478DB3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70BCD-4D3A-0C4C-A4CD-FFD524D1E0AD}" type="datetime1">
              <a:rPr lang="en-IN" smtClean="0"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5760A-5271-4174-A87B-587A1059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B756A-85CD-4B73-ACD9-C849994C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406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A5CF-B6CD-4C88-93D7-3ABF7A66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5C0FC-B2B0-4148-A1BD-38A8D67F9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40223-CCC8-489F-BDB1-24CBC0ED8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04605-D821-1140-885C-55E2B5DD932B}" type="datetime1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880D4-F616-4B97-9A14-3C3434702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A3D93-E61C-4206-A227-C476ACB5C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843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2BEB68-62B8-470C-AE19-868FBB2E3E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300CD-54A0-406F-BA0E-61417F4C3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21733-86FF-42C7-BE02-C36308FD0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02F93-D929-B749-87D6-B06B38682C11}" type="datetime1">
              <a:rPr lang="en-IN" smtClean="0"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91238-A565-492B-AE8D-5740E31D6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C2359-3D1A-44AB-B11A-FFDC86CC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05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0DD19B-906E-495E-B8BB-00BF7DF0A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D0EEB-380A-4F51-A933-D1276FE83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5A79F-B718-424B-99D1-6C67CD7AE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BABE6-DC73-CE4B-A25F-8E689D4F5342}" type="datetime1">
              <a:rPr lang="en-IN" smtClean="0"/>
              <a:t>04-08-2025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3EE9C-9259-433C-8C3A-B3F770A1D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F8E49-7C34-491A-B133-778D3DDBC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6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406400" y="889000"/>
            <a:ext cx="11379200" cy="1727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189" indent="-457189" algn="ctr">
              <a:lnSpc>
                <a:spcPct val="140000"/>
              </a:lnSpc>
              <a:spcAft>
                <a:spcPts val="800"/>
              </a:spcAft>
              <a:defRPr/>
            </a:pPr>
            <a:r>
              <a:rPr lang="en-US" sz="5067" b="1" dirty="0">
                <a:solidFill>
                  <a:srgbClr val="800000"/>
                </a:solidFill>
                <a:cs typeface="Times New Roman" pitchFamily="18" charset="0"/>
              </a:rPr>
              <a:t>Computer Organization and Architecture</a:t>
            </a:r>
          </a:p>
          <a:p>
            <a:pPr marL="457189" indent="-457189" algn="ctr" defTabSz="1219170">
              <a:spcBef>
                <a:spcPct val="20000"/>
              </a:spcBef>
              <a:defRPr/>
            </a:pPr>
            <a:endParaRPr lang="en-US" sz="2667" b="1" dirty="0">
              <a:solidFill>
                <a:schemeClr val="accent2"/>
              </a:solidFill>
              <a:latin typeface="Century Gothic" pitchFamily="34" charset="0"/>
              <a:cs typeface="Arial" pitchFamily="34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727200" y="4221223"/>
            <a:ext cx="8534400" cy="2359080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algn="ctr" defTabSz="1219170">
              <a:spcBef>
                <a:spcPct val="20000"/>
              </a:spcBef>
              <a:spcAft>
                <a:spcPts val="800"/>
              </a:spcAft>
              <a:defRPr/>
            </a:pPr>
            <a:r>
              <a:rPr lang="en-US" sz="2667" b="1">
                <a:solidFill>
                  <a:srgbClr val="000090"/>
                </a:solidFill>
                <a:cs typeface="Arial" pitchFamily="34" charset="0"/>
              </a:rPr>
              <a:t>Department </a:t>
            </a:r>
            <a:r>
              <a:rPr lang="en-US" sz="2667" b="1" dirty="0">
                <a:solidFill>
                  <a:srgbClr val="000090"/>
                </a:solidFill>
                <a:cs typeface="Arial" pitchFamily="34" charset="0"/>
              </a:rPr>
              <a:t>of Computer Science and Engineering </a:t>
            </a:r>
          </a:p>
          <a:p>
            <a:pPr algn="ctr" defTabSz="1219170">
              <a:spcBef>
                <a:spcPct val="20000"/>
              </a:spcBef>
              <a:spcAft>
                <a:spcPts val="800"/>
              </a:spcAft>
              <a:defRPr/>
            </a:pPr>
            <a:r>
              <a:rPr lang="en-US" sz="2667" b="1" dirty="0">
                <a:solidFill>
                  <a:srgbClr val="000090"/>
                </a:solidFill>
                <a:cs typeface="Arial" pitchFamily="34" charset="0"/>
              </a:rPr>
              <a:t>IIT </a:t>
            </a:r>
            <a:r>
              <a:rPr lang="en-US" sz="2667" b="1" dirty="0" err="1">
                <a:solidFill>
                  <a:srgbClr val="000090"/>
                </a:solidFill>
                <a:cs typeface="Arial" pitchFamily="34" charset="0"/>
              </a:rPr>
              <a:t>Kharagpur</a:t>
            </a:r>
            <a:endParaRPr lang="en-US" sz="2667" b="1" dirty="0">
              <a:solidFill>
                <a:srgbClr val="000090"/>
              </a:solidFill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B2AAA-FBF9-9F47-D9BA-D5CCDCAECF8B}"/>
              </a:ext>
            </a:extLst>
          </p:cNvPr>
          <p:cNvSpPr txBox="1"/>
          <p:nvPr/>
        </p:nvSpPr>
        <p:spPr>
          <a:xfrm>
            <a:off x="859316" y="2302524"/>
            <a:ext cx="10432973" cy="123110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3200" b="1" dirty="0">
                <a:solidFill>
                  <a:srgbClr val="7030A0"/>
                </a:solidFill>
              </a:rPr>
              <a:t>Module 3</a:t>
            </a:r>
          </a:p>
          <a:p>
            <a:pPr algn="ctr"/>
            <a:r>
              <a:rPr lang="en-US" sz="3200" b="1" dirty="0">
                <a:solidFill>
                  <a:srgbClr val="7030A0"/>
                </a:solidFill>
              </a:rPr>
              <a:t>Amdahl’s Law – </a:t>
            </a:r>
            <a:r>
              <a:rPr lang="en-US" sz="3200" b="1" dirty="0" err="1">
                <a:solidFill>
                  <a:srgbClr val="7030A0"/>
                </a:solidFill>
              </a:rPr>
              <a:t>Quantative</a:t>
            </a:r>
            <a:r>
              <a:rPr lang="en-US" sz="3200" b="1" dirty="0">
                <a:solidFill>
                  <a:srgbClr val="7030A0"/>
                </a:solidFill>
              </a:rPr>
              <a:t> Principles in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</a:t>
            </a:fld>
            <a:endParaRPr lang="en-US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01600" y="3429000"/>
            <a:ext cx="11887200" cy="118334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189" indent="-457189" algn="ctr" defTabSz="1219170">
              <a:spcBef>
                <a:spcPct val="20000"/>
              </a:spcBef>
              <a:defRPr/>
            </a:pPr>
            <a:r>
              <a:rPr lang="en-US" sz="3733" b="1" dirty="0">
                <a:solidFill>
                  <a:srgbClr val="353C5F"/>
                </a:solidFill>
                <a:latin typeface="Century Gothic" pitchFamily="34" charset="0"/>
                <a:cs typeface="Times New Roman" pitchFamily="18" charset="0"/>
              </a:rPr>
              <a:t> AMDAHL’S LAW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1397000"/>
            <a:ext cx="3014624" cy="3835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1200" y="5257801"/>
            <a:ext cx="233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800000"/>
                </a:solidFill>
              </a:rPr>
              <a:t>Gene Amdahl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200" y="1701800"/>
            <a:ext cx="7518400" cy="3357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41294" indent="-241294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lang="en-US" sz="2667" dirty="0"/>
              <a:t>Amdahl’s law was established in 1967 by Gene Amdahl.</a:t>
            </a:r>
          </a:p>
          <a:p>
            <a:pPr marL="241294" indent="-241294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lang="en-US" sz="2667" dirty="0"/>
              <a:t>Basically provides an understanding on scaling, limitations and economics of parallel computing.</a:t>
            </a:r>
          </a:p>
          <a:p>
            <a:pPr marL="241294" indent="-241294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lang="en-US" sz="2667" dirty="0"/>
              <a:t>Forms the basis for quantitative principles in computer system design.</a:t>
            </a:r>
          </a:p>
          <a:p>
            <a:pPr marL="719649" lvl="1" indent="-245527">
              <a:lnSpc>
                <a:spcPct val="105000"/>
              </a:lnSpc>
              <a:spcAft>
                <a:spcPts val="800"/>
              </a:spcAft>
              <a:buFont typeface="Arial"/>
              <a:buChar char="•"/>
            </a:pPr>
            <a:r>
              <a:rPr lang="en-US" sz="2400" dirty="0"/>
              <a:t>Can be applied to other application domains as well.</a:t>
            </a:r>
          </a:p>
        </p:txBody>
      </p:sp>
    </p:spTree>
    <p:extLst>
      <p:ext uri="{BB962C8B-B14F-4D97-AF65-F5344CB8AC3E}">
        <p14:creationId xmlns:p14="http://schemas.microsoft.com/office/powerpoint/2010/main" val="192671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Amdahl’s Law?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7000"/>
            <a:ext cx="11277600" cy="485332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It can be used to find the maximum expected improvement of an overall system when only </a:t>
            </a:r>
            <a:r>
              <a:rPr lang="en-US" i="1" dirty="0">
                <a:solidFill>
                  <a:srgbClr val="800000"/>
                </a:solidFill>
              </a:rPr>
              <a:t>part of the system </a:t>
            </a:r>
            <a:r>
              <a:rPr lang="en-US" dirty="0"/>
              <a:t>is improved.</a:t>
            </a:r>
          </a:p>
          <a:p>
            <a:pPr>
              <a:lnSpc>
                <a:spcPct val="110000"/>
              </a:lnSpc>
            </a:pPr>
            <a:r>
              <a:rPr lang="en-US" dirty="0"/>
              <a:t>It basically states that the performance improvement to be gained from using some faster mode of execution is limited by the fraction of the time the faster mode can be used.</a:t>
            </a:r>
          </a:p>
          <a:p>
            <a:pPr>
              <a:lnSpc>
                <a:spcPct val="110000"/>
              </a:lnSpc>
            </a:pPr>
            <a:r>
              <a:rPr lang="en-US" dirty="0"/>
              <a:t>Very useful to check whether any proposed improvement can provide expected return.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Used by computer designers to enhance only those architectural features that result in reasonable performance improvement.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Referred to as </a:t>
            </a:r>
            <a:r>
              <a:rPr lang="en-US" i="1" dirty="0">
                <a:solidFill>
                  <a:srgbClr val="800000"/>
                </a:solidFill>
              </a:rPr>
              <a:t>quantitative principles in design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2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1379200" cy="426719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Amdahl’s law demonstrates the </a:t>
            </a:r>
            <a:r>
              <a:rPr lang="en-US" i="1" dirty="0">
                <a:solidFill>
                  <a:srgbClr val="800000"/>
                </a:solidFill>
              </a:rPr>
              <a:t>law of diminishing returns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dirty="0"/>
              <a:t>An example: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Suppose we are improving a part of the computer system that affects only 25% of the overall task.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improvement can be </a:t>
            </a:r>
            <a:r>
              <a:rPr lang="en-US" i="1" dirty="0">
                <a:solidFill>
                  <a:srgbClr val="800000"/>
                </a:solidFill>
              </a:rPr>
              <a:t>very little </a:t>
            </a:r>
            <a:r>
              <a:rPr lang="en-US" dirty="0"/>
              <a:t>or </a:t>
            </a:r>
            <a:r>
              <a:rPr lang="en-US" i="1" dirty="0">
                <a:solidFill>
                  <a:srgbClr val="800000"/>
                </a:solidFill>
              </a:rPr>
              <a:t>extremely large</a:t>
            </a:r>
            <a:r>
              <a:rPr lang="en-US" dirty="0"/>
              <a:t>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With “</a:t>
            </a:r>
            <a:r>
              <a:rPr lang="en-US" i="1" dirty="0">
                <a:solidFill>
                  <a:srgbClr val="800000"/>
                </a:solidFill>
              </a:rPr>
              <a:t>infinite</a:t>
            </a:r>
            <a:r>
              <a:rPr lang="en-US" dirty="0"/>
              <a:t>” speedup, the 25% of the task can be done in “</a:t>
            </a:r>
            <a:r>
              <a:rPr lang="en-US" i="1" dirty="0">
                <a:solidFill>
                  <a:srgbClr val="800000"/>
                </a:solidFill>
              </a:rPr>
              <a:t>zero</a:t>
            </a:r>
            <a:r>
              <a:rPr lang="en-US" dirty="0"/>
              <a:t>” time.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Maximum possible speedup  =  </a:t>
            </a:r>
            <a:r>
              <a:rPr lang="en-US" dirty="0" err="1"/>
              <a:t>XT</a:t>
            </a:r>
            <a:r>
              <a:rPr lang="en-US" baseline="-25000" dirty="0" err="1"/>
              <a:t>orig</a:t>
            </a:r>
            <a:r>
              <a:rPr lang="en-US" dirty="0"/>
              <a:t> / </a:t>
            </a:r>
            <a:r>
              <a:rPr lang="en-US" dirty="0" err="1"/>
              <a:t>XT</a:t>
            </a:r>
            <a:r>
              <a:rPr lang="en-US" baseline="-25000" dirty="0" err="1"/>
              <a:t>new</a:t>
            </a:r>
            <a:r>
              <a:rPr lang="en-US" dirty="0"/>
              <a:t>  =  1 / (1 – 0.25)  =  1.33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36800" y="5257801"/>
            <a:ext cx="71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We can never get a speedup of more than 1.33</a:t>
            </a:r>
          </a:p>
        </p:txBody>
      </p:sp>
    </p:spTree>
    <p:extLst>
      <p:ext uri="{BB962C8B-B14F-4D97-AF65-F5344CB8AC3E}">
        <p14:creationId xmlns:p14="http://schemas.microsoft.com/office/powerpoint/2010/main" val="367137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4"/>
            <a:ext cx="10972800" cy="162559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667" dirty="0"/>
              <a:t>Amdahl’s law concerns the speedup achievable from an improvement in computation that affects a fraction </a:t>
            </a:r>
            <a:r>
              <a:rPr lang="en-US" sz="2667" i="1" dirty="0">
                <a:solidFill>
                  <a:srgbClr val="800000"/>
                </a:solidFill>
              </a:rPr>
              <a:t>F</a:t>
            </a:r>
            <a:r>
              <a:rPr lang="en-US" sz="2667" dirty="0"/>
              <a:t> of the computation, where the improvement has a speedup of </a:t>
            </a:r>
            <a:r>
              <a:rPr lang="en-US" sz="2667" i="1" dirty="0">
                <a:solidFill>
                  <a:srgbClr val="800000"/>
                </a:solidFill>
              </a:rPr>
              <a:t>S</a:t>
            </a:r>
            <a:r>
              <a:rPr lang="en-US" sz="2667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6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4064000" y="3429000"/>
            <a:ext cx="6908801" cy="2235200"/>
            <a:chOff x="1752599" y="2571750"/>
            <a:chExt cx="5181601" cy="1676400"/>
          </a:xfrm>
        </p:grpSpPr>
        <p:sp>
          <p:nvSpPr>
            <p:cNvPr id="5" name="Rectangle 4"/>
            <p:cNvSpPr/>
            <p:nvPr/>
          </p:nvSpPr>
          <p:spPr>
            <a:xfrm>
              <a:off x="1752600" y="2571750"/>
              <a:ext cx="3124200" cy="6096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1 – F 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876800" y="2571750"/>
              <a:ext cx="2057400" cy="609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F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752599" y="3638550"/>
              <a:ext cx="3239911" cy="6096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1 – F 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876800" y="3638550"/>
              <a:ext cx="838200" cy="609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F / 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508000" y="3530601"/>
            <a:ext cx="33528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67" b="1" dirty="0">
                <a:solidFill>
                  <a:srgbClr val="800000"/>
                </a:solidFill>
              </a:rPr>
              <a:t>Before 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4927521"/>
            <a:ext cx="33528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67" b="1" dirty="0">
                <a:solidFill>
                  <a:srgbClr val="800000"/>
                </a:solidFill>
              </a:rPr>
              <a:t>After improvement</a:t>
            </a:r>
          </a:p>
        </p:txBody>
      </p:sp>
    </p:spTree>
    <p:extLst>
      <p:ext uri="{BB962C8B-B14F-4D97-AF65-F5344CB8AC3E}">
        <p14:creationId xmlns:p14="http://schemas.microsoft.com/office/powerpoint/2010/main" val="2975349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4031" y="3130152"/>
            <a:ext cx="4876800" cy="1219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7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2919050" y="3650604"/>
            <a:ext cx="22352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06750" y="3318916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dirty="0"/>
              <a:t>Speedup =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1844"/>
            <a:ext cx="10515600" cy="4901236"/>
          </a:xfrm>
        </p:spPr>
        <p:txBody>
          <a:bodyPr/>
          <a:lstStyle/>
          <a:p>
            <a:r>
              <a:rPr lang="en-US" dirty="0"/>
              <a:t>Execution time before improvement:	</a:t>
            </a:r>
            <a:r>
              <a:rPr lang="en-US" dirty="0">
                <a:solidFill>
                  <a:srgbClr val="800000"/>
                </a:solidFill>
              </a:rPr>
              <a:t>(1 </a:t>
            </a:r>
            <a:r>
              <a:rPr lang="en-US" i="1" dirty="0">
                <a:solidFill>
                  <a:srgbClr val="800000"/>
                </a:solidFill>
              </a:rPr>
              <a:t>– F</a:t>
            </a:r>
            <a:r>
              <a:rPr lang="en-US" dirty="0">
                <a:solidFill>
                  <a:srgbClr val="800000"/>
                </a:solidFill>
              </a:rPr>
              <a:t>)</a:t>
            </a:r>
            <a:r>
              <a:rPr lang="en-US" i="1" dirty="0">
                <a:solidFill>
                  <a:srgbClr val="800000"/>
                </a:solidFill>
              </a:rPr>
              <a:t> + F  =  </a:t>
            </a:r>
            <a:r>
              <a:rPr lang="en-US" dirty="0">
                <a:solidFill>
                  <a:srgbClr val="800000"/>
                </a:solidFill>
              </a:rPr>
              <a:t>1</a:t>
            </a:r>
          </a:p>
          <a:p>
            <a:r>
              <a:rPr lang="en-US" dirty="0"/>
              <a:t>Execution time after improvement:		</a:t>
            </a:r>
            <a:r>
              <a:rPr lang="en-US" dirty="0">
                <a:solidFill>
                  <a:srgbClr val="800000"/>
                </a:solidFill>
              </a:rPr>
              <a:t>(1</a:t>
            </a:r>
            <a:r>
              <a:rPr lang="en-US" i="1" dirty="0">
                <a:solidFill>
                  <a:srgbClr val="800000"/>
                </a:solidFill>
              </a:rPr>
              <a:t> – F</a:t>
            </a:r>
            <a:r>
              <a:rPr lang="en-US" dirty="0">
                <a:solidFill>
                  <a:srgbClr val="800000"/>
                </a:solidFill>
              </a:rPr>
              <a:t>)</a:t>
            </a:r>
            <a:r>
              <a:rPr lang="en-US" i="1" dirty="0">
                <a:solidFill>
                  <a:srgbClr val="800000"/>
                </a:solidFill>
              </a:rPr>
              <a:t> + F / S</a:t>
            </a:r>
          </a:p>
          <a:p>
            <a:r>
              <a:rPr lang="en-US" dirty="0"/>
              <a:t>Speedup obtained: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1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dirty="0"/>
              <a:t>                              (1 – F) + F / S</a:t>
            </a:r>
          </a:p>
          <a:p>
            <a:endParaRPr lang="en-US" dirty="0"/>
          </a:p>
          <a:p>
            <a:r>
              <a:rPr lang="en-US" dirty="0"/>
              <a:t>As </a:t>
            </a:r>
            <a:r>
              <a:rPr lang="en-US" i="1" dirty="0">
                <a:solidFill>
                  <a:srgbClr val="800000"/>
                </a:solidFill>
              </a:rPr>
              <a:t>S </a:t>
            </a:r>
            <a:r>
              <a:rPr lang="en-US" dirty="0">
                <a:solidFill>
                  <a:srgbClr val="800000"/>
                </a:solidFill>
                <a:sym typeface="Wingdings"/>
              </a:rPr>
              <a:t></a:t>
            </a:r>
            <a:r>
              <a:rPr lang="en-US" i="1" dirty="0">
                <a:solidFill>
                  <a:srgbClr val="800000"/>
                </a:solidFill>
                <a:sym typeface="Wingdings"/>
              </a:rPr>
              <a:t> ∞</a:t>
            </a:r>
            <a:r>
              <a:rPr lang="en-US" dirty="0">
                <a:sym typeface="Wingdings"/>
              </a:rPr>
              <a:t>,  </a:t>
            </a:r>
            <a:r>
              <a:rPr lang="en-US" i="1" dirty="0">
                <a:solidFill>
                  <a:srgbClr val="800000"/>
                </a:solidFill>
                <a:sym typeface="Wingdings"/>
              </a:rPr>
              <a:t>Speedup </a:t>
            </a:r>
            <a:r>
              <a:rPr lang="en-US" dirty="0">
                <a:solidFill>
                  <a:srgbClr val="800000"/>
                </a:solidFill>
                <a:sym typeface="Wingdings"/>
              </a:rPr>
              <a:t> 1 </a:t>
            </a:r>
            <a:r>
              <a:rPr lang="en-US" i="1" dirty="0">
                <a:solidFill>
                  <a:srgbClr val="800000"/>
                </a:solidFill>
                <a:sym typeface="Wingdings"/>
              </a:rPr>
              <a:t>/ (</a:t>
            </a:r>
            <a:r>
              <a:rPr lang="en-US" dirty="0">
                <a:solidFill>
                  <a:srgbClr val="800000"/>
                </a:solidFill>
                <a:sym typeface="Wingdings"/>
              </a:rPr>
              <a:t>1</a:t>
            </a:r>
            <a:r>
              <a:rPr lang="en-US" i="1" dirty="0">
                <a:solidFill>
                  <a:srgbClr val="800000"/>
                </a:solidFill>
                <a:sym typeface="Wingdings"/>
              </a:rPr>
              <a:t> – F)</a:t>
            </a:r>
          </a:p>
          <a:p>
            <a:pPr lvl="1"/>
            <a:r>
              <a:rPr lang="en-US" dirty="0">
                <a:sym typeface="Wingdings"/>
              </a:rPr>
              <a:t>The fraction </a:t>
            </a:r>
            <a:r>
              <a:rPr lang="en-US" i="1" dirty="0">
                <a:solidFill>
                  <a:srgbClr val="800000"/>
                </a:solidFill>
                <a:sym typeface="Wingdings"/>
              </a:rPr>
              <a:t>F</a:t>
            </a:r>
            <a:r>
              <a:rPr lang="en-US" dirty="0">
                <a:sym typeface="Wingdings"/>
              </a:rPr>
              <a:t> limits the maximum speedup that can be obtained.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C3C117-D4E5-ABDD-4F9C-D55D25ADF3F3}"/>
                  </a:ext>
                </a:extLst>
              </p:cNvPr>
              <p:cNvSpPr txBox="1"/>
              <p:nvPr/>
            </p:nvSpPr>
            <p:spPr>
              <a:xfrm>
                <a:off x="624031" y="5514886"/>
                <a:ext cx="10275290" cy="64633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𝑵𝒐𝒕𝒆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b="0" i="1" smtClean="0">
                        <a:latin typeface="Cambria Math" charset="0"/>
                      </a:rPr>
                      <m:t>𝐹</m:t>
                    </m:r>
                  </m:oMath>
                </a14:m>
                <a:r>
                  <a:rPr lang="en-US" dirty="0"/>
                  <a:t> is the fraction of </a:t>
                </a:r>
                <a:r>
                  <a:rPr lang="en-US" b="1" u="sng" dirty="0">
                    <a:solidFill>
                      <a:srgbClr val="C00000"/>
                    </a:solidFill>
                  </a:rPr>
                  <a:t>original execution time </a:t>
                </a:r>
                <a:r>
                  <a:rPr lang="en-US" dirty="0"/>
                  <a:t>that is affected by enhancement.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 Note that the percentage is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wrt</a:t>
                </a:r>
                <a:r>
                  <a:rPr lang="en-US" b="1" dirty="0">
                    <a:solidFill>
                      <a:srgbClr val="FF0000"/>
                    </a:solidFill>
                  </a:rPr>
                  <a:t>. time and not say number of instructions!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C3C117-D4E5-ABDD-4F9C-D55D25ADF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31" y="5514886"/>
                <a:ext cx="10275290" cy="646331"/>
              </a:xfrm>
              <a:prstGeom prst="rect">
                <a:avLst/>
              </a:prstGeom>
              <a:blipFill>
                <a:blip r:embed="rId2"/>
                <a:stretch>
                  <a:fillRect t="-4630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5299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89001"/>
            <a:ext cx="11277600" cy="17272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Illustration of law of diminishing returns: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Let </a:t>
            </a:r>
            <a:r>
              <a:rPr lang="en-US" i="1" dirty="0">
                <a:solidFill>
                  <a:srgbClr val="800000"/>
                </a:solidFill>
              </a:rPr>
              <a:t>F = 0.25</a:t>
            </a:r>
            <a:r>
              <a:rPr lang="en-US" dirty="0"/>
              <a:t>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table shows the speedup (</a:t>
            </a:r>
            <a:r>
              <a:rPr lang="en-US" i="1" dirty="0">
                <a:solidFill>
                  <a:srgbClr val="800000"/>
                </a:solidFill>
              </a:rPr>
              <a:t>= </a:t>
            </a:r>
            <a:r>
              <a:rPr lang="en-US" dirty="0">
                <a:solidFill>
                  <a:srgbClr val="800000"/>
                </a:solidFill>
              </a:rPr>
              <a:t>1</a:t>
            </a:r>
            <a:r>
              <a:rPr lang="en-US" i="1" dirty="0">
                <a:solidFill>
                  <a:srgbClr val="800000"/>
                </a:solidFill>
              </a:rPr>
              <a:t> / </a:t>
            </a:r>
            <a:r>
              <a:rPr lang="en-US" dirty="0">
                <a:solidFill>
                  <a:srgbClr val="800000"/>
                </a:solidFill>
              </a:rPr>
              <a:t>(1 </a:t>
            </a:r>
            <a:r>
              <a:rPr lang="en-US" i="1" dirty="0">
                <a:solidFill>
                  <a:srgbClr val="800000"/>
                </a:solidFill>
              </a:rPr>
              <a:t>– F + F / S</a:t>
            </a:r>
            <a:r>
              <a:rPr lang="en-US" dirty="0"/>
              <a:t>) for various values of </a:t>
            </a:r>
            <a:r>
              <a:rPr lang="en-US" i="1" dirty="0">
                <a:solidFill>
                  <a:srgbClr val="800000"/>
                </a:solidFill>
              </a:rPr>
              <a:t>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819400"/>
          <a:ext cx="4978400" cy="2472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Speedup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1.00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1.14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1.25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1.29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4000" y="2819400"/>
          <a:ext cx="4978400" cy="2472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Speedup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1.32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1.33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1.33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100,000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1.33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48405" y="878674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800000"/>
                </a:solidFill>
              </a:rPr>
              <a:t>1 / (1 – 0.25)  = 1.33  </a:t>
            </a:r>
          </a:p>
        </p:txBody>
      </p:sp>
    </p:spTree>
    <p:extLst>
      <p:ext uri="{BB962C8B-B14F-4D97-AF65-F5344CB8AC3E}">
        <p14:creationId xmlns:p14="http://schemas.microsoft.com/office/powerpoint/2010/main" val="13567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89001"/>
            <a:ext cx="10972800" cy="172720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Illustration of law of diminishing returns: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Let </a:t>
            </a:r>
            <a:r>
              <a:rPr lang="en-US" i="1" dirty="0">
                <a:solidFill>
                  <a:srgbClr val="800000"/>
                </a:solidFill>
              </a:rPr>
              <a:t>F = 0.75</a:t>
            </a:r>
            <a:r>
              <a:rPr lang="en-US" dirty="0"/>
              <a:t>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table shows the speedup for various values of </a:t>
            </a:r>
            <a:r>
              <a:rPr lang="en-US" i="1" dirty="0">
                <a:solidFill>
                  <a:srgbClr val="800000"/>
                </a:solidFill>
              </a:rPr>
              <a:t>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819400"/>
          <a:ext cx="4978400" cy="2472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Speedup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1.00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1.60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2.50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3.08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4000" y="2819400"/>
          <a:ext cx="4978400" cy="2472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Speedup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3.77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3.88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3.99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100,000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4.00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721600" y="1290936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800000"/>
                </a:solidFill>
              </a:rPr>
              <a:t>1 / (1 – 0.75)  = 4.00  </a:t>
            </a:r>
          </a:p>
        </p:txBody>
      </p:sp>
    </p:spTree>
    <p:extLst>
      <p:ext uri="{BB962C8B-B14F-4D97-AF65-F5344CB8AC3E}">
        <p14:creationId xmlns:p14="http://schemas.microsoft.com/office/powerpoint/2010/main" val="208281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Alternative using Amdahl’s law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86884" y="1498600"/>
            <a:ext cx="2946400" cy="3860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117600" y="1839384"/>
            <a:ext cx="2438400" cy="15896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667" dirty="0"/>
              <a:t>Loop 1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117600" y="3937000"/>
            <a:ext cx="2438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667" dirty="0"/>
              <a:t>Loop 2</a:t>
            </a:r>
          </a:p>
        </p:txBody>
      </p:sp>
      <p:sp>
        <p:nvSpPr>
          <p:cNvPr id="9" name="AutoShape 7"/>
          <p:cNvSpPr>
            <a:spLocks/>
          </p:cNvSpPr>
          <p:nvPr/>
        </p:nvSpPr>
        <p:spPr bwMode="auto">
          <a:xfrm>
            <a:off x="4064000" y="1803400"/>
            <a:ext cx="406400" cy="16256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0" name="AutoShape 8"/>
          <p:cNvSpPr>
            <a:spLocks/>
          </p:cNvSpPr>
          <p:nvPr/>
        </p:nvSpPr>
        <p:spPr bwMode="auto">
          <a:xfrm>
            <a:off x="4064000" y="3854451"/>
            <a:ext cx="304800" cy="1117600"/>
          </a:xfrm>
          <a:prstGeom prst="rightBrace">
            <a:avLst>
              <a:gd name="adj1" fmla="val 3055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400"/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4673600" y="2311400"/>
            <a:ext cx="2032000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667" dirty="0"/>
              <a:t>500 lines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4673600" y="4114720"/>
            <a:ext cx="2032000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667" dirty="0"/>
              <a:t>20 lines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6908800" y="2311401"/>
            <a:ext cx="4775200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667" dirty="0"/>
              <a:t>10% of total execution time</a:t>
            </a: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6908800" y="4114721"/>
            <a:ext cx="4775200" cy="50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667" dirty="0"/>
              <a:t>90% of total execution time</a:t>
            </a:r>
          </a:p>
        </p:txBody>
      </p:sp>
    </p:spTree>
    <p:extLst>
      <p:ext uri="{BB962C8B-B14F-4D97-AF65-F5344CB8AC3E}">
        <p14:creationId xmlns:p14="http://schemas.microsoft.com/office/powerpoint/2010/main" val="4171074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3"/>
            <a:ext cx="11785600" cy="4267199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Some examples:</a:t>
            </a:r>
          </a:p>
          <a:p>
            <a:pPr marL="711182" lvl="1" indent="-349242">
              <a:lnSpc>
                <a:spcPct val="110000"/>
              </a:lnSpc>
            </a:pPr>
            <a:r>
              <a:rPr lang="en-US" dirty="0"/>
              <a:t>We make 10% of a program 90X faster, speedup =  1 / (0.9 + 0.1 / 90)      = 1.11</a:t>
            </a:r>
          </a:p>
          <a:p>
            <a:pPr marL="711182" lvl="1" indent="-349242">
              <a:lnSpc>
                <a:spcPct val="110000"/>
              </a:lnSpc>
            </a:pPr>
            <a:r>
              <a:rPr lang="en-US" dirty="0"/>
              <a:t>We make 90% of a program 10X faster, speedup =  1 / (0.1 + 0.9 / 10)      = 5.26</a:t>
            </a:r>
          </a:p>
          <a:p>
            <a:pPr marL="711182" lvl="1" indent="-349242">
              <a:lnSpc>
                <a:spcPct val="110000"/>
              </a:lnSpc>
            </a:pPr>
            <a:r>
              <a:rPr lang="en-US" dirty="0"/>
              <a:t>We make 25% of a program 25X faster, speedup =  1 / (0.75 + 0.25 / 25) = 1.32</a:t>
            </a:r>
          </a:p>
          <a:p>
            <a:pPr marL="711182" lvl="1" indent="-349242">
              <a:lnSpc>
                <a:spcPct val="110000"/>
              </a:lnSpc>
            </a:pPr>
            <a:r>
              <a:rPr lang="en-US" dirty="0"/>
              <a:t>We make 50% of a program 20X faster, speedup =  1 / (0.5 + 0.5 / 20)     = 1.90</a:t>
            </a:r>
          </a:p>
          <a:p>
            <a:pPr marL="711182" lvl="1" indent="-349242">
              <a:lnSpc>
                <a:spcPct val="110000"/>
              </a:lnSpc>
            </a:pPr>
            <a:r>
              <a:rPr lang="en-US" dirty="0"/>
              <a:t>We make 90% of a program 50X faster, speedup =  1 / (0.1 + 0.9 / 50)     = 8.47</a:t>
            </a:r>
          </a:p>
          <a:p>
            <a:pPr marL="711182" lvl="1" indent="-349242">
              <a:lnSpc>
                <a:spcPct val="11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11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2538"/>
          </a:xfrm>
        </p:spPr>
        <p:txBody>
          <a:bodyPr>
            <a:norm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93801"/>
            <a:ext cx="11379200" cy="531865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Suppose we are running a set of programs on a RISC processor, for which the following instruction mix is observed:</a:t>
            </a:r>
          </a:p>
          <a:p>
            <a:pPr>
              <a:lnSpc>
                <a:spcPct val="110000"/>
              </a:lnSpc>
            </a:pPr>
            <a:endParaRPr lang="en-US" sz="2667" dirty="0"/>
          </a:p>
          <a:p>
            <a:pPr>
              <a:lnSpc>
                <a:spcPct val="110000"/>
              </a:lnSpc>
            </a:pPr>
            <a:endParaRPr lang="en-US" sz="2667" dirty="0"/>
          </a:p>
          <a:p>
            <a:pPr>
              <a:lnSpc>
                <a:spcPct val="110000"/>
              </a:lnSpc>
            </a:pPr>
            <a:endParaRPr lang="en-US" sz="2667" dirty="0"/>
          </a:p>
          <a:p>
            <a:pPr>
              <a:lnSpc>
                <a:spcPct val="110000"/>
              </a:lnSpc>
            </a:pPr>
            <a:endParaRPr lang="en-US" sz="2667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 marL="484705" indent="0">
              <a:lnSpc>
                <a:spcPct val="110000"/>
              </a:lnSpc>
              <a:buNone/>
            </a:pPr>
            <a:r>
              <a:rPr lang="en-US" dirty="0"/>
              <a:t>We carry out a design enhancement by which the CPI of Load instructions reduces from 5 to 2. What will be the overall performance improvement?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19200" y="2270760"/>
          <a:ext cx="4978401" cy="22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9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Operation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Frequency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CPI</a:t>
                      </a:r>
                      <a:r>
                        <a:rPr lang="en-US" sz="2400" baseline="-25000" dirty="0" err="1"/>
                        <a:t>i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Load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20 %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5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Store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8</a:t>
                      </a:r>
                      <a:r>
                        <a:rPr lang="en-US" sz="2100" baseline="0" dirty="0"/>
                        <a:t> %</a:t>
                      </a:r>
                      <a:endParaRPr lang="en-US" sz="21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3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ALU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60 %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Branch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12 %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2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4000" y="2270760"/>
          <a:ext cx="3352800" cy="22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</a:t>
                      </a:r>
                      <a:r>
                        <a:rPr lang="en-US" sz="2400" baseline="-25000" dirty="0"/>
                        <a:t>i</a:t>
                      </a:r>
                      <a:r>
                        <a:rPr lang="en-US" sz="2400" baseline="0" dirty="0"/>
                        <a:t> * </a:t>
                      </a:r>
                      <a:r>
                        <a:rPr lang="en-US" sz="2400" baseline="0" dirty="0" err="1"/>
                        <a:t>CPI</a:t>
                      </a:r>
                      <a:r>
                        <a:rPr lang="en-US" sz="2400" baseline="-25000" dirty="0" err="1"/>
                        <a:t>i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% Time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1.00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0.48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0.24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0.12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0.60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0.29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0.24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/>
                        <a:t>0.11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443885" y="2311401"/>
            <a:ext cx="1544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800000"/>
                </a:solidFill>
              </a:rPr>
              <a:t>CPI = 2.08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6400" y="3139758"/>
            <a:ext cx="132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 / 2.08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9550400" y="3022600"/>
            <a:ext cx="1016000" cy="3048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7313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3870"/>
            <a:ext cx="10515600" cy="4583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67" dirty="0"/>
              <a:t>Fraction enhanced  F  =  0.48</a:t>
            </a:r>
          </a:p>
          <a:p>
            <a:pPr marL="0" indent="0">
              <a:buNone/>
            </a:pPr>
            <a:r>
              <a:rPr lang="en-US" sz="2667" dirty="0"/>
              <a:t>Fraction unaffected  1 – F  =  1 – 0.48  =  0.52</a:t>
            </a:r>
          </a:p>
          <a:p>
            <a:pPr marL="0" indent="0">
              <a:buNone/>
            </a:pPr>
            <a:r>
              <a:rPr lang="en-US" sz="2667" dirty="0"/>
              <a:t>Enhancement factor  S  =  5 / 2  = 2.5</a:t>
            </a:r>
          </a:p>
          <a:p>
            <a:pPr marL="0" indent="0">
              <a:buNone/>
            </a:pPr>
            <a:r>
              <a:rPr lang="en-US" sz="2667" dirty="0"/>
              <a:t>Therefore, speedup is</a:t>
            </a:r>
          </a:p>
          <a:p>
            <a:pPr marL="0" indent="0">
              <a:buNone/>
            </a:pPr>
            <a:r>
              <a:rPr lang="en-US" sz="2667" dirty="0"/>
              <a:t>                                   1                                        1</a:t>
            </a:r>
          </a:p>
          <a:p>
            <a:pPr marL="0" indent="0">
              <a:buNone/>
            </a:pPr>
            <a:r>
              <a:rPr lang="en-US" sz="2667" dirty="0"/>
              <a:t>                         (1 – F) + F / S               0.52 + 0.48 / 2.5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13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2820709" y="4069191"/>
            <a:ext cx="17272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5722070" y="4073119"/>
            <a:ext cx="2336800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28000" y="3733800"/>
            <a:ext cx="16256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dirty="0"/>
              <a:t>=  1.40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5200" y="3733800"/>
            <a:ext cx="16256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dirty="0"/>
              <a:t>= </a:t>
            </a:r>
          </a:p>
        </p:txBody>
      </p:sp>
    </p:spTree>
    <p:extLst>
      <p:ext uri="{BB962C8B-B14F-4D97-AF65-F5344CB8AC3E}">
        <p14:creationId xmlns:p14="http://schemas.microsoft.com/office/powerpoint/2010/main" val="1476435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7001"/>
            <a:ext cx="11277600" cy="447040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US" dirty="0"/>
              <a:t>The execution time of a program on a machine is found to be 50 seconds, out of which 42 seconds is consumed by multiply operations. It is required to make the program run 5 times faster. By how much must the speed of the multiplier be improved?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Here,  F = 42 / 50 = 0.84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According to Amdahl’s law,</a:t>
            </a:r>
          </a:p>
          <a:p>
            <a:pPr marL="609585" lvl="1" indent="0">
              <a:lnSpc>
                <a:spcPct val="110000"/>
              </a:lnSpc>
              <a:buNone/>
            </a:pPr>
            <a:r>
              <a:rPr lang="en-US" sz="2400" dirty="0"/>
              <a:t>               5  =  1 / (0.16 + 0.84 / S)</a:t>
            </a:r>
          </a:p>
          <a:p>
            <a:pPr marL="609585" lvl="1" indent="0">
              <a:lnSpc>
                <a:spcPct val="110000"/>
              </a:lnSpc>
              <a:buNone/>
            </a:pPr>
            <a:r>
              <a:rPr lang="en-US" sz="2400" dirty="0"/>
              <a:t>        or,  0.80  +  4.2 / S  =  1</a:t>
            </a:r>
          </a:p>
          <a:p>
            <a:pPr marL="609585" lvl="1" indent="0">
              <a:lnSpc>
                <a:spcPct val="110000"/>
              </a:lnSpc>
              <a:buNone/>
            </a:pPr>
            <a:r>
              <a:rPr lang="en-US" sz="2400" dirty="0"/>
              <a:t>        or,  S  = 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79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2a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7001"/>
            <a:ext cx="11277600" cy="447040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US" dirty="0"/>
              <a:t>The execution time of a program on a machine is found to be 50 seconds, out of which 42 seconds is consumed by multiply operations. It is required to make the program run </a:t>
            </a:r>
            <a:r>
              <a:rPr lang="en-US" b="1" dirty="0">
                <a:solidFill>
                  <a:srgbClr val="FF0000"/>
                </a:solidFill>
              </a:rPr>
              <a:t>8</a:t>
            </a:r>
            <a:r>
              <a:rPr lang="en-US" dirty="0"/>
              <a:t> times faster. By how much must the speed of the multiplier be improved?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Here,  F = 42 / 50 = 0.84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According to Amdahl’s law,</a:t>
            </a:r>
          </a:p>
          <a:p>
            <a:pPr marL="609585" lvl="1" indent="0">
              <a:lnSpc>
                <a:spcPct val="110000"/>
              </a:lnSpc>
              <a:buNone/>
            </a:pPr>
            <a:r>
              <a:rPr lang="en-US" sz="2400" dirty="0"/>
              <a:t>               8  =  1 / (0.16 + 0.84 / S)</a:t>
            </a:r>
          </a:p>
          <a:p>
            <a:pPr marL="609585" lvl="1" indent="0">
              <a:lnSpc>
                <a:spcPct val="110000"/>
              </a:lnSpc>
              <a:buNone/>
            </a:pPr>
            <a:r>
              <a:rPr lang="en-US" sz="2400" dirty="0"/>
              <a:t>        or,  1.28  +  6.72 / S  =  1</a:t>
            </a:r>
          </a:p>
          <a:p>
            <a:pPr marL="609585" lvl="1" indent="0">
              <a:lnSpc>
                <a:spcPct val="110000"/>
              </a:lnSpc>
              <a:buNone/>
            </a:pPr>
            <a:r>
              <a:rPr lang="en-US" sz="2400" dirty="0"/>
              <a:t>        or,  S  =  – 24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604000" y="3632200"/>
            <a:ext cx="4673600" cy="16722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400" b="1" dirty="0">
                <a:solidFill>
                  <a:srgbClr val="000090"/>
                </a:solidFill>
              </a:rPr>
              <a:t>No amount to speed improvement in the multiplier can achieve this.</a:t>
            </a:r>
          </a:p>
          <a:p>
            <a:r>
              <a:rPr lang="en-US" sz="2400" b="1" dirty="0">
                <a:solidFill>
                  <a:srgbClr val="000090"/>
                </a:solidFill>
              </a:rPr>
              <a:t>Maximum speedup achievable:</a:t>
            </a:r>
          </a:p>
          <a:p>
            <a:r>
              <a:rPr lang="en-US" sz="2400" b="1" dirty="0">
                <a:solidFill>
                  <a:srgbClr val="000090"/>
                </a:solidFill>
              </a:rPr>
              <a:t>     1 / (1 – F)  =  6.25</a:t>
            </a:r>
          </a:p>
        </p:txBody>
      </p:sp>
    </p:spTree>
    <p:extLst>
      <p:ext uri="{BB962C8B-B14F-4D97-AF65-F5344CB8AC3E}">
        <p14:creationId xmlns:p14="http://schemas.microsoft.com/office/powerpoint/2010/main" val="39278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1379200" cy="426719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lang="en-US" dirty="0"/>
              <a:t>Suppose we plan to upgrade the processor of a web server. The CPU is 30 times faster on search queries than the old processor. The old processor is busy with search queries 80% of the time. Estimate the speedup obtained by the upgrade.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Here, F = 0.80  and  S = 30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Thus, speedup  =  1 / (0.20 + 0.80 / 30)  =  4.41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55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4"/>
            <a:ext cx="11480800" cy="243839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 total execution time of a typical program is made up of 60% of CPU time and 40% of I/O time. Which of the following alternatives is better?</a:t>
            </a:r>
          </a:p>
          <a:p>
            <a:pPr marL="1066773" lvl="1" indent="-457189">
              <a:lnSpc>
                <a:spcPct val="110000"/>
              </a:lnSpc>
              <a:buFont typeface="+mj-lt"/>
              <a:buAutoNum type="alphaLcParenR"/>
            </a:pPr>
            <a:r>
              <a:rPr lang="en-US" sz="2400" dirty="0"/>
              <a:t>Increase the CPU speed by 50%</a:t>
            </a:r>
          </a:p>
          <a:p>
            <a:pPr marL="1066773" lvl="1" indent="-457189">
              <a:lnSpc>
                <a:spcPct val="110000"/>
              </a:lnSpc>
              <a:buFont typeface="+mj-lt"/>
              <a:buAutoNum type="alphaLcParenR"/>
            </a:pPr>
            <a:r>
              <a:rPr lang="en-US" sz="2400" dirty="0"/>
              <a:t>Reduce the I/O time by half</a:t>
            </a:r>
          </a:p>
          <a:p>
            <a:pPr marL="76198" indent="0">
              <a:lnSpc>
                <a:spcPct val="110000"/>
              </a:lnSpc>
              <a:buNone/>
            </a:pPr>
            <a:r>
              <a:rPr lang="en-US" dirty="0"/>
              <a:t>     Assume that there is no overlap between CPU and I/O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17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2032000" y="4324996"/>
            <a:ext cx="7315200" cy="609600"/>
            <a:chOff x="533400" y="3409950"/>
            <a:chExt cx="5486400" cy="457200"/>
          </a:xfrm>
        </p:grpSpPr>
        <p:sp>
          <p:nvSpPr>
            <p:cNvPr id="5" name="Rectangle 4"/>
            <p:cNvSpPr/>
            <p:nvPr/>
          </p:nvSpPr>
          <p:spPr>
            <a:xfrm>
              <a:off x="533400" y="3409950"/>
              <a:ext cx="10668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0090"/>
                  </a:solidFill>
                </a:rPr>
                <a:t>CPU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362200" y="3409950"/>
              <a:ext cx="10668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0090"/>
                  </a:solidFill>
                </a:rPr>
                <a:t>CPU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191000" y="3409950"/>
              <a:ext cx="1066800" cy="457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0090"/>
                  </a:solidFill>
                </a:rPr>
                <a:t>CPU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600200" y="3409950"/>
              <a:ext cx="762000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0090"/>
                  </a:solidFill>
                </a:rPr>
                <a:t>I/O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429000" y="3409950"/>
              <a:ext cx="762000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0090"/>
                  </a:solidFill>
                </a:rPr>
                <a:t>I/O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57800" y="3409950"/>
              <a:ext cx="762000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0090"/>
                  </a:solidFill>
                </a:rPr>
                <a:t>I/O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5685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67" dirty="0"/>
              <a:t>Increase CPU speed by 50%</a:t>
            </a:r>
          </a:p>
          <a:p>
            <a:pPr lvl="1"/>
            <a:r>
              <a:rPr lang="en-US" sz="2400" dirty="0"/>
              <a:t>Here, F = 0.60  and  S = 1.5</a:t>
            </a:r>
          </a:p>
          <a:p>
            <a:pPr lvl="1">
              <a:spcAft>
                <a:spcPts val="1600"/>
              </a:spcAft>
            </a:pPr>
            <a:r>
              <a:rPr lang="en-US" sz="2400" dirty="0"/>
              <a:t>Speedup  =  1 / (0.40 + 0.60 / 1.5)  =  1.25</a:t>
            </a:r>
          </a:p>
          <a:p>
            <a:r>
              <a:rPr lang="en-US" sz="2667" dirty="0"/>
              <a:t>Reduce the I/O time by half</a:t>
            </a:r>
          </a:p>
          <a:p>
            <a:pPr lvl="1"/>
            <a:r>
              <a:rPr lang="en-US" sz="2400" dirty="0"/>
              <a:t>Here, F = 0.40  and  S = 2</a:t>
            </a:r>
          </a:p>
          <a:p>
            <a:pPr lvl="1"/>
            <a:r>
              <a:rPr lang="en-US" sz="2400" dirty="0"/>
              <a:t>Speedup  =  1 / (0.60 + 0.40 / 2)  =  1.25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sz="2667" b="1" dirty="0">
                <a:solidFill>
                  <a:srgbClr val="800000"/>
                </a:solidFill>
              </a:rPr>
              <a:t>Thus, both the alternatives result in the same speedup.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6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7001"/>
            <a:ext cx="11379200" cy="485395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Suppose that a compute-intensive bioinformatics program is running on a given machine X, which takes 10 days to run. The program spends 25% of its time doing integer instructions, and 40% of time doing I/O. Which of the following two alternatives provides a better tradeoff?</a:t>
            </a:r>
          </a:p>
          <a:p>
            <a:pPr marL="1066773" lvl="1" indent="-457189">
              <a:lnSpc>
                <a:spcPct val="110000"/>
              </a:lnSpc>
              <a:buFont typeface="+mj-lt"/>
              <a:buAutoNum type="alphaLcParenR"/>
            </a:pPr>
            <a:r>
              <a:rPr lang="en-US" sz="2400" dirty="0"/>
              <a:t>Use an optimizing compiler that reduces the number of integer instructions by 30% (assume all integer instructions take the same time).</a:t>
            </a:r>
          </a:p>
          <a:p>
            <a:pPr marL="1066773" lvl="1" indent="-457189">
              <a:lnSpc>
                <a:spcPct val="110000"/>
              </a:lnSpc>
              <a:buFont typeface="+mj-lt"/>
              <a:buAutoNum type="alphaLcParenR"/>
            </a:pPr>
            <a:r>
              <a:rPr lang="en-US" sz="2400" dirty="0"/>
              <a:t>Optimizing the I/O subsystem that reduces the latency of I/O operations from 10 </a:t>
            </a:r>
            <a:r>
              <a:rPr lang="en-US" sz="2400" dirty="0" err="1"/>
              <a:t>μsec</a:t>
            </a:r>
            <a:r>
              <a:rPr lang="en-US" sz="2400" dirty="0"/>
              <a:t> to 5 </a:t>
            </a:r>
            <a:r>
              <a:rPr lang="en-US" sz="2400" dirty="0" err="1"/>
              <a:t>μsec</a:t>
            </a:r>
            <a:r>
              <a:rPr lang="en-US" sz="2400" dirty="0"/>
              <a:t> (that is, speedup of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04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82567"/>
            <a:ext cx="11277600" cy="4584835"/>
          </a:xfrm>
        </p:spPr>
        <p:txBody>
          <a:bodyPr>
            <a:normAutofit/>
          </a:bodyPr>
          <a:lstStyle/>
          <a:p>
            <a:r>
              <a:rPr lang="en-US" sz="2800" dirty="0"/>
              <a:t>Alternative (a):</a:t>
            </a:r>
          </a:p>
          <a:p>
            <a:pPr lvl="1"/>
            <a:r>
              <a:rPr lang="en-US" sz="2400" dirty="0"/>
              <a:t>Here, F = 0.25  and  S = 100 / 70</a:t>
            </a:r>
          </a:p>
          <a:p>
            <a:pPr lvl="1">
              <a:spcAft>
                <a:spcPts val="1600"/>
              </a:spcAft>
            </a:pPr>
            <a:r>
              <a:rPr lang="en-US" sz="2400" dirty="0"/>
              <a:t>Speedup  =  1 / (0.75 + 0.25 * 70 / 100)  =  1.08</a:t>
            </a:r>
          </a:p>
          <a:p>
            <a:r>
              <a:rPr lang="en-US" sz="2800" dirty="0"/>
              <a:t>Alternative (b):</a:t>
            </a:r>
          </a:p>
          <a:p>
            <a:pPr lvl="1"/>
            <a:r>
              <a:rPr lang="en-US" sz="2400" dirty="0"/>
              <a:t>Here, F = 0.40  and  S = 2</a:t>
            </a:r>
          </a:p>
          <a:p>
            <a:pPr lvl="1"/>
            <a:r>
              <a:rPr lang="en-US" sz="2400" dirty="0"/>
              <a:t>Speedup  =  1 / (0.60 + 0.40 / 2)  =  1.25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4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 to Multiple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13040"/>
            <a:ext cx="10972800" cy="152399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dirty="0"/>
              <a:t>Suppose we carry out multiple optimizations to a program: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Optimization 1 speeds up a fraction </a:t>
            </a:r>
            <a:r>
              <a:rPr lang="en-US" sz="2400" i="1" dirty="0">
                <a:solidFill>
                  <a:srgbClr val="800000"/>
                </a:solidFill>
              </a:rPr>
              <a:t>F</a:t>
            </a:r>
            <a:r>
              <a:rPr lang="en-US" sz="2400" i="1" baseline="-25000" dirty="0">
                <a:solidFill>
                  <a:srgbClr val="800000"/>
                </a:solidFill>
              </a:rPr>
              <a:t>1</a:t>
            </a:r>
            <a:r>
              <a:rPr lang="en-US" sz="2400" dirty="0"/>
              <a:t> of the program by a factor </a:t>
            </a:r>
            <a:r>
              <a:rPr lang="en-US" sz="2400" i="1" dirty="0">
                <a:solidFill>
                  <a:srgbClr val="800000"/>
                </a:solidFill>
              </a:rPr>
              <a:t>S</a:t>
            </a:r>
            <a:r>
              <a:rPr lang="en-US" sz="2400" i="1" baseline="-25000" dirty="0">
                <a:solidFill>
                  <a:srgbClr val="800000"/>
                </a:solidFill>
              </a:rPr>
              <a:t>1</a:t>
            </a:r>
            <a:endParaRPr lang="en-US" sz="2400" i="1" dirty="0">
              <a:solidFill>
                <a:srgbClr val="8000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sz="2400" dirty="0"/>
              <a:t>Optimization 2 speeds up a fraction </a:t>
            </a:r>
            <a:r>
              <a:rPr lang="en-US" sz="2400" i="1" dirty="0">
                <a:solidFill>
                  <a:srgbClr val="800000"/>
                </a:solidFill>
              </a:rPr>
              <a:t>F</a:t>
            </a:r>
            <a:r>
              <a:rPr lang="en-US" sz="2400" i="1" baseline="-25000" dirty="0">
                <a:solidFill>
                  <a:srgbClr val="800000"/>
                </a:solidFill>
              </a:rPr>
              <a:t>2</a:t>
            </a:r>
            <a:r>
              <a:rPr lang="en-US" sz="2400" i="1" dirty="0">
                <a:solidFill>
                  <a:srgbClr val="800000"/>
                </a:solidFill>
              </a:rPr>
              <a:t> </a:t>
            </a:r>
            <a:r>
              <a:rPr lang="en-US" sz="2400" dirty="0"/>
              <a:t>of the program by a factor </a:t>
            </a:r>
            <a:r>
              <a:rPr lang="en-US" sz="2400" i="1" dirty="0">
                <a:solidFill>
                  <a:srgbClr val="800000"/>
                </a:solidFill>
              </a:rPr>
              <a:t>S</a:t>
            </a:r>
            <a:r>
              <a:rPr lang="en-US" sz="2400" i="1" baseline="-25000" dirty="0">
                <a:solidFill>
                  <a:srgbClr val="800000"/>
                </a:solidFill>
              </a:rPr>
              <a:t>2</a:t>
            </a:r>
            <a:endParaRPr lang="en-US" sz="2400" i="1" dirty="0">
              <a:solidFill>
                <a:srgbClr val="800000"/>
              </a:solidFill>
            </a:endParaRPr>
          </a:p>
          <a:p>
            <a:pPr>
              <a:lnSpc>
                <a:spcPct val="110000"/>
              </a:lnSpc>
            </a:pPr>
            <a:endParaRPr lang="en-US" sz="2667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21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304801" y="3225800"/>
            <a:ext cx="9042399" cy="1930400"/>
            <a:chOff x="228600" y="2419350"/>
            <a:chExt cx="6781799" cy="1447800"/>
          </a:xfrm>
        </p:grpSpPr>
        <p:sp>
          <p:nvSpPr>
            <p:cNvPr id="6" name="Rectangle 5"/>
            <p:cNvSpPr/>
            <p:nvPr/>
          </p:nvSpPr>
          <p:spPr>
            <a:xfrm>
              <a:off x="228600" y="2419350"/>
              <a:ext cx="3124200" cy="6096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1 – 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1</a:t>
              </a:r>
              <a:r>
                <a:rPr lang="en-US" sz="2667" dirty="0">
                  <a:solidFill>
                    <a:srgbClr val="000090"/>
                  </a:solidFill>
                </a:rPr>
                <a:t> – 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2</a:t>
              </a:r>
              <a:r>
                <a:rPr lang="en-US" sz="2667" dirty="0">
                  <a:solidFill>
                    <a:srgbClr val="000090"/>
                  </a:solidFill>
                </a:rPr>
                <a:t> 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352800" y="2419350"/>
              <a:ext cx="2057400" cy="609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1</a:t>
              </a:r>
              <a:endParaRPr lang="en-US" sz="2667" dirty="0">
                <a:solidFill>
                  <a:srgbClr val="000090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28600" y="3257550"/>
              <a:ext cx="3239911" cy="6096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1 – 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1</a:t>
              </a:r>
              <a:r>
                <a:rPr lang="en-US" sz="2667" dirty="0">
                  <a:solidFill>
                    <a:srgbClr val="000090"/>
                  </a:solidFill>
                </a:rPr>
                <a:t> – 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2</a:t>
              </a:r>
              <a:r>
                <a:rPr lang="en-US" sz="2667" dirty="0">
                  <a:solidFill>
                    <a:srgbClr val="000090"/>
                  </a:solidFill>
                </a:rPr>
                <a:t> 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352801" y="3257550"/>
              <a:ext cx="838200" cy="609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1</a:t>
              </a:r>
              <a:r>
                <a:rPr lang="en-US" sz="2667" dirty="0">
                  <a:solidFill>
                    <a:srgbClr val="000090"/>
                  </a:solidFill>
                </a:rPr>
                <a:t> / S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1</a:t>
              </a:r>
              <a:endParaRPr lang="en-US" sz="2667" dirty="0">
                <a:solidFill>
                  <a:srgbClr val="000090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410199" y="2419350"/>
              <a:ext cx="1600200" cy="609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2</a:t>
              </a:r>
              <a:endParaRPr lang="en-US" sz="2667" dirty="0">
                <a:solidFill>
                  <a:srgbClr val="000090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91000" y="3257550"/>
              <a:ext cx="838200" cy="609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2</a:t>
              </a:r>
              <a:r>
                <a:rPr lang="en-US" sz="2667" dirty="0">
                  <a:solidFill>
                    <a:srgbClr val="000090"/>
                  </a:solidFill>
                </a:rPr>
                <a:t> / S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2</a:t>
              </a:r>
              <a:endParaRPr lang="en-US" sz="2667" dirty="0">
                <a:solidFill>
                  <a:srgbClr val="000090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823200" y="4343401"/>
            <a:ext cx="4165600" cy="1290023"/>
            <a:chOff x="5867400" y="3257550"/>
            <a:chExt cx="3124200" cy="967517"/>
          </a:xfrm>
        </p:grpSpPr>
        <p:sp>
          <p:nvSpPr>
            <p:cNvPr id="13" name="TextBox 12"/>
            <p:cNvSpPr txBox="1"/>
            <p:nvPr/>
          </p:nvSpPr>
          <p:spPr>
            <a:xfrm>
              <a:off x="5867400" y="3601819"/>
              <a:ext cx="3124200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                             1</a:t>
              </a:r>
            </a:p>
            <a:p>
              <a:pPr algn="r"/>
              <a:r>
                <a:rPr lang="en-US" sz="2400" dirty="0"/>
                <a:t>(1 – F</a:t>
              </a:r>
              <a:r>
                <a:rPr lang="en-US" sz="2400" baseline="-25000" dirty="0"/>
                <a:t>1</a:t>
              </a:r>
              <a:r>
                <a:rPr lang="en-US" sz="2400" dirty="0"/>
                <a:t> – F</a:t>
              </a:r>
              <a:r>
                <a:rPr lang="en-US" sz="2400" baseline="-25000" dirty="0"/>
                <a:t>2</a:t>
              </a:r>
              <a:r>
                <a:rPr lang="en-US" sz="2400" dirty="0"/>
                <a:t>)  +  F</a:t>
              </a:r>
              <a:r>
                <a:rPr lang="en-US" sz="2400" baseline="-25000" dirty="0"/>
                <a:t>1</a:t>
              </a:r>
              <a:r>
                <a:rPr lang="en-US" sz="2400" dirty="0"/>
                <a:t> / S</a:t>
              </a:r>
              <a:r>
                <a:rPr lang="en-US" sz="2400" baseline="-25000" dirty="0"/>
                <a:t>1</a:t>
              </a:r>
              <a:r>
                <a:rPr lang="en-US" sz="2400" dirty="0"/>
                <a:t>  + F</a:t>
              </a:r>
              <a:r>
                <a:rPr lang="en-US" sz="2400" baseline="-25000" dirty="0"/>
                <a:t>2</a:t>
              </a:r>
              <a:r>
                <a:rPr lang="en-US" sz="2400" dirty="0"/>
                <a:t> / S</a:t>
              </a:r>
              <a:r>
                <a:rPr lang="en-US" sz="2400" baseline="-25000" dirty="0"/>
                <a:t>2</a:t>
              </a:r>
              <a:r>
                <a:rPr lang="en-US" sz="2400" dirty="0"/>
                <a:t>   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6096000" y="3924984"/>
              <a:ext cx="2895600" cy="1836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6858000" y="3257550"/>
              <a:ext cx="121920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67" b="1" dirty="0">
                  <a:solidFill>
                    <a:srgbClr val="800000"/>
                  </a:solidFill>
                </a:rPr>
                <a:t>Speedup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3920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82601"/>
            <a:ext cx="11379200" cy="2336800"/>
          </a:xfrm>
        </p:spPr>
        <p:txBody>
          <a:bodyPr>
            <a:normAutofit/>
          </a:bodyPr>
          <a:lstStyle/>
          <a:p>
            <a:r>
              <a:rPr lang="en-US" sz="2667" dirty="0"/>
              <a:t>In the calculation as shown, it is assumed that </a:t>
            </a:r>
            <a:r>
              <a:rPr lang="en-US" sz="2667" i="1" dirty="0">
                <a:solidFill>
                  <a:srgbClr val="800000"/>
                </a:solidFill>
              </a:rPr>
              <a:t>F</a:t>
            </a:r>
            <a:r>
              <a:rPr lang="en-US" sz="2667" i="1" baseline="-25000" dirty="0">
                <a:solidFill>
                  <a:srgbClr val="800000"/>
                </a:solidFill>
              </a:rPr>
              <a:t>1</a:t>
            </a:r>
            <a:r>
              <a:rPr lang="en-US" sz="2667" dirty="0"/>
              <a:t> and </a:t>
            </a:r>
            <a:r>
              <a:rPr lang="en-US" sz="2667" i="1" dirty="0">
                <a:solidFill>
                  <a:srgbClr val="800000"/>
                </a:solidFill>
              </a:rPr>
              <a:t>F</a:t>
            </a:r>
            <a:r>
              <a:rPr lang="en-US" sz="2667" i="1" baseline="-25000" dirty="0">
                <a:solidFill>
                  <a:srgbClr val="800000"/>
                </a:solidFill>
              </a:rPr>
              <a:t>2</a:t>
            </a:r>
            <a:r>
              <a:rPr lang="en-US" sz="2667" dirty="0"/>
              <a:t> are disjoint.</a:t>
            </a:r>
          </a:p>
          <a:p>
            <a:pPr lvl="1"/>
            <a:r>
              <a:rPr lang="en-US" sz="2400" dirty="0"/>
              <a:t> </a:t>
            </a:r>
            <a:r>
              <a:rPr lang="en-US" sz="2400" i="1" dirty="0">
                <a:solidFill>
                  <a:srgbClr val="800000"/>
                </a:solidFill>
              </a:rPr>
              <a:t>S</a:t>
            </a:r>
            <a:r>
              <a:rPr lang="en-US" sz="2400" i="1" baseline="-25000" dirty="0">
                <a:solidFill>
                  <a:srgbClr val="800000"/>
                </a:solidFill>
              </a:rPr>
              <a:t>1</a:t>
            </a:r>
            <a:r>
              <a:rPr lang="en-US" sz="2400" dirty="0"/>
              <a:t> and </a:t>
            </a:r>
            <a:r>
              <a:rPr lang="en-US" sz="2400" i="1" dirty="0">
                <a:solidFill>
                  <a:srgbClr val="800000"/>
                </a:solidFill>
              </a:rPr>
              <a:t>S</a:t>
            </a:r>
            <a:r>
              <a:rPr lang="en-US" sz="2400" i="1" baseline="-25000" dirty="0">
                <a:solidFill>
                  <a:srgbClr val="800000"/>
                </a:solidFill>
              </a:rPr>
              <a:t>2</a:t>
            </a:r>
            <a:r>
              <a:rPr lang="en-US" sz="2400" dirty="0"/>
              <a:t> do not apply to the same portion of execution.</a:t>
            </a:r>
          </a:p>
          <a:p>
            <a:r>
              <a:rPr lang="en-US" sz="2667" dirty="0"/>
              <a:t>If it is not so, we have to treat the overlap as a separate portion of execution and measure its speedup independently.</a:t>
            </a:r>
          </a:p>
          <a:p>
            <a:pPr lvl="1"/>
            <a:r>
              <a:rPr lang="en-US" sz="2400" dirty="0"/>
              <a:t>F</a:t>
            </a:r>
            <a:r>
              <a:rPr lang="en-US" sz="2400" baseline="-25000" dirty="0"/>
              <a:t>1only</a:t>
            </a:r>
            <a:r>
              <a:rPr lang="en-US" sz="2400" dirty="0"/>
              <a:t> , F</a:t>
            </a:r>
            <a:r>
              <a:rPr lang="en-US" sz="2400" baseline="-25000" dirty="0"/>
              <a:t>2only</a:t>
            </a:r>
            <a:r>
              <a:rPr lang="en-US" sz="2400" dirty="0"/>
              <a:t> , and F</a:t>
            </a:r>
            <a:r>
              <a:rPr lang="en-US" sz="2400" baseline="-25000" dirty="0"/>
              <a:t>1&amp;2</a:t>
            </a:r>
            <a:r>
              <a:rPr lang="en-US" sz="2400" dirty="0"/>
              <a:t>  with speedups  S</a:t>
            </a:r>
            <a:r>
              <a:rPr lang="en-US" sz="2400" baseline="-25000" dirty="0"/>
              <a:t>1only</a:t>
            </a:r>
            <a:r>
              <a:rPr lang="en-US" sz="2400" dirty="0"/>
              <a:t> , S</a:t>
            </a:r>
            <a:r>
              <a:rPr lang="en-US" sz="2400" baseline="-25000" dirty="0"/>
              <a:t>2only</a:t>
            </a:r>
            <a:r>
              <a:rPr lang="en-US" sz="2400" dirty="0"/>
              <a:t> , and S</a:t>
            </a:r>
            <a:r>
              <a:rPr lang="en-US" sz="2400" baseline="-25000" dirty="0"/>
              <a:t>1&amp;2</a:t>
            </a:r>
            <a:r>
              <a:rPr lang="en-US" sz="24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22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01600" y="2921000"/>
            <a:ext cx="9753600" cy="1930400"/>
            <a:chOff x="152400" y="2266950"/>
            <a:chExt cx="7315200" cy="1447800"/>
          </a:xfrm>
        </p:grpSpPr>
        <p:sp>
          <p:nvSpPr>
            <p:cNvPr id="6" name="Rectangle 5"/>
            <p:cNvSpPr/>
            <p:nvPr/>
          </p:nvSpPr>
          <p:spPr>
            <a:xfrm>
              <a:off x="152400" y="2266950"/>
              <a:ext cx="3124200" cy="6096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1 – 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1only</a:t>
              </a:r>
              <a:r>
                <a:rPr lang="en-US" sz="2667" dirty="0">
                  <a:solidFill>
                    <a:srgbClr val="000090"/>
                  </a:solidFill>
                </a:rPr>
                <a:t> – 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2only</a:t>
              </a:r>
              <a:r>
                <a:rPr lang="en-US" sz="2667" dirty="0">
                  <a:solidFill>
                    <a:srgbClr val="000090"/>
                  </a:solidFill>
                </a:rPr>
                <a:t> – 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1&amp;2</a:t>
              </a:r>
              <a:r>
                <a:rPr lang="en-US" sz="2667" dirty="0">
                  <a:solidFill>
                    <a:srgbClr val="000090"/>
                  </a:solidFill>
                </a:rPr>
                <a:t> 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76600" y="2266950"/>
              <a:ext cx="1600200" cy="609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1only</a:t>
              </a:r>
              <a:endParaRPr lang="en-US" sz="2667" dirty="0">
                <a:solidFill>
                  <a:srgbClr val="000090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52400" y="2952750"/>
              <a:ext cx="3239911" cy="76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1 – 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1only</a:t>
              </a:r>
              <a:r>
                <a:rPr lang="en-US" sz="2667" dirty="0">
                  <a:solidFill>
                    <a:srgbClr val="000090"/>
                  </a:solidFill>
                </a:rPr>
                <a:t> – 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2only</a:t>
              </a:r>
              <a:r>
                <a:rPr lang="en-US" sz="2667" dirty="0">
                  <a:solidFill>
                    <a:srgbClr val="000090"/>
                  </a:solidFill>
                </a:rPr>
                <a:t> – 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1&amp;2</a:t>
              </a:r>
              <a:r>
                <a:rPr lang="en-US" sz="2667" dirty="0">
                  <a:solidFill>
                    <a:srgbClr val="000090"/>
                  </a:solidFill>
                </a:rPr>
                <a:t> 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276601" y="2952750"/>
              <a:ext cx="838200" cy="762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1only</a:t>
              </a:r>
              <a:r>
                <a:rPr lang="en-US" sz="2667" dirty="0">
                  <a:solidFill>
                    <a:srgbClr val="000090"/>
                  </a:solidFill>
                </a:rPr>
                <a:t> / S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1only</a:t>
              </a:r>
              <a:endParaRPr lang="en-US" sz="2667" dirty="0">
                <a:solidFill>
                  <a:srgbClr val="000090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172199" y="2266950"/>
              <a:ext cx="1295401" cy="609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2only</a:t>
              </a:r>
              <a:endParaRPr lang="en-US" sz="2667" dirty="0">
                <a:solidFill>
                  <a:srgbClr val="000090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53000" y="2952750"/>
              <a:ext cx="838200" cy="762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2only</a:t>
              </a:r>
              <a:r>
                <a:rPr lang="en-US" sz="2667" dirty="0">
                  <a:solidFill>
                    <a:srgbClr val="000090"/>
                  </a:solidFill>
                </a:rPr>
                <a:t> / S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2only</a:t>
              </a:r>
              <a:endParaRPr lang="en-US" sz="2667" dirty="0">
                <a:solidFill>
                  <a:srgbClr val="000090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76800" y="2266950"/>
              <a:ext cx="1295401" cy="60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1&amp;2</a:t>
              </a:r>
              <a:endParaRPr lang="en-US" sz="2667" dirty="0">
                <a:solidFill>
                  <a:srgbClr val="000090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114801" y="2952750"/>
              <a:ext cx="838200" cy="762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dirty="0">
                  <a:solidFill>
                    <a:srgbClr val="000090"/>
                  </a:solidFill>
                </a:rPr>
                <a:t>F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1&amp;2</a:t>
              </a:r>
              <a:r>
                <a:rPr lang="en-US" sz="2667" dirty="0">
                  <a:solidFill>
                    <a:srgbClr val="000090"/>
                  </a:solidFill>
                </a:rPr>
                <a:t> / S</a:t>
              </a:r>
              <a:r>
                <a:rPr lang="en-US" sz="2667" baseline="-25000" dirty="0">
                  <a:solidFill>
                    <a:srgbClr val="000090"/>
                  </a:solidFill>
                </a:rPr>
                <a:t>1&amp;2</a:t>
              </a:r>
              <a:endParaRPr lang="en-US" sz="2667" dirty="0">
                <a:solidFill>
                  <a:srgbClr val="000090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149600" y="4904026"/>
            <a:ext cx="863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                                                    1</a:t>
            </a:r>
          </a:p>
          <a:p>
            <a:r>
              <a:rPr lang="en-US" sz="2400" dirty="0"/>
              <a:t>(1 – F</a:t>
            </a:r>
            <a:r>
              <a:rPr lang="en-US" sz="2400" baseline="-25000" dirty="0"/>
              <a:t>1only</a:t>
            </a:r>
            <a:r>
              <a:rPr lang="en-US" sz="2400" dirty="0"/>
              <a:t> – F</a:t>
            </a:r>
            <a:r>
              <a:rPr lang="en-US" sz="2400" baseline="-25000" dirty="0"/>
              <a:t>2only</a:t>
            </a:r>
            <a:r>
              <a:rPr lang="en-US" sz="2400" dirty="0"/>
              <a:t> – F</a:t>
            </a:r>
            <a:r>
              <a:rPr lang="en-US" sz="2400" baseline="-25000" dirty="0"/>
              <a:t>1&amp;2</a:t>
            </a:r>
            <a:r>
              <a:rPr lang="en-US" sz="2400" dirty="0"/>
              <a:t>)  +  F</a:t>
            </a:r>
            <a:r>
              <a:rPr lang="en-US" sz="2400" baseline="-25000" dirty="0"/>
              <a:t>1only</a:t>
            </a:r>
            <a:r>
              <a:rPr lang="en-US" sz="2400" dirty="0"/>
              <a:t> / S</a:t>
            </a:r>
            <a:r>
              <a:rPr lang="en-US" sz="2400" baseline="-25000" dirty="0"/>
              <a:t>1only</a:t>
            </a:r>
            <a:r>
              <a:rPr lang="en-US" sz="2400" dirty="0"/>
              <a:t>  + F</a:t>
            </a:r>
            <a:r>
              <a:rPr lang="en-US" sz="2400" baseline="-25000" dirty="0"/>
              <a:t>2only</a:t>
            </a:r>
            <a:r>
              <a:rPr lang="en-US" sz="2400" dirty="0"/>
              <a:t> / S</a:t>
            </a:r>
            <a:r>
              <a:rPr lang="en-US" sz="2400" baseline="-25000" dirty="0"/>
              <a:t>2only</a:t>
            </a:r>
            <a:r>
              <a:rPr lang="en-US" sz="2400" dirty="0"/>
              <a:t> + F</a:t>
            </a:r>
            <a:r>
              <a:rPr lang="en-US" sz="2400" baseline="-25000" dirty="0"/>
              <a:t>1&amp;2</a:t>
            </a:r>
            <a:r>
              <a:rPr lang="en-US" sz="2400" dirty="0"/>
              <a:t> / S</a:t>
            </a:r>
            <a:r>
              <a:rPr lang="en-US" sz="2400" baseline="-25000" dirty="0"/>
              <a:t>1&amp;2</a:t>
            </a:r>
            <a:r>
              <a:rPr lang="en-US" sz="2400" dirty="0"/>
              <a:t>   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3251200" y="5334914"/>
            <a:ext cx="8128000" cy="2448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20800" y="5054601"/>
            <a:ext cx="18288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67" b="1" dirty="0">
                <a:solidFill>
                  <a:srgbClr val="800000"/>
                </a:solidFill>
              </a:rPr>
              <a:t>Speedup  =</a:t>
            </a:r>
          </a:p>
        </p:txBody>
      </p:sp>
    </p:spTree>
    <p:extLst>
      <p:ext uri="{BB962C8B-B14F-4D97-AF65-F5344CB8AC3E}">
        <p14:creationId xmlns:p14="http://schemas.microsoft.com/office/powerpoint/2010/main" val="5335898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4"/>
            <a:ext cx="10972800" cy="142239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General expression: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Assume </a:t>
            </a:r>
            <a:r>
              <a:rPr lang="en-US" sz="2400" i="1" dirty="0"/>
              <a:t>m</a:t>
            </a:r>
            <a:r>
              <a:rPr lang="en-US" sz="2400" dirty="0"/>
              <a:t> enhancements of fractions F</a:t>
            </a:r>
            <a:r>
              <a:rPr lang="en-US" sz="2400" baseline="-25000" dirty="0"/>
              <a:t>1</a:t>
            </a:r>
            <a:r>
              <a:rPr lang="en-US" sz="2400" dirty="0"/>
              <a:t>, F</a:t>
            </a:r>
            <a:r>
              <a:rPr lang="en-US" sz="2400" baseline="-25000" dirty="0"/>
              <a:t>2</a:t>
            </a:r>
            <a:r>
              <a:rPr lang="en-US" sz="2400" dirty="0"/>
              <a:t>, …, </a:t>
            </a:r>
            <a:r>
              <a:rPr lang="en-US" sz="2400" dirty="0" err="1"/>
              <a:t>F</a:t>
            </a:r>
            <a:r>
              <a:rPr lang="en-US" sz="2400" baseline="-25000" dirty="0" err="1"/>
              <a:t>m</a:t>
            </a:r>
            <a:r>
              <a:rPr lang="en-US" sz="2400" dirty="0"/>
              <a:t> by factors of S</a:t>
            </a:r>
            <a:r>
              <a:rPr lang="en-US" sz="2400" baseline="-25000" dirty="0"/>
              <a:t>1</a:t>
            </a:r>
            <a:r>
              <a:rPr lang="en-US" sz="2400" dirty="0"/>
              <a:t>, S</a:t>
            </a:r>
            <a:r>
              <a:rPr lang="en-US" sz="2400" baseline="-25000" dirty="0"/>
              <a:t>2</a:t>
            </a:r>
            <a:r>
              <a:rPr lang="en-US" sz="2400" dirty="0"/>
              <a:t>, …, </a:t>
            </a:r>
            <a:r>
              <a:rPr lang="en-US" sz="2400" dirty="0" err="1"/>
              <a:t>S</a:t>
            </a:r>
            <a:r>
              <a:rPr lang="en-US" sz="2400" baseline="-25000" dirty="0" err="1"/>
              <a:t>m</a:t>
            </a:r>
            <a:r>
              <a:rPr lang="en-US" sz="2400" dirty="0"/>
              <a:t> respectively.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677" y="3251200"/>
            <a:ext cx="6636124" cy="1600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</p:pic>
    </p:spTree>
    <p:extLst>
      <p:ext uri="{BB962C8B-B14F-4D97-AF65-F5344CB8AC3E}">
        <p14:creationId xmlns:p14="http://schemas.microsoft.com/office/powerpoint/2010/main" val="2654306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426" y="159883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Example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" y="1295400"/>
            <a:ext cx="6908800" cy="43688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667" dirty="0"/>
              <a:t>Consider an example of memory system.</a:t>
            </a:r>
          </a:p>
          <a:p>
            <a:pPr lvl="1">
              <a:lnSpc>
                <a:spcPct val="110000"/>
              </a:lnSpc>
            </a:pPr>
            <a:r>
              <a:rPr lang="en-US" sz="2133" dirty="0"/>
              <a:t>Main memory and a fast memory called cache memory.</a:t>
            </a:r>
          </a:p>
          <a:p>
            <a:pPr lvl="1">
              <a:lnSpc>
                <a:spcPct val="110000"/>
              </a:lnSpc>
            </a:pPr>
            <a:r>
              <a:rPr lang="en-US" sz="2133" dirty="0"/>
              <a:t>Frequently used parts of program/data are kept in cache memory.</a:t>
            </a:r>
          </a:p>
          <a:p>
            <a:pPr lvl="1">
              <a:lnSpc>
                <a:spcPct val="110000"/>
              </a:lnSpc>
            </a:pPr>
            <a:r>
              <a:rPr lang="en-US" sz="2133" dirty="0"/>
              <a:t>Use of the cache memory speeds up memory accesses by a factor of 8.</a:t>
            </a:r>
          </a:p>
          <a:p>
            <a:pPr lvl="1">
              <a:lnSpc>
                <a:spcPct val="110000"/>
              </a:lnSpc>
            </a:pPr>
            <a:r>
              <a:rPr lang="en-US" sz="2133" dirty="0"/>
              <a:t>Without the cache, memory operations consume a fraction 0.40 of the total execution time.</a:t>
            </a:r>
          </a:p>
          <a:p>
            <a:pPr lvl="1">
              <a:lnSpc>
                <a:spcPct val="110000"/>
              </a:lnSpc>
            </a:pPr>
            <a:r>
              <a:rPr lang="en-US" sz="2133" dirty="0"/>
              <a:t>Estimate the speedup.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0769600" y="1295400"/>
            <a:ext cx="1320800" cy="1422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90"/>
                </a:solidFill>
              </a:rPr>
              <a:t>Main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636000" y="1600200"/>
            <a:ext cx="1422400" cy="812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8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90"/>
                </a:solidFill>
              </a:rPr>
              <a:t>Cache Memory</a:t>
            </a:r>
          </a:p>
        </p:txBody>
      </p:sp>
      <p:sp>
        <p:nvSpPr>
          <p:cNvPr id="7" name="Bevel 6"/>
          <p:cNvSpPr/>
          <p:nvPr/>
        </p:nvSpPr>
        <p:spPr>
          <a:xfrm>
            <a:off x="6604000" y="1498600"/>
            <a:ext cx="1320800" cy="1016000"/>
          </a:xfrm>
          <a:prstGeom prst="bevel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90"/>
                </a:solidFill>
              </a:rPr>
              <a:t>CPU</a:t>
            </a:r>
          </a:p>
        </p:txBody>
      </p:sp>
      <p:sp>
        <p:nvSpPr>
          <p:cNvPr id="8" name="Left-Right Arrow 7"/>
          <p:cNvSpPr/>
          <p:nvPr/>
        </p:nvSpPr>
        <p:spPr>
          <a:xfrm>
            <a:off x="7924800" y="1905000"/>
            <a:ext cx="711200" cy="304800"/>
          </a:xfrm>
          <a:prstGeom prst="leftRightArrow">
            <a:avLst/>
          </a:prstGeom>
          <a:solidFill>
            <a:srgbClr val="00009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9" name="Left-Right Arrow 8"/>
          <p:cNvSpPr/>
          <p:nvPr/>
        </p:nvSpPr>
        <p:spPr>
          <a:xfrm>
            <a:off x="10058400" y="1905000"/>
            <a:ext cx="711200" cy="304800"/>
          </a:xfrm>
          <a:prstGeom prst="leftRightArrow">
            <a:avLst/>
          </a:prstGeom>
          <a:solidFill>
            <a:srgbClr val="000090"/>
          </a:solidFill>
          <a:ln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10" name="Group 9"/>
          <p:cNvGrpSpPr/>
          <p:nvPr/>
        </p:nvGrpSpPr>
        <p:grpSpPr>
          <a:xfrm>
            <a:off x="3400150" y="5488439"/>
            <a:ext cx="8636000" cy="830998"/>
            <a:chOff x="1600200" y="1925419"/>
            <a:chExt cx="6553200" cy="623248"/>
          </a:xfrm>
        </p:grpSpPr>
        <p:grpSp>
          <p:nvGrpSpPr>
            <p:cNvPr id="11" name="Group 10"/>
            <p:cNvGrpSpPr/>
            <p:nvPr/>
          </p:nvGrpSpPr>
          <p:grpSpPr>
            <a:xfrm>
              <a:off x="2971800" y="1925419"/>
              <a:ext cx="1676400" cy="623248"/>
              <a:chOff x="3886200" y="1696819"/>
              <a:chExt cx="1676400" cy="623248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3886200" y="1696819"/>
                <a:ext cx="1676400" cy="623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1</a:t>
                </a:r>
              </a:p>
              <a:p>
                <a:pPr algn="ctr"/>
                <a:r>
                  <a:rPr lang="en-US" sz="2400" dirty="0"/>
                  <a:t>(1 – F)  +  F / S    </a:t>
                </a:r>
              </a:p>
            </p:txBody>
          </p:sp>
          <p:cxnSp>
            <p:nvCxnSpPr>
              <p:cNvPr id="19" name="Straight Connector 18"/>
              <p:cNvCxnSpPr/>
              <p:nvPr/>
            </p:nvCxnSpPr>
            <p:spPr>
              <a:xfrm>
                <a:off x="3962400" y="2038350"/>
                <a:ext cx="1447800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/>
            <p:cNvSpPr txBox="1"/>
            <p:nvPr/>
          </p:nvSpPr>
          <p:spPr>
            <a:xfrm>
              <a:off x="1600200" y="2038350"/>
              <a:ext cx="144780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67" b="1" dirty="0">
                  <a:solidFill>
                    <a:srgbClr val="800000"/>
                  </a:solidFill>
                </a:rPr>
                <a:t>Speedup =</a:t>
              </a: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5029201" y="1925419"/>
              <a:ext cx="1905001" cy="623248"/>
              <a:chOff x="5791200" y="1696819"/>
              <a:chExt cx="1905000" cy="623248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5791200" y="1696819"/>
                <a:ext cx="1905000" cy="623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 1</a:t>
                </a:r>
              </a:p>
              <a:p>
                <a:pPr algn="ctr"/>
                <a:r>
                  <a:rPr lang="en-US" sz="2400" dirty="0"/>
                  <a:t>(1 – 0.4)  +  0.4 / 8    </a:t>
                </a:r>
              </a:p>
            </p:txBody>
          </p:sp>
          <p:cxnSp>
            <p:nvCxnSpPr>
              <p:cNvPr id="17" name="Straight Connector 16"/>
              <p:cNvCxnSpPr>
                <a:stCxn id="16" idx="1"/>
                <a:endCxn id="16" idx="3"/>
              </p:cNvCxnSpPr>
              <p:nvPr/>
            </p:nvCxnSpPr>
            <p:spPr>
              <a:xfrm>
                <a:off x="5791200" y="2008443"/>
                <a:ext cx="1905000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/>
            <p:cNvSpPr txBox="1"/>
            <p:nvPr/>
          </p:nvSpPr>
          <p:spPr>
            <a:xfrm>
              <a:off x="4572000" y="2038350"/>
              <a:ext cx="533400" cy="346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=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086600" y="2038350"/>
              <a:ext cx="1066800" cy="346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=  1.54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956150" y="5082036"/>
            <a:ext cx="22352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67" b="1" u="sng" dirty="0">
                <a:solidFill>
                  <a:srgbClr val="000090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869641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667" dirty="0"/>
              <a:t>Now we consider two levels of cache memory, L1-cache and L2-cache.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67" dirty="0"/>
              <a:t>      Assumptions: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Without the cache, memory operations take 30% of execution time.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The L1-cache speeds up 80% of memory operations by a factor of 4.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The L2-cache speeds up 50% of the remaining 20% memory operations by a factor of 2.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667" dirty="0"/>
              <a:t>      We want to find out the overall speedup.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87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93801"/>
            <a:ext cx="10972800" cy="28448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800" dirty="0"/>
              <a:t>Solution: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Memory operations = 0.3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F</a:t>
            </a:r>
            <a:r>
              <a:rPr lang="en-US" sz="2400" baseline="-25000" dirty="0"/>
              <a:t>L1</a:t>
            </a:r>
            <a:r>
              <a:rPr lang="en-US" sz="2400" dirty="0"/>
              <a:t>  =  0.3 * 0.8  =  0.24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S</a:t>
            </a:r>
            <a:r>
              <a:rPr lang="en-US" sz="2400" baseline="-25000" dirty="0"/>
              <a:t>L1</a:t>
            </a:r>
            <a:r>
              <a:rPr lang="en-US" sz="2400" dirty="0"/>
              <a:t>  =  4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F</a:t>
            </a:r>
            <a:r>
              <a:rPr lang="en-US" sz="2400" baseline="-25000" dirty="0"/>
              <a:t>L2</a:t>
            </a:r>
            <a:r>
              <a:rPr lang="en-US" sz="2400" dirty="0"/>
              <a:t>  =  0.3 * (1 – 0.8) * 0.5  =  0.03</a:t>
            </a:r>
          </a:p>
          <a:p>
            <a:pPr lvl="1"/>
            <a:r>
              <a:rPr lang="en-US" sz="2400" dirty="0"/>
              <a:t>S</a:t>
            </a:r>
            <a:r>
              <a:rPr lang="en-US" sz="2400" baseline="-25000" dirty="0"/>
              <a:t>L2</a:t>
            </a:r>
            <a:r>
              <a:rPr lang="en-US" sz="2400" dirty="0"/>
              <a:t>  = 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26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7010400" y="1676320"/>
            <a:ext cx="4978400" cy="3474646"/>
            <a:chOff x="5257800" y="1257240"/>
            <a:chExt cx="3733800" cy="2605984"/>
          </a:xfrm>
        </p:grpSpPr>
        <p:grpSp>
          <p:nvGrpSpPr>
            <p:cNvPr id="10" name="Group 9"/>
            <p:cNvGrpSpPr/>
            <p:nvPr/>
          </p:nvGrpSpPr>
          <p:grpSpPr>
            <a:xfrm>
              <a:off x="5410200" y="1773019"/>
              <a:ext cx="3352800" cy="623248"/>
              <a:chOff x="2819400" y="3641288"/>
              <a:chExt cx="3352800" cy="623248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2819400" y="3641288"/>
                <a:ext cx="3352800" cy="623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                           1</a:t>
                </a:r>
              </a:p>
              <a:p>
                <a:pPr algn="r"/>
                <a:r>
                  <a:rPr lang="en-US" sz="2400" dirty="0"/>
                  <a:t>(1 – F</a:t>
                </a:r>
                <a:r>
                  <a:rPr lang="en-US" sz="2400" baseline="-25000" dirty="0"/>
                  <a:t>L1</a:t>
                </a:r>
                <a:r>
                  <a:rPr lang="en-US" sz="2400" dirty="0"/>
                  <a:t> – F</a:t>
                </a:r>
                <a:r>
                  <a:rPr lang="en-US" sz="2400" baseline="-25000" dirty="0"/>
                  <a:t>L2</a:t>
                </a:r>
                <a:r>
                  <a:rPr lang="en-US" sz="2400" dirty="0"/>
                  <a:t>)  +  F</a:t>
                </a:r>
                <a:r>
                  <a:rPr lang="en-US" sz="2400" baseline="-25000" dirty="0"/>
                  <a:t>L1</a:t>
                </a:r>
                <a:r>
                  <a:rPr lang="en-US" sz="2400" dirty="0"/>
                  <a:t> / S</a:t>
                </a:r>
                <a:r>
                  <a:rPr lang="en-US" sz="2400" baseline="-25000" dirty="0"/>
                  <a:t>L1</a:t>
                </a:r>
                <a:r>
                  <a:rPr lang="en-US" sz="2400" dirty="0"/>
                  <a:t>  + F</a:t>
                </a:r>
                <a:r>
                  <a:rPr lang="en-US" sz="2400" baseline="-25000" dirty="0"/>
                  <a:t>L2</a:t>
                </a:r>
                <a:r>
                  <a:rPr lang="en-US" sz="2400" dirty="0"/>
                  <a:t> / S</a:t>
                </a:r>
                <a:r>
                  <a:rPr lang="en-US" sz="2400" baseline="-25000" dirty="0"/>
                  <a:t>L2</a:t>
                </a:r>
                <a:r>
                  <a:rPr lang="en-US" sz="2400" dirty="0"/>
                  <a:t>   </a:t>
                </a:r>
              </a:p>
            </p:txBody>
          </p:sp>
          <p:cxnSp>
            <p:nvCxnSpPr>
              <p:cNvPr id="7" name="Straight Connector 6"/>
              <p:cNvCxnSpPr/>
              <p:nvPr/>
            </p:nvCxnSpPr>
            <p:spPr>
              <a:xfrm>
                <a:off x="2971800" y="3982819"/>
                <a:ext cx="3200400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/>
            <p:cNvSpPr txBox="1"/>
            <p:nvPr/>
          </p:nvSpPr>
          <p:spPr>
            <a:xfrm>
              <a:off x="6172200" y="1257240"/>
              <a:ext cx="1784195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67" b="1" dirty="0">
                  <a:solidFill>
                    <a:srgbClr val="800000"/>
                  </a:solidFill>
                </a:rPr>
                <a:t>Speedup</a:t>
              </a: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5257800" y="2571750"/>
              <a:ext cx="3733800" cy="623248"/>
              <a:chOff x="2819400" y="3449419"/>
              <a:chExt cx="3352800" cy="623248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2819400" y="3449419"/>
                <a:ext cx="3352800" cy="623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                              1</a:t>
                </a:r>
              </a:p>
              <a:p>
                <a:pPr algn="r"/>
                <a:r>
                  <a:rPr lang="en-US" sz="2400" dirty="0"/>
                  <a:t>(1 – 0.24 – 0.03)  +  0.24 / 4  + 0.03 / 2   </a:t>
                </a:r>
              </a:p>
            </p:txBody>
          </p:sp>
          <p:cxnSp>
            <p:nvCxnSpPr>
              <p:cNvPr id="13" name="Straight Connector 12"/>
              <p:cNvCxnSpPr/>
              <p:nvPr/>
            </p:nvCxnSpPr>
            <p:spPr>
              <a:xfrm>
                <a:off x="2903375" y="3790950"/>
                <a:ext cx="3200400" cy="0"/>
              </a:xfrm>
              <a:prstGeom prst="line">
                <a:avLst/>
              </a:prstGeom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/>
            <p:cNvSpPr txBox="1"/>
            <p:nvPr/>
          </p:nvSpPr>
          <p:spPr>
            <a:xfrm>
              <a:off x="6400800" y="3486150"/>
              <a:ext cx="144780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667" b="1" dirty="0">
                  <a:solidFill>
                    <a:srgbClr val="000090"/>
                  </a:solidFill>
                </a:rPr>
                <a:t>=   1.24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567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B312-9CFE-49CE-9E5C-97EFF1067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EFC80-F583-4742-ABCE-9BAC5F46E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a memory system with two levels of cache memory, L1 and L2. Without the cache, memory operations consume 45% of the total execution time. It is experimentally found that the L1-cache speeds up 92% of all memory operations by a factor of 5, while the L2-cache speeds up 60% of the remaining memory operations by a factor of 2.5. Calculate the overall speedup achieved by using the cache memories using Amdahl’s law.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B6B3E-F56B-4041-89EF-9DBA92A6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582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5A251-E10C-4A94-969E-10FA1E73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F751C-27E5-4F60-9F33-D792F7DD3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5816"/>
            <a:ext cx="6050872" cy="4351338"/>
          </a:xfrm>
        </p:spPr>
        <p:txBody>
          <a:bodyPr>
            <a:normAutofit/>
          </a:bodyPr>
          <a:lstStyle/>
          <a:p>
            <a:r>
              <a:rPr lang="en-GB" dirty="0"/>
              <a:t>By Amdahl’s Law,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Memory operations = 0.45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F</a:t>
            </a:r>
            <a:r>
              <a:rPr lang="en-US" sz="2400" baseline="-25000" dirty="0"/>
              <a:t>L1</a:t>
            </a:r>
            <a:r>
              <a:rPr lang="en-US" sz="2400" dirty="0"/>
              <a:t>  =  0.45 * 0.92  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S</a:t>
            </a:r>
            <a:r>
              <a:rPr lang="en-US" sz="2400" baseline="-25000" dirty="0"/>
              <a:t>L1</a:t>
            </a:r>
            <a:r>
              <a:rPr lang="en-US" sz="2400" dirty="0"/>
              <a:t>  =  5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F</a:t>
            </a:r>
            <a:r>
              <a:rPr lang="en-US" sz="2400" baseline="-25000" dirty="0"/>
              <a:t>L2</a:t>
            </a:r>
            <a:r>
              <a:rPr lang="en-US" sz="2400" dirty="0"/>
              <a:t>  =  0.45 * 0.08 * 0.6</a:t>
            </a:r>
          </a:p>
          <a:p>
            <a:pPr lvl="1"/>
            <a:r>
              <a:rPr lang="en-US" sz="2400" dirty="0"/>
              <a:t>S</a:t>
            </a:r>
            <a:r>
              <a:rPr lang="en-US" sz="2400" baseline="-25000" dirty="0"/>
              <a:t>L2</a:t>
            </a:r>
            <a:r>
              <a:rPr lang="en-US" sz="2400" dirty="0"/>
              <a:t>  =  2.5</a:t>
            </a:r>
          </a:p>
          <a:p>
            <a:pPr marL="0" indent="0">
              <a:buNone/>
            </a:pPr>
            <a:r>
              <a:rPr lang="en-GB" dirty="0"/>
              <a:t>                                                                 </a:t>
            </a:r>
          </a:p>
          <a:p>
            <a:pPr marL="0" indent="0">
              <a:buNone/>
            </a:pPr>
            <a:r>
              <a:rPr lang="en-GB" dirty="0"/>
              <a:t>Overall Speed up:  </a:t>
            </a:r>
            <a:br>
              <a:rPr lang="en-GB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10DA9-0B5C-49BB-8D9C-81B3D0EC6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28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789EAC-77D7-4379-B29D-B626982B9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721" y="755689"/>
            <a:ext cx="4412021" cy="45945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B73011-81FE-4EBD-9D4E-EF89CD210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81" y="4532201"/>
            <a:ext cx="6020640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935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program with 50 Billion instructions.</a:t>
            </a:r>
          </a:p>
          <a:p>
            <a:r>
              <a:rPr lang="en-US" dirty="0"/>
              <a:t>Clock frequency is 2GHz.</a:t>
            </a:r>
          </a:p>
          <a:p>
            <a:r>
              <a:rPr lang="en-US" dirty="0"/>
              <a:t>Say, an architectural modification enhances the branch instruction so that its CPI goes from 4 to 2.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95600" y="3429000"/>
          <a:ext cx="6096000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Instruction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% of all instructions in a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Arithmetic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09800" y="6019800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overall </a:t>
            </a:r>
            <a:r>
              <a:rPr lang="en-US" dirty="0" err="1"/>
              <a:t>SpeedUp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484963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9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program with 50 Billion instructions.</a:t>
            </a:r>
          </a:p>
          <a:p>
            <a:r>
              <a:rPr lang="en-US" dirty="0"/>
              <a:t>Clock frequency is 2GHz.</a:t>
            </a:r>
          </a:p>
          <a:p>
            <a:r>
              <a:rPr lang="en-US" dirty="0"/>
              <a:t>Say, an architectural modification enhances the branch instruction so that its CPI goes from 4 to 2.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95600" y="3429000"/>
          <a:ext cx="6096000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Instruction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% of all instructions in a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Arithmetic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09800" y="6019801"/>
                <a:ext cx="7010400" cy="590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SpeedUp=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charset="0"/>
                          </a:rPr>
                          <m:t>0.8+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charset="0"/>
                              </a:rPr>
                              <m:t>0.2</m:t>
                            </m:r>
                          </m:num>
                          <m:den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a:rPr lang="en-US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charset="0"/>
                          </a:rPr>
                          <m:t>0.9</m:t>
                        </m:r>
                      </m:den>
                    </m:f>
                    <m:r>
                      <a:rPr lang="en-US" i="1">
                        <a:latin typeface="Cambria Math" charset="0"/>
                      </a:rPr>
                      <m:t>=1.111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6019801"/>
                <a:ext cx="7010400" cy="590611"/>
              </a:xfrm>
              <a:prstGeom prst="rect">
                <a:avLst/>
              </a:prstGeom>
              <a:blipFill>
                <a:blip r:embed="rId2"/>
                <a:stretch>
                  <a:fillRect l="-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98924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9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program with 50 Billion instructions.</a:t>
            </a:r>
          </a:p>
          <a:p>
            <a:r>
              <a:rPr lang="en-US" dirty="0"/>
              <a:t>Clock frequency is 2GHz.</a:t>
            </a:r>
          </a:p>
          <a:p>
            <a:r>
              <a:rPr lang="en-US" dirty="0"/>
              <a:t>Say, an architectural modification enhances the branch instruction so that its CPI goes from 4 to 2.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95600" y="3429000"/>
          <a:ext cx="6096000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Instruction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% of all instructions in a program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Arithmetic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Load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09800" y="6019801"/>
                <a:ext cx="7010400" cy="590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SpeedUp=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charset="0"/>
                          </a:rPr>
                          <m:t>0.8+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charset="0"/>
                              </a:rPr>
                              <m:t>0.2</m:t>
                            </m:r>
                          </m:num>
                          <m:den>
                            <m:r>
                              <a:rPr lang="en-US" i="1"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a:rPr lang="en-US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charset="0"/>
                          </a:rPr>
                          <m:t>0.9</m:t>
                        </m:r>
                      </m:den>
                    </m:f>
                    <m:r>
                      <a:rPr lang="en-US" i="1">
                        <a:latin typeface="Cambria Math" charset="0"/>
                      </a:rPr>
                      <m:t>=1.111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6019801"/>
                <a:ext cx="7010400" cy="590611"/>
              </a:xfrm>
              <a:prstGeom prst="rect">
                <a:avLst/>
              </a:prstGeom>
              <a:blipFill>
                <a:blip r:embed="rId2"/>
                <a:stretch>
                  <a:fillRect l="-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391400" y="60198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Wrong!</a:t>
            </a:r>
          </a:p>
        </p:txBody>
      </p:sp>
    </p:spTree>
    <p:extLst>
      <p:ext uri="{BB962C8B-B14F-4D97-AF65-F5344CB8AC3E}">
        <p14:creationId xmlns:p14="http://schemas.microsoft.com/office/powerpoint/2010/main" val="1818601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Using Iron Law before enhancement,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charset="0"/>
                        </a:rPr>
                        <m:t>𝐸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</a:rPr>
                            <m:t>𝐶𝑃𝑈</m:t>
                          </m:r>
                        </m:sub>
                      </m:sSub>
                      <m:r>
                        <a:rPr lang="en-US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</a:rPr>
                            <m:t>0.4</m:t>
                          </m:r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×1+0.2×4+0.3×2+0.1×3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×50×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0.4+0.8+0.6+0.3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25=2.1×25</m:t>
                      </m:r>
                    </m:oMath>
                  </m:oMathPara>
                </a14:m>
                <a:endParaRPr lang="en-US" b="0" dirty="0">
                  <a:ea typeface="Cambria Math" charset="0"/>
                  <a:cs typeface="Cambria Math" charset="0"/>
                </a:endParaRPr>
              </a:p>
              <a:p>
                <a:r>
                  <a:rPr lang="en-US" dirty="0"/>
                  <a:t>After enhancement,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charset="0"/>
                        </a:rPr>
                        <m:t>𝐸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</a:rPr>
                            <m:t>𝐶𝑃𝑈</m:t>
                          </m:r>
                        </m:sub>
                      </m:sSub>
                      <m:r>
                        <a:rPr lang="en-US" b="0" i="0" smtClean="0"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0" smtClean="0">
                              <a:latin typeface="Cambria Math" charset="0"/>
                            </a:rPr>
                            <m:t>0.4</m:t>
                          </m:r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×1+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0.2×2</m:t>
                          </m:r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+0.3×2+0.1×3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×50×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0.4+0.4+0.6+0.3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25=1.7×25</m:t>
                      </m:r>
                    </m:oMath>
                  </m:oMathPara>
                </a14:m>
                <a:endParaRPr lang="en-US" b="0" dirty="0">
                  <a:ea typeface="Cambria Math" charset="0"/>
                  <a:cs typeface="Cambria Math" charset="0"/>
                </a:endParaRPr>
              </a:p>
              <a:p>
                <a:r>
                  <a:rPr lang="en-US" dirty="0"/>
                  <a:t>Hence, </a:t>
                </a:r>
                <a:r>
                  <a:rPr lang="en-US" dirty="0" err="1"/>
                  <a:t>SpeedUp</a:t>
                </a:r>
                <a:r>
                  <a:rPr lang="en-US" dirty="0"/>
                  <a:t>=2.1/1.7=1.24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41" t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6458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4B24-E111-4033-B0C0-00F6F06D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across various architectural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A9EA0-F61F-4862-88F3-3A8D27EBB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Evaluate the following expression </a:t>
            </a:r>
          </a:p>
          <a:p>
            <a:r>
              <a:rPr lang="pt-BR" dirty="0"/>
              <a:t>RES = (A * (B – C)) + (D / (E + F))</a:t>
            </a:r>
          </a:p>
          <a:p>
            <a:pPr marL="0" indent="0">
              <a:buNone/>
            </a:pPr>
            <a:r>
              <a:rPr lang="pt-BR" dirty="0"/>
              <a:t>Using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Stack Architecture: </a:t>
            </a:r>
          </a:p>
          <a:p>
            <a:pPr marL="914400" lvl="2" indent="0">
              <a:buNone/>
            </a:pPr>
            <a:r>
              <a:rPr lang="pt-BR" dirty="0"/>
              <a:t>PUSH X, POP X, ADD, SUB, MUL, DIV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Accumulator Architecture</a:t>
            </a:r>
          </a:p>
          <a:p>
            <a:pPr marL="914400" lvl="2" indent="0">
              <a:buNone/>
            </a:pPr>
            <a:r>
              <a:rPr lang="pt-BR" dirty="0"/>
              <a:t>LOAD X, STORE X, ADD X, SUB X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Memory-memory architecture</a:t>
            </a:r>
          </a:p>
          <a:p>
            <a:pPr marL="914400" lvl="2" indent="0">
              <a:buNone/>
            </a:pPr>
            <a:r>
              <a:rPr lang="pt-BR" dirty="0"/>
              <a:t>ADD X,Y,Z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Load-store Architecture</a:t>
            </a:r>
          </a:p>
          <a:p>
            <a:pPr marL="914400" lvl="2" indent="0">
              <a:buNone/>
            </a:pPr>
            <a:r>
              <a:rPr lang="pt-BR" dirty="0"/>
              <a:t>LOAD R, X; STORE Y, R</a:t>
            </a:r>
          </a:p>
          <a:p>
            <a:pPr marL="914400" lvl="1" indent="-457200">
              <a:buFont typeface="+mj-lt"/>
              <a:buAutoNum type="arabicPeriod"/>
            </a:pPr>
            <a:endParaRPr lang="pt-BR" dirty="0"/>
          </a:p>
          <a:p>
            <a:pPr marL="914400" lvl="1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8381B-E52F-471B-8D6C-124977B7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040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1420</TotalTime>
  <Words>2332</Words>
  <Application>Microsoft Office PowerPoint</Application>
  <PresentationFormat>Widescreen</PresentationFormat>
  <Paragraphs>382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Cambria Math</vt:lpstr>
      <vt:lpstr>Century Gothic</vt:lpstr>
      <vt:lpstr>Times New Roman</vt:lpstr>
      <vt:lpstr>Wingdings</vt:lpstr>
      <vt:lpstr>Office Theme</vt:lpstr>
      <vt:lpstr>PowerPoint Presentation</vt:lpstr>
      <vt:lpstr>PowerPoint Presentation</vt:lpstr>
      <vt:lpstr>Introduction</vt:lpstr>
      <vt:lpstr>What is Amdahl’s Law?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 Alternative using Amdahl’s law</vt:lpstr>
      <vt:lpstr>PowerPoint Presentation</vt:lpstr>
      <vt:lpstr>Example 1</vt:lpstr>
      <vt:lpstr>PowerPoint Presentation</vt:lpstr>
      <vt:lpstr>Example 2</vt:lpstr>
      <vt:lpstr>Example 2a</vt:lpstr>
      <vt:lpstr>Example 3</vt:lpstr>
      <vt:lpstr>Example 4</vt:lpstr>
      <vt:lpstr>PowerPoint Presentation</vt:lpstr>
      <vt:lpstr>Example 5</vt:lpstr>
      <vt:lpstr>PowerPoint Presentation</vt:lpstr>
      <vt:lpstr>Extension to Multiple Enhancements</vt:lpstr>
      <vt:lpstr>PowerPoint Presentation</vt:lpstr>
      <vt:lpstr>PowerPoint Presentation</vt:lpstr>
      <vt:lpstr>Example 6</vt:lpstr>
      <vt:lpstr>Example 7</vt:lpstr>
      <vt:lpstr>PowerPoint Presentation</vt:lpstr>
      <vt:lpstr>Example 8</vt:lpstr>
      <vt:lpstr>PowerPoint Presentation</vt:lpstr>
      <vt:lpstr>Example 9</vt:lpstr>
      <vt:lpstr>Example 9 (contd.)</vt:lpstr>
      <vt:lpstr>Example 9 (contd.)</vt:lpstr>
      <vt:lpstr>Correct Solution</vt:lpstr>
      <vt:lpstr>Comparison across various architectural types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Sarani Bhattacharya</cp:lastModifiedBy>
  <cp:revision>72</cp:revision>
  <dcterms:created xsi:type="dcterms:W3CDTF">2023-07-29T11:53:22Z</dcterms:created>
  <dcterms:modified xsi:type="dcterms:W3CDTF">2025-08-04T05:57:12Z</dcterms:modified>
</cp:coreProperties>
</file>