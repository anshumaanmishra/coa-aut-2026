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65"/>
  </p:notesMasterIdLst>
  <p:sldIdLst>
    <p:sldId id="561" r:id="rId2"/>
    <p:sldId id="257" r:id="rId3"/>
    <p:sldId id="390" r:id="rId4"/>
    <p:sldId id="392" r:id="rId5"/>
    <p:sldId id="404" r:id="rId6"/>
    <p:sldId id="419" r:id="rId7"/>
    <p:sldId id="420" r:id="rId8"/>
    <p:sldId id="562" r:id="rId9"/>
    <p:sldId id="421" r:id="rId10"/>
    <p:sldId id="422" r:id="rId11"/>
    <p:sldId id="406" r:id="rId12"/>
    <p:sldId id="425" r:id="rId13"/>
    <p:sldId id="409" r:id="rId14"/>
    <p:sldId id="410" r:id="rId15"/>
    <p:sldId id="411" r:id="rId16"/>
    <p:sldId id="418" r:id="rId17"/>
    <p:sldId id="413" r:id="rId18"/>
    <p:sldId id="415" r:id="rId19"/>
    <p:sldId id="416" r:id="rId20"/>
    <p:sldId id="426" r:id="rId21"/>
    <p:sldId id="440" r:id="rId22"/>
    <p:sldId id="441" r:id="rId23"/>
    <p:sldId id="436" r:id="rId24"/>
    <p:sldId id="442" r:id="rId25"/>
    <p:sldId id="424" r:id="rId26"/>
    <p:sldId id="443" r:id="rId27"/>
    <p:sldId id="444" r:id="rId28"/>
    <p:sldId id="445" r:id="rId29"/>
    <p:sldId id="437" r:id="rId30"/>
    <p:sldId id="438" r:id="rId31"/>
    <p:sldId id="563" r:id="rId32"/>
    <p:sldId id="429" r:id="rId33"/>
    <p:sldId id="432" r:id="rId34"/>
    <p:sldId id="439" r:id="rId35"/>
    <p:sldId id="434" r:id="rId36"/>
    <p:sldId id="548" r:id="rId37"/>
    <p:sldId id="448" r:id="rId38"/>
    <p:sldId id="449" r:id="rId39"/>
    <p:sldId id="450" r:id="rId40"/>
    <p:sldId id="451" r:id="rId41"/>
    <p:sldId id="452" r:id="rId42"/>
    <p:sldId id="453" r:id="rId43"/>
    <p:sldId id="454" r:id="rId44"/>
    <p:sldId id="455" r:id="rId45"/>
    <p:sldId id="456" r:id="rId46"/>
    <p:sldId id="457" r:id="rId47"/>
    <p:sldId id="549" r:id="rId48"/>
    <p:sldId id="460" r:id="rId49"/>
    <p:sldId id="461" r:id="rId50"/>
    <p:sldId id="462" r:id="rId51"/>
    <p:sldId id="463" r:id="rId52"/>
    <p:sldId id="464" r:id="rId53"/>
    <p:sldId id="466" r:id="rId54"/>
    <p:sldId id="467" r:id="rId55"/>
    <p:sldId id="564" r:id="rId56"/>
    <p:sldId id="468" r:id="rId57"/>
    <p:sldId id="469" r:id="rId58"/>
    <p:sldId id="470" r:id="rId59"/>
    <p:sldId id="471" r:id="rId60"/>
    <p:sldId id="472" r:id="rId61"/>
    <p:sldId id="473" r:id="rId62"/>
    <p:sldId id="474" r:id="rId63"/>
    <p:sldId id="475" r:id="rId64"/>
  </p:sldIdLst>
  <p:sldSz cx="12192000" cy="6858000"/>
  <p:notesSz cx="6858000" cy="9144000"/>
  <p:custDataLst>
    <p:tags r:id="rId6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49"/>
    <p:restoredTop sz="96327" autoAdjust="0"/>
  </p:normalViewPr>
  <p:slideViewPr>
    <p:cSldViewPr snapToGrid="0">
      <p:cViewPr varScale="1">
        <p:scale>
          <a:sx n="90" d="100"/>
          <a:sy n="90" d="100"/>
        </p:scale>
        <p:origin x="240" y="9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gs" Target="tags/tag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460DF-EB7B-469A-88A6-9D448ABB3F4B}" type="datetimeFigureOut">
              <a:rPr lang="en-IN" smtClean="0"/>
              <a:t>06/09/26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67892-E758-4CE4-92A4-618DD948D9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389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82742-209D-4AD4-BCC0-D744EEC867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6BB40C-C336-43B4-8A87-78E91DEAD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0F9BE-7EE4-41AE-9D36-3030AC04C6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06/09/26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EB7A5-46F8-40A4-82B6-04878333C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5BF08A-4E85-47CB-AC56-053203DA1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319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F563-41BA-4934-90FA-D44B0D71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58FCB-BB80-461A-A0EE-DD05B5FB0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45495-1438-4935-AB17-84E4DE45E3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06/09/26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61712-21CA-45C1-A1F8-91E2DCEDD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EE83C-34D9-4B18-B1C1-D4E4528C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693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B1A64-4DE2-4354-B466-643C1977D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6B15BD-C661-487C-AC09-B37A3ACFF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4BA56-EF52-4182-9AC3-535F07D40B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3EF1A-4522-49B8-B173-4807441D3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0E32FA-87C4-4EBB-AE76-4BF91ADA6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5485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EAE21-13C6-446B-AF3F-F96FDE605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AE339-3E49-4D2B-BE53-095BA5E2A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C131F-A559-4A6F-B802-6B8194664C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A92EA-FC68-47AF-B8A5-3B1E41522E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3835A4-E7E9-4AEA-89C8-72D28D501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0B176-30BA-4D43-AAE7-FCE3D1EE2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087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0AA8-73EC-440F-ADFF-EA50D5D6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D91440-45FF-4488-87BC-F35B827C0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C37B83-4BF8-4951-9574-A1CD18DC0A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58ABF3-3772-4234-89E3-589093FE5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08A3C9-D222-460F-9343-56E79B62E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FE556A-A164-4F04-8ECD-A8B2A689DF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1F38F5-8E0A-41CB-B48A-80E2AEA17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4DAA36-931C-4CC3-BCCF-9D41F6709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001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0315B-58AB-473A-AAB2-6ABE409C0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79CD0F-8B29-4F0A-848C-8F8A737613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E6270E-ABF7-4C57-88B0-D4A5E33B7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11A6B7-0207-49EE-BBDE-A82A2598F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219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AE1CFB-D2AF-4959-9D69-11EC0195D6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1A2CEA-7878-4D20-AC9F-2CB3B5138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AC79B-4BBE-4EC1-936F-F2AA565F5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095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BCAD-58E5-4E36-8B51-1D7C442C5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476C6-3C83-4B22-AB72-ED185CC9D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33AC60-2D0C-4ECD-ACFC-C8038D150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248922-2E5A-4FF6-9EBB-7F869BDA79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F0A630-E119-4E0B-B7DC-8C7CCF368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E7E74E-13CD-4FE7-9281-ECA69C79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1482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70500-7D46-4FE1-BFA8-267D29BF7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489865-DC41-4C9A-8FC0-8AC3A422C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7AD87-D6BE-455A-A128-345AA8F6FC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2FBD1-7164-4773-82B5-39478DB3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5760A-5271-4174-A87B-587A10594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B756A-85CD-4B73-ACD9-C849994C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406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A5CF-B6CD-4C88-93D7-3ABF7A668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5C0FC-B2B0-4148-A1BD-38A8D67F92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40223-CCC8-489F-BDB1-24CBC0ED81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6880D4-F616-4B97-9A14-3C3434702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A3D93-E61C-4206-A227-C476ACB5C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9843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2BEB68-62B8-470C-AE19-868FBB2E3E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1300CD-54A0-406F-BA0E-61417F4C3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D21733-86FF-42C7-BE02-C36308FD05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9501204-55E0-43E9-BC26-4993C020584D}" type="datetimeFigureOut">
              <a:rPr lang="en-IN" smtClean="0"/>
              <a:t>09/09/26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91238-A565-492B-AE8D-5740E31D6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C2359-3D1A-44AB-B11A-FFDC86CC2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05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0DD19B-906E-495E-B8BB-00BF7DF0A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D0EEB-380A-4F51-A933-D1276FE83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3EE9C-9259-433C-8C3A-B3F770A1D7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1F8E49-7C34-491A-B133-778D3DDBC5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34682-54F0-4659-AAA6-5C8D9EC89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69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1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3.svg"/><Relationship Id="rId5" Type="http://schemas.openxmlformats.org/officeDocument/2006/relationships/tags" Target="../tags/tag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5.xml"/><Relationship Id="rId9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9.xml"/><Relationship Id="rId7" Type="http://schemas.openxmlformats.org/officeDocument/2006/relationships/image" Target="../media/image1.sv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3.svg"/><Relationship Id="rId5" Type="http://schemas.openxmlformats.org/officeDocument/2006/relationships/tags" Target="../tags/tag11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10.xml"/><Relationship Id="rId9" Type="http://schemas.openxmlformats.org/officeDocument/2006/relationships/image" Target="../media/image2.sv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14.xml"/><Relationship Id="rId7" Type="http://schemas.openxmlformats.org/officeDocument/2006/relationships/image" Target="../media/image1.sv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3.svg"/><Relationship Id="rId5" Type="http://schemas.openxmlformats.org/officeDocument/2006/relationships/tags" Target="../tags/tag1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15.xml"/><Relationship Id="rId9" Type="http://schemas.openxmlformats.org/officeDocument/2006/relationships/image" Target="../media/image2.sv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 txBox="1">
            <a:spLocks/>
          </p:cNvSpPr>
          <p:nvPr/>
        </p:nvSpPr>
        <p:spPr>
          <a:xfrm>
            <a:off x="406400" y="889000"/>
            <a:ext cx="11379200" cy="17272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57189" indent="-457189" algn="ctr">
              <a:lnSpc>
                <a:spcPct val="140000"/>
              </a:lnSpc>
              <a:spcAft>
                <a:spcPts val="800"/>
              </a:spcAft>
              <a:defRPr/>
            </a:pPr>
            <a:r>
              <a:rPr lang="en-US" sz="4800" b="1" dirty="0">
                <a:solidFill>
                  <a:srgbClr val="800000"/>
                </a:solidFill>
                <a:cs typeface="Times New Roman" pitchFamily="18" charset="0"/>
              </a:rPr>
              <a:t>Computer Organization and Architecture</a:t>
            </a:r>
          </a:p>
          <a:p>
            <a:pPr marL="457189" indent="-457189" algn="ctr" defTabSz="1219170">
              <a:spcBef>
                <a:spcPct val="20000"/>
              </a:spcBef>
              <a:defRPr/>
            </a:pPr>
            <a:endParaRPr lang="en-US" sz="2667" b="1" dirty="0">
              <a:solidFill>
                <a:schemeClr val="accent2"/>
              </a:solidFill>
              <a:latin typeface="Century Gothic" pitchFamily="34" charset="0"/>
              <a:cs typeface="Arial" pitchFamily="34" charset="0"/>
            </a:endParaRPr>
          </a:p>
        </p:txBody>
      </p:sp>
      <p:sp>
        <p:nvSpPr>
          <p:cNvPr id="6" name="Subtitle 2"/>
          <p:cNvSpPr txBox="1">
            <a:spLocks/>
          </p:cNvSpPr>
          <p:nvPr/>
        </p:nvSpPr>
        <p:spPr>
          <a:xfrm>
            <a:off x="1727200" y="4221223"/>
            <a:ext cx="8534400" cy="2359080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/>
          <a:p>
            <a:pPr algn="ctr" defTabSz="1219170">
              <a:spcBef>
                <a:spcPct val="20000"/>
              </a:spcBef>
              <a:spcAft>
                <a:spcPts val="800"/>
              </a:spcAft>
              <a:defRPr/>
            </a:pPr>
            <a:r>
              <a:rPr lang="en-US" sz="2400" b="1">
                <a:solidFill>
                  <a:srgbClr val="000090"/>
                </a:solidFill>
                <a:cs typeface="Arial" pitchFamily="34" charset="0"/>
              </a:rPr>
              <a:t>Department </a:t>
            </a:r>
            <a:r>
              <a:rPr lang="en-US" sz="2400" b="1" dirty="0">
                <a:solidFill>
                  <a:srgbClr val="000090"/>
                </a:solidFill>
                <a:cs typeface="Arial" pitchFamily="34" charset="0"/>
              </a:rPr>
              <a:t>of Computer Science and Engineering </a:t>
            </a:r>
          </a:p>
          <a:p>
            <a:pPr algn="ctr" defTabSz="1219170">
              <a:spcBef>
                <a:spcPct val="20000"/>
              </a:spcBef>
              <a:spcAft>
                <a:spcPts val="800"/>
              </a:spcAft>
              <a:defRPr/>
            </a:pPr>
            <a:r>
              <a:rPr lang="en-US" sz="2400" b="1" dirty="0">
                <a:solidFill>
                  <a:srgbClr val="000090"/>
                </a:solidFill>
                <a:cs typeface="Arial" pitchFamily="34" charset="0"/>
              </a:rPr>
              <a:t>IIT </a:t>
            </a:r>
            <a:r>
              <a:rPr lang="en-US" sz="2400" b="1" dirty="0" err="1">
                <a:solidFill>
                  <a:srgbClr val="000090"/>
                </a:solidFill>
                <a:cs typeface="Arial" pitchFamily="34" charset="0"/>
              </a:rPr>
              <a:t>Kharagpur</a:t>
            </a:r>
            <a:endParaRPr lang="en-US" sz="2400" b="1" dirty="0">
              <a:solidFill>
                <a:srgbClr val="000090"/>
              </a:solidFill>
              <a:cs typeface="Arial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FB2AAA-FBF9-9F47-D9BA-D5CCDCAECF8B}"/>
              </a:ext>
            </a:extLst>
          </p:cNvPr>
          <p:cNvSpPr txBox="1"/>
          <p:nvPr/>
        </p:nvSpPr>
        <p:spPr>
          <a:xfrm>
            <a:off x="859316" y="2302524"/>
            <a:ext cx="10432973" cy="1231106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3200" b="1" dirty="0">
                <a:solidFill>
                  <a:srgbClr val="7030A0"/>
                </a:solidFill>
              </a:rPr>
              <a:t>Module 6 (Part 1)</a:t>
            </a:r>
          </a:p>
          <a:p>
            <a:pPr algn="ctr"/>
            <a:r>
              <a:rPr lang="en-US" sz="3200" b="1" dirty="0">
                <a:solidFill>
                  <a:srgbClr val="7030A0"/>
                </a:solidFill>
              </a:rPr>
              <a:t>Design of Memory Subsystems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800000"/>
                </a:solidFill>
                <a:latin typeface="+mn-lt"/>
              </a:rPr>
              <a:t>PROCESSOR MEMORY INTERACTION</a:t>
            </a:r>
            <a:br>
              <a:rPr lang="en-US" sz="4000" b="1" dirty="0">
                <a:solidFill>
                  <a:srgbClr val="800000"/>
                </a:solidFill>
                <a:latin typeface="+mn-lt"/>
              </a:rPr>
            </a:br>
            <a:endParaRPr lang="en-US" sz="4000" b="1" dirty="0">
              <a:solidFill>
                <a:srgbClr val="800000"/>
              </a:solidFill>
              <a:latin typeface="+mn-lt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Memory is one of the most important functional units of a computer.</a:t>
            </a:r>
          </a:p>
          <a:p>
            <a:pPr lvl="1"/>
            <a:r>
              <a:rPr lang="en-US" dirty="0"/>
              <a:t>Used to store both instructions and data. 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Stores as bits (0’s and 1’s), usually organized in terms of bytes.</a:t>
            </a:r>
          </a:p>
          <a:p>
            <a:r>
              <a:rPr lang="en-US" dirty="0"/>
              <a:t>How are the data stored in memory accessed?</a:t>
            </a:r>
          </a:p>
          <a:p>
            <a:pPr lvl="1"/>
            <a:r>
              <a:rPr lang="en-US" dirty="0"/>
              <a:t>Every memory location has a </a:t>
            </a:r>
            <a:r>
              <a:rPr lang="en-US" i="1" dirty="0">
                <a:solidFill>
                  <a:srgbClr val="C00000"/>
                </a:solidFill>
              </a:rPr>
              <a:t>unique address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 memory is said to be </a:t>
            </a:r>
            <a:r>
              <a:rPr lang="en-US" i="1" dirty="0">
                <a:solidFill>
                  <a:srgbClr val="C00000"/>
                </a:solidFill>
              </a:rPr>
              <a:t>byte addressable </a:t>
            </a:r>
            <a:r>
              <a:rPr lang="en-US" dirty="0"/>
              <a:t>if every byte of data has a unique address.</a:t>
            </a:r>
          </a:p>
          <a:p>
            <a:pPr lvl="1"/>
            <a:r>
              <a:rPr lang="en-US" dirty="0"/>
              <a:t>Some memory systems are </a:t>
            </a:r>
            <a:r>
              <a:rPr lang="en-US" i="1" dirty="0">
                <a:solidFill>
                  <a:srgbClr val="C00000"/>
                </a:solidFill>
              </a:rPr>
              <a:t>word addressable </a:t>
            </a:r>
            <a:r>
              <a:rPr lang="en-US" dirty="0"/>
              <a:t>also (every addressed location consists of multiple bytes, say, 32 bits or 4 bytes).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75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4519465" y="1600201"/>
            <a:ext cx="7457756" cy="4017665"/>
            <a:chOff x="2880874" y="1200150"/>
            <a:chExt cx="5593317" cy="3013249"/>
          </a:xfrm>
        </p:grpSpPr>
        <p:sp>
          <p:nvSpPr>
            <p:cNvPr id="5" name="Rectangle 4"/>
            <p:cNvSpPr/>
            <p:nvPr/>
          </p:nvSpPr>
          <p:spPr>
            <a:xfrm>
              <a:off x="6858000" y="1657350"/>
              <a:ext cx="1616191" cy="1905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67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PRIMARY</a:t>
              </a:r>
            </a:p>
            <a:p>
              <a:pPr algn="ctr"/>
              <a:r>
                <a:rPr lang="en-US" sz="2667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MEMORY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2880874" y="1200150"/>
              <a:ext cx="1995926" cy="2895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3200" b="1" dirty="0">
                  <a:solidFill>
                    <a:srgbClr val="0D0D0D"/>
                  </a:solidFill>
                </a:rPr>
                <a:t> </a:t>
              </a:r>
              <a:r>
                <a:rPr lang="en-US" sz="2667" b="1" dirty="0">
                  <a:solidFill>
                    <a:srgbClr val="0D0D0D"/>
                  </a:solidFill>
                </a:rPr>
                <a:t>PROCESSOR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4419600" y="1504950"/>
              <a:ext cx="457200" cy="990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D0D0D"/>
                  </a:solidFill>
                </a:rPr>
                <a:t>MA  R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419600" y="2647950"/>
              <a:ext cx="457200" cy="9906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5400">
              <a:solidFill>
                <a:srgbClr val="8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rgbClr val="0D0D0D"/>
                  </a:solidFill>
                </a:rPr>
                <a:t>MD  R</a:t>
              </a:r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4876800" y="1885950"/>
              <a:ext cx="1981200" cy="381000"/>
            </a:xfrm>
            <a:prstGeom prst="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1" name="Left-Right Arrow 10"/>
            <p:cNvSpPr/>
            <p:nvPr/>
          </p:nvSpPr>
          <p:spPr>
            <a:xfrm>
              <a:off x="4876800" y="2952750"/>
              <a:ext cx="1981200" cy="381000"/>
            </a:xfrm>
            <a:prstGeom prst="leftRight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2" name="Bent-Up Arrow 11"/>
            <p:cNvSpPr/>
            <p:nvPr/>
          </p:nvSpPr>
          <p:spPr>
            <a:xfrm>
              <a:off x="4876800" y="3562350"/>
              <a:ext cx="3124200" cy="304800"/>
            </a:xfrm>
            <a:prstGeom prst="bentUpArrow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95000"/>
                  <a:lumOff val="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105400" y="1581150"/>
              <a:ext cx="14478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Address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334000" y="2647950"/>
              <a:ext cx="9144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Data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257800" y="3867150"/>
              <a:ext cx="23622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/>
                <a:t>Control</a:t>
              </a:r>
            </a:p>
          </p:txBody>
        </p:sp>
      </p:grp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609600" y="279400"/>
            <a:ext cx="10972800" cy="1143000"/>
          </a:xfrm>
        </p:spPr>
        <p:txBody>
          <a:bodyPr>
            <a:normAutofit/>
          </a:bodyPr>
          <a:lstStyle/>
          <a:p>
            <a:r>
              <a:rPr lang="en-US" b="1" dirty="0"/>
              <a:t>Connection between Processor and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9400" y="1397001"/>
            <a:ext cx="4170870" cy="396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4945" indent="-234945">
              <a:lnSpc>
                <a:spcPct val="10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2400" dirty="0"/>
              <a:t>Address bus provides the address of the memory location to be accessed.</a:t>
            </a:r>
          </a:p>
          <a:p>
            <a:pPr marL="234945" indent="-234945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lang="en-US" sz="2400" dirty="0"/>
              <a:t>Data bus transfers the data read from memory, or data to be written into memory.</a:t>
            </a:r>
          </a:p>
          <a:p>
            <a:pPr marL="844530" lvl="1" indent="-234945">
              <a:lnSpc>
                <a:spcPct val="10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2400" dirty="0"/>
              <a:t>Bidirectional.</a:t>
            </a:r>
          </a:p>
          <a:p>
            <a:pPr marL="234945" indent="-234945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lang="en-US" sz="2400" dirty="0"/>
              <a:t>Control bus provides various signals like READ, WRITE, etc.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029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5328748" y="685801"/>
            <a:ext cx="6660052" cy="3087189"/>
            <a:chOff x="1905000" y="1504950"/>
            <a:chExt cx="5486400" cy="2597750"/>
          </a:xfrm>
        </p:grpSpPr>
        <p:sp>
          <p:nvSpPr>
            <p:cNvPr id="14" name="TextBox 13"/>
            <p:cNvSpPr txBox="1"/>
            <p:nvPr/>
          </p:nvSpPr>
          <p:spPr>
            <a:xfrm>
              <a:off x="3541051" y="3790950"/>
              <a:ext cx="1257300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RD/WR’</a:t>
              </a:r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1905000" y="1504950"/>
              <a:ext cx="5486400" cy="2270521"/>
              <a:chOff x="1905000" y="1504950"/>
              <a:chExt cx="5486400" cy="2270521"/>
            </a:xfrm>
          </p:grpSpPr>
          <p:sp>
            <p:nvSpPr>
              <p:cNvPr id="5" name="Rectangle 4"/>
              <p:cNvSpPr/>
              <p:nvPr/>
            </p:nvSpPr>
            <p:spPr>
              <a:xfrm>
                <a:off x="3429000" y="1657350"/>
                <a:ext cx="2514600" cy="1524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rgbClr val="8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MEMORY</a:t>
                </a:r>
              </a:p>
              <a:p>
                <a:pPr algn="ctr"/>
                <a:r>
                  <a:rPr 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(2</a:t>
                </a:r>
                <a:r>
                  <a:rPr lang="en-US" sz="2000" baseline="30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n</a:t>
                </a:r>
                <a:r>
                  <a:rPr lang="en-US" sz="20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addressable memory locations)</a:t>
                </a:r>
              </a:p>
            </p:txBody>
          </p:sp>
          <p:sp>
            <p:nvSpPr>
              <p:cNvPr id="6" name="Right Arrow 5"/>
              <p:cNvSpPr/>
              <p:nvPr/>
            </p:nvSpPr>
            <p:spPr>
              <a:xfrm>
                <a:off x="1981200" y="2114550"/>
                <a:ext cx="1447800" cy="571500"/>
              </a:xfrm>
              <a:prstGeom prst="rightArrow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1905000" y="1504950"/>
                <a:ext cx="1371600" cy="530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n-bit address bus </a:t>
                </a:r>
              </a:p>
            </p:txBody>
          </p:sp>
          <p:sp>
            <p:nvSpPr>
              <p:cNvPr id="8" name="Left-Right Arrow 7"/>
              <p:cNvSpPr/>
              <p:nvPr/>
            </p:nvSpPr>
            <p:spPr>
              <a:xfrm>
                <a:off x="5943600" y="2147188"/>
                <a:ext cx="1447800" cy="538861"/>
              </a:xfrm>
              <a:prstGeom prst="leftRightArrow">
                <a:avLst/>
              </a:prstGeom>
              <a:solidFill>
                <a:schemeClr val="bg2">
                  <a:lumMod val="90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/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6096000" y="1581150"/>
                <a:ext cx="1143000" cy="5309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000" b="1" dirty="0"/>
                  <a:t>m-bit data bus</a:t>
                </a:r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 flipV="1">
                <a:off x="4191000" y="3181350"/>
                <a:ext cx="0" cy="594121"/>
              </a:xfrm>
              <a:prstGeom prst="straightConnector1">
                <a:avLst/>
              </a:prstGeom>
              <a:ln w="25400">
                <a:solidFill>
                  <a:schemeClr val="tx1">
                    <a:lumMod val="95000"/>
                    <a:lumOff val="5000"/>
                  </a:schemeClr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flipV="1">
                <a:off x="4876800" y="3181350"/>
                <a:ext cx="0" cy="594121"/>
              </a:xfrm>
              <a:prstGeom prst="straightConnector1">
                <a:avLst/>
              </a:prstGeom>
              <a:ln w="25400">
                <a:solidFill>
                  <a:schemeClr val="tx1">
                    <a:lumMod val="95000"/>
                    <a:lumOff val="5000"/>
                  </a:schemeClr>
                </a:solidFill>
                <a:tailEnd type="arrow" w="lg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7" name="TextBox 16"/>
            <p:cNvSpPr txBox="1"/>
            <p:nvPr/>
          </p:nvSpPr>
          <p:spPr>
            <a:xfrm>
              <a:off x="4475626" y="3802618"/>
              <a:ext cx="845050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CS’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221192" y="482601"/>
            <a:ext cx="4933246" cy="5878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400" b="1" u="sng" dirty="0"/>
              <a:t>An Example Memory Module</a:t>
            </a:r>
          </a:p>
          <a:p>
            <a:pPr marL="234945" indent="-234945">
              <a:spcAft>
                <a:spcPts val="1200"/>
              </a:spcAft>
              <a:buClr>
                <a:schemeClr val="tx1">
                  <a:lumMod val="95000"/>
                  <a:lumOff val="5000"/>
                </a:schemeClr>
              </a:buClr>
              <a:buFont typeface="Arial"/>
              <a:buChar char="•"/>
            </a:pPr>
            <a:r>
              <a:rPr lang="en-US" sz="2400" i="1" dirty="0">
                <a:solidFill>
                  <a:srgbClr val="C00000"/>
                </a:solidFill>
              </a:rPr>
              <a:t>n address lines </a:t>
            </a:r>
            <a:r>
              <a:rPr lang="en-US" sz="2400" dirty="0"/>
              <a:t>:: The maximum number of memory locations that can be accessed is </a:t>
            </a:r>
            <a:r>
              <a:rPr lang="en-US" sz="2400" dirty="0">
                <a:solidFill>
                  <a:srgbClr val="C00000"/>
                </a:solidFill>
              </a:rPr>
              <a:t>2</a:t>
            </a:r>
            <a:r>
              <a:rPr lang="en-US" sz="2400" i="1" baseline="30000" dirty="0">
                <a:solidFill>
                  <a:srgbClr val="C00000"/>
                </a:solidFill>
              </a:rPr>
              <a:t>n</a:t>
            </a:r>
            <a:r>
              <a:rPr lang="en-US" sz="2400" dirty="0"/>
              <a:t>.</a:t>
            </a:r>
          </a:p>
          <a:p>
            <a:pPr marL="234945" indent="-234945">
              <a:spcAft>
                <a:spcPts val="1200"/>
              </a:spcAft>
              <a:buClr>
                <a:schemeClr val="tx1">
                  <a:lumMod val="95000"/>
                  <a:lumOff val="5000"/>
                </a:schemeClr>
              </a:buClr>
              <a:buFont typeface="Arial"/>
              <a:buChar char="•"/>
            </a:pPr>
            <a:r>
              <a:rPr lang="en-US" sz="2400" i="1" dirty="0">
                <a:solidFill>
                  <a:srgbClr val="C00000"/>
                </a:solidFill>
              </a:rPr>
              <a:t>m data lines </a:t>
            </a:r>
            <a:r>
              <a:rPr lang="en-US" sz="2400" dirty="0"/>
              <a:t>:: The number of bits stored in every addressable location is </a:t>
            </a:r>
            <a:r>
              <a:rPr lang="en-US" sz="2400" i="1" dirty="0">
                <a:solidFill>
                  <a:srgbClr val="C00000"/>
                </a:solidFill>
              </a:rPr>
              <a:t>m</a:t>
            </a:r>
            <a:r>
              <a:rPr lang="en-US" sz="2400" dirty="0"/>
              <a:t>.</a:t>
            </a:r>
          </a:p>
          <a:p>
            <a:pPr marL="234945" indent="-234945">
              <a:spcAft>
                <a:spcPts val="1200"/>
              </a:spcAft>
              <a:buFont typeface="Arial"/>
              <a:buChar char="•"/>
            </a:pPr>
            <a:r>
              <a:rPr lang="en-US" sz="2400" dirty="0"/>
              <a:t>The </a:t>
            </a:r>
            <a:r>
              <a:rPr lang="en-US" sz="2400" dirty="0">
                <a:solidFill>
                  <a:srgbClr val="C00000"/>
                </a:solidFill>
              </a:rPr>
              <a:t>RD/WR’ </a:t>
            </a:r>
            <a:r>
              <a:rPr lang="en-US" sz="2400" dirty="0"/>
              <a:t>control line selects the memory for reading or writing       (1: read, 0: write).</a:t>
            </a:r>
          </a:p>
          <a:p>
            <a:pPr marL="234945" indent="-234945">
              <a:buFont typeface="Arial"/>
              <a:buChar char="•"/>
            </a:pPr>
            <a:r>
              <a:rPr lang="en-US" sz="2400" dirty="0"/>
              <a:t>The chip select line (CS’) when active (=0) will enable the chip; otherwise, the data bus is in the </a:t>
            </a:r>
            <a:r>
              <a:rPr lang="en-US" sz="2400" i="1" dirty="0">
                <a:solidFill>
                  <a:srgbClr val="C00000"/>
                </a:solidFill>
              </a:rPr>
              <a:t>high impedance state</a:t>
            </a:r>
            <a:r>
              <a:rPr lang="en-US" sz="2400" dirty="0"/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414" y="4573489"/>
            <a:ext cx="4572000" cy="91319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rgbClr val="00009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667" dirty="0"/>
              <a:t>The memory size is specified as 2</a:t>
            </a:r>
            <a:r>
              <a:rPr lang="en-US" sz="2667" baseline="30000" dirty="0"/>
              <a:t>n</a:t>
            </a:r>
            <a:r>
              <a:rPr lang="en-US" sz="2667" dirty="0"/>
              <a:t> x 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99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Classification of Memory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lphaLcParenR"/>
            </a:pPr>
            <a:r>
              <a:rPr lang="en-US" b="1" dirty="0">
                <a:solidFill>
                  <a:srgbClr val="002060"/>
                </a:solidFill>
              </a:rPr>
              <a:t>Volatile versus Non-volatile:</a:t>
            </a:r>
          </a:p>
          <a:p>
            <a:pPr lvl="1"/>
            <a:r>
              <a:rPr lang="en-US" dirty="0"/>
              <a:t>A </a:t>
            </a:r>
            <a:r>
              <a:rPr lang="en-US" i="1" dirty="0">
                <a:solidFill>
                  <a:srgbClr val="C00000"/>
                </a:solidFill>
              </a:rPr>
              <a:t>volatile memory </a:t>
            </a:r>
            <a:r>
              <a:rPr lang="en-US" dirty="0"/>
              <a:t>system is one where the stored data is lost when the power is switched off.</a:t>
            </a:r>
          </a:p>
          <a:p>
            <a:pPr lvl="2"/>
            <a:r>
              <a:rPr lang="en-US" dirty="0"/>
              <a:t>Examples: CMOS static memory, CMOS dynamic memory.</a:t>
            </a:r>
          </a:p>
          <a:p>
            <a:pPr lvl="2"/>
            <a:r>
              <a:rPr lang="en-US" dirty="0"/>
              <a:t>Dynamic memory in addition requires periodic refreshing.</a:t>
            </a:r>
          </a:p>
          <a:p>
            <a:pPr lvl="1"/>
            <a:r>
              <a:rPr lang="en-US" dirty="0"/>
              <a:t>A </a:t>
            </a:r>
            <a:r>
              <a:rPr lang="en-US" i="1" dirty="0">
                <a:solidFill>
                  <a:srgbClr val="C00000"/>
                </a:solidFill>
              </a:rPr>
              <a:t>non-volatile memory </a:t>
            </a:r>
            <a:r>
              <a:rPr lang="en-US" dirty="0"/>
              <a:t>system is one where the stored data is retained even when the power is switched off.</a:t>
            </a:r>
          </a:p>
          <a:p>
            <a:pPr lvl="2"/>
            <a:r>
              <a:rPr lang="en-US" dirty="0"/>
              <a:t>Examples: Read-only memory, Magnetic disk, CDROM/DVD, Flash memory, Resistive memory.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131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5403"/>
            <a:ext cx="10515600" cy="498156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LcParenR" startAt="2"/>
            </a:pPr>
            <a:r>
              <a:rPr lang="en-US" b="1" dirty="0">
                <a:solidFill>
                  <a:srgbClr val="002060"/>
                </a:solidFill>
              </a:rPr>
              <a:t>Random-access versus Direct/Sequential access:</a:t>
            </a:r>
          </a:p>
          <a:p>
            <a:pPr lvl="1"/>
            <a:r>
              <a:rPr lang="en-US" dirty="0"/>
              <a:t>A memory is said to be </a:t>
            </a:r>
            <a:r>
              <a:rPr lang="en-US" i="1" dirty="0">
                <a:solidFill>
                  <a:srgbClr val="C00000"/>
                </a:solidFill>
              </a:rPr>
              <a:t>random-access</a:t>
            </a:r>
            <a:r>
              <a:rPr lang="en-US" i="1" dirty="0">
                <a:solidFill>
                  <a:srgbClr val="800000"/>
                </a:solidFill>
              </a:rPr>
              <a:t> </a:t>
            </a:r>
            <a:r>
              <a:rPr lang="en-US" dirty="0"/>
              <a:t>when the read/write time is independent of the memory location being accessed.</a:t>
            </a:r>
          </a:p>
          <a:p>
            <a:pPr lvl="2">
              <a:spcAft>
                <a:spcPts val="1200"/>
              </a:spcAft>
            </a:pPr>
            <a:r>
              <a:rPr lang="en-US" dirty="0"/>
              <a:t>Examples: CMOS memory (RAM and ROM).</a:t>
            </a:r>
          </a:p>
          <a:p>
            <a:pPr lvl="1"/>
            <a:r>
              <a:rPr lang="en-US" dirty="0"/>
              <a:t>A memory is said to be </a:t>
            </a:r>
            <a:r>
              <a:rPr lang="en-US" i="1" dirty="0">
                <a:solidFill>
                  <a:srgbClr val="C00000"/>
                </a:solidFill>
              </a:rPr>
              <a:t>sequential access </a:t>
            </a:r>
            <a:r>
              <a:rPr lang="en-US" dirty="0"/>
              <a:t>when the stored data can only be accessed sequentially in a particular order.</a:t>
            </a:r>
          </a:p>
          <a:p>
            <a:pPr lvl="2">
              <a:spcAft>
                <a:spcPts val="1200"/>
              </a:spcAft>
            </a:pPr>
            <a:r>
              <a:rPr lang="en-US" dirty="0"/>
              <a:t>Examples: Magnetic tape, Punched paper tape.</a:t>
            </a:r>
          </a:p>
          <a:p>
            <a:pPr lvl="1"/>
            <a:r>
              <a:rPr lang="en-US" dirty="0"/>
              <a:t>A memory is said to be </a:t>
            </a:r>
            <a:r>
              <a:rPr lang="en-US" i="1" dirty="0">
                <a:solidFill>
                  <a:srgbClr val="C00000"/>
                </a:solidFill>
              </a:rPr>
              <a:t>direct</a:t>
            </a:r>
            <a:r>
              <a:rPr lang="en-US" dirty="0"/>
              <a:t> or </a:t>
            </a:r>
            <a:r>
              <a:rPr lang="en-US" i="1" dirty="0">
                <a:solidFill>
                  <a:srgbClr val="C00000"/>
                </a:solidFill>
              </a:rPr>
              <a:t>semi-random access </a:t>
            </a:r>
            <a:r>
              <a:rPr lang="en-US" dirty="0"/>
              <a:t>when part of the access is sequential and part is random.</a:t>
            </a:r>
          </a:p>
          <a:p>
            <a:pPr lvl="2"/>
            <a:r>
              <a:rPr lang="en-US" dirty="0"/>
              <a:t>Example: Magnetic disk.</a:t>
            </a:r>
          </a:p>
          <a:p>
            <a:pPr lvl="2"/>
            <a:r>
              <a:rPr lang="en-US" dirty="0"/>
              <a:t>We can directly go to a track after which access will be sequential.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661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001C99-7C84-0438-04C3-26E6B8E679E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1F3C4E-48E8-0B02-BE88-245E8B36FF3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Which type of memory loses data when power is switched off?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D65F07-9A4E-AB72-D3DD-47F97C39E319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EF4B0BB-878E-6F4C-06C2-7B8ACF679AE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ium 6">
            <a:extLst>
              <a:ext uri="{FF2B5EF4-FFF2-40B4-BE49-F238E27FC236}">
                <a16:creationId xmlns:a16="http://schemas.microsoft.com/office/drawing/2014/main" id="{BE4AB982-E732-BF75-F486-C947E923534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8284C2D-493D-FD80-E508-D86DCA01ACD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38981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8046"/>
            <a:ext cx="10515600" cy="5354408"/>
          </a:xfrm>
        </p:spPr>
        <p:txBody>
          <a:bodyPr>
            <a:normAutofit/>
          </a:bodyPr>
          <a:lstStyle/>
          <a:p>
            <a:pPr marL="514350" indent="-514350">
              <a:spcAft>
                <a:spcPts val="1200"/>
              </a:spcAft>
              <a:buFont typeface="+mj-lt"/>
              <a:buAutoNum type="alphaLcParenR" startAt="3"/>
            </a:pPr>
            <a:r>
              <a:rPr lang="en-US" b="1" dirty="0">
                <a:solidFill>
                  <a:srgbClr val="002060"/>
                </a:solidFill>
              </a:rPr>
              <a:t>Read-only versus Random-access:</a:t>
            </a:r>
          </a:p>
          <a:p>
            <a:pPr lvl="1"/>
            <a:r>
              <a:rPr lang="en-US" i="1" dirty="0">
                <a:solidFill>
                  <a:srgbClr val="C00000"/>
                </a:solidFill>
              </a:rPr>
              <a:t>Read-only Memory </a:t>
            </a:r>
            <a:r>
              <a:rPr lang="en-US" dirty="0"/>
              <a:t>(ROM) is one where data once stored in permanent or semi-permanent.</a:t>
            </a:r>
          </a:p>
          <a:p>
            <a:pPr lvl="2"/>
            <a:r>
              <a:rPr lang="en-US" dirty="0"/>
              <a:t>Data written (programmed) during manufacture or in the laboratory.</a:t>
            </a:r>
          </a:p>
          <a:p>
            <a:pPr lvl="2">
              <a:spcAft>
                <a:spcPts val="1200"/>
              </a:spcAft>
            </a:pPr>
            <a:r>
              <a:rPr lang="en-US" dirty="0"/>
              <a:t>Examples: ROM, PROM, EPROM, EEPROM.</a:t>
            </a:r>
          </a:p>
          <a:p>
            <a:pPr lvl="1"/>
            <a:r>
              <a:rPr lang="en-US" i="1" dirty="0">
                <a:solidFill>
                  <a:srgbClr val="C00000"/>
                </a:solidFill>
              </a:rPr>
              <a:t>Random Access Memory </a:t>
            </a:r>
            <a:r>
              <a:rPr lang="en-US" dirty="0"/>
              <a:t>(RAM) is one where data access time is the same independent of the location (address).</a:t>
            </a:r>
          </a:p>
          <a:p>
            <a:pPr lvl="2"/>
            <a:r>
              <a:rPr lang="en-US" dirty="0"/>
              <a:t>Can be read as well as written.</a:t>
            </a:r>
          </a:p>
          <a:p>
            <a:pPr lvl="2"/>
            <a:r>
              <a:rPr lang="en-US" dirty="0"/>
              <a:t>Used in main / cache memory systems.</a:t>
            </a:r>
          </a:p>
          <a:p>
            <a:pPr lvl="2"/>
            <a:r>
              <a:rPr lang="en-US" dirty="0"/>
              <a:t>Example: </a:t>
            </a:r>
            <a:r>
              <a:rPr lang="en-US" i="1" dirty="0">
                <a:solidFill>
                  <a:srgbClr val="C00000"/>
                </a:solidFill>
              </a:rPr>
              <a:t>Static RAM </a:t>
            </a:r>
            <a:r>
              <a:rPr lang="en-US" dirty="0"/>
              <a:t>(SRAM) </a:t>
            </a:r>
            <a:r>
              <a:rPr lang="en-US" dirty="0">
                <a:sym typeface="Wingdings"/>
              </a:rPr>
              <a:t> data once written are retained as long as power is on.</a:t>
            </a:r>
          </a:p>
          <a:p>
            <a:pPr lvl="2"/>
            <a:r>
              <a:rPr lang="en-US" dirty="0">
                <a:sym typeface="Wingdings"/>
              </a:rPr>
              <a:t>Example: </a:t>
            </a:r>
            <a:r>
              <a:rPr lang="en-US" i="1" dirty="0">
                <a:solidFill>
                  <a:srgbClr val="C00000"/>
                </a:solidFill>
                <a:sym typeface="Wingdings"/>
              </a:rPr>
              <a:t>Dynamic RAM </a:t>
            </a:r>
            <a:r>
              <a:rPr lang="en-US" dirty="0">
                <a:sym typeface="Wingdings"/>
              </a:rPr>
              <a:t>(DRAM)  requires periodic refreshing even when power is on (data stored as charge on tiny capacitors).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827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Time, Latency and Bandwidth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Terminologies used to measure speed of the memory system.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IN" sz="2000" b="1" dirty="0">
                <a:solidFill>
                  <a:srgbClr val="C00000"/>
                </a:solidFill>
              </a:rPr>
              <a:t>Memory Access Time</a:t>
            </a:r>
            <a:r>
              <a:rPr lang="en-IN" sz="2000" dirty="0"/>
              <a:t>: Time between initiation of an operation (Read or Write) and completion of that operation.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IN" sz="2000" b="1" dirty="0">
                <a:solidFill>
                  <a:srgbClr val="C00000"/>
                </a:solidFill>
              </a:rPr>
              <a:t>Latency</a:t>
            </a:r>
            <a:r>
              <a:rPr lang="en-IN" sz="2000" dirty="0"/>
              <a:t>: Initial delay from the initiation of an operation to the time the first data is available.</a:t>
            </a:r>
          </a:p>
          <a:p>
            <a:pPr marL="914400" lvl="1" indent="-457200">
              <a:spcAft>
                <a:spcPts val="1200"/>
              </a:spcAft>
              <a:buFont typeface="+mj-lt"/>
              <a:buAutoNum type="alphaLcParenR"/>
            </a:pPr>
            <a:r>
              <a:rPr lang="en-IN" sz="2000" b="1" dirty="0">
                <a:solidFill>
                  <a:srgbClr val="C00000"/>
                </a:solidFill>
              </a:rPr>
              <a:t>Bandwidth</a:t>
            </a:r>
            <a:r>
              <a:rPr lang="en-IN" sz="2000" dirty="0"/>
              <a:t>: Maximum speed of data transfer in bytes per second.</a:t>
            </a:r>
          </a:p>
          <a:p>
            <a:r>
              <a:rPr lang="en-IN" sz="2400" dirty="0"/>
              <a:t>In modern memory organizations, every read request reads a block of words into some high-speed registers (</a:t>
            </a:r>
            <a:r>
              <a:rPr lang="en-IN" sz="2400" i="1" dirty="0">
                <a:solidFill>
                  <a:srgbClr val="C00000"/>
                </a:solidFill>
              </a:rPr>
              <a:t>LATENCY</a:t>
            </a:r>
            <a:r>
              <a:rPr lang="en-IN" sz="2400" dirty="0"/>
              <a:t>), from where data are supplied to the processor one by one (</a:t>
            </a:r>
            <a:r>
              <a:rPr lang="en-IN" sz="2400" i="1" dirty="0">
                <a:solidFill>
                  <a:srgbClr val="C00000"/>
                </a:solidFill>
              </a:rPr>
              <a:t>ACCESS TIME</a:t>
            </a:r>
            <a:r>
              <a:rPr lang="en-IN" sz="2400" dirty="0"/>
              <a:t>).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799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Design Issue of Memory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600202"/>
            <a:ext cx="4775200" cy="4165599"/>
          </a:xfrm>
        </p:spPr>
        <p:txBody>
          <a:bodyPr/>
          <a:lstStyle/>
          <a:p>
            <a:pPr marL="234945" indent="-234945">
              <a:spcBef>
                <a:spcPts val="0"/>
              </a:spcBef>
            </a:pPr>
            <a:r>
              <a:rPr lang="en-IN" sz="2400" dirty="0"/>
              <a:t>The most important issue is to bridge the processor-memory gap that has been widening with every passing year.</a:t>
            </a:r>
          </a:p>
          <a:p>
            <a:pPr marL="768331" lvl="1" indent="-234945">
              <a:spcBef>
                <a:spcPts val="0"/>
              </a:spcBef>
            </a:pPr>
            <a:r>
              <a:rPr lang="en-IN" sz="2000" dirty="0"/>
              <a:t>Advancements in memory technology are unable to cope with faster advancements in processor technology.</a:t>
            </a:r>
          </a:p>
          <a:p>
            <a:pPr marL="609585" lvl="1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592505"/>
            <a:ext cx="6807200" cy="4071695"/>
          </a:xfrm>
          <a:prstGeom prst="rect">
            <a:avLst/>
          </a:prstGeom>
          <a:ln w="25400">
            <a:solidFill>
              <a:srgbClr val="800000"/>
            </a:solidFill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156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important questions?</a:t>
            </a:r>
          </a:p>
          <a:p>
            <a:pPr lvl="1"/>
            <a:r>
              <a:rPr lang="en-US" dirty="0"/>
              <a:t>How to make the memory system work faster?</a:t>
            </a:r>
          </a:p>
          <a:p>
            <a:pPr lvl="1"/>
            <a:r>
              <a:rPr lang="en-US" dirty="0"/>
              <a:t>How to increase the data transfer rate between CPU and memory?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How to address the ever increasing storage needs of applications?</a:t>
            </a:r>
          </a:p>
          <a:p>
            <a:r>
              <a:rPr lang="en-US" dirty="0"/>
              <a:t>Some possible solutions: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Cache Memory</a:t>
            </a:r>
            <a:r>
              <a:rPr lang="en-US" dirty="0"/>
              <a:t>: to increase the effective speed of the memory system.</a:t>
            </a:r>
          </a:p>
          <a:p>
            <a:pPr lvl="1"/>
            <a:r>
              <a:rPr lang="en-US" b="1" dirty="0">
                <a:solidFill>
                  <a:srgbClr val="C00000"/>
                </a:solidFill>
              </a:rPr>
              <a:t>Virtual Memory</a:t>
            </a:r>
            <a:r>
              <a:rPr lang="en-US" dirty="0"/>
              <a:t>: to increase the effective size of the memory system.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3083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What is Cache Memory?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600202"/>
            <a:ext cx="5486400" cy="4659196"/>
          </a:xfrm>
        </p:spPr>
        <p:txBody>
          <a:bodyPr>
            <a:normAutofit/>
          </a:bodyPr>
          <a:lstStyle/>
          <a:p>
            <a:pPr marL="351358" indent="-351358"/>
            <a:r>
              <a:rPr lang="en-IN" sz="2400" dirty="0"/>
              <a:t>It is a fast memory (possibly organized in several levels) that sits between processor and main memory.</a:t>
            </a:r>
          </a:p>
          <a:p>
            <a:pPr marL="808558" lvl="1" indent="-351358"/>
            <a:r>
              <a:rPr lang="en-IN" sz="2000" dirty="0"/>
              <a:t>Faster than main memory and relatively small in capacity.</a:t>
            </a:r>
          </a:p>
          <a:p>
            <a:pPr marL="808558" lvl="1" indent="-351358"/>
            <a:r>
              <a:rPr lang="en-IN" sz="2000" dirty="0"/>
              <a:t>Frequently accessed data and instructions are stored here.</a:t>
            </a:r>
          </a:p>
          <a:p>
            <a:pPr marL="808558" lvl="1" indent="-351358"/>
            <a:r>
              <a:rPr lang="en-IN" sz="2000" dirty="0"/>
              <a:t>Cache memory makes use of the fast SRAM technology.</a:t>
            </a:r>
          </a:p>
          <a:p>
            <a:pPr marL="808558" lvl="1" indent="-351358"/>
            <a:r>
              <a:rPr lang="en-IN" sz="2000" dirty="0"/>
              <a:t>Typically there are multiple levels of cache memory (L-1, L-2, L-3).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197600" y="2819400"/>
            <a:ext cx="1117600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7" dirty="0">
                <a:solidFill>
                  <a:srgbClr val="000090"/>
                </a:solidFill>
              </a:rPr>
              <a:t>CPU</a:t>
            </a:r>
          </a:p>
        </p:txBody>
      </p:sp>
      <p:sp>
        <p:nvSpPr>
          <p:cNvPr id="8" name="Rectangle 7"/>
          <p:cNvSpPr/>
          <p:nvPr/>
        </p:nvSpPr>
        <p:spPr>
          <a:xfrm>
            <a:off x="9042400" y="2413000"/>
            <a:ext cx="1219200" cy="1625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90"/>
                </a:solidFill>
              </a:rPr>
              <a:t>Level-2 Cache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64800" y="1803400"/>
            <a:ext cx="1524000" cy="314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7" dirty="0">
                <a:solidFill>
                  <a:srgbClr val="000090"/>
                </a:solidFill>
              </a:rPr>
              <a:t>Main Memory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0" y="2717800"/>
            <a:ext cx="12192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90"/>
                </a:solidFill>
              </a:rPr>
              <a:t>Level-1 Cache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589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What is Virtual Memory?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8600"/>
            <a:ext cx="5689600" cy="4165601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IN" sz="2400" dirty="0"/>
              <a:t>Technique used by the operating system to provide an illusion of very large memory to the processor.</a:t>
            </a:r>
          </a:p>
          <a:p>
            <a:pPr lvl="1">
              <a:spcAft>
                <a:spcPts val="1200"/>
              </a:spcAft>
            </a:pPr>
            <a:r>
              <a:rPr lang="en-IN" sz="2000" dirty="0"/>
              <a:t>Program and data are actually stored on secondary memory that is much larger.</a:t>
            </a:r>
          </a:p>
          <a:p>
            <a:pPr lvl="1"/>
            <a:r>
              <a:rPr lang="en-IN" sz="2000" dirty="0"/>
              <a:t>Transfer parts of program and data from secondary memory to main memory only when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2311400"/>
            <a:ext cx="1422400" cy="2133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7" dirty="0">
                <a:solidFill>
                  <a:srgbClr val="000090"/>
                </a:solidFill>
              </a:rPr>
              <a:t>Main Memory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502400" y="2717800"/>
            <a:ext cx="1219200" cy="1016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000090"/>
                </a:solidFill>
              </a:rPr>
              <a:t>CPU</a:t>
            </a:r>
          </a:p>
        </p:txBody>
      </p:sp>
      <p:sp>
        <p:nvSpPr>
          <p:cNvPr id="8" name="Magnetic Disk 7"/>
          <p:cNvSpPr/>
          <p:nvPr/>
        </p:nvSpPr>
        <p:spPr>
          <a:xfrm>
            <a:off x="10160000" y="1498600"/>
            <a:ext cx="1828800" cy="3759200"/>
          </a:xfrm>
          <a:prstGeom prst="flowChartMagneticDisk">
            <a:avLst/>
          </a:prstGeom>
          <a:solidFill>
            <a:schemeClr val="accent5">
              <a:lumMod val="20000"/>
              <a:lumOff val="80000"/>
            </a:schemeClr>
          </a:solidFill>
          <a:ln w="254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67" dirty="0">
                <a:solidFill>
                  <a:srgbClr val="000090"/>
                </a:solidFill>
              </a:rPr>
              <a:t>Secondary Memory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484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How does a Memory Chip look </a:t>
            </a:r>
            <a:r>
              <a:rPr lang="en-IN" dirty="0"/>
              <a:t>l</a:t>
            </a:r>
            <a:r>
              <a:rPr lang="en-IN" b="1" dirty="0"/>
              <a:t>ike?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5016"/>
            <a:ext cx="4978400" cy="4572000"/>
          </a:xfrm>
        </p:spPr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en-IN" sz="2400" dirty="0"/>
              <a:t>Memory cells are organized in the form of an array.</a:t>
            </a:r>
          </a:p>
          <a:p>
            <a:pPr>
              <a:spcAft>
                <a:spcPts val="1000"/>
              </a:spcAft>
            </a:pPr>
            <a:r>
              <a:rPr lang="en-IN" sz="2400" dirty="0"/>
              <a:t>Every memory cell holds one bit of data.</a:t>
            </a:r>
          </a:p>
          <a:p>
            <a:pPr>
              <a:spcAft>
                <a:spcPts val="1000"/>
              </a:spcAft>
            </a:pPr>
            <a:r>
              <a:rPr lang="en-IN" sz="2400" dirty="0"/>
              <a:t>Present-day VLSI technology allows one to pack billions of bits per chip.</a:t>
            </a:r>
          </a:p>
          <a:p>
            <a:pPr>
              <a:spcAft>
                <a:spcPts val="1000"/>
              </a:spcAft>
            </a:pPr>
            <a:r>
              <a:rPr lang="en-IN" sz="2400" dirty="0"/>
              <a:t>A memory module used in computers typically contains several such chips.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200" y="1803401"/>
            <a:ext cx="5283200" cy="2772017"/>
          </a:xfrm>
          <a:prstGeom prst="rect">
            <a:avLst/>
          </a:prstGeom>
          <a:ln w="25400">
            <a:solidFill>
              <a:srgbClr val="800000"/>
            </a:solidFill>
          </a:ln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0755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Title 491"/>
          <p:cNvSpPr>
            <a:spLocks noGrp="1"/>
          </p:cNvSpPr>
          <p:nvPr>
            <p:ph type="title"/>
          </p:nvPr>
        </p:nvSpPr>
        <p:spPr>
          <a:xfrm>
            <a:off x="323708" y="151903"/>
            <a:ext cx="11828941" cy="1143000"/>
          </a:xfrm>
        </p:spPr>
        <p:txBody>
          <a:bodyPr>
            <a:normAutofit/>
          </a:bodyPr>
          <a:lstStyle/>
          <a:p>
            <a:r>
              <a:rPr lang="en-IN" b="1" dirty="0"/>
              <a:t>Organization of Cells in an 8 x 4 Memory Chip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914400" y="1453308"/>
            <a:ext cx="10871200" cy="4744307"/>
            <a:chOff x="914400" y="1092200"/>
            <a:chExt cx="10871200" cy="4744307"/>
          </a:xfrm>
        </p:grpSpPr>
        <p:grpSp>
          <p:nvGrpSpPr>
            <p:cNvPr id="491" name="Group 490"/>
            <p:cNvGrpSpPr/>
            <p:nvPr/>
          </p:nvGrpSpPr>
          <p:grpSpPr>
            <a:xfrm>
              <a:off x="914400" y="1234280"/>
              <a:ext cx="8428485" cy="4373033"/>
              <a:chOff x="609600" y="438150"/>
              <a:chExt cx="6930964" cy="3736975"/>
            </a:xfrm>
          </p:grpSpPr>
          <p:cxnSp>
            <p:nvCxnSpPr>
              <p:cNvPr id="11" name="Straight Arrow Connector 10"/>
              <p:cNvCxnSpPr/>
              <p:nvPr/>
            </p:nvCxnSpPr>
            <p:spPr>
              <a:xfrm>
                <a:off x="1066800" y="2149464"/>
                <a:ext cx="457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>
                <a:off x="1066800" y="2454264"/>
                <a:ext cx="457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>
                <a:off x="1066800" y="2797971"/>
                <a:ext cx="457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>
              <a:xfrm>
                <a:off x="609600" y="1962150"/>
                <a:ext cx="457200" cy="3593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N" sz="2133" b="1" dirty="0"/>
                  <a:t>A</a:t>
                </a:r>
                <a:r>
                  <a:rPr lang="en-IN" sz="2133" b="1" baseline="-25000" dirty="0"/>
                  <a:t>0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09600" y="2266950"/>
                <a:ext cx="457200" cy="3593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N" sz="2133" b="1" dirty="0"/>
                  <a:t>A</a:t>
                </a:r>
                <a:r>
                  <a:rPr lang="en-IN" sz="2133" b="1" baseline="-25000" dirty="0"/>
                  <a:t>1</a:t>
                </a:r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609600" y="2571750"/>
                <a:ext cx="457200" cy="3593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N" sz="2133" b="1" dirty="0"/>
                  <a:t>A</a:t>
                </a:r>
                <a:r>
                  <a:rPr lang="en-IN" sz="2133" b="1" baseline="-25000" dirty="0"/>
                  <a:t>2</a:t>
                </a:r>
              </a:p>
            </p:txBody>
          </p:sp>
          <p:sp>
            <p:nvSpPr>
              <p:cNvPr id="272" name="Rectangle 271"/>
              <p:cNvSpPr/>
              <p:nvPr/>
            </p:nvSpPr>
            <p:spPr>
              <a:xfrm>
                <a:off x="3505200" y="438150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4" name="Rectangle 273"/>
              <p:cNvSpPr/>
              <p:nvPr/>
            </p:nvSpPr>
            <p:spPr>
              <a:xfrm>
                <a:off x="4648200" y="438150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7" name="Rectangle 276"/>
              <p:cNvSpPr/>
              <p:nvPr/>
            </p:nvSpPr>
            <p:spPr>
              <a:xfrm>
                <a:off x="5791200" y="438150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8" name="Rectangle 277"/>
              <p:cNvSpPr/>
              <p:nvPr/>
            </p:nvSpPr>
            <p:spPr>
              <a:xfrm>
                <a:off x="6934200" y="438150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80" name="Straight Connector 279"/>
              <p:cNvCxnSpPr/>
              <p:nvPr/>
            </p:nvCxnSpPr>
            <p:spPr>
              <a:xfrm>
                <a:off x="3124200" y="742950"/>
                <a:ext cx="3924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2" name="Straight Connector 281"/>
              <p:cNvCxnSpPr>
                <a:endCxn id="278" idx="2"/>
              </p:cNvCxnSpPr>
              <p:nvPr/>
            </p:nvCxnSpPr>
            <p:spPr>
              <a:xfrm flipV="1">
                <a:off x="7048500" y="666750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4" name="Straight Connector 283"/>
              <p:cNvCxnSpPr>
                <a:stCxn id="277" idx="2"/>
              </p:cNvCxnSpPr>
              <p:nvPr/>
            </p:nvCxnSpPr>
            <p:spPr>
              <a:xfrm>
                <a:off x="5905500" y="666750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6" name="Straight Connector 285"/>
              <p:cNvCxnSpPr>
                <a:stCxn id="274" idx="2"/>
              </p:cNvCxnSpPr>
              <p:nvPr/>
            </p:nvCxnSpPr>
            <p:spPr>
              <a:xfrm>
                <a:off x="4762500" y="666750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/>
              <p:cNvCxnSpPr>
                <a:stCxn id="272" idx="2"/>
              </p:cNvCxnSpPr>
              <p:nvPr/>
            </p:nvCxnSpPr>
            <p:spPr>
              <a:xfrm>
                <a:off x="3619500" y="666750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/>
              <p:cNvCxnSpPr>
                <a:stCxn id="272" idx="1"/>
              </p:cNvCxnSpPr>
              <p:nvPr/>
            </p:nvCxnSpPr>
            <p:spPr>
              <a:xfrm flipH="1">
                <a:off x="3429000" y="552450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/>
              <p:cNvCxnSpPr/>
              <p:nvPr/>
            </p:nvCxnSpPr>
            <p:spPr>
              <a:xfrm flipH="1">
                <a:off x="3733800" y="552450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/>
              <p:cNvCxnSpPr/>
              <p:nvPr/>
            </p:nvCxnSpPr>
            <p:spPr>
              <a:xfrm flipH="1">
                <a:off x="4572000" y="552450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/>
              <p:cNvCxnSpPr/>
              <p:nvPr/>
            </p:nvCxnSpPr>
            <p:spPr>
              <a:xfrm flipH="1">
                <a:off x="4876800" y="552450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/>
              <p:cNvCxnSpPr/>
              <p:nvPr/>
            </p:nvCxnSpPr>
            <p:spPr>
              <a:xfrm flipH="1">
                <a:off x="5715000" y="546100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/>
              <p:cNvCxnSpPr/>
              <p:nvPr/>
            </p:nvCxnSpPr>
            <p:spPr>
              <a:xfrm flipH="1">
                <a:off x="6019800" y="546100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9" name="Straight Connector 298"/>
              <p:cNvCxnSpPr/>
              <p:nvPr/>
            </p:nvCxnSpPr>
            <p:spPr>
              <a:xfrm flipH="1">
                <a:off x="6858000" y="552450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/>
              <p:cNvCxnSpPr/>
              <p:nvPr/>
            </p:nvCxnSpPr>
            <p:spPr>
              <a:xfrm flipH="1">
                <a:off x="7162800" y="552450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1" name="Rectangle 300"/>
              <p:cNvSpPr/>
              <p:nvPr/>
            </p:nvSpPr>
            <p:spPr>
              <a:xfrm>
                <a:off x="3505200" y="854074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2" name="Rectangle 301"/>
              <p:cNvSpPr/>
              <p:nvPr/>
            </p:nvSpPr>
            <p:spPr>
              <a:xfrm>
                <a:off x="4648200" y="854074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3" name="Rectangle 302"/>
              <p:cNvSpPr/>
              <p:nvPr/>
            </p:nvSpPr>
            <p:spPr>
              <a:xfrm>
                <a:off x="5791200" y="854074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4" name="Rectangle 303"/>
              <p:cNvSpPr/>
              <p:nvPr/>
            </p:nvSpPr>
            <p:spPr>
              <a:xfrm>
                <a:off x="6934200" y="854074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1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05" name="Straight Connector 304"/>
              <p:cNvCxnSpPr/>
              <p:nvPr/>
            </p:nvCxnSpPr>
            <p:spPr>
              <a:xfrm>
                <a:off x="3124200" y="1158874"/>
                <a:ext cx="3924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6" name="Straight Connector 305"/>
              <p:cNvCxnSpPr>
                <a:endCxn id="304" idx="2"/>
              </p:cNvCxnSpPr>
              <p:nvPr/>
            </p:nvCxnSpPr>
            <p:spPr>
              <a:xfrm flipV="1">
                <a:off x="7048500" y="1082674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7" name="Straight Connector 306"/>
              <p:cNvCxnSpPr>
                <a:stCxn id="303" idx="2"/>
              </p:cNvCxnSpPr>
              <p:nvPr/>
            </p:nvCxnSpPr>
            <p:spPr>
              <a:xfrm>
                <a:off x="5905500" y="1082674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8" name="Straight Connector 307"/>
              <p:cNvCxnSpPr>
                <a:stCxn id="302" idx="2"/>
              </p:cNvCxnSpPr>
              <p:nvPr/>
            </p:nvCxnSpPr>
            <p:spPr>
              <a:xfrm>
                <a:off x="4762500" y="1082674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9" name="Straight Connector 308"/>
              <p:cNvCxnSpPr>
                <a:stCxn id="301" idx="2"/>
              </p:cNvCxnSpPr>
              <p:nvPr/>
            </p:nvCxnSpPr>
            <p:spPr>
              <a:xfrm>
                <a:off x="3619500" y="1082674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0" name="Straight Connector 309"/>
              <p:cNvCxnSpPr>
                <a:stCxn id="301" idx="1"/>
              </p:cNvCxnSpPr>
              <p:nvPr/>
            </p:nvCxnSpPr>
            <p:spPr>
              <a:xfrm flipH="1">
                <a:off x="3429000" y="968374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1" name="Straight Connector 310"/>
              <p:cNvCxnSpPr/>
              <p:nvPr/>
            </p:nvCxnSpPr>
            <p:spPr>
              <a:xfrm flipH="1">
                <a:off x="3733800" y="968374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Straight Connector 311"/>
              <p:cNvCxnSpPr/>
              <p:nvPr/>
            </p:nvCxnSpPr>
            <p:spPr>
              <a:xfrm flipH="1">
                <a:off x="4572000" y="968374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3" name="Straight Connector 312"/>
              <p:cNvCxnSpPr/>
              <p:nvPr/>
            </p:nvCxnSpPr>
            <p:spPr>
              <a:xfrm flipH="1">
                <a:off x="4876800" y="968374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4" name="Straight Connector 313"/>
              <p:cNvCxnSpPr/>
              <p:nvPr/>
            </p:nvCxnSpPr>
            <p:spPr>
              <a:xfrm flipH="1">
                <a:off x="5715000" y="962024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5" name="Straight Connector 314"/>
              <p:cNvCxnSpPr/>
              <p:nvPr/>
            </p:nvCxnSpPr>
            <p:spPr>
              <a:xfrm flipH="1">
                <a:off x="6019800" y="962024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6" name="Straight Connector 315"/>
              <p:cNvCxnSpPr/>
              <p:nvPr/>
            </p:nvCxnSpPr>
            <p:spPr>
              <a:xfrm flipH="1">
                <a:off x="6858000" y="968374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7" name="Straight Connector 316"/>
              <p:cNvCxnSpPr/>
              <p:nvPr/>
            </p:nvCxnSpPr>
            <p:spPr>
              <a:xfrm flipH="1">
                <a:off x="7162800" y="968374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8" name="Rectangle 317"/>
              <p:cNvSpPr/>
              <p:nvPr/>
            </p:nvSpPr>
            <p:spPr>
              <a:xfrm>
                <a:off x="3514725" y="1269997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9" name="Rectangle 318"/>
              <p:cNvSpPr/>
              <p:nvPr/>
            </p:nvSpPr>
            <p:spPr>
              <a:xfrm>
                <a:off x="4657725" y="1269997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0" name="Rectangle 319"/>
              <p:cNvSpPr/>
              <p:nvPr/>
            </p:nvSpPr>
            <p:spPr>
              <a:xfrm>
                <a:off x="5800725" y="1269997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1" name="Rectangle 320"/>
              <p:cNvSpPr/>
              <p:nvPr/>
            </p:nvSpPr>
            <p:spPr>
              <a:xfrm>
                <a:off x="6943725" y="1269997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22" name="Straight Connector 321"/>
              <p:cNvCxnSpPr/>
              <p:nvPr/>
            </p:nvCxnSpPr>
            <p:spPr>
              <a:xfrm>
                <a:off x="3133725" y="1574797"/>
                <a:ext cx="3924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Straight Connector 322"/>
              <p:cNvCxnSpPr>
                <a:endCxn id="321" idx="2"/>
              </p:cNvCxnSpPr>
              <p:nvPr/>
            </p:nvCxnSpPr>
            <p:spPr>
              <a:xfrm flipV="1">
                <a:off x="7058025" y="1498597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Straight Connector 323"/>
              <p:cNvCxnSpPr>
                <a:stCxn id="320" idx="2"/>
              </p:cNvCxnSpPr>
              <p:nvPr/>
            </p:nvCxnSpPr>
            <p:spPr>
              <a:xfrm>
                <a:off x="5915025" y="1498597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5" name="Straight Connector 324"/>
              <p:cNvCxnSpPr>
                <a:stCxn id="319" idx="2"/>
              </p:cNvCxnSpPr>
              <p:nvPr/>
            </p:nvCxnSpPr>
            <p:spPr>
              <a:xfrm>
                <a:off x="4772025" y="1498597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6" name="Straight Connector 325"/>
              <p:cNvCxnSpPr>
                <a:stCxn id="318" idx="2"/>
              </p:cNvCxnSpPr>
              <p:nvPr/>
            </p:nvCxnSpPr>
            <p:spPr>
              <a:xfrm>
                <a:off x="3629025" y="1498597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7" name="Straight Connector 326"/>
              <p:cNvCxnSpPr>
                <a:stCxn id="318" idx="1"/>
              </p:cNvCxnSpPr>
              <p:nvPr/>
            </p:nvCxnSpPr>
            <p:spPr>
              <a:xfrm flipH="1">
                <a:off x="3438525" y="1384297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8" name="Straight Connector 327"/>
              <p:cNvCxnSpPr/>
              <p:nvPr/>
            </p:nvCxnSpPr>
            <p:spPr>
              <a:xfrm flipH="1">
                <a:off x="3743325" y="1384297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9" name="Straight Connector 328"/>
              <p:cNvCxnSpPr/>
              <p:nvPr/>
            </p:nvCxnSpPr>
            <p:spPr>
              <a:xfrm flipH="1">
                <a:off x="4581525" y="1384297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0" name="Straight Connector 329"/>
              <p:cNvCxnSpPr/>
              <p:nvPr/>
            </p:nvCxnSpPr>
            <p:spPr>
              <a:xfrm flipH="1">
                <a:off x="4886325" y="1384297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1" name="Straight Connector 330"/>
              <p:cNvCxnSpPr/>
              <p:nvPr/>
            </p:nvCxnSpPr>
            <p:spPr>
              <a:xfrm flipH="1">
                <a:off x="5724525" y="1377947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2" name="Straight Connector 331"/>
              <p:cNvCxnSpPr/>
              <p:nvPr/>
            </p:nvCxnSpPr>
            <p:spPr>
              <a:xfrm flipH="1">
                <a:off x="6029325" y="1377947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3" name="Straight Connector 332"/>
              <p:cNvCxnSpPr/>
              <p:nvPr/>
            </p:nvCxnSpPr>
            <p:spPr>
              <a:xfrm flipH="1">
                <a:off x="6867525" y="1384297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4" name="Straight Connector 333"/>
              <p:cNvCxnSpPr/>
              <p:nvPr/>
            </p:nvCxnSpPr>
            <p:spPr>
              <a:xfrm flipH="1">
                <a:off x="7172325" y="1384297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5" name="Rectangle 334"/>
              <p:cNvSpPr/>
              <p:nvPr/>
            </p:nvSpPr>
            <p:spPr>
              <a:xfrm>
                <a:off x="3514725" y="1717671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6" name="Rectangle 335"/>
              <p:cNvSpPr/>
              <p:nvPr/>
            </p:nvSpPr>
            <p:spPr>
              <a:xfrm>
                <a:off x="4657725" y="1717671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7" name="Rectangle 336"/>
              <p:cNvSpPr/>
              <p:nvPr/>
            </p:nvSpPr>
            <p:spPr>
              <a:xfrm>
                <a:off x="5800725" y="1717671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8" name="Rectangle 337"/>
              <p:cNvSpPr/>
              <p:nvPr/>
            </p:nvSpPr>
            <p:spPr>
              <a:xfrm>
                <a:off x="6943725" y="1717671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39" name="Straight Connector 338"/>
              <p:cNvCxnSpPr/>
              <p:nvPr/>
            </p:nvCxnSpPr>
            <p:spPr>
              <a:xfrm>
                <a:off x="3133725" y="2022471"/>
                <a:ext cx="3924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/>
              <p:cNvCxnSpPr>
                <a:endCxn id="338" idx="2"/>
              </p:cNvCxnSpPr>
              <p:nvPr/>
            </p:nvCxnSpPr>
            <p:spPr>
              <a:xfrm flipV="1">
                <a:off x="7058025" y="1946271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1" name="Straight Connector 340"/>
              <p:cNvCxnSpPr>
                <a:stCxn id="337" idx="2"/>
              </p:cNvCxnSpPr>
              <p:nvPr/>
            </p:nvCxnSpPr>
            <p:spPr>
              <a:xfrm>
                <a:off x="5915025" y="1946271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2" name="Straight Connector 341"/>
              <p:cNvCxnSpPr>
                <a:stCxn id="336" idx="2"/>
              </p:cNvCxnSpPr>
              <p:nvPr/>
            </p:nvCxnSpPr>
            <p:spPr>
              <a:xfrm>
                <a:off x="4772025" y="1946271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Straight Connector 342"/>
              <p:cNvCxnSpPr>
                <a:stCxn id="335" idx="2"/>
              </p:cNvCxnSpPr>
              <p:nvPr/>
            </p:nvCxnSpPr>
            <p:spPr>
              <a:xfrm>
                <a:off x="3629025" y="1946271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4" name="Straight Connector 343"/>
              <p:cNvCxnSpPr>
                <a:stCxn id="335" idx="1"/>
              </p:cNvCxnSpPr>
              <p:nvPr/>
            </p:nvCxnSpPr>
            <p:spPr>
              <a:xfrm flipH="1">
                <a:off x="3438525" y="1831971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5" name="Straight Connector 344"/>
              <p:cNvCxnSpPr/>
              <p:nvPr/>
            </p:nvCxnSpPr>
            <p:spPr>
              <a:xfrm flipH="1">
                <a:off x="3743325" y="1831971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6" name="Straight Connector 345"/>
              <p:cNvCxnSpPr/>
              <p:nvPr/>
            </p:nvCxnSpPr>
            <p:spPr>
              <a:xfrm flipH="1">
                <a:off x="4581525" y="1831971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" name="Straight Connector 346"/>
              <p:cNvCxnSpPr/>
              <p:nvPr/>
            </p:nvCxnSpPr>
            <p:spPr>
              <a:xfrm flipH="1">
                <a:off x="4886325" y="1831971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Straight Connector 347"/>
              <p:cNvCxnSpPr/>
              <p:nvPr/>
            </p:nvCxnSpPr>
            <p:spPr>
              <a:xfrm flipH="1">
                <a:off x="5724525" y="1825621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" name="Straight Connector 348"/>
              <p:cNvCxnSpPr/>
              <p:nvPr/>
            </p:nvCxnSpPr>
            <p:spPr>
              <a:xfrm flipH="1">
                <a:off x="6029325" y="1825621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0" name="Straight Connector 349"/>
              <p:cNvCxnSpPr/>
              <p:nvPr/>
            </p:nvCxnSpPr>
            <p:spPr>
              <a:xfrm flipH="1">
                <a:off x="6867525" y="1831971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1" name="Straight Connector 350"/>
              <p:cNvCxnSpPr/>
              <p:nvPr/>
            </p:nvCxnSpPr>
            <p:spPr>
              <a:xfrm flipH="1">
                <a:off x="7172325" y="1831971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2" name="Rectangle 351"/>
              <p:cNvSpPr/>
              <p:nvPr/>
            </p:nvSpPr>
            <p:spPr>
              <a:xfrm>
                <a:off x="3514725" y="2149464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3" name="Rectangle 352"/>
              <p:cNvSpPr/>
              <p:nvPr/>
            </p:nvSpPr>
            <p:spPr>
              <a:xfrm>
                <a:off x="4657725" y="2149464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4" name="Rectangle 353"/>
              <p:cNvSpPr/>
              <p:nvPr/>
            </p:nvSpPr>
            <p:spPr>
              <a:xfrm>
                <a:off x="5800725" y="2149464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5" name="Rectangle 354"/>
              <p:cNvSpPr/>
              <p:nvPr/>
            </p:nvSpPr>
            <p:spPr>
              <a:xfrm>
                <a:off x="6943725" y="2149464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56" name="Straight Connector 355"/>
              <p:cNvCxnSpPr/>
              <p:nvPr/>
            </p:nvCxnSpPr>
            <p:spPr>
              <a:xfrm>
                <a:off x="3133725" y="2454264"/>
                <a:ext cx="3924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356"/>
              <p:cNvCxnSpPr>
                <a:endCxn id="355" idx="2"/>
              </p:cNvCxnSpPr>
              <p:nvPr/>
            </p:nvCxnSpPr>
            <p:spPr>
              <a:xfrm flipV="1">
                <a:off x="7058025" y="2378064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Straight Connector 357"/>
              <p:cNvCxnSpPr>
                <a:stCxn id="354" idx="2"/>
              </p:cNvCxnSpPr>
              <p:nvPr/>
            </p:nvCxnSpPr>
            <p:spPr>
              <a:xfrm>
                <a:off x="5915025" y="2378064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Connector 358"/>
              <p:cNvCxnSpPr>
                <a:stCxn id="353" idx="2"/>
              </p:cNvCxnSpPr>
              <p:nvPr/>
            </p:nvCxnSpPr>
            <p:spPr>
              <a:xfrm>
                <a:off x="4772025" y="2378064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359"/>
              <p:cNvCxnSpPr>
                <a:stCxn id="352" idx="2"/>
              </p:cNvCxnSpPr>
              <p:nvPr/>
            </p:nvCxnSpPr>
            <p:spPr>
              <a:xfrm>
                <a:off x="3629025" y="2378064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Straight Connector 360"/>
              <p:cNvCxnSpPr>
                <a:stCxn id="352" idx="1"/>
              </p:cNvCxnSpPr>
              <p:nvPr/>
            </p:nvCxnSpPr>
            <p:spPr>
              <a:xfrm flipH="1">
                <a:off x="3438525" y="2263764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361"/>
              <p:cNvCxnSpPr/>
              <p:nvPr/>
            </p:nvCxnSpPr>
            <p:spPr>
              <a:xfrm flipH="1">
                <a:off x="3743325" y="2263764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362"/>
              <p:cNvCxnSpPr/>
              <p:nvPr/>
            </p:nvCxnSpPr>
            <p:spPr>
              <a:xfrm flipH="1">
                <a:off x="4581525" y="2263764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363"/>
              <p:cNvCxnSpPr/>
              <p:nvPr/>
            </p:nvCxnSpPr>
            <p:spPr>
              <a:xfrm flipH="1">
                <a:off x="4886325" y="2263764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364"/>
              <p:cNvCxnSpPr/>
              <p:nvPr/>
            </p:nvCxnSpPr>
            <p:spPr>
              <a:xfrm flipH="1">
                <a:off x="5724525" y="2257414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365"/>
              <p:cNvCxnSpPr/>
              <p:nvPr/>
            </p:nvCxnSpPr>
            <p:spPr>
              <a:xfrm flipH="1">
                <a:off x="6029325" y="2257414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366"/>
              <p:cNvCxnSpPr/>
              <p:nvPr/>
            </p:nvCxnSpPr>
            <p:spPr>
              <a:xfrm flipH="1">
                <a:off x="6867525" y="2263764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Straight Connector 367"/>
              <p:cNvCxnSpPr/>
              <p:nvPr/>
            </p:nvCxnSpPr>
            <p:spPr>
              <a:xfrm flipH="1">
                <a:off x="7172325" y="2263764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9" name="Rectangle 368"/>
              <p:cNvSpPr/>
              <p:nvPr/>
            </p:nvSpPr>
            <p:spPr>
              <a:xfrm>
                <a:off x="3529012" y="2569371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0" name="Rectangle 369"/>
              <p:cNvSpPr/>
              <p:nvPr/>
            </p:nvSpPr>
            <p:spPr>
              <a:xfrm>
                <a:off x="4672012" y="2569371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1" name="Rectangle 370"/>
              <p:cNvSpPr/>
              <p:nvPr/>
            </p:nvSpPr>
            <p:spPr>
              <a:xfrm>
                <a:off x="5815012" y="2569371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2" name="Rectangle 371"/>
              <p:cNvSpPr/>
              <p:nvPr/>
            </p:nvSpPr>
            <p:spPr>
              <a:xfrm>
                <a:off x="6958012" y="2569371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73" name="Straight Connector 372"/>
              <p:cNvCxnSpPr/>
              <p:nvPr/>
            </p:nvCxnSpPr>
            <p:spPr>
              <a:xfrm>
                <a:off x="3148012" y="2874171"/>
                <a:ext cx="3924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373"/>
              <p:cNvCxnSpPr>
                <a:endCxn id="372" idx="2"/>
              </p:cNvCxnSpPr>
              <p:nvPr/>
            </p:nvCxnSpPr>
            <p:spPr>
              <a:xfrm flipV="1">
                <a:off x="7072312" y="2797971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374"/>
              <p:cNvCxnSpPr>
                <a:stCxn id="371" idx="2"/>
              </p:cNvCxnSpPr>
              <p:nvPr/>
            </p:nvCxnSpPr>
            <p:spPr>
              <a:xfrm>
                <a:off x="5929312" y="2797971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375"/>
              <p:cNvCxnSpPr>
                <a:stCxn id="370" idx="2"/>
              </p:cNvCxnSpPr>
              <p:nvPr/>
            </p:nvCxnSpPr>
            <p:spPr>
              <a:xfrm>
                <a:off x="4786312" y="2797971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376"/>
              <p:cNvCxnSpPr>
                <a:stCxn id="369" idx="2"/>
              </p:cNvCxnSpPr>
              <p:nvPr/>
            </p:nvCxnSpPr>
            <p:spPr>
              <a:xfrm>
                <a:off x="3643312" y="2797971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377"/>
              <p:cNvCxnSpPr>
                <a:stCxn id="369" idx="1"/>
              </p:cNvCxnSpPr>
              <p:nvPr/>
            </p:nvCxnSpPr>
            <p:spPr>
              <a:xfrm flipH="1">
                <a:off x="3452812" y="2683671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Straight Connector 378"/>
              <p:cNvCxnSpPr/>
              <p:nvPr/>
            </p:nvCxnSpPr>
            <p:spPr>
              <a:xfrm flipH="1">
                <a:off x="3757612" y="2683671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379"/>
              <p:cNvCxnSpPr/>
              <p:nvPr/>
            </p:nvCxnSpPr>
            <p:spPr>
              <a:xfrm flipH="1">
                <a:off x="4595812" y="2683671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1" name="Straight Connector 380"/>
              <p:cNvCxnSpPr/>
              <p:nvPr/>
            </p:nvCxnSpPr>
            <p:spPr>
              <a:xfrm flipH="1">
                <a:off x="4900612" y="2683671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Straight Connector 381"/>
              <p:cNvCxnSpPr/>
              <p:nvPr/>
            </p:nvCxnSpPr>
            <p:spPr>
              <a:xfrm flipH="1">
                <a:off x="5738812" y="2677321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Straight Connector 382"/>
              <p:cNvCxnSpPr/>
              <p:nvPr/>
            </p:nvCxnSpPr>
            <p:spPr>
              <a:xfrm flipH="1">
                <a:off x="6043612" y="2677321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Straight Connector 383"/>
              <p:cNvCxnSpPr/>
              <p:nvPr/>
            </p:nvCxnSpPr>
            <p:spPr>
              <a:xfrm flipH="1">
                <a:off x="6881812" y="2683671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Straight Connector 384"/>
              <p:cNvCxnSpPr/>
              <p:nvPr/>
            </p:nvCxnSpPr>
            <p:spPr>
              <a:xfrm flipH="1">
                <a:off x="7186612" y="2683671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5" name="Straight Connector 424"/>
              <p:cNvCxnSpPr/>
              <p:nvPr/>
            </p:nvCxnSpPr>
            <p:spPr>
              <a:xfrm>
                <a:off x="3814762" y="552450"/>
                <a:ext cx="19050" cy="33147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9" name="Rectangle 428"/>
              <p:cNvSpPr/>
              <p:nvPr/>
            </p:nvSpPr>
            <p:spPr>
              <a:xfrm>
                <a:off x="3529012" y="2984185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0" name="Rectangle 429"/>
              <p:cNvSpPr/>
              <p:nvPr/>
            </p:nvSpPr>
            <p:spPr>
              <a:xfrm>
                <a:off x="4672012" y="2984185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1" name="Rectangle 430"/>
              <p:cNvSpPr/>
              <p:nvPr/>
            </p:nvSpPr>
            <p:spPr>
              <a:xfrm>
                <a:off x="5815012" y="2984185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32" name="Rectangle 431"/>
              <p:cNvSpPr/>
              <p:nvPr/>
            </p:nvSpPr>
            <p:spPr>
              <a:xfrm>
                <a:off x="6958012" y="2984185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33" name="Straight Connector 432"/>
              <p:cNvCxnSpPr/>
              <p:nvPr/>
            </p:nvCxnSpPr>
            <p:spPr>
              <a:xfrm>
                <a:off x="3148012" y="3288985"/>
                <a:ext cx="3924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Straight Connector 433"/>
              <p:cNvCxnSpPr>
                <a:endCxn id="432" idx="2"/>
              </p:cNvCxnSpPr>
              <p:nvPr/>
            </p:nvCxnSpPr>
            <p:spPr>
              <a:xfrm flipV="1">
                <a:off x="7072312" y="3212785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5" name="Straight Connector 434"/>
              <p:cNvCxnSpPr>
                <a:stCxn id="431" idx="2"/>
              </p:cNvCxnSpPr>
              <p:nvPr/>
            </p:nvCxnSpPr>
            <p:spPr>
              <a:xfrm>
                <a:off x="5929312" y="3212785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6" name="Straight Connector 435"/>
              <p:cNvCxnSpPr>
                <a:stCxn id="430" idx="2"/>
              </p:cNvCxnSpPr>
              <p:nvPr/>
            </p:nvCxnSpPr>
            <p:spPr>
              <a:xfrm>
                <a:off x="4786312" y="3212785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Straight Connector 436"/>
              <p:cNvCxnSpPr>
                <a:stCxn id="429" idx="2"/>
              </p:cNvCxnSpPr>
              <p:nvPr/>
            </p:nvCxnSpPr>
            <p:spPr>
              <a:xfrm>
                <a:off x="3643312" y="3212785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Straight Connector 437"/>
              <p:cNvCxnSpPr>
                <a:stCxn id="429" idx="1"/>
              </p:cNvCxnSpPr>
              <p:nvPr/>
            </p:nvCxnSpPr>
            <p:spPr>
              <a:xfrm flipH="1">
                <a:off x="3452812" y="3098485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9" name="Straight Connector 438"/>
              <p:cNvCxnSpPr/>
              <p:nvPr/>
            </p:nvCxnSpPr>
            <p:spPr>
              <a:xfrm flipH="1">
                <a:off x="3757612" y="3098485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Straight Connector 439"/>
              <p:cNvCxnSpPr/>
              <p:nvPr/>
            </p:nvCxnSpPr>
            <p:spPr>
              <a:xfrm flipH="1">
                <a:off x="4595812" y="3098485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" name="Straight Connector 440"/>
              <p:cNvCxnSpPr/>
              <p:nvPr/>
            </p:nvCxnSpPr>
            <p:spPr>
              <a:xfrm flipH="1">
                <a:off x="4900612" y="3098485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2" name="Straight Connector 441"/>
              <p:cNvCxnSpPr/>
              <p:nvPr/>
            </p:nvCxnSpPr>
            <p:spPr>
              <a:xfrm flipH="1">
                <a:off x="5738812" y="3092135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3" name="Straight Connector 442"/>
              <p:cNvCxnSpPr/>
              <p:nvPr/>
            </p:nvCxnSpPr>
            <p:spPr>
              <a:xfrm flipH="1">
                <a:off x="6043612" y="3092135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4" name="Straight Connector 443"/>
              <p:cNvCxnSpPr/>
              <p:nvPr/>
            </p:nvCxnSpPr>
            <p:spPr>
              <a:xfrm flipH="1">
                <a:off x="6881812" y="3098485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5" name="Straight Connector 444"/>
              <p:cNvCxnSpPr/>
              <p:nvPr/>
            </p:nvCxnSpPr>
            <p:spPr>
              <a:xfrm flipH="1">
                <a:off x="7186612" y="3098485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6" name="Rectangle 445"/>
              <p:cNvSpPr/>
              <p:nvPr/>
            </p:nvSpPr>
            <p:spPr>
              <a:xfrm>
                <a:off x="3529012" y="3407526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7" name="Rectangle 446"/>
              <p:cNvSpPr/>
              <p:nvPr/>
            </p:nvSpPr>
            <p:spPr>
              <a:xfrm>
                <a:off x="4672012" y="3407526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8" name="Rectangle 447"/>
              <p:cNvSpPr/>
              <p:nvPr/>
            </p:nvSpPr>
            <p:spPr>
              <a:xfrm>
                <a:off x="5815012" y="3407526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9" name="Rectangle 448"/>
              <p:cNvSpPr/>
              <p:nvPr/>
            </p:nvSpPr>
            <p:spPr>
              <a:xfrm>
                <a:off x="6958012" y="3407526"/>
                <a:ext cx="228600" cy="2286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450" name="Straight Connector 449"/>
              <p:cNvCxnSpPr/>
              <p:nvPr/>
            </p:nvCxnSpPr>
            <p:spPr>
              <a:xfrm>
                <a:off x="3148012" y="3712326"/>
                <a:ext cx="3924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1" name="Straight Connector 450"/>
              <p:cNvCxnSpPr>
                <a:endCxn id="449" idx="2"/>
              </p:cNvCxnSpPr>
              <p:nvPr/>
            </p:nvCxnSpPr>
            <p:spPr>
              <a:xfrm flipV="1">
                <a:off x="7072312" y="3636126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2" name="Straight Connector 451"/>
              <p:cNvCxnSpPr>
                <a:stCxn id="448" idx="2"/>
              </p:cNvCxnSpPr>
              <p:nvPr/>
            </p:nvCxnSpPr>
            <p:spPr>
              <a:xfrm>
                <a:off x="5929312" y="3636126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Straight Connector 452"/>
              <p:cNvCxnSpPr>
                <a:stCxn id="447" idx="2"/>
              </p:cNvCxnSpPr>
              <p:nvPr/>
            </p:nvCxnSpPr>
            <p:spPr>
              <a:xfrm>
                <a:off x="4786312" y="3636126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4" name="Straight Connector 453"/>
              <p:cNvCxnSpPr>
                <a:stCxn id="446" idx="2"/>
              </p:cNvCxnSpPr>
              <p:nvPr/>
            </p:nvCxnSpPr>
            <p:spPr>
              <a:xfrm>
                <a:off x="3643312" y="3636126"/>
                <a:ext cx="0" cy="762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5" name="Straight Connector 454"/>
              <p:cNvCxnSpPr>
                <a:stCxn id="446" idx="1"/>
              </p:cNvCxnSpPr>
              <p:nvPr/>
            </p:nvCxnSpPr>
            <p:spPr>
              <a:xfrm flipH="1">
                <a:off x="3452812" y="3521826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6" name="Straight Connector 455"/>
              <p:cNvCxnSpPr/>
              <p:nvPr/>
            </p:nvCxnSpPr>
            <p:spPr>
              <a:xfrm flipH="1">
                <a:off x="3757612" y="3521826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Straight Connector 456"/>
              <p:cNvCxnSpPr/>
              <p:nvPr/>
            </p:nvCxnSpPr>
            <p:spPr>
              <a:xfrm flipH="1">
                <a:off x="4595812" y="3521826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Straight Connector 457"/>
              <p:cNvCxnSpPr/>
              <p:nvPr/>
            </p:nvCxnSpPr>
            <p:spPr>
              <a:xfrm flipH="1">
                <a:off x="4900612" y="3521826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9" name="Straight Connector 458"/>
              <p:cNvCxnSpPr/>
              <p:nvPr/>
            </p:nvCxnSpPr>
            <p:spPr>
              <a:xfrm flipH="1">
                <a:off x="5738812" y="3515476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" name="Straight Connector 459"/>
              <p:cNvCxnSpPr/>
              <p:nvPr/>
            </p:nvCxnSpPr>
            <p:spPr>
              <a:xfrm flipH="1">
                <a:off x="6043612" y="3515476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1" name="Straight Connector 460"/>
              <p:cNvCxnSpPr/>
              <p:nvPr/>
            </p:nvCxnSpPr>
            <p:spPr>
              <a:xfrm flipH="1">
                <a:off x="6881812" y="3521826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2" name="Straight Connector 461"/>
              <p:cNvCxnSpPr/>
              <p:nvPr/>
            </p:nvCxnSpPr>
            <p:spPr>
              <a:xfrm flipH="1">
                <a:off x="7186612" y="3521826"/>
                <a:ext cx="762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Straight Connector 462"/>
              <p:cNvCxnSpPr/>
              <p:nvPr/>
            </p:nvCxnSpPr>
            <p:spPr>
              <a:xfrm>
                <a:off x="3422791" y="546100"/>
                <a:ext cx="19050" cy="33147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4" name="Straight Connector 463"/>
              <p:cNvCxnSpPr/>
              <p:nvPr/>
            </p:nvCxnSpPr>
            <p:spPr>
              <a:xfrm>
                <a:off x="4959209" y="552450"/>
                <a:ext cx="19050" cy="33147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5" name="Straight Connector 464"/>
              <p:cNvCxnSpPr/>
              <p:nvPr/>
            </p:nvCxnSpPr>
            <p:spPr>
              <a:xfrm>
                <a:off x="4566812" y="552450"/>
                <a:ext cx="19050" cy="33147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Straight Connector 465"/>
              <p:cNvCxnSpPr/>
              <p:nvPr/>
            </p:nvCxnSpPr>
            <p:spPr>
              <a:xfrm>
                <a:off x="6102172" y="546100"/>
                <a:ext cx="19050" cy="33147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7" name="Straight Connector 466"/>
              <p:cNvCxnSpPr/>
              <p:nvPr/>
            </p:nvCxnSpPr>
            <p:spPr>
              <a:xfrm>
                <a:off x="5709775" y="546100"/>
                <a:ext cx="19050" cy="33147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8" name="Straight Connector 467"/>
              <p:cNvCxnSpPr/>
              <p:nvPr/>
            </p:nvCxnSpPr>
            <p:spPr>
              <a:xfrm>
                <a:off x="7243761" y="552451"/>
                <a:ext cx="19050" cy="33147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Straight Connector 468"/>
              <p:cNvCxnSpPr/>
              <p:nvPr/>
            </p:nvCxnSpPr>
            <p:spPr>
              <a:xfrm>
                <a:off x="6851364" y="552451"/>
                <a:ext cx="19050" cy="33147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70" name="Rectangle 469"/>
              <p:cNvSpPr/>
              <p:nvPr/>
            </p:nvSpPr>
            <p:spPr>
              <a:xfrm>
                <a:off x="3148012" y="3867150"/>
                <a:ext cx="890588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200" dirty="0">
                    <a:solidFill>
                      <a:schemeClr val="tx1"/>
                    </a:solidFill>
                  </a:rPr>
                  <a:t>Sense/Write circuit</a:t>
                </a:r>
              </a:p>
            </p:txBody>
          </p:sp>
          <p:sp>
            <p:nvSpPr>
              <p:cNvPr id="471" name="Rectangle 470"/>
              <p:cNvSpPr/>
              <p:nvPr/>
            </p:nvSpPr>
            <p:spPr>
              <a:xfrm>
                <a:off x="4341018" y="3867150"/>
                <a:ext cx="890588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r>
                  <a:rPr lang="en-IN" sz="1200" dirty="0">
                    <a:solidFill>
                      <a:prstClr val="black"/>
                    </a:solidFill>
                  </a:rPr>
                  <a:t>Sense/Write circuit</a:t>
                </a:r>
              </a:p>
            </p:txBody>
          </p:sp>
          <p:sp>
            <p:nvSpPr>
              <p:cNvPr id="472" name="Rectangle 471"/>
              <p:cNvSpPr/>
              <p:nvPr/>
            </p:nvSpPr>
            <p:spPr>
              <a:xfrm>
                <a:off x="5513102" y="3867150"/>
                <a:ext cx="890588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r>
                  <a:rPr lang="en-IN" sz="1200">
                    <a:solidFill>
                      <a:prstClr val="black"/>
                    </a:solidFill>
                  </a:rPr>
                  <a:t>Sense/Write circuit</a:t>
                </a:r>
                <a:endParaRPr lang="en-IN" sz="1200" dirty="0">
                  <a:solidFill>
                    <a:prstClr val="black"/>
                  </a:solidFill>
                </a:endParaRPr>
              </a:p>
            </p:txBody>
          </p:sp>
          <p:sp>
            <p:nvSpPr>
              <p:cNvPr id="473" name="Rectangle 472"/>
              <p:cNvSpPr/>
              <p:nvPr/>
            </p:nvSpPr>
            <p:spPr>
              <a:xfrm>
                <a:off x="6649976" y="3870325"/>
                <a:ext cx="890588" cy="3048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/>
                <a:r>
                  <a:rPr lang="en-IN" sz="1200">
                    <a:solidFill>
                      <a:prstClr val="black"/>
                    </a:solidFill>
                  </a:rPr>
                  <a:t>Sense/Write circuit</a:t>
                </a:r>
                <a:endParaRPr lang="en-IN" sz="1200" dirty="0">
                  <a:solidFill>
                    <a:prstClr val="black"/>
                  </a:solidFill>
                </a:endParaRPr>
              </a:p>
            </p:txBody>
          </p:sp>
          <p:cxnSp>
            <p:nvCxnSpPr>
              <p:cNvPr id="482" name="Straight Connector 481"/>
              <p:cNvCxnSpPr/>
              <p:nvPr/>
            </p:nvCxnSpPr>
            <p:spPr>
              <a:xfrm>
                <a:off x="2428875" y="742950"/>
                <a:ext cx="3924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3" name="Straight Connector 482"/>
              <p:cNvCxnSpPr/>
              <p:nvPr/>
            </p:nvCxnSpPr>
            <p:spPr>
              <a:xfrm>
                <a:off x="2428875" y="1158874"/>
                <a:ext cx="3924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4" name="Straight Connector 483"/>
              <p:cNvCxnSpPr/>
              <p:nvPr/>
            </p:nvCxnSpPr>
            <p:spPr>
              <a:xfrm>
                <a:off x="2438400" y="1574797"/>
                <a:ext cx="3924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5" name="Straight Connector 484"/>
              <p:cNvCxnSpPr/>
              <p:nvPr/>
            </p:nvCxnSpPr>
            <p:spPr>
              <a:xfrm>
                <a:off x="2438400" y="2022471"/>
                <a:ext cx="3924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6" name="Straight Connector 485"/>
              <p:cNvCxnSpPr/>
              <p:nvPr/>
            </p:nvCxnSpPr>
            <p:spPr>
              <a:xfrm>
                <a:off x="2438400" y="2454264"/>
                <a:ext cx="3924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7" name="Straight Connector 486"/>
              <p:cNvCxnSpPr/>
              <p:nvPr/>
            </p:nvCxnSpPr>
            <p:spPr>
              <a:xfrm>
                <a:off x="2452687" y="2874171"/>
                <a:ext cx="3924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Straight Connector 487"/>
              <p:cNvCxnSpPr/>
              <p:nvPr/>
            </p:nvCxnSpPr>
            <p:spPr>
              <a:xfrm>
                <a:off x="2452687" y="3288985"/>
                <a:ext cx="3924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9" name="Straight Connector 488"/>
              <p:cNvCxnSpPr/>
              <p:nvPr/>
            </p:nvCxnSpPr>
            <p:spPr>
              <a:xfrm>
                <a:off x="2452687" y="3712326"/>
                <a:ext cx="3924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Rectangle 16"/>
              <p:cNvSpPr/>
              <p:nvPr/>
            </p:nvSpPr>
            <p:spPr>
              <a:xfrm>
                <a:off x="1538286" y="590550"/>
                <a:ext cx="992926" cy="32004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133" dirty="0">
                    <a:solidFill>
                      <a:schemeClr val="tx1"/>
                    </a:solidFill>
                  </a:rPr>
                  <a:t>Address Decoder</a:t>
                </a:r>
              </a:p>
              <a:p>
                <a:pPr algn="ctr"/>
                <a:r>
                  <a:rPr lang="en-IN" sz="1867" dirty="0">
                    <a:solidFill>
                      <a:schemeClr val="tx1"/>
                    </a:solidFill>
                  </a:rPr>
                  <a:t>3 X 8</a:t>
                </a:r>
              </a:p>
            </p:txBody>
          </p:sp>
        </p:grpSp>
        <p:cxnSp>
          <p:nvCxnSpPr>
            <p:cNvPr id="499" name="Straight Arrow Connector 498"/>
            <p:cNvCxnSpPr/>
            <p:nvPr/>
          </p:nvCxnSpPr>
          <p:spPr>
            <a:xfrm>
              <a:off x="9144000" y="1988506"/>
              <a:ext cx="1524000" cy="869401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Arrow Connector 500"/>
            <p:cNvCxnSpPr/>
            <p:nvPr/>
          </p:nvCxnSpPr>
          <p:spPr>
            <a:xfrm flipV="1">
              <a:off x="9144000" y="3236870"/>
              <a:ext cx="1524000" cy="976796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" name="TextBox 501"/>
            <p:cNvSpPr txBox="1"/>
            <p:nvPr/>
          </p:nvSpPr>
          <p:spPr>
            <a:xfrm>
              <a:off x="9753600" y="2731583"/>
              <a:ext cx="2032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rgbClr val="800000"/>
                  </a:solidFill>
                </a:rPr>
                <a:t>Memory Cells</a:t>
              </a:r>
            </a:p>
          </p:txBody>
        </p:sp>
        <p:cxnSp>
          <p:nvCxnSpPr>
            <p:cNvPr id="504" name="Straight Arrow Connector 503"/>
            <p:cNvCxnSpPr/>
            <p:nvPr/>
          </p:nvCxnSpPr>
          <p:spPr>
            <a:xfrm>
              <a:off x="9342885" y="5562600"/>
              <a:ext cx="71551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Arrow Connector 504"/>
            <p:cNvCxnSpPr/>
            <p:nvPr/>
          </p:nvCxnSpPr>
          <p:spPr>
            <a:xfrm>
              <a:off x="9342885" y="5359400"/>
              <a:ext cx="71551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6" name="TextBox 505"/>
            <p:cNvSpPr txBox="1"/>
            <p:nvPr/>
          </p:nvSpPr>
          <p:spPr>
            <a:xfrm>
              <a:off x="10019496" y="5009596"/>
              <a:ext cx="953304" cy="420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133" dirty="0"/>
                <a:t>R/W’</a:t>
              </a:r>
            </a:p>
          </p:txBody>
        </p:sp>
        <p:sp>
          <p:nvSpPr>
            <p:cNvPr id="510" name="TextBox 509"/>
            <p:cNvSpPr txBox="1"/>
            <p:nvPr/>
          </p:nvSpPr>
          <p:spPr>
            <a:xfrm>
              <a:off x="10076333" y="5314396"/>
              <a:ext cx="591668" cy="4205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133" dirty="0"/>
                <a:t>CS’</a:t>
              </a:r>
            </a:p>
          </p:txBody>
        </p:sp>
        <p:sp>
          <p:nvSpPr>
            <p:cNvPr id="512" name="TextBox 511"/>
            <p:cNvSpPr txBox="1"/>
            <p:nvPr/>
          </p:nvSpPr>
          <p:spPr>
            <a:xfrm>
              <a:off x="3336657" y="1152244"/>
              <a:ext cx="685660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67" dirty="0"/>
                <a:t>W</a:t>
              </a:r>
              <a:r>
                <a:rPr lang="en-IN" sz="1867" baseline="-25000" dirty="0"/>
                <a:t>0</a:t>
              </a:r>
            </a:p>
          </p:txBody>
        </p:sp>
        <p:sp>
          <p:nvSpPr>
            <p:cNvPr id="513" name="TextBox 512"/>
            <p:cNvSpPr txBox="1"/>
            <p:nvPr/>
          </p:nvSpPr>
          <p:spPr>
            <a:xfrm>
              <a:off x="3349587" y="1576804"/>
              <a:ext cx="685660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67" dirty="0"/>
                <a:t>W</a:t>
              </a:r>
              <a:r>
                <a:rPr lang="en-IN" sz="1867" baseline="-25000" dirty="0"/>
                <a:t>1</a:t>
              </a:r>
            </a:p>
          </p:txBody>
        </p:sp>
        <p:sp>
          <p:nvSpPr>
            <p:cNvPr id="514" name="TextBox 513"/>
            <p:cNvSpPr txBox="1"/>
            <p:nvPr/>
          </p:nvSpPr>
          <p:spPr>
            <a:xfrm>
              <a:off x="3348115" y="2099964"/>
              <a:ext cx="685660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67" dirty="0"/>
                <a:t>W</a:t>
              </a:r>
              <a:r>
                <a:rPr lang="en-IN" sz="1867" baseline="-25000" dirty="0"/>
                <a:t>2</a:t>
              </a:r>
            </a:p>
          </p:txBody>
        </p:sp>
        <p:sp>
          <p:nvSpPr>
            <p:cNvPr id="515" name="TextBox 514"/>
            <p:cNvSpPr txBox="1"/>
            <p:nvPr/>
          </p:nvSpPr>
          <p:spPr>
            <a:xfrm>
              <a:off x="3332333" y="2616200"/>
              <a:ext cx="685660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67" dirty="0"/>
                <a:t>W</a:t>
              </a:r>
              <a:r>
                <a:rPr lang="en-IN" sz="1867" baseline="-25000" dirty="0"/>
                <a:t>3</a:t>
              </a:r>
            </a:p>
          </p:txBody>
        </p:sp>
        <p:sp>
          <p:nvSpPr>
            <p:cNvPr id="516" name="TextBox 515"/>
            <p:cNvSpPr txBox="1"/>
            <p:nvPr/>
          </p:nvSpPr>
          <p:spPr>
            <a:xfrm>
              <a:off x="3361961" y="3124200"/>
              <a:ext cx="685660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67" dirty="0"/>
                <a:t>W</a:t>
              </a:r>
              <a:r>
                <a:rPr lang="en-IN" sz="1867" baseline="-25000" dirty="0"/>
                <a:t>4</a:t>
              </a:r>
            </a:p>
          </p:txBody>
        </p:sp>
        <p:sp>
          <p:nvSpPr>
            <p:cNvPr id="517" name="TextBox 516"/>
            <p:cNvSpPr txBox="1"/>
            <p:nvPr/>
          </p:nvSpPr>
          <p:spPr>
            <a:xfrm>
              <a:off x="3346145" y="3632200"/>
              <a:ext cx="685660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67" dirty="0"/>
                <a:t>W</a:t>
              </a:r>
              <a:r>
                <a:rPr lang="en-IN" sz="1867" baseline="-25000" dirty="0"/>
                <a:t>5</a:t>
              </a:r>
            </a:p>
          </p:txBody>
        </p:sp>
        <p:sp>
          <p:nvSpPr>
            <p:cNvPr id="518" name="TextBox 517"/>
            <p:cNvSpPr txBox="1"/>
            <p:nvPr/>
          </p:nvSpPr>
          <p:spPr>
            <a:xfrm>
              <a:off x="3348114" y="4136231"/>
              <a:ext cx="685660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67" dirty="0"/>
                <a:t>W</a:t>
              </a:r>
              <a:r>
                <a:rPr lang="en-IN" sz="1867" baseline="-25000" dirty="0"/>
                <a:t>6</a:t>
              </a:r>
            </a:p>
          </p:txBody>
        </p:sp>
        <p:sp>
          <p:nvSpPr>
            <p:cNvPr id="519" name="TextBox 518"/>
            <p:cNvSpPr txBox="1"/>
            <p:nvPr/>
          </p:nvSpPr>
          <p:spPr>
            <a:xfrm>
              <a:off x="3332598" y="4644231"/>
              <a:ext cx="685660" cy="379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867" dirty="0"/>
                <a:t>W</a:t>
              </a:r>
              <a:r>
                <a:rPr lang="en-IN" sz="1867" baseline="-25000" dirty="0"/>
                <a:t>7</a:t>
              </a:r>
            </a:p>
          </p:txBody>
        </p:sp>
        <p:sp>
          <p:nvSpPr>
            <p:cNvPr id="521" name="TextBox 520"/>
            <p:cNvSpPr txBox="1"/>
            <p:nvPr/>
          </p:nvSpPr>
          <p:spPr>
            <a:xfrm>
              <a:off x="8893375" y="1099120"/>
              <a:ext cx="6625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i="1" dirty="0"/>
                <a:t>b’</a:t>
              </a:r>
              <a:r>
                <a:rPr lang="en-IN" sz="1600" i="1" baseline="-25000" dirty="0"/>
                <a:t>0</a:t>
              </a:r>
            </a:p>
          </p:txBody>
        </p:sp>
        <p:sp>
          <p:nvSpPr>
            <p:cNvPr id="523" name="TextBox 522"/>
            <p:cNvSpPr txBox="1"/>
            <p:nvPr/>
          </p:nvSpPr>
          <p:spPr>
            <a:xfrm>
              <a:off x="8169986" y="1092494"/>
              <a:ext cx="6625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i="1" dirty="0"/>
                <a:t>b</a:t>
              </a:r>
              <a:r>
                <a:rPr lang="en-IN" sz="1600" i="1" baseline="-25000" dirty="0"/>
                <a:t>0</a:t>
              </a:r>
            </a:p>
          </p:txBody>
        </p:sp>
        <p:sp>
          <p:nvSpPr>
            <p:cNvPr id="524" name="TextBox 523"/>
            <p:cNvSpPr txBox="1"/>
            <p:nvPr/>
          </p:nvSpPr>
          <p:spPr>
            <a:xfrm>
              <a:off x="7495711" y="1098827"/>
              <a:ext cx="6625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i="1" dirty="0"/>
                <a:t>b’</a:t>
              </a:r>
              <a:r>
                <a:rPr lang="en-IN" sz="1600" i="1" baseline="-25000" dirty="0"/>
                <a:t>1</a:t>
              </a:r>
            </a:p>
          </p:txBody>
        </p:sp>
        <p:sp>
          <p:nvSpPr>
            <p:cNvPr id="525" name="TextBox 524"/>
            <p:cNvSpPr txBox="1"/>
            <p:nvPr/>
          </p:nvSpPr>
          <p:spPr>
            <a:xfrm>
              <a:off x="6772322" y="1092200"/>
              <a:ext cx="6625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i="1" dirty="0"/>
                <a:t>b</a:t>
              </a:r>
              <a:r>
                <a:rPr lang="en-IN" sz="1600" i="1" baseline="-25000" dirty="0"/>
                <a:t>1</a:t>
              </a:r>
            </a:p>
          </p:txBody>
        </p:sp>
        <p:sp>
          <p:nvSpPr>
            <p:cNvPr id="526" name="TextBox 525"/>
            <p:cNvSpPr txBox="1"/>
            <p:nvPr/>
          </p:nvSpPr>
          <p:spPr>
            <a:xfrm>
              <a:off x="6125038" y="1114576"/>
              <a:ext cx="6625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i="1" dirty="0"/>
                <a:t>b’</a:t>
              </a:r>
              <a:r>
                <a:rPr lang="en-IN" sz="1600" i="1" baseline="-25000" dirty="0"/>
                <a:t>2</a:t>
              </a:r>
            </a:p>
          </p:txBody>
        </p:sp>
        <p:sp>
          <p:nvSpPr>
            <p:cNvPr id="527" name="TextBox 526"/>
            <p:cNvSpPr txBox="1"/>
            <p:nvPr/>
          </p:nvSpPr>
          <p:spPr>
            <a:xfrm>
              <a:off x="5401648" y="1107950"/>
              <a:ext cx="6625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i="1" dirty="0"/>
                <a:t>b</a:t>
              </a:r>
              <a:r>
                <a:rPr lang="en-IN" sz="1600" i="1" baseline="-25000" dirty="0"/>
                <a:t>2</a:t>
              </a:r>
            </a:p>
          </p:txBody>
        </p:sp>
        <p:sp>
          <p:nvSpPr>
            <p:cNvPr id="528" name="TextBox 527"/>
            <p:cNvSpPr txBox="1"/>
            <p:nvPr/>
          </p:nvSpPr>
          <p:spPr>
            <a:xfrm>
              <a:off x="4711776" y="1113887"/>
              <a:ext cx="6625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i="1" dirty="0"/>
                <a:t>b’</a:t>
              </a:r>
              <a:r>
                <a:rPr lang="en-IN" sz="1600" i="1" baseline="-25000" dirty="0"/>
                <a:t>3</a:t>
              </a:r>
            </a:p>
          </p:txBody>
        </p:sp>
        <p:sp>
          <p:nvSpPr>
            <p:cNvPr id="529" name="TextBox 528"/>
            <p:cNvSpPr txBox="1"/>
            <p:nvPr/>
          </p:nvSpPr>
          <p:spPr>
            <a:xfrm>
              <a:off x="3988387" y="1107260"/>
              <a:ext cx="66255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i="1" dirty="0"/>
                <a:t>b</a:t>
              </a:r>
              <a:r>
                <a:rPr lang="en-IN" sz="1600" i="1" baseline="-25000" dirty="0"/>
                <a:t>3</a:t>
              </a:r>
            </a:p>
          </p:txBody>
        </p:sp>
        <p:grpSp>
          <p:nvGrpSpPr>
            <p:cNvPr id="195" name="Group 194"/>
            <p:cNvGrpSpPr/>
            <p:nvPr/>
          </p:nvGrpSpPr>
          <p:grpSpPr>
            <a:xfrm>
              <a:off x="8601973" y="5614718"/>
              <a:ext cx="342976" cy="221789"/>
              <a:chOff x="6553195" y="2064165"/>
              <a:chExt cx="378437" cy="267317"/>
            </a:xfrm>
          </p:grpSpPr>
          <p:cxnSp>
            <p:nvCxnSpPr>
              <p:cNvPr id="196" name="Straight Connector 195"/>
              <p:cNvCxnSpPr/>
              <p:nvPr/>
            </p:nvCxnSpPr>
            <p:spPr>
              <a:xfrm>
                <a:off x="6931630" y="2064165"/>
                <a:ext cx="2" cy="26362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>
              <a:xfrm flipH="1">
                <a:off x="6553195" y="2327791"/>
                <a:ext cx="378430" cy="36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Arrow Connector 197"/>
              <p:cNvCxnSpPr/>
              <p:nvPr/>
            </p:nvCxnSpPr>
            <p:spPr>
              <a:xfrm flipV="1">
                <a:off x="6553200" y="2114550"/>
                <a:ext cx="0" cy="21324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9" name="Group 198"/>
            <p:cNvGrpSpPr/>
            <p:nvPr/>
          </p:nvGrpSpPr>
          <p:grpSpPr>
            <a:xfrm>
              <a:off x="5749783" y="5603596"/>
              <a:ext cx="342976" cy="221789"/>
              <a:chOff x="6553195" y="2064165"/>
              <a:chExt cx="378437" cy="267317"/>
            </a:xfrm>
          </p:grpSpPr>
          <p:cxnSp>
            <p:nvCxnSpPr>
              <p:cNvPr id="200" name="Straight Connector 199"/>
              <p:cNvCxnSpPr/>
              <p:nvPr/>
            </p:nvCxnSpPr>
            <p:spPr>
              <a:xfrm>
                <a:off x="6931630" y="2064165"/>
                <a:ext cx="2" cy="26362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/>
              <p:cNvCxnSpPr/>
              <p:nvPr/>
            </p:nvCxnSpPr>
            <p:spPr>
              <a:xfrm flipH="1">
                <a:off x="6553195" y="2327791"/>
                <a:ext cx="378430" cy="36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Arrow Connector 201"/>
              <p:cNvCxnSpPr/>
              <p:nvPr/>
            </p:nvCxnSpPr>
            <p:spPr>
              <a:xfrm flipV="1">
                <a:off x="6553200" y="2114550"/>
                <a:ext cx="0" cy="21324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3" name="Group 202"/>
            <p:cNvGrpSpPr/>
            <p:nvPr/>
          </p:nvGrpSpPr>
          <p:grpSpPr>
            <a:xfrm>
              <a:off x="7244045" y="5581971"/>
              <a:ext cx="342976" cy="221789"/>
              <a:chOff x="6553195" y="2064165"/>
              <a:chExt cx="378437" cy="267317"/>
            </a:xfrm>
          </p:grpSpPr>
          <p:cxnSp>
            <p:nvCxnSpPr>
              <p:cNvPr id="204" name="Straight Connector 203"/>
              <p:cNvCxnSpPr/>
              <p:nvPr/>
            </p:nvCxnSpPr>
            <p:spPr>
              <a:xfrm>
                <a:off x="6931630" y="2064165"/>
                <a:ext cx="2" cy="26362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>
              <a:xfrm flipH="1">
                <a:off x="6553195" y="2327791"/>
                <a:ext cx="378430" cy="36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Arrow Connector 205"/>
              <p:cNvCxnSpPr/>
              <p:nvPr/>
            </p:nvCxnSpPr>
            <p:spPr>
              <a:xfrm flipV="1">
                <a:off x="6553200" y="2114550"/>
                <a:ext cx="0" cy="21324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7" name="Group 206"/>
            <p:cNvGrpSpPr/>
            <p:nvPr/>
          </p:nvGrpSpPr>
          <p:grpSpPr>
            <a:xfrm>
              <a:off x="4267200" y="5578908"/>
              <a:ext cx="342976" cy="221789"/>
              <a:chOff x="6553195" y="2064165"/>
              <a:chExt cx="378437" cy="267317"/>
            </a:xfrm>
          </p:grpSpPr>
          <p:cxnSp>
            <p:nvCxnSpPr>
              <p:cNvPr id="208" name="Straight Connector 207"/>
              <p:cNvCxnSpPr/>
              <p:nvPr/>
            </p:nvCxnSpPr>
            <p:spPr>
              <a:xfrm>
                <a:off x="6931630" y="2064165"/>
                <a:ext cx="2" cy="263627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9" name="Straight Connector 208"/>
              <p:cNvCxnSpPr/>
              <p:nvPr/>
            </p:nvCxnSpPr>
            <p:spPr>
              <a:xfrm flipH="1">
                <a:off x="6553195" y="2327791"/>
                <a:ext cx="378430" cy="3691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Straight Arrow Connector 209"/>
              <p:cNvCxnSpPr/>
              <p:nvPr/>
            </p:nvCxnSpPr>
            <p:spPr>
              <a:xfrm flipV="1">
                <a:off x="6553200" y="2114550"/>
                <a:ext cx="0" cy="21324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662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1395" y="1752600"/>
            <a:ext cx="4382806" cy="195827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584200"/>
            <a:ext cx="11379200" cy="5486400"/>
          </a:xfrm>
        </p:spPr>
        <p:txBody>
          <a:bodyPr>
            <a:normAutofit/>
          </a:bodyPr>
          <a:lstStyle/>
          <a:p>
            <a:r>
              <a:rPr lang="en-IN" sz="2400" dirty="0"/>
              <a:t>A 32-bit memory chip organized as 8 x 4 is shown.</a:t>
            </a:r>
          </a:p>
          <a:p>
            <a:r>
              <a:rPr lang="en-IN" sz="2400" dirty="0"/>
              <a:t>Every row of the cell array constitutes a </a:t>
            </a:r>
            <a:r>
              <a:rPr lang="en-IN" sz="2400" i="1" dirty="0">
                <a:solidFill>
                  <a:srgbClr val="C00000"/>
                </a:solidFill>
              </a:rPr>
              <a:t>memory word</a:t>
            </a:r>
            <a:r>
              <a:rPr lang="en-IN" sz="2400" dirty="0"/>
              <a:t>.</a:t>
            </a:r>
          </a:p>
          <a:p>
            <a:r>
              <a:rPr lang="en-IN" sz="2400" dirty="0"/>
              <a:t>A 3 x 8 </a:t>
            </a:r>
            <a:r>
              <a:rPr lang="en-IN" sz="2400" i="1" dirty="0">
                <a:solidFill>
                  <a:srgbClr val="C00000"/>
                </a:solidFill>
              </a:rPr>
              <a:t>decoder</a:t>
            </a:r>
            <a:r>
              <a:rPr lang="en-IN" sz="2400" dirty="0"/>
              <a:t> is required to access any one of the 8 rows.</a:t>
            </a:r>
          </a:p>
          <a:p>
            <a:r>
              <a:rPr lang="en-IN" sz="2400" dirty="0"/>
              <a:t>The rows of the cells are connected to the </a:t>
            </a:r>
            <a:r>
              <a:rPr lang="en-IN" sz="2400" i="1" dirty="0">
                <a:solidFill>
                  <a:srgbClr val="C00000"/>
                </a:solidFill>
              </a:rPr>
              <a:t>word lines</a:t>
            </a:r>
            <a:r>
              <a:rPr lang="en-IN" sz="2400" dirty="0"/>
              <a:t>.</a:t>
            </a:r>
          </a:p>
          <a:p>
            <a:r>
              <a:rPr lang="en-IN" sz="2400" dirty="0"/>
              <a:t>Individual cells are connected to two </a:t>
            </a:r>
            <a:r>
              <a:rPr lang="en-IN" sz="2400" i="1" dirty="0">
                <a:solidFill>
                  <a:srgbClr val="C00000"/>
                </a:solidFill>
              </a:rPr>
              <a:t>bit lines</a:t>
            </a:r>
            <a:r>
              <a:rPr lang="en-IN" sz="2400" dirty="0"/>
              <a:t>.</a:t>
            </a:r>
          </a:p>
          <a:p>
            <a:pPr lvl="1"/>
            <a:r>
              <a:rPr lang="en-IN" sz="2000" dirty="0"/>
              <a:t>Bit </a:t>
            </a:r>
            <a:r>
              <a:rPr lang="en-IN" sz="2000" i="1" dirty="0">
                <a:solidFill>
                  <a:srgbClr val="C00000"/>
                </a:solidFill>
              </a:rPr>
              <a:t>b</a:t>
            </a:r>
            <a:r>
              <a:rPr lang="en-IN" sz="2000" dirty="0"/>
              <a:t> and its complement </a:t>
            </a:r>
            <a:r>
              <a:rPr lang="en-IN" sz="2000" i="1" dirty="0">
                <a:solidFill>
                  <a:srgbClr val="C00000"/>
                </a:solidFill>
              </a:rPr>
              <a:t>b’</a:t>
            </a:r>
            <a:r>
              <a:rPr lang="en-IN" sz="2000" dirty="0"/>
              <a:t>.</a:t>
            </a:r>
          </a:p>
          <a:p>
            <a:pPr lvl="1"/>
            <a:r>
              <a:rPr lang="en-IN" sz="2000" dirty="0"/>
              <a:t>Required for reading and writing.</a:t>
            </a:r>
          </a:p>
          <a:p>
            <a:r>
              <a:rPr lang="en-IN" sz="2400" dirty="0"/>
              <a:t>Cells in each column are connected to a </a:t>
            </a:r>
            <a:r>
              <a:rPr lang="en-IN" sz="2400" i="1" dirty="0">
                <a:solidFill>
                  <a:srgbClr val="C00000"/>
                </a:solidFill>
              </a:rPr>
              <a:t>sense/write circuit </a:t>
            </a:r>
            <a:r>
              <a:rPr lang="en-IN" sz="2400" dirty="0"/>
              <a:t>by the two bit lines.</a:t>
            </a:r>
          </a:p>
          <a:p>
            <a:r>
              <a:rPr lang="en-IN" sz="2400" dirty="0"/>
              <a:t>Other than address and data lines, there are two </a:t>
            </a:r>
            <a:r>
              <a:rPr lang="en-IN" sz="2400" i="1" dirty="0">
                <a:solidFill>
                  <a:srgbClr val="C00000"/>
                </a:solidFill>
              </a:rPr>
              <a:t>control lines</a:t>
            </a:r>
            <a:r>
              <a:rPr lang="en-IN" sz="2400" dirty="0"/>
              <a:t>: R/W’ and CS’ (Chip Select).</a:t>
            </a:r>
          </a:p>
          <a:p>
            <a:pPr lvl="1"/>
            <a:r>
              <a:rPr lang="en-IN" sz="2000" dirty="0"/>
              <a:t>CS is required to select one single chip in a multi-chip memory system.</a:t>
            </a:r>
          </a:p>
          <a:p>
            <a:endParaRPr lang="en-IN" sz="3733" dirty="0"/>
          </a:p>
          <a:p>
            <a:endParaRPr lang="en-IN" sz="3733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7234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External Connection Requirements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8 x 4 memory requires the following external connections:</a:t>
            </a:r>
          </a:p>
          <a:p>
            <a:pPr lvl="1"/>
            <a:r>
              <a:rPr lang="en-IN" dirty="0"/>
              <a:t>Address decoder of size:  3 x 8</a:t>
            </a:r>
          </a:p>
          <a:p>
            <a:pPr lvl="2"/>
            <a:r>
              <a:rPr lang="en-IN" dirty="0"/>
              <a:t>3 external connections for address.</a:t>
            </a:r>
          </a:p>
          <a:p>
            <a:pPr lvl="1"/>
            <a:r>
              <a:rPr lang="en-IN" dirty="0"/>
              <a:t>Data output : 4-bit</a:t>
            </a:r>
          </a:p>
          <a:p>
            <a:pPr lvl="2"/>
            <a:r>
              <a:rPr lang="en-IN" dirty="0"/>
              <a:t>4 external connections for data.</a:t>
            </a:r>
          </a:p>
          <a:p>
            <a:pPr lvl="1"/>
            <a:r>
              <a:rPr lang="en-IN" dirty="0"/>
              <a:t>2 external connections for R/W’ and CS’. </a:t>
            </a:r>
          </a:p>
          <a:p>
            <a:pPr lvl="1"/>
            <a:r>
              <a:rPr lang="en-IN" dirty="0"/>
              <a:t>2 external connections for power supply and ground.</a:t>
            </a:r>
          </a:p>
          <a:p>
            <a:pPr lvl="1"/>
            <a:r>
              <a:rPr lang="en-IN" dirty="0"/>
              <a:t>Total of 3 + 4 + 2 + 2 = 11.</a:t>
            </a:r>
          </a:p>
          <a:p>
            <a:pPr lvl="1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700" y="2362200"/>
            <a:ext cx="5067300" cy="226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3004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About a 256 x 16 Memory?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Here the total number of external connections are estimated as follows:</a:t>
            </a:r>
          </a:p>
          <a:p>
            <a:pPr lvl="1"/>
            <a:r>
              <a:rPr lang="en-IN" dirty="0"/>
              <a:t>Address decoder size:  8 x 256</a:t>
            </a:r>
          </a:p>
          <a:p>
            <a:pPr lvl="2"/>
            <a:r>
              <a:rPr lang="en-IN" dirty="0"/>
              <a:t>8 external connections for address.</a:t>
            </a:r>
          </a:p>
          <a:p>
            <a:pPr lvl="1"/>
            <a:r>
              <a:rPr lang="en-IN" dirty="0"/>
              <a:t>Data output : 16-bit</a:t>
            </a:r>
          </a:p>
          <a:p>
            <a:pPr lvl="2"/>
            <a:r>
              <a:rPr lang="en-IN" dirty="0"/>
              <a:t>16 external connections for data.</a:t>
            </a:r>
          </a:p>
          <a:p>
            <a:pPr lvl="1"/>
            <a:r>
              <a:rPr lang="en-IN" dirty="0"/>
              <a:t>2 external connections for R/W’ and CS’. </a:t>
            </a:r>
          </a:p>
          <a:p>
            <a:pPr lvl="1"/>
            <a:r>
              <a:rPr lang="en-IN" dirty="0"/>
              <a:t>2 external connections for power supply and ground.</a:t>
            </a:r>
          </a:p>
          <a:p>
            <a:pPr lvl="1"/>
            <a:r>
              <a:rPr lang="en-IN" dirty="0"/>
              <a:t>Total of  8 + 16 + 2 + 2 = 28.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5296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24000" y="1818007"/>
            <a:ext cx="9144000" cy="1691955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353C5F"/>
                </a:solidFill>
                <a:latin typeface="Century Gothic" pitchFamily="34" charset="0"/>
                <a:cs typeface="Times New Roman" pitchFamily="18" charset="0"/>
              </a:rPr>
              <a:t>STATIC AND DYNAMIC RAM</a:t>
            </a:r>
            <a:endParaRPr lang="en-US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Broadly two types of semiconductor memory systems: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i="1" dirty="0">
                <a:solidFill>
                  <a:srgbClr val="C00000"/>
                </a:solidFill>
              </a:rPr>
              <a:t>Static Random Access Memory </a:t>
            </a:r>
            <a:r>
              <a:rPr lang="en-US" dirty="0"/>
              <a:t>(SRAM)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US" i="1" dirty="0">
                <a:solidFill>
                  <a:srgbClr val="C00000"/>
                </a:solidFill>
              </a:rPr>
              <a:t>Dynamic Random Access Memory </a:t>
            </a:r>
            <a:r>
              <a:rPr lang="en-US" dirty="0"/>
              <a:t>(DRAM)</a:t>
            </a:r>
          </a:p>
          <a:p>
            <a:pPr lvl="2"/>
            <a:r>
              <a:rPr lang="en-US" dirty="0"/>
              <a:t>Asynchronous DRAM</a:t>
            </a:r>
          </a:p>
          <a:p>
            <a:pPr lvl="2">
              <a:spcAft>
                <a:spcPts val="1200"/>
              </a:spcAft>
            </a:pPr>
            <a:r>
              <a:rPr lang="en-US" dirty="0"/>
              <a:t>Synchronous DRAM</a:t>
            </a:r>
          </a:p>
          <a:p>
            <a:r>
              <a:rPr lang="en-US" dirty="0"/>
              <a:t>Vary in terms of speed, density, volatility properties, and cost.</a:t>
            </a:r>
          </a:p>
          <a:p>
            <a:pPr lvl="1"/>
            <a:r>
              <a:rPr lang="en-US" dirty="0"/>
              <a:t>Present-day main memory systems are built using DRAM.</a:t>
            </a:r>
          </a:p>
          <a:p>
            <a:pPr lvl="1"/>
            <a:r>
              <a:rPr lang="en-US" dirty="0"/>
              <a:t>Cache memory systems are built using SRAM.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73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Random Access Memory (SRAM)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sz="2400" dirty="0"/>
              <a:t>SRAM consists of circuits which can store the data as long as power is applied.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It is a type of semiconductor memory that uses bistable latching circuitry (flip-flop) to store each bit.</a:t>
            </a:r>
          </a:p>
          <a:p>
            <a:r>
              <a:rPr lang="en-IN" sz="2400" dirty="0"/>
              <a:t>SRAM memory arrays can be arranged in rows and columns of memory cells.</a:t>
            </a:r>
          </a:p>
          <a:p>
            <a:pPr lvl="1"/>
            <a:r>
              <a:rPr lang="en-IN" dirty="0"/>
              <a:t>Called </a:t>
            </a:r>
            <a:r>
              <a:rPr lang="en-IN" i="1" dirty="0">
                <a:solidFill>
                  <a:srgbClr val="C00000"/>
                </a:solidFill>
              </a:rPr>
              <a:t>word line </a:t>
            </a:r>
            <a:r>
              <a:rPr lang="en-IN" dirty="0"/>
              <a:t>and </a:t>
            </a:r>
            <a:r>
              <a:rPr lang="en-IN" i="1" dirty="0">
                <a:solidFill>
                  <a:srgbClr val="C00000"/>
                </a:solidFill>
              </a:rPr>
              <a:t>bit line</a:t>
            </a:r>
            <a:r>
              <a:rPr lang="en-IN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8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1"/>
            <a:ext cx="10972800" cy="45720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dirty="0"/>
              <a:t>SRAM technology: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Can be built using 4 or 6 MOS transistors.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Modern SRAM chips in the market uses 6-transistor implementations for CMOS compatibility.</a:t>
            </a:r>
          </a:p>
          <a:p>
            <a:pPr lvl="1">
              <a:spcAft>
                <a:spcPts val="1200"/>
              </a:spcAft>
            </a:pPr>
            <a:r>
              <a:rPr lang="en-US" dirty="0"/>
              <a:t>Widely used in small-scale systems like microcontrollers and embedded systems.</a:t>
            </a:r>
          </a:p>
          <a:p>
            <a:pPr lvl="1"/>
            <a:r>
              <a:rPr lang="en-US" dirty="0"/>
              <a:t>Also used to implement cache memories in computer systems.</a:t>
            </a:r>
          </a:p>
          <a:p>
            <a:pPr lvl="2"/>
            <a:r>
              <a:rPr lang="en-US" sz="2400" dirty="0"/>
              <a:t>To be discussed later.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7052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A 1-bit SRAM Cell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31609"/>
            <a:ext cx="6705600" cy="4335791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IN" sz="2400" dirty="0"/>
              <a:t>Two inverters are cross connected to form a </a:t>
            </a:r>
            <a:r>
              <a:rPr lang="en-IN" sz="2400" i="1" dirty="0">
                <a:solidFill>
                  <a:srgbClr val="C00000"/>
                </a:solidFill>
              </a:rPr>
              <a:t>latch</a:t>
            </a:r>
            <a:r>
              <a:rPr lang="en-IN" sz="2400" dirty="0"/>
              <a:t>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The latch is connected to two bit lines with transistors </a:t>
            </a:r>
            <a:r>
              <a:rPr lang="en-IN" sz="2400" i="1" dirty="0">
                <a:solidFill>
                  <a:srgbClr val="C00000"/>
                </a:solidFill>
              </a:rPr>
              <a:t>T1</a:t>
            </a:r>
            <a:r>
              <a:rPr lang="en-IN" sz="2400" dirty="0"/>
              <a:t> and </a:t>
            </a:r>
            <a:r>
              <a:rPr lang="en-IN" sz="2400" i="1" dirty="0">
                <a:solidFill>
                  <a:srgbClr val="C00000"/>
                </a:solidFill>
              </a:rPr>
              <a:t>T2</a:t>
            </a:r>
            <a:r>
              <a:rPr lang="en-IN" sz="2400" dirty="0"/>
              <a:t>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Transistors behave like switches that can be opened (OFF) or closed (ON) under the control of the word line.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To retain the state of the latch, the word line can be grounded which makes the transistors off.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7407501" y="1498601"/>
            <a:ext cx="4479699" cy="3931622"/>
            <a:chOff x="5555626" y="1123950"/>
            <a:chExt cx="3359774" cy="2948717"/>
          </a:xfrm>
        </p:grpSpPr>
        <p:sp>
          <p:nvSpPr>
            <p:cNvPr id="6" name="TextBox 5"/>
            <p:cNvSpPr txBox="1"/>
            <p:nvPr/>
          </p:nvSpPr>
          <p:spPr>
            <a:xfrm>
              <a:off x="6629400" y="3562350"/>
              <a:ext cx="1212192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rgbClr val="800000"/>
                  </a:solidFill>
                </a:rPr>
                <a:t>Word line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5784702" y="1564318"/>
              <a:ext cx="0" cy="2209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8457249" y="1564318"/>
              <a:ext cx="0" cy="2209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090136" y="2587264"/>
              <a:ext cx="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090136" y="2611076"/>
              <a:ext cx="0" cy="76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V="1">
              <a:off x="6319211" y="2611076"/>
              <a:ext cx="0" cy="76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6090136" y="2687276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090136" y="2739664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5784702" y="2611076"/>
              <a:ext cx="305434" cy="57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6319211" y="2606313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7922740" y="2593018"/>
              <a:ext cx="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7922740" y="2616830"/>
              <a:ext cx="0" cy="76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8151815" y="2616830"/>
              <a:ext cx="0" cy="76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7922740" y="2693030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922740" y="2745418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H="1">
              <a:off x="8151815" y="2606313"/>
              <a:ext cx="305434" cy="57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V="1">
              <a:off x="5555626" y="3545518"/>
              <a:ext cx="3359774" cy="76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6204673" y="2739664"/>
              <a:ext cx="0" cy="8058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030914" y="2739664"/>
              <a:ext cx="0" cy="8058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0" name="Group 29"/>
            <p:cNvGrpSpPr/>
            <p:nvPr/>
          </p:nvGrpSpPr>
          <p:grpSpPr>
            <a:xfrm>
              <a:off x="7006438" y="1978160"/>
              <a:ext cx="337249" cy="304800"/>
              <a:chOff x="2635250" y="2442567"/>
              <a:chExt cx="336549" cy="304800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45" name="Isosceles Triangle 44"/>
              <p:cNvSpPr/>
              <p:nvPr/>
            </p:nvSpPr>
            <p:spPr>
              <a:xfrm rot="5400000">
                <a:off x="2597150" y="2480667"/>
                <a:ext cx="304800" cy="228600"/>
              </a:xfrm>
              <a:prstGeom prst="triangl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46" name="Oval 45"/>
              <p:cNvSpPr/>
              <p:nvPr/>
            </p:nvSpPr>
            <p:spPr>
              <a:xfrm>
                <a:off x="2863850" y="2541984"/>
                <a:ext cx="107949" cy="10596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 rot="10800000">
              <a:off x="7006438" y="2780145"/>
              <a:ext cx="337249" cy="304800"/>
              <a:chOff x="2635250" y="2442567"/>
              <a:chExt cx="336549" cy="304800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43" name="Isosceles Triangle 42"/>
              <p:cNvSpPr/>
              <p:nvPr/>
            </p:nvSpPr>
            <p:spPr>
              <a:xfrm rot="5400000">
                <a:off x="2597150" y="2480667"/>
                <a:ext cx="304800" cy="228600"/>
              </a:xfrm>
              <a:prstGeom prst="triangl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2863850" y="2541984"/>
                <a:ext cx="107949" cy="10596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</p:grpSp>
        <p:cxnSp>
          <p:nvCxnSpPr>
            <p:cNvPr id="32" name="Straight Connector 31"/>
            <p:cNvCxnSpPr/>
            <p:nvPr/>
          </p:nvCxnSpPr>
          <p:spPr>
            <a:xfrm flipH="1">
              <a:off x="7693664" y="2614548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Elbow Connector 32"/>
            <p:cNvCxnSpPr>
              <a:endCxn id="46" idx="6"/>
            </p:cNvCxnSpPr>
            <p:nvPr/>
          </p:nvCxnSpPr>
          <p:spPr>
            <a:xfrm rot="16200000" flipV="1">
              <a:off x="7276980" y="2197268"/>
              <a:ext cx="483393" cy="349977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Elbow Connector 33"/>
            <p:cNvCxnSpPr>
              <a:stCxn id="43" idx="3"/>
            </p:cNvCxnSpPr>
            <p:nvPr/>
          </p:nvCxnSpPr>
          <p:spPr>
            <a:xfrm flipV="1">
              <a:off x="7343687" y="2478718"/>
              <a:ext cx="349977" cy="453827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Elbow Connector 34"/>
            <p:cNvCxnSpPr>
              <a:stCxn id="45" idx="3"/>
            </p:cNvCxnSpPr>
            <p:nvPr/>
          </p:nvCxnSpPr>
          <p:spPr>
            <a:xfrm rot="10800000" flipV="1">
              <a:off x="6548287" y="2130559"/>
              <a:ext cx="458151" cy="475753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Elbow Connector 35"/>
            <p:cNvCxnSpPr>
              <a:stCxn id="44" idx="6"/>
            </p:cNvCxnSpPr>
            <p:nvPr/>
          </p:nvCxnSpPr>
          <p:spPr>
            <a:xfrm rot="10800000">
              <a:off x="6548287" y="2397459"/>
              <a:ext cx="458151" cy="535087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7543800" y="1428750"/>
              <a:ext cx="858715" cy="381000"/>
            </a:xfrm>
            <a:prstGeom prst="straightConnector1">
              <a:avLst/>
            </a:prstGeom>
            <a:ln w="28575">
              <a:solidFill>
                <a:srgbClr val="8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6713729" y="1123950"/>
              <a:ext cx="1030840" cy="34624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rgbClr val="800000"/>
                  </a:solidFill>
                </a:rPr>
                <a:t>Bit lines</a:t>
              </a:r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V="1">
              <a:off x="5867400" y="1428750"/>
              <a:ext cx="838200" cy="311150"/>
            </a:xfrm>
            <a:prstGeom prst="straightConnector1">
              <a:avLst/>
            </a:prstGeom>
            <a:ln w="28575">
              <a:solidFill>
                <a:srgbClr val="8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6550075" y="2326139"/>
              <a:ext cx="302255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A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7404139" y="2343150"/>
              <a:ext cx="302255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B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980829" y="2190750"/>
              <a:ext cx="419971" cy="3770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667" b="1" i="1" dirty="0">
                  <a:solidFill>
                    <a:srgbClr val="000090"/>
                  </a:solidFill>
                </a:rPr>
                <a:t>T</a:t>
              </a:r>
              <a:r>
                <a:rPr lang="en-IN" sz="2667" b="1" i="1" baseline="-25000" dirty="0">
                  <a:solidFill>
                    <a:srgbClr val="000090"/>
                  </a:solidFill>
                </a:rPr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809629" y="2190750"/>
              <a:ext cx="419971" cy="3770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667" b="1" i="1" dirty="0">
                  <a:solidFill>
                    <a:srgbClr val="000090"/>
                  </a:solidFill>
                </a:rPr>
                <a:t>T</a:t>
              </a:r>
              <a:r>
                <a:rPr lang="en-IN" sz="2667" b="1" i="1" baseline="-25000" dirty="0">
                  <a:solidFill>
                    <a:srgbClr val="000090"/>
                  </a:solidFill>
                </a:rPr>
                <a:t>2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638800" y="3726418"/>
              <a:ext cx="302255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b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8306597" y="3726418"/>
              <a:ext cx="380203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b’</a:t>
              </a:r>
            </a:p>
          </p:txBody>
        </p: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058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42108"/>
            <a:ext cx="10972800" cy="1143000"/>
          </a:xfrm>
        </p:spPr>
        <p:txBody>
          <a:bodyPr>
            <a:normAutofit/>
          </a:bodyPr>
          <a:lstStyle/>
          <a:p>
            <a:r>
              <a:rPr lang="en-IN" b="1" dirty="0"/>
              <a:t>(a) READ Operation in SRAM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1" y="1688309"/>
            <a:ext cx="6299200" cy="3083499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IN" sz="2400" dirty="0"/>
              <a:t>To read the content of the cell, the word line is activated (= </a:t>
            </a:r>
            <a:r>
              <a:rPr lang="en-IN" sz="2400" i="1" dirty="0">
                <a:solidFill>
                  <a:srgbClr val="C00000"/>
                </a:solidFill>
              </a:rPr>
              <a:t>1</a:t>
            </a:r>
            <a:r>
              <a:rPr lang="en-IN" sz="2400" dirty="0"/>
              <a:t>) to make the transistors </a:t>
            </a:r>
            <a:r>
              <a:rPr lang="en-IN" sz="2400" i="1" dirty="0">
                <a:solidFill>
                  <a:srgbClr val="C00000"/>
                </a:solidFill>
              </a:rPr>
              <a:t>T1</a:t>
            </a:r>
            <a:r>
              <a:rPr lang="en-IN" sz="2400" dirty="0"/>
              <a:t> and </a:t>
            </a:r>
            <a:r>
              <a:rPr lang="en-IN" sz="2400" i="1" dirty="0">
                <a:solidFill>
                  <a:srgbClr val="C00000"/>
                </a:solidFill>
              </a:rPr>
              <a:t>T2</a:t>
            </a:r>
            <a:r>
              <a:rPr lang="en-IN" sz="2400" dirty="0"/>
              <a:t> on. </a:t>
            </a:r>
          </a:p>
          <a:p>
            <a:pPr>
              <a:lnSpc>
                <a:spcPct val="110000"/>
              </a:lnSpc>
            </a:pPr>
            <a:r>
              <a:rPr lang="en-IN" sz="2400" dirty="0"/>
              <a:t>The value stored in latch is available on bit line </a:t>
            </a:r>
            <a:r>
              <a:rPr lang="en-IN" sz="2400" i="1" dirty="0">
                <a:solidFill>
                  <a:srgbClr val="C00000"/>
                </a:solidFill>
              </a:rPr>
              <a:t>b</a:t>
            </a:r>
            <a:r>
              <a:rPr lang="en-IN" sz="2400" dirty="0"/>
              <a:t> and its complement on </a:t>
            </a:r>
            <a:r>
              <a:rPr lang="en-IN" sz="2400" i="1" dirty="0">
                <a:solidFill>
                  <a:srgbClr val="C00000"/>
                </a:solidFill>
              </a:rPr>
              <a:t>b’</a:t>
            </a:r>
            <a:r>
              <a:rPr lang="en-IN" sz="2400" dirty="0"/>
              <a:t>.</a:t>
            </a:r>
          </a:p>
          <a:p>
            <a:pPr>
              <a:lnSpc>
                <a:spcPct val="110000"/>
              </a:lnSpc>
            </a:pPr>
            <a:r>
              <a:rPr lang="en-IN" sz="2400" dirty="0"/>
              <a:t>Sense/write circuits connected to the bit lines monitor the states of </a:t>
            </a:r>
            <a:r>
              <a:rPr lang="en-IN" sz="2400" i="1" dirty="0">
                <a:solidFill>
                  <a:srgbClr val="C00000"/>
                </a:solidFill>
              </a:rPr>
              <a:t>b</a:t>
            </a:r>
            <a:r>
              <a:rPr lang="en-IN" sz="2400" dirty="0"/>
              <a:t> and </a:t>
            </a:r>
            <a:r>
              <a:rPr lang="en-IN" sz="2400" i="1" dirty="0">
                <a:solidFill>
                  <a:srgbClr val="C00000"/>
                </a:solidFill>
              </a:rPr>
              <a:t>b’</a:t>
            </a:r>
            <a:r>
              <a:rPr lang="en-IN" sz="2400" dirty="0"/>
              <a:t>.</a:t>
            </a:r>
          </a:p>
          <a:p>
            <a:endParaRPr lang="en-IN" sz="2400" dirty="0"/>
          </a:p>
        </p:txBody>
      </p:sp>
      <p:grpSp>
        <p:nvGrpSpPr>
          <p:cNvPr id="5" name="Group 4"/>
          <p:cNvGrpSpPr/>
          <p:nvPr/>
        </p:nvGrpSpPr>
        <p:grpSpPr>
          <a:xfrm>
            <a:off x="7407501" y="1498601"/>
            <a:ext cx="4479699" cy="3931622"/>
            <a:chOff x="5555626" y="1123950"/>
            <a:chExt cx="3359774" cy="2948717"/>
          </a:xfrm>
        </p:grpSpPr>
        <p:sp>
          <p:nvSpPr>
            <p:cNvPr id="6" name="TextBox 5"/>
            <p:cNvSpPr txBox="1"/>
            <p:nvPr/>
          </p:nvSpPr>
          <p:spPr>
            <a:xfrm>
              <a:off x="6629400" y="3562350"/>
              <a:ext cx="1212192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rgbClr val="800000"/>
                  </a:solidFill>
                </a:rPr>
                <a:t>Word line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5784702" y="1564318"/>
              <a:ext cx="0" cy="2209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8457249" y="1564318"/>
              <a:ext cx="0" cy="2209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6090136" y="2587264"/>
              <a:ext cx="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90136" y="2611076"/>
              <a:ext cx="0" cy="76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6319211" y="2611076"/>
              <a:ext cx="0" cy="76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090136" y="2687276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090136" y="2739664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5784702" y="2611076"/>
              <a:ext cx="305434" cy="57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6319211" y="2606313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922740" y="2593018"/>
              <a:ext cx="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922740" y="2616830"/>
              <a:ext cx="0" cy="76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8151815" y="2616830"/>
              <a:ext cx="0" cy="76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922740" y="2693030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7922740" y="2745418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8151815" y="2606313"/>
              <a:ext cx="305434" cy="57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5555626" y="3545518"/>
              <a:ext cx="3359774" cy="76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6204673" y="2739664"/>
              <a:ext cx="0" cy="8058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8030914" y="2739664"/>
              <a:ext cx="0" cy="8058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7006438" y="1978160"/>
              <a:ext cx="337249" cy="304800"/>
              <a:chOff x="2635250" y="2442567"/>
              <a:chExt cx="336549" cy="304800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43" name="Isosceles Triangle 42"/>
              <p:cNvSpPr/>
              <p:nvPr/>
            </p:nvSpPr>
            <p:spPr>
              <a:xfrm rot="5400000">
                <a:off x="2597150" y="2480667"/>
                <a:ext cx="304800" cy="228600"/>
              </a:xfrm>
              <a:prstGeom prst="triangl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2863850" y="2541984"/>
                <a:ext cx="107949" cy="10596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 rot="10800000">
              <a:off x="7006438" y="2780145"/>
              <a:ext cx="337249" cy="304800"/>
              <a:chOff x="2635250" y="2442567"/>
              <a:chExt cx="336549" cy="304800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41" name="Isosceles Triangle 40"/>
              <p:cNvSpPr/>
              <p:nvPr/>
            </p:nvSpPr>
            <p:spPr>
              <a:xfrm rot="5400000">
                <a:off x="2597150" y="2480667"/>
                <a:ext cx="304800" cy="228600"/>
              </a:xfrm>
              <a:prstGeom prst="triangl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2863850" y="2541984"/>
                <a:ext cx="107949" cy="10596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</p:grpSp>
        <p:cxnSp>
          <p:nvCxnSpPr>
            <p:cNvPr id="27" name="Straight Connector 26"/>
            <p:cNvCxnSpPr/>
            <p:nvPr/>
          </p:nvCxnSpPr>
          <p:spPr>
            <a:xfrm flipH="1">
              <a:off x="7693664" y="2614548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lbow Connector 27"/>
            <p:cNvCxnSpPr>
              <a:endCxn id="44" idx="6"/>
            </p:cNvCxnSpPr>
            <p:nvPr/>
          </p:nvCxnSpPr>
          <p:spPr>
            <a:xfrm rot="16200000" flipV="1">
              <a:off x="7276980" y="2197268"/>
              <a:ext cx="483393" cy="349977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28"/>
            <p:cNvCxnSpPr>
              <a:stCxn id="41" idx="3"/>
            </p:cNvCxnSpPr>
            <p:nvPr/>
          </p:nvCxnSpPr>
          <p:spPr>
            <a:xfrm flipV="1">
              <a:off x="7343687" y="2478718"/>
              <a:ext cx="349977" cy="453827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/>
            <p:cNvCxnSpPr>
              <a:stCxn id="43" idx="3"/>
            </p:cNvCxnSpPr>
            <p:nvPr/>
          </p:nvCxnSpPr>
          <p:spPr>
            <a:xfrm rot="10800000" flipV="1">
              <a:off x="6548287" y="2130559"/>
              <a:ext cx="458151" cy="475753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lbow Connector 30"/>
            <p:cNvCxnSpPr>
              <a:stCxn id="42" idx="6"/>
            </p:cNvCxnSpPr>
            <p:nvPr/>
          </p:nvCxnSpPr>
          <p:spPr>
            <a:xfrm rot="10800000">
              <a:off x="6548287" y="2397459"/>
              <a:ext cx="458151" cy="535087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7543800" y="1428750"/>
              <a:ext cx="858715" cy="381000"/>
            </a:xfrm>
            <a:prstGeom prst="straightConnector1">
              <a:avLst/>
            </a:prstGeom>
            <a:ln w="28575">
              <a:solidFill>
                <a:srgbClr val="8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6713729" y="1123950"/>
              <a:ext cx="1030840" cy="34624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rgbClr val="800000"/>
                  </a:solidFill>
                </a:rPr>
                <a:t>Bit lines</a:t>
              </a: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flipV="1">
              <a:off x="5867400" y="1428750"/>
              <a:ext cx="838200" cy="311150"/>
            </a:xfrm>
            <a:prstGeom prst="straightConnector1">
              <a:avLst/>
            </a:prstGeom>
            <a:ln w="28575">
              <a:solidFill>
                <a:srgbClr val="8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6550075" y="2326139"/>
              <a:ext cx="302255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A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404139" y="2343150"/>
              <a:ext cx="302255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B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980829" y="2190750"/>
              <a:ext cx="419971" cy="3770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667" b="1" i="1" dirty="0">
                  <a:solidFill>
                    <a:srgbClr val="000090"/>
                  </a:solidFill>
                </a:rPr>
                <a:t>T</a:t>
              </a:r>
              <a:r>
                <a:rPr lang="en-IN" sz="2667" b="1" i="1" baseline="-25000" dirty="0">
                  <a:solidFill>
                    <a:srgbClr val="000090"/>
                  </a:solidFill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809629" y="2190750"/>
              <a:ext cx="419971" cy="3770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667" b="1" i="1" dirty="0">
                  <a:solidFill>
                    <a:srgbClr val="000090"/>
                  </a:solidFill>
                </a:rPr>
                <a:t>T</a:t>
              </a:r>
              <a:r>
                <a:rPr lang="en-IN" sz="2667" b="1" i="1" baseline="-25000" dirty="0">
                  <a:solidFill>
                    <a:srgbClr val="000090"/>
                  </a:solidFill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638800" y="3726418"/>
              <a:ext cx="302255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b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306597" y="3726418"/>
              <a:ext cx="380203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b’</a:t>
              </a:r>
            </a:p>
          </p:txBody>
        </p:sp>
      </p:grpSp>
      <p:sp>
        <p:nvSpPr>
          <p:cNvPr id="45" name="Slide Number Placeholder 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610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30162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(b) WRITE Operation in SRAM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1669952"/>
            <a:ext cx="7010400" cy="41656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Clr>
                <a:schemeClr val="tx1">
                  <a:lumMod val="95000"/>
                  <a:lumOff val="5000"/>
                </a:schemeClr>
              </a:buClr>
            </a:pPr>
            <a:r>
              <a:rPr lang="en-IN" sz="2400" b="1" dirty="0">
                <a:solidFill>
                  <a:srgbClr val="C00000"/>
                </a:solidFill>
              </a:rPr>
              <a:t>To write 1</a:t>
            </a:r>
            <a:r>
              <a:rPr lang="en-IN" sz="2400" dirty="0"/>
              <a:t>: The bit line </a:t>
            </a:r>
            <a:r>
              <a:rPr lang="en-IN" sz="2400" i="1" dirty="0">
                <a:solidFill>
                  <a:srgbClr val="C00000"/>
                </a:solidFill>
              </a:rPr>
              <a:t>b</a:t>
            </a:r>
            <a:r>
              <a:rPr lang="en-IN" sz="2400" dirty="0"/>
              <a:t> is set with </a:t>
            </a:r>
            <a:r>
              <a:rPr lang="en-IN" sz="2400" i="1" dirty="0">
                <a:solidFill>
                  <a:srgbClr val="C00000"/>
                </a:solidFill>
              </a:rPr>
              <a:t>1</a:t>
            </a:r>
            <a:r>
              <a:rPr lang="en-IN" sz="2400" dirty="0"/>
              <a:t> and bit line </a:t>
            </a:r>
            <a:r>
              <a:rPr lang="en-IN" sz="2400" i="1" dirty="0">
                <a:solidFill>
                  <a:srgbClr val="800000"/>
                </a:solidFill>
              </a:rPr>
              <a:t>b’</a:t>
            </a:r>
            <a:r>
              <a:rPr lang="en-IN" sz="2400" dirty="0"/>
              <a:t> is set with </a:t>
            </a:r>
            <a:r>
              <a:rPr lang="en-IN" sz="2400" i="1" dirty="0">
                <a:solidFill>
                  <a:srgbClr val="C00000"/>
                </a:solidFill>
              </a:rPr>
              <a:t>0</a:t>
            </a:r>
            <a:r>
              <a:rPr lang="en-IN" sz="2400" dirty="0"/>
              <a:t>. Then the word line is activated and the data is written to the latch.</a:t>
            </a:r>
          </a:p>
          <a:p>
            <a:pPr>
              <a:spcAft>
                <a:spcPts val="1200"/>
              </a:spcAft>
              <a:buClr>
                <a:schemeClr val="tx1">
                  <a:lumMod val="95000"/>
                  <a:lumOff val="5000"/>
                </a:schemeClr>
              </a:buClr>
            </a:pPr>
            <a:r>
              <a:rPr lang="en-IN" sz="2400" b="1" dirty="0">
                <a:solidFill>
                  <a:srgbClr val="C00000"/>
                </a:solidFill>
              </a:rPr>
              <a:t>To write 0</a:t>
            </a:r>
            <a:r>
              <a:rPr lang="en-IN" sz="2400" dirty="0"/>
              <a:t>: The bit line </a:t>
            </a:r>
            <a:r>
              <a:rPr lang="en-IN" sz="2400" i="1" dirty="0">
                <a:solidFill>
                  <a:srgbClr val="C00000"/>
                </a:solidFill>
              </a:rPr>
              <a:t>b</a:t>
            </a:r>
            <a:r>
              <a:rPr lang="en-IN" sz="2400" dirty="0"/>
              <a:t> is set with </a:t>
            </a:r>
            <a:r>
              <a:rPr lang="en-IN" sz="2400" i="1" dirty="0">
                <a:solidFill>
                  <a:srgbClr val="C00000"/>
                </a:solidFill>
              </a:rPr>
              <a:t>0</a:t>
            </a:r>
            <a:r>
              <a:rPr lang="en-IN" sz="2400" dirty="0"/>
              <a:t> and bit line </a:t>
            </a:r>
            <a:r>
              <a:rPr lang="en-IN" sz="2400" i="1" dirty="0">
                <a:solidFill>
                  <a:srgbClr val="C00000"/>
                </a:solidFill>
              </a:rPr>
              <a:t>b’</a:t>
            </a:r>
            <a:r>
              <a:rPr lang="en-IN" sz="2400" dirty="0"/>
              <a:t> is set with </a:t>
            </a:r>
            <a:r>
              <a:rPr lang="en-IN" sz="2400" i="1" dirty="0">
                <a:solidFill>
                  <a:srgbClr val="C00000"/>
                </a:solidFill>
              </a:rPr>
              <a:t>1</a:t>
            </a:r>
            <a:r>
              <a:rPr lang="en-IN" sz="2400" dirty="0"/>
              <a:t>. Then the word line is activated and the data is written to the latch.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The required signals (either </a:t>
            </a:r>
            <a:r>
              <a:rPr lang="en-IN" sz="2400" i="1" dirty="0">
                <a:solidFill>
                  <a:srgbClr val="C00000"/>
                </a:solidFill>
              </a:rPr>
              <a:t>1</a:t>
            </a:r>
            <a:r>
              <a:rPr lang="en-IN" sz="2400" dirty="0"/>
              <a:t> or </a:t>
            </a:r>
            <a:r>
              <a:rPr lang="en-IN" sz="2400" i="1" dirty="0">
                <a:solidFill>
                  <a:srgbClr val="C00000"/>
                </a:solidFill>
              </a:rPr>
              <a:t>0</a:t>
            </a:r>
            <a:r>
              <a:rPr lang="en-IN" sz="2400" dirty="0"/>
              <a:t>) are generated by the sense/write circuit.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407501" y="1498601"/>
            <a:ext cx="4479699" cy="3931622"/>
            <a:chOff x="5555626" y="1123950"/>
            <a:chExt cx="3359774" cy="2948717"/>
          </a:xfrm>
        </p:grpSpPr>
        <p:sp>
          <p:nvSpPr>
            <p:cNvPr id="6" name="TextBox 5"/>
            <p:cNvSpPr txBox="1"/>
            <p:nvPr/>
          </p:nvSpPr>
          <p:spPr>
            <a:xfrm>
              <a:off x="6629400" y="3562350"/>
              <a:ext cx="1212192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rgbClr val="800000"/>
                  </a:solidFill>
                </a:rPr>
                <a:t>Word line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5784702" y="1564318"/>
              <a:ext cx="0" cy="2209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8457249" y="1564318"/>
              <a:ext cx="0" cy="2209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6090136" y="2587264"/>
              <a:ext cx="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6090136" y="2611076"/>
              <a:ext cx="0" cy="76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V="1">
              <a:off x="6319211" y="2611076"/>
              <a:ext cx="0" cy="76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>
              <a:off x="6090136" y="2687276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>
              <a:off x="6090136" y="2739664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H="1">
              <a:off x="5784702" y="2611076"/>
              <a:ext cx="305434" cy="57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H="1">
              <a:off x="6319211" y="2606313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7922740" y="2593018"/>
              <a:ext cx="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7922740" y="2616830"/>
              <a:ext cx="0" cy="76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8151815" y="2616830"/>
              <a:ext cx="0" cy="76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922740" y="2693030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7922740" y="2745418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8151815" y="2606313"/>
              <a:ext cx="305434" cy="57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5555626" y="3545518"/>
              <a:ext cx="3359774" cy="763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6204673" y="2739664"/>
              <a:ext cx="0" cy="8058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8030914" y="2739664"/>
              <a:ext cx="0" cy="8058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>
            <a:xfrm>
              <a:off x="7006438" y="1978160"/>
              <a:ext cx="337249" cy="304800"/>
              <a:chOff x="2635250" y="2442567"/>
              <a:chExt cx="336549" cy="304800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43" name="Isosceles Triangle 42"/>
              <p:cNvSpPr/>
              <p:nvPr/>
            </p:nvSpPr>
            <p:spPr>
              <a:xfrm rot="5400000">
                <a:off x="2597150" y="2480667"/>
                <a:ext cx="304800" cy="228600"/>
              </a:xfrm>
              <a:prstGeom prst="triangl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2863850" y="2541984"/>
                <a:ext cx="107949" cy="10596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 rot="10800000">
              <a:off x="7006438" y="2780145"/>
              <a:ext cx="337249" cy="304800"/>
              <a:chOff x="2635250" y="2442567"/>
              <a:chExt cx="336549" cy="304800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41" name="Isosceles Triangle 40"/>
              <p:cNvSpPr/>
              <p:nvPr/>
            </p:nvSpPr>
            <p:spPr>
              <a:xfrm rot="5400000">
                <a:off x="2597150" y="2480667"/>
                <a:ext cx="304800" cy="228600"/>
              </a:xfrm>
              <a:prstGeom prst="triangl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42" name="Oval 41"/>
              <p:cNvSpPr/>
              <p:nvPr/>
            </p:nvSpPr>
            <p:spPr>
              <a:xfrm>
                <a:off x="2863850" y="2541984"/>
                <a:ext cx="107949" cy="105966"/>
              </a:xfrm>
              <a:prstGeom prst="ellipse">
                <a:avLst/>
              </a:prstGeom>
              <a:grp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</p:grpSp>
        <p:cxnSp>
          <p:nvCxnSpPr>
            <p:cNvPr id="27" name="Straight Connector 26"/>
            <p:cNvCxnSpPr/>
            <p:nvPr/>
          </p:nvCxnSpPr>
          <p:spPr>
            <a:xfrm flipH="1">
              <a:off x="7693664" y="2614548"/>
              <a:ext cx="2290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Elbow Connector 27"/>
            <p:cNvCxnSpPr>
              <a:endCxn id="44" idx="6"/>
            </p:cNvCxnSpPr>
            <p:nvPr/>
          </p:nvCxnSpPr>
          <p:spPr>
            <a:xfrm rot="16200000" flipV="1">
              <a:off x="7276980" y="2197268"/>
              <a:ext cx="483393" cy="349977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Elbow Connector 28"/>
            <p:cNvCxnSpPr>
              <a:stCxn id="41" idx="3"/>
            </p:cNvCxnSpPr>
            <p:nvPr/>
          </p:nvCxnSpPr>
          <p:spPr>
            <a:xfrm flipV="1">
              <a:off x="7343687" y="2478718"/>
              <a:ext cx="349977" cy="453827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Elbow Connector 29"/>
            <p:cNvCxnSpPr>
              <a:stCxn id="43" idx="3"/>
            </p:cNvCxnSpPr>
            <p:nvPr/>
          </p:nvCxnSpPr>
          <p:spPr>
            <a:xfrm rot="10800000" flipV="1">
              <a:off x="6548287" y="2130559"/>
              <a:ext cx="458151" cy="475753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Elbow Connector 30"/>
            <p:cNvCxnSpPr>
              <a:stCxn id="42" idx="6"/>
            </p:cNvCxnSpPr>
            <p:nvPr/>
          </p:nvCxnSpPr>
          <p:spPr>
            <a:xfrm rot="10800000">
              <a:off x="6548287" y="2397459"/>
              <a:ext cx="458151" cy="535087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/>
            <p:nvPr/>
          </p:nvCxnSpPr>
          <p:spPr>
            <a:xfrm>
              <a:off x="7543800" y="1428750"/>
              <a:ext cx="858715" cy="381000"/>
            </a:xfrm>
            <a:prstGeom prst="straightConnector1">
              <a:avLst/>
            </a:prstGeom>
            <a:ln w="28575">
              <a:solidFill>
                <a:srgbClr val="8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6713729" y="1123950"/>
              <a:ext cx="1030840" cy="346249"/>
            </a:xfrm>
            <a:prstGeom prst="rect">
              <a:avLst/>
            </a:prstGeom>
            <a:noFill/>
            <a:ln w="28575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rgbClr val="800000"/>
                  </a:solidFill>
                </a:rPr>
                <a:t>Bit lines</a:t>
              </a:r>
            </a:p>
          </p:txBody>
        </p:sp>
        <p:cxnSp>
          <p:nvCxnSpPr>
            <p:cNvPr id="34" name="Straight Arrow Connector 33"/>
            <p:cNvCxnSpPr/>
            <p:nvPr/>
          </p:nvCxnSpPr>
          <p:spPr>
            <a:xfrm flipV="1">
              <a:off x="5867400" y="1428750"/>
              <a:ext cx="838200" cy="311150"/>
            </a:xfrm>
            <a:prstGeom prst="straightConnector1">
              <a:avLst/>
            </a:prstGeom>
            <a:ln w="28575">
              <a:solidFill>
                <a:srgbClr val="8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6550075" y="2326139"/>
              <a:ext cx="302255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A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404139" y="2343150"/>
              <a:ext cx="302255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B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980829" y="2190750"/>
              <a:ext cx="419971" cy="3770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667" b="1" i="1" dirty="0">
                  <a:solidFill>
                    <a:srgbClr val="000090"/>
                  </a:solidFill>
                </a:rPr>
                <a:t>T</a:t>
              </a:r>
              <a:r>
                <a:rPr lang="en-IN" sz="2667" b="1" i="1" baseline="-25000" dirty="0">
                  <a:solidFill>
                    <a:srgbClr val="000090"/>
                  </a:solidFill>
                </a:rPr>
                <a:t>1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809629" y="2190750"/>
              <a:ext cx="419971" cy="3770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667" b="1" i="1" dirty="0">
                  <a:solidFill>
                    <a:srgbClr val="000090"/>
                  </a:solidFill>
                </a:rPr>
                <a:t>T</a:t>
              </a:r>
              <a:r>
                <a:rPr lang="en-IN" sz="2667" b="1" i="1" baseline="-25000" dirty="0">
                  <a:solidFill>
                    <a:srgbClr val="000090"/>
                  </a:solidFill>
                </a:rPr>
                <a:t>2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638800" y="3726418"/>
              <a:ext cx="302255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b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306597" y="3726418"/>
              <a:ext cx="380203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b’</a:t>
              </a:r>
            </a:p>
          </p:txBody>
        </p:sp>
      </p:grpSp>
      <p:sp>
        <p:nvSpPr>
          <p:cNvPr id="45" name="Slide Number Placeholder 4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96919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7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6-Transistor Static Memory cell</a:t>
            </a:r>
          </a:p>
        </p:txBody>
      </p:sp>
      <p:grpSp>
        <p:nvGrpSpPr>
          <p:cNvPr id="86" name="Group 85"/>
          <p:cNvGrpSpPr/>
          <p:nvPr/>
        </p:nvGrpSpPr>
        <p:grpSpPr>
          <a:xfrm>
            <a:off x="7435344" y="1209358"/>
            <a:ext cx="4553457" cy="4525665"/>
            <a:chOff x="2455124" y="742950"/>
            <a:chExt cx="3415093" cy="3394249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2743200" y="1200150"/>
              <a:ext cx="25559" cy="28026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5410200" y="1200150"/>
              <a:ext cx="25559" cy="28026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H="1">
              <a:off x="3301063" y="2593415"/>
              <a:ext cx="236538" cy="287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2514600" y="3766079"/>
              <a:ext cx="3124200" cy="815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3187859" y="2707433"/>
              <a:ext cx="0" cy="10668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5010309" y="2724150"/>
              <a:ext cx="1625" cy="105008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Group 10"/>
            <p:cNvGrpSpPr/>
            <p:nvPr/>
          </p:nvGrpSpPr>
          <p:grpSpPr>
            <a:xfrm>
              <a:off x="4648200" y="2571750"/>
              <a:ext cx="782834" cy="152400"/>
              <a:chOff x="3331966" y="2838450"/>
              <a:chExt cx="782834" cy="152400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3581400" y="2838450"/>
                <a:ext cx="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3581400" y="2848870"/>
                <a:ext cx="0" cy="89592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 flipV="1">
                <a:off x="3810000" y="2862262"/>
                <a:ext cx="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3581400" y="2938462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3581400" y="2990850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 flipH="1">
                <a:off x="3810000" y="2851745"/>
                <a:ext cx="304800" cy="57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H="1">
                <a:off x="3331966" y="2848870"/>
                <a:ext cx="249434" cy="287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/>
            <p:cNvSpPr txBox="1"/>
            <p:nvPr/>
          </p:nvSpPr>
          <p:spPr>
            <a:xfrm>
              <a:off x="2988582" y="2224076"/>
              <a:ext cx="380999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i="1" dirty="0">
                  <a:solidFill>
                    <a:srgbClr val="000090"/>
                  </a:solidFill>
                </a:rPr>
                <a:t>T</a:t>
              </a:r>
              <a:r>
                <a:rPr lang="en-IN" sz="2400" b="1" i="1" baseline="-25000" dirty="0">
                  <a:solidFill>
                    <a:srgbClr val="000090"/>
                  </a:solidFill>
                </a:rPr>
                <a:t>1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819809" y="2194952"/>
              <a:ext cx="380999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i="1" dirty="0">
                  <a:solidFill>
                    <a:srgbClr val="000090"/>
                  </a:solidFill>
                </a:rPr>
                <a:t>T</a:t>
              </a:r>
              <a:r>
                <a:rPr lang="en-IN" sz="2400" b="1" i="1" baseline="-25000" dirty="0">
                  <a:solidFill>
                    <a:srgbClr val="000090"/>
                  </a:solidFill>
                </a:rPr>
                <a:t>2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609636" y="2517464"/>
              <a:ext cx="2921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Y</a:t>
              </a:r>
            </a:p>
          </p:txBody>
        </p:sp>
        <p:grpSp>
          <p:nvGrpSpPr>
            <p:cNvPr id="24" name="Group 23"/>
            <p:cNvGrpSpPr/>
            <p:nvPr/>
          </p:nvGrpSpPr>
          <p:grpSpPr>
            <a:xfrm rot="5400000">
              <a:off x="4470002" y="1885468"/>
              <a:ext cx="228600" cy="128588"/>
              <a:chOff x="3092450" y="2138362"/>
              <a:chExt cx="228600" cy="128588"/>
            </a:xfrm>
          </p:grpSpPr>
          <p:cxnSp>
            <p:nvCxnSpPr>
              <p:cNvPr id="25" name="Straight Connector 24"/>
              <p:cNvCxnSpPr/>
              <p:nvPr/>
            </p:nvCxnSpPr>
            <p:spPr>
              <a:xfrm>
                <a:off x="3092450" y="2138362"/>
                <a:ext cx="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3321050" y="2138362"/>
                <a:ext cx="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3092450" y="2214562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3092450" y="2266950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Oval 28"/>
            <p:cNvSpPr/>
            <p:nvPr/>
          </p:nvSpPr>
          <p:spPr>
            <a:xfrm>
              <a:off x="4433490" y="1905709"/>
              <a:ext cx="76200" cy="8810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grpSp>
          <p:nvGrpSpPr>
            <p:cNvPr id="30" name="Group 29"/>
            <p:cNvGrpSpPr/>
            <p:nvPr/>
          </p:nvGrpSpPr>
          <p:grpSpPr>
            <a:xfrm rot="5400000">
              <a:off x="4469606" y="3052013"/>
              <a:ext cx="228600" cy="128588"/>
              <a:chOff x="3092450" y="2138362"/>
              <a:chExt cx="228600" cy="128588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>
                <a:off x="3092450" y="2138362"/>
                <a:ext cx="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flipV="1">
                <a:off x="3321050" y="2138362"/>
                <a:ext cx="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3092450" y="2214562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3092450" y="2266950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/>
            <p:cNvGrpSpPr/>
            <p:nvPr/>
          </p:nvGrpSpPr>
          <p:grpSpPr>
            <a:xfrm rot="10800000">
              <a:off x="3532584" y="1837249"/>
              <a:ext cx="215106" cy="228600"/>
              <a:chOff x="2294730" y="2101783"/>
              <a:chExt cx="215106" cy="228600"/>
            </a:xfrm>
          </p:grpSpPr>
          <p:grpSp>
            <p:nvGrpSpPr>
              <p:cNvPr id="36" name="Group 35"/>
              <p:cNvGrpSpPr/>
              <p:nvPr/>
            </p:nvGrpSpPr>
            <p:grpSpPr>
              <a:xfrm rot="5400000">
                <a:off x="2331242" y="2151789"/>
                <a:ext cx="228600" cy="128588"/>
                <a:chOff x="3092450" y="2138362"/>
                <a:chExt cx="228600" cy="128588"/>
              </a:xfrm>
            </p:grpSpPr>
            <p:cxnSp>
              <p:nvCxnSpPr>
                <p:cNvPr id="38" name="Straight Connector 37"/>
                <p:cNvCxnSpPr/>
                <p:nvPr/>
              </p:nvCxnSpPr>
              <p:spPr>
                <a:xfrm>
                  <a:off x="3092450" y="213836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>
                <a:xfrm flipV="1">
                  <a:off x="3321050" y="213836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>
                <a:xfrm>
                  <a:off x="3092450" y="2214562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>
                <a:xfrm>
                  <a:off x="3092450" y="2266950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7" name="Oval 36"/>
              <p:cNvSpPr/>
              <p:nvPr/>
            </p:nvSpPr>
            <p:spPr>
              <a:xfrm>
                <a:off x="2294730" y="2172030"/>
                <a:ext cx="76200" cy="88106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</p:grpSp>
        <p:grpSp>
          <p:nvGrpSpPr>
            <p:cNvPr id="42" name="Group 41"/>
            <p:cNvGrpSpPr/>
            <p:nvPr/>
          </p:nvGrpSpPr>
          <p:grpSpPr>
            <a:xfrm rot="16200000">
              <a:off x="3477022" y="3055059"/>
              <a:ext cx="228600" cy="128588"/>
              <a:chOff x="3092450" y="2138362"/>
              <a:chExt cx="228600" cy="128588"/>
            </a:xfrm>
          </p:grpSpPr>
          <p:cxnSp>
            <p:nvCxnSpPr>
              <p:cNvPr id="43" name="Straight Connector 42"/>
              <p:cNvCxnSpPr/>
              <p:nvPr/>
            </p:nvCxnSpPr>
            <p:spPr>
              <a:xfrm>
                <a:off x="3092450" y="2138362"/>
                <a:ext cx="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>
              <a:xfrm flipV="1">
                <a:off x="3321050" y="2138362"/>
                <a:ext cx="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>
                <a:off x="3092450" y="2214562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>
              <a:xfrm>
                <a:off x="3092450" y="2266950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7" name="Straight Connector 46"/>
            <p:cNvCxnSpPr/>
            <p:nvPr/>
          </p:nvCxnSpPr>
          <p:spPr>
            <a:xfrm>
              <a:off x="3532584" y="2065848"/>
              <a:ext cx="0" cy="93057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4648596" y="2064062"/>
              <a:ext cx="0" cy="943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3671489" y="3123489"/>
              <a:ext cx="22860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3527028" y="2591974"/>
              <a:ext cx="37306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>
              <a:stCxn id="37" idx="2"/>
              <a:endCxn id="37" idx="2"/>
            </p:cNvCxnSpPr>
            <p:nvPr/>
          </p:nvCxnSpPr>
          <p:spPr>
            <a:xfrm>
              <a:off x="3747690" y="1951549"/>
              <a:ext cx="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Elbow Connector 51"/>
            <p:cNvCxnSpPr>
              <a:stCxn id="37" idx="2"/>
            </p:cNvCxnSpPr>
            <p:nvPr/>
          </p:nvCxnSpPr>
          <p:spPr>
            <a:xfrm>
              <a:off x="3747690" y="1951549"/>
              <a:ext cx="76200" cy="1164758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>
              <a:off x="4275138" y="2584336"/>
              <a:ext cx="373062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4281089" y="3120612"/>
              <a:ext cx="22860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H="1">
              <a:off x="3900090" y="2584336"/>
              <a:ext cx="375048" cy="53197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3900090" y="2591974"/>
              <a:ext cx="375048" cy="5243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Elbow Connector 56"/>
            <p:cNvCxnSpPr>
              <a:stCxn id="29" idx="2"/>
            </p:cNvCxnSpPr>
            <p:nvPr/>
          </p:nvCxnSpPr>
          <p:spPr>
            <a:xfrm rot="10800000" flipV="1">
              <a:off x="4357290" y="1949761"/>
              <a:ext cx="76200" cy="1173727"/>
            </a:xfrm>
            <a:prstGeom prst="bentConnector2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/>
            <p:cNvCxnSpPr/>
            <p:nvPr/>
          </p:nvCxnSpPr>
          <p:spPr>
            <a:xfrm flipV="1">
              <a:off x="3527028" y="1697616"/>
              <a:ext cx="0" cy="1378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/>
            <p:cNvCxnSpPr/>
            <p:nvPr/>
          </p:nvCxnSpPr>
          <p:spPr>
            <a:xfrm flipV="1">
              <a:off x="4641850" y="1697616"/>
              <a:ext cx="0" cy="13784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3527028" y="1697616"/>
              <a:ext cx="112117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Group 60"/>
            <p:cNvGrpSpPr/>
            <p:nvPr/>
          </p:nvGrpSpPr>
          <p:grpSpPr>
            <a:xfrm rot="10800000">
              <a:off x="3527028" y="3237513"/>
              <a:ext cx="1121172" cy="137846"/>
              <a:chOff x="2217738" y="3638550"/>
              <a:chExt cx="1121172" cy="137846"/>
            </a:xfrm>
          </p:grpSpPr>
          <p:cxnSp>
            <p:nvCxnSpPr>
              <p:cNvPr id="62" name="Straight Connector 61"/>
              <p:cNvCxnSpPr/>
              <p:nvPr/>
            </p:nvCxnSpPr>
            <p:spPr>
              <a:xfrm flipV="1">
                <a:off x="2217738" y="3638550"/>
                <a:ext cx="0" cy="13784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/>
              <p:nvPr/>
            </p:nvCxnSpPr>
            <p:spPr>
              <a:xfrm flipV="1">
                <a:off x="3332560" y="3638550"/>
                <a:ext cx="0" cy="13784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2217738" y="3638550"/>
                <a:ext cx="112117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5" name="Straight Arrow Connector 64"/>
            <p:cNvCxnSpPr/>
            <p:nvPr/>
          </p:nvCxnSpPr>
          <p:spPr>
            <a:xfrm flipV="1">
              <a:off x="4087613" y="1392816"/>
              <a:ext cx="0" cy="30480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/>
            <p:cNvGrpSpPr/>
            <p:nvPr/>
          </p:nvGrpSpPr>
          <p:grpSpPr>
            <a:xfrm>
              <a:off x="3998159" y="3365190"/>
              <a:ext cx="190500" cy="341276"/>
              <a:chOff x="5981700" y="1581150"/>
              <a:chExt cx="990600" cy="685800"/>
            </a:xfrm>
          </p:grpSpPr>
          <p:cxnSp>
            <p:nvCxnSpPr>
              <p:cNvPr id="67" name="Straight Connector 66"/>
              <p:cNvCxnSpPr/>
              <p:nvPr/>
            </p:nvCxnSpPr>
            <p:spPr>
              <a:xfrm>
                <a:off x="5981700" y="2080345"/>
                <a:ext cx="990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>
              <a:xfrm>
                <a:off x="6172200" y="2190750"/>
                <a:ext cx="609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>
              <a:xfrm>
                <a:off x="6324600" y="2266950"/>
                <a:ext cx="3048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>
              <a:xfrm>
                <a:off x="6477000" y="1581150"/>
                <a:ext cx="0" cy="49919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" name="Group 70"/>
            <p:cNvGrpSpPr/>
            <p:nvPr/>
          </p:nvGrpSpPr>
          <p:grpSpPr>
            <a:xfrm>
              <a:off x="2761314" y="2573808"/>
              <a:ext cx="533400" cy="152400"/>
              <a:chOff x="1447800" y="2832696"/>
              <a:chExt cx="533400" cy="152400"/>
            </a:xfrm>
          </p:grpSpPr>
          <p:cxnSp>
            <p:nvCxnSpPr>
              <p:cNvPr id="72" name="Straight Connector 71"/>
              <p:cNvCxnSpPr/>
              <p:nvPr/>
            </p:nvCxnSpPr>
            <p:spPr>
              <a:xfrm>
                <a:off x="1752600" y="2832696"/>
                <a:ext cx="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1752600" y="2856508"/>
                <a:ext cx="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1752600" y="2932708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1752600" y="2985096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flipH="1">
                <a:off x="1447800" y="2856508"/>
                <a:ext cx="304800" cy="57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flipV="1">
                <a:off x="1981200" y="2857582"/>
                <a:ext cx="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8" name="TextBox 77"/>
            <p:cNvSpPr txBox="1"/>
            <p:nvPr/>
          </p:nvSpPr>
          <p:spPr>
            <a:xfrm>
              <a:off x="3179247" y="1666975"/>
              <a:ext cx="380999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i="1" dirty="0">
                  <a:solidFill>
                    <a:srgbClr val="000090"/>
                  </a:solidFill>
                </a:rPr>
                <a:t>T</a:t>
              </a:r>
              <a:r>
                <a:rPr lang="en-IN" sz="2400" b="1" i="1" baseline="-25000" dirty="0">
                  <a:solidFill>
                    <a:srgbClr val="000090"/>
                  </a:solidFill>
                </a:rPr>
                <a:t>3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3225423" y="2896659"/>
              <a:ext cx="380999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i="1" dirty="0">
                  <a:solidFill>
                    <a:srgbClr val="000090"/>
                  </a:solidFill>
                </a:rPr>
                <a:t>T</a:t>
              </a:r>
              <a:r>
                <a:rPr lang="en-IN" sz="2400" b="1" i="1" baseline="-25000" dirty="0">
                  <a:solidFill>
                    <a:srgbClr val="000090"/>
                  </a:solidFill>
                </a:rPr>
                <a:t>5</a:t>
              </a: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4585891" y="1679157"/>
              <a:ext cx="380999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i="1" dirty="0">
                  <a:solidFill>
                    <a:srgbClr val="000090"/>
                  </a:solidFill>
                </a:rPr>
                <a:t>T</a:t>
              </a:r>
              <a:r>
                <a:rPr lang="en-IN" sz="2400" b="1" i="1" baseline="-25000" dirty="0">
                  <a:solidFill>
                    <a:srgbClr val="000090"/>
                  </a:solidFill>
                </a:rPr>
                <a:t>4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4572000" y="2896659"/>
              <a:ext cx="380999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i="1" dirty="0">
                  <a:solidFill>
                    <a:srgbClr val="000090"/>
                  </a:solidFill>
                </a:rPr>
                <a:t>T</a:t>
              </a:r>
              <a:r>
                <a:rPr lang="en-IN" sz="2400" b="1" i="1" baseline="-25000" dirty="0">
                  <a:solidFill>
                    <a:srgbClr val="000090"/>
                  </a:solidFill>
                </a:rPr>
                <a:t>6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3276600" y="2506194"/>
              <a:ext cx="2921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X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3623491" y="742950"/>
              <a:ext cx="903132" cy="34624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2400" b="1" dirty="0">
                  <a:solidFill>
                    <a:srgbClr val="800000"/>
                  </a:solidFill>
                </a:rPr>
                <a:t>Bit lines</a:t>
              </a: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2455124" y="3774233"/>
              <a:ext cx="301628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b</a:t>
              </a: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5441674" y="3763252"/>
              <a:ext cx="428543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dirty="0"/>
                <a:t>b’</a:t>
              </a:r>
            </a:p>
          </p:txBody>
        </p:sp>
        <p:cxnSp>
          <p:nvCxnSpPr>
            <p:cNvPr id="91" name="Straight Arrow Connector 90"/>
            <p:cNvCxnSpPr/>
            <p:nvPr/>
          </p:nvCxnSpPr>
          <p:spPr>
            <a:xfrm flipV="1">
              <a:off x="2819400" y="1123950"/>
              <a:ext cx="838200" cy="311150"/>
            </a:xfrm>
            <a:prstGeom prst="straightConnector1">
              <a:avLst/>
            </a:prstGeom>
            <a:ln w="28575">
              <a:solidFill>
                <a:srgbClr val="800000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/>
            <p:cNvCxnSpPr/>
            <p:nvPr/>
          </p:nvCxnSpPr>
          <p:spPr>
            <a:xfrm>
              <a:off x="4495800" y="1123950"/>
              <a:ext cx="858715" cy="381000"/>
            </a:xfrm>
            <a:prstGeom prst="straightConnector1">
              <a:avLst/>
            </a:prstGeom>
            <a:ln w="28575">
              <a:solidFill>
                <a:srgbClr val="8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/>
            <p:cNvSpPr txBox="1"/>
            <p:nvPr/>
          </p:nvSpPr>
          <p:spPr>
            <a:xfrm>
              <a:off x="3581400" y="3790950"/>
              <a:ext cx="1212192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rgbClr val="800000"/>
                  </a:solidFill>
                </a:rPr>
                <a:t>Word line</a:t>
              </a:r>
            </a:p>
          </p:txBody>
        </p:sp>
      </p:grpSp>
      <p:sp>
        <p:nvSpPr>
          <p:cNvPr id="94" name="Content Placeholder 2"/>
          <p:cNvSpPr>
            <a:spLocks noGrp="1"/>
          </p:cNvSpPr>
          <p:nvPr>
            <p:ph idx="1"/>
          </p:nvPr>
        </p:nvSpPr>
        <p:spPr>
          <a:xfrm>
            <a:off x="406400" y="1498600"/>
            <a:ext cx="5689600" cy="36576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IN" sz="2400" dirty="0"/>
              <a:t>1-bit SRAM cell with 6-transistors are used in modern-day SRAM implementations.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Transistors (</a:t>
            </a:r>
            <a:r>
              <a:rPr lang="en-IN" sz="2400" i="1" dirty="0">
                <a:solidFill>
                  <a:srgbClr val="C00000"/>
                </a:solidFill>
              </a:rPr>
              <a:t>T3</a:t>
            </a:r>
            <a:r>
              <a:rPr lang="en-IN" sz="2400" dirty="0"/>
              <a:t> &amp;</a:t>
            </a:r>
            <a:r>
              <a:rPr lang="en-IN" sz="2400" i="1" dirty="0">
                <a:solidFill>
                  <a:srgbClr val="C00000"/>
                </a:solidFill>
              </a:rPr>
              <a:t>T5</a:t>
            </a:r>
            <a:r>
              <a:rPr lang="en-IN" sz="2400" dirty="0"/>
              <a:t>)  and (</a:t>
            </a:r>
            <a:r>
              <a:rPr lang="en-IN" sz="2400" i="1" dirty="0">
                <a:solidFill>
                  <a:srgbClr val="C00000"/>
                </a:solidFill>
              </a:rPr>
              <a:t>T4</a:t>
            </a:r>
            <a:r>
              <a:rPr lang="en-IN" sz="2400" dirty="0"/>
              <a:t> &amp;</a:t>
            </a:r>
            <a:r>
              <a:rPr lang="en-IN" sz="2400" i="1" dirty="0">
                <a:solidFill>
                  <a:srgbClr val="C00000"/>
                </a:solidFill>
              </a:rPr>
              <a:t>T6</a:t>
            </a:r>
            <a:r>
              <a:rPr lang="en-IN" sz="2400" dirty="0"/>
              <a:t>) form the  CMOS inverters in the latch.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The data can be read or written in the same way as explained.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079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464" y="365125"/>
            <a:ext cx="10843336" cy="1325563"/>
          </a:xfrm>
        </p:spPr>
        <p:txBody>
          <a:bodyPr>
            <a:normAutofit/>
          </a:bodyPr>
          <a:lstStyle/>
          <a:p>
            <a:r>
              <a:rPr lang="en-IN" b="1" dirty="0"/>
              <a:t>In State 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98602"/>
            <a:ext cx="5791200" cy="4165599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IN" sz="2400" dirty="0"/>
              <a:t>In state 0 the voltage at </a:t>
            </a:r>
            <a:r>
              <a:rPr lang="en-IN" sz="2400" i="1" dirty="0">
                <a:solidFill>
                  <a:srgbClr val="C00000"/>
                </a:solidFill>
              </a:rPr>
              <a:t>X</a:t>
            </a:r>
            <a:r>
              <a:rPr lang="en-IN" sz="2400" dirty="0"/>
              <a:t> is low and the voltage at </a:t>
            </a:r>
            <a:r>
              <a:rPr lang="en-IN" sz="2400" i="1" dirty="0">
                <a:solidFill>
                  <a:srgbClr val="C00000"/>
                </a:solidFill>
              </a:rPr>
              <a:t>Y</a:t>
            </a:r>
            <a:r>
              <a:rPr lang="en-IN" sz="2400" dirty="0"/>
              <a:t> is high.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When the voltage at </a:t>
            </a:r>
            <a:r>
              <a:rPr lang="en-IN" sz="2400" i="1" dirty="0">
                <a:solidFill>
                  <a:srgbClr val="C00000"/>
                </a:solidFill>
              </a:rPr>
              <a:t>X</a:t>
            </a:r>
            <a:r>
              <a:rPr lang="en-IN" sz="2400" dirty="0"/>
              <a:t> is low, transistors (</a:t>
            </a:r>
            <a:r>
              <a:rPr lang="en-IN" sz="2400" i="1" dirty="0">
                <a:solidFill>
                  <a:srgbClr val="C00000"/>
                </a:solidFill>
              </a:rPr>
              <a:t>T4</a:t>
            </a:r>
            <a:r>
              <a:rPr lang="en-IN" sz="2400" dirty="0"/>
              <a:t> &amp; </a:t>
            </a:r>
            <a:r>
              <a:rPr lang="en-IN" sz="2400" i="1" dirty="0">
                <a:solidFill>
                  <a:srgbClr val="C00000"/>
                </a:solidFill>
              </a:rPr>
              <a:t>T5</a:t>
            </a:r>
            <a:r>
              <a:rPr lang="en-IN" sz="2400" dirty="0"/>
              <a:t>)  are on while (</a:t>
            </a:r>
            <a:r>
              <a:rPr lang="en-IN" sz="2400" i="1" dirty="0">
                <a:solidFill>
                  <a:srgbClr val="C00000"/>
                </a:solidFill>
              </a:rPr>
              <a:t>T3</a:t>
            </a:r>
            <a:r>
              <a:rPr lang="en-IN" sz="2400" dirty="0"/>
              <a:t> &amp; </a:t>
            </a:r>
            <a:r>
              <a:rPr lang="en-IN" sz="2400" i="1" dirty="0">
                <a:solidFill>
                  <a:srgbClr val="C00000"/>
                </a:solidFill>
              </a:rPr>
              <a:t>T6</a:t>
            </a:r>
            <a:r>
              <a:rPr lang="en-IN" sz="2400" dirty="0"/>
              <a:t>) are off.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When word line is activated, </a:t>
            </a:r>
            <a:r>
              <a:rPr lang="en-IN" sz="2400" i="1" dirty="0">
                <a:solidFill>
                  <a:srgbClr val="C00000"/>
                </a:solidFill>
              </a:rPr>
              <a:t>T1</a:t>
            </a:r>
            <a:r>
              <a:rPr lang="en-IN" sz="2400" dirty="0"/>
              <a:t> and </a:t>
            </a:r>
            <a:r>
              <a:rPr lang="en-IN" sz="2400" i="1" dirty="0">
                <a:solidFill>
                  <a:srgbClr val="C00000"/>
                </a:solidFill>
              </a:rPr>
              <a:t>T2</a:t>
            </a:r>
            <a:r>
              <a:rPr lang="en-IN" sz="2400" dirty="0"/>
              <a:t> are turned on and the bit lines </a:t>
            </a:r>
            <a:r>
              <a:rPr lang="en-IN" sz="2400" i="1" dirty="0">
                <a:solidFill>
                  <a:srgbClr val="C00000"/>
                </a:solidFill>
              </a:rPr>
              <a:t>b</a:t>
            </a:r>
            <a:r>
              <a:rPr lang="en-IN" sz="2400" dirty="0"/>
              <a:t> will have </a:t>
            </a:r>
            <a:r>
              <a:rPr lang="en-IN" sz="2400" i="1" dirty="0">
                <a:solidFill>
                  <a:srgbClr val="C00000"/>
                </a:solidFill>
              </a:rPr>
              <a:t>0</a:t>
            </a:r>
            <a:r>
              <a:rPr lang="en-IN" sz="2400" dirty="0"/>
              <a:t> and </a:t>
            </a:r>
            <a:r>
              <a:rPr lang="en-IN" sz="2400" i="1" dirty="0">
                <a:solidFill>
                  <a:srgbClr val="C00000"/>
                </a:solidFill>
              </a:rPr>
              <a:t>b’</a:t>
            </a:r>
            <a:r>
              <a:rPr lang="en-IN" sz="2400" dirty="0"/>
              <a:t> will have </a:t>
            </a:r>
            <a:r>
              <a:rPr lang="en-IN" sz="2400" i="1" dirty="0">
                <a:solidFill>
                  <a:srgbClr val="C00000"/>
                </a:solidFill>
              </a:rPr>
              <a:t>1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pSp>
        <p:nvGrpSpPr>
          <p:cNvPr id="92" name="Group 91"/>
          <p:cNvGrpSpPr/>
          <p:nvPr/>
        </p:nvGrpSpPr>
        <p:grpSpPr>
          <a:xfrm>
            <a:off x="7435344" y="1209358"/>
            <a:ext cx="4553457" cy="4525665"/>
            <a:chOff x="5576507" y="907018"/>
            <a:chExt cx="3415093" cy="3394249"/>
          </a:xfrm>
        </p:grpSpPr>
        <p:sp>
          <p:nvSpPr>
            <p:cNvPr id="91" name="Oval 90"/>
            <p:cNvSpPr/>
            <p:nvPr/>
          </p:nvSpPr>
          <p:spPr>
            <a:xfrm>
              <a:off x="7467600" y="2952750"/>
              <a:ext cx="609600" cy="685800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0" name="Oval 89"/>
            <p:cNvSpPr/>
            <p:nvPr/>
          </p:nvSpPr>
          <p:spPr>
            <a:xfrm>
              <a:off x="6324600" y="1733550"/>
              <a:ext cx="609600" cy="685800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9" name="Oval 88"/>
            <p:cNvSpPr/>
            <p:nvPr/>
          </p:nvSpPr>
          <p:spPr>
            <a:xfrm>
              <a:off x="6400800" y="2952750"/>
              <a:ext cx="609600" cy="685800"/>
            </a:xfrm>
            <a:prstGeom prst="ellipse">
              <a:avLst/>
            </a:prstGeom>
            <a:solidFill>
              <a:srgbClr val="008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88" name="Oval 87"/>
            <p:cNvSpPr/>
            <p:nvPr/>
          </p:nvSpPr>
          <p:spPr>
            <a:xfrm>
              <a:off x="7467600" y="1733550"/>
              <a:ext cx="609600" cy="685800"/>
            </a:xfrm>
            <a:prstGeom prst="ellipse">
              <a:avLst/>
            </a:prstGeom>
            <a:solidFill>
              <a:srgbClr val="008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5" name="Group 4"/>
            <p:cNvGrpSpPr/>
            <p:nvPr/>
          </p:nvGrpSpPr>
          <p:grpSpPr>
            <a:xfrm>
              <a:off x="5576507" y="907018"/>
              <a:ext cx="3415093" cy="3394249"/>
              <a:chOff x="2455124" y="742950"/>
              <a:chExt cx="3415093" cy="3394249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2743200" y="1200150"/>
                <a:ext cx="25559" cy="280268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>
                <a:off x="5410200" y="1200150"/>
                <a:ext cx="25559" cy="280268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 flipH="1">
                <a:off x="3301063" y="2593415"/>
                <a:ext cx="236538" cy="287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2514600" y="3766079"/>
                <a:ext cx="3124200" cy="81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>
                <a:off x="3187859" y="2707433"/>
                <a:ext cx="0" cy="10668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flipH="1">
                <a:off x="5010309" y="2724150"/>
                <a:ext cx="1625" cy="105008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" name="Group 11"/>
              <p:cNvGrpSpPr/>
              <p:nvPr/>
            </p:nvGrpSpPr>
            <p:grpSpPr>
              <a:xfrm>
                <a:off x="4648200" y="2571750"/>
                <a:ext cx="782834" cy="152400"/>
                <a:chOff x="3331966" y="2838450"/>
                <a:chExt cx="782834" cy="152400"/>
              </a:xfrm>
            </p:grpSpPr>
            <p:cxnSp>
              <p:nvCxnSpPr>
                <p:cNvPr id="81" name="Straight Connector 80"/>
                <p:cNvCxnSpPr/>
                <p:nvPr/>
              </p:nvCxnSpPr>
              <p:spPr>
                <a:xfrm>
                  <a:off x="3581400" y="2838450"/>
                  <a:ext cx="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/>
                <p:cNvCxnSpPr/>
                <p:nvPr/>
              </p:nvCxnSpPr>
              <p:spPr>
                <a:xfrm>
                  <a:off x="3581400" y="2848870"/>
                  <a:ext cx="0" cy="8959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/>
                <p:cNvCxnSpPr/>
                <p:nvPr/>
              </p:nvCxnSpPr>
              <p:spPr>
                <a:xfrm flipV="1">
                  <a:off x="3810000" y="286226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/>
                <p:cNvCxnSpPr/>
                <p:nvPr/>
              </p:nvCxnSpPr>
              <p:spPr>
                <a:xfrm>
                  <a:off x="3581400" y="2938462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Straight Connector 84"/>
                <p:cNvCxnSpPr/>
                <p:nvPr/>
              </p:nvCxnSpPr>
              <p:spPr>
                <a:xfrm>
                  <a:off x="3581400" y="2990850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Straight Connector 85"/>
                <p:cNvCxnSpPr/>
                <p:nvPr/>
              </p:nvCxnSpPr>
              <p:spPr>
                <a:xfrm flipH="1">
                  <a:off x="3810000" y="2851745"/>
                  <a:ext cx="304800" cy="575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Straight Connector 86"/>
                <p:cNvCxnSpPr/>
                <p:nvPr/>
              </p:nvCxnSpPr>
              <p:spPr>
                <a:xfrm flipH="1">
                  <a:off x="3331966" y="2848870"/>
                  <a:ext cx="249434" cy="287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TextBox 12"/>
              <p:cNvSpPr txBox="1"/>
              <p:nvPr/>
            </p:nvSpPr>
            <p:spPr>
              <a:xfrm>
                <a:off x="2988582" y="2224076"/>
                <a:ext cx="380999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i="1" dirty="0">
                    <a:solidFill>
                      <a:srgbClr val="000090"/>
                    </a:solidFill>
                  </a:rPr>
                  <a:t>T</a:t>
                </a:r>
                <a:r>
                  <a:rPr lang="en-IN" sz="2400" b="1" i="1" baseline="-25000" dirty="0">
                    <a:solidFill>
                      <a:srgbClr val="000090"/>
                    </a:solidFill>
                  </a:rPr>
                  <a:t>1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4819809" y="2194952"/>
                <a:ext cx="380999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i="1" dirty="0">
                    <a:solidFill>
                      <a:srgbClr val="000090"/>
                    </a:solidFill>
                  </a:rPr>
                  <a:t>T</a:t>
                </a:r>
                <a:r>
                  <a:rPr lang="en-IN" sz="2400" b="1" i="1" baseline="-25000" dirty="0">
                    <a:solidFill>
                      <a:srgbClr val="000090"/>
                    </a:solidFill>
                  </a:rPr>
                  <a:t>2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4609636" y="2517464"/>
                <a:ext cx="292100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Y</a:t>
                </a:r>
              </a:p>
            </p:txBody>
          </p:sp>
          <p:grpSp>
            <p:nvGrpSpPr>
              <p:cNvPr id="16" name="Group 15"/>
              <p:cNvGrpSpPr/>
              <p:nvPr/>
            </p:nvGrpSpPr>
            <p:grpSpPr>
              <a:xfrm rot="5400000">
                <a:off x="4470002" y="1885468"/>
                <a:ext cx="228600" cy="128588"/>
                <a:chOff x="3092450" y="2138362"/>
                <a:chExt cx="228600" cy="128588"/>
              </a:xfrm>
            </p:grpSpPr>
            <p:cxnSp>
              <p:nvCxnSpPr>
                <p:cNvPr id="77" name="Straight Connector 76"/>
                <p:cNvCxnSpPr/>
                <p:nvPr/>
              </p:nvCxnSpPr>
              <p:spPr>
                <a:xfrm>
                  <a:off x="3092450" y="213836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Straight Connector 77"/>
                <p:cNvCxnSpPr/>
                <p:nvPr/>
              </p:nvCxnSpPr>
              <p:spPr>
                <a:xfrm flipV="1">
                  <a:off x="3321050" y="213836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9" name="Straight Connector 78"/>
                <p:cNvCxnSpPr/>
                <p:nvPr/>
              </p:nvCxnSpPr>
              <p:spPr>
                <a:xfrm>
                  <a:off x="3092450" y="2214562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Straight Connector 79"/>
                <p:cNvCxnSpPr/>
                <p:nvPr/>
              </p:nvCxnSpPr>
              <p:spPr>
                <a:xfrm>
                  <a:off x="3092450" y="2266950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7" name="Oval 16"/>
              <p:cNvSpPr/>
              <p:nvPr/>
            </p:nvSpPr>
            <p:spPr>
              <a:xfrm>
                <a:off x="4433490" y="1905709"/>
                <a:ext cx="76200" cy="8810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grpSp>
            <p:nvGrpSpPr>
              <p:cNvPr id="18" name="Group 17"/>
              <p:cNvGrpSpPr/>
              <p:nvPr/>
            </p:nvGrpSpPr>
            <p:grpSpPr>
              <a:xfrm rot="5400000">
                <a:off x="4469606" y="3052013"/>
                <a:ext cx="228600" cy="128588"/>
                <a:chOff x="3092450" y="2138362"/>
                <a:chExt cx="228600" cy="128588"/>
              </a:xfrm>
            </p:grpSpPr>
            <p:cxnSp>
              <p:nvCxnSpPr>
                <p:cNvPr id="73" name="Straight Connector 72"/>
                <p:cNvCxnSpPr/>
                <p:nvPr/>
              </p:nvCxnSpPr>
              <p:spPr>
                <a:xfrm>
                  <a:off x="3092450" y="213836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4" name="Straight Connector 73"/>
                <p:cNvCxnSpPr/>
                <p:nvPr/>
              </p:nvCxnSpPr>
              <p:spPr>
                <a:xfrm flipV="1">
                  <a:off x="3321050" y="213836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Connector 74"/>
                <p:cNvCxnSpPr/>
                <p:nvPr/>
              </p:nvCxnSpPr>
              <p:spPr>
                <a:xfrm>
                  <a:off x="3092450" y="2214562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Straight Connector 75"/>
                <p:cNvCxnSpPr/>
                <p:nvPr/>
              </p:nvCxnSpPr>
              <p:spPr>
                <a:xfrm>
                  <a:off x="3092450" y="2266950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" name="Group 18"/>
              <p:cNvGrpSpPr/>
              <p:nvPr/>
            </p:nvGrpSpPr>
            <p:grpSpPr>
              <a:xfrm rot="10800000">
                <a:off x="3532584" y="1837249"/>
                <a:ext cx="215106" cy="228600"/>
                <a:chOff x="2294730" y="2101783"/>
                <a:chExt cx="215106" cy="228600"/>
              </a:xfrm>
            </p:grpSpPr>
            <p:grpSp>
              <p:nvGrpSpPr>
                <p:cNvPr id="67" name="Group 66"/>
                <p:cNvGrpSpPr/>
                <p:nvPr/>
              </p:nvGrpSpPr>
              <p:grpSpPr>
                <a:xfrm rot="5400000">
                  <a:off x="2331242" y="2151789"/>
                  <a:ext cx="228600" cy="128588"/>
                  <a:chOff x="3092450" y="2138362"/>
                  <a:chExt cx="228600" cy="128588"/>
                </a:xfrm>
              </p:grpSpPr>
              <p:cxnSp>
                <p:nvCxnSpPr>
                  <p:cNvPr id="69" name="Straight Connector 68"/>
                  <p:cNvCxnSpPr/>
                  <p:nvPr/>
                </p:nvCxnSpPr>
                <p:spPr>
                  <a:xfrm>
                    <a:off x="3092450" y="2138362"/>
                    <a:ext cx="0" cy="762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0" name="Straight Connector 69"/>
                  <p:cNvCxnSpPr/>
                  <p:nvPr/>
                </p:nvCxnSpPr>
                <p:spPr>
                  <a:xfrm flipV="1">
                    <a:off x="3321050" y="2138362"/>
                    <a:ext cx="0" cy="762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/>
                  <p:cNvCxnSpPr/>
                  <p:nvPr/>
                </p:nvCxnSpPr>
                <p:spPr>
                  <a:xfrm>
                    <a:off x="3092450" y="2214562"/>
                    <a:ext cx="2286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2" name="Straight Connector 71"/>
                  <p:cNvCxnSpPr/>
                  <p:nvPr/>
                </p:nvCxnSpPr>
                <p:spPr>
                  <a:xfrm>
                    <a:off x="3092450" y="2266950"/>
                    <a:ext cx="2286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68" name="Oval 67"/>
                <p:cNvSpPr/>
                <p:nvPr/>
              </p:nvSpPr>
              <p:spPr>
                <a:xfrm>
                  <a:off x="2294730" y="2172030"/>
                  <a:ext cx="76200" cy="88106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/>
                </a:p>
              </p:txBody>
            </p:sp>
          </p:grpSp>
          <p:grpSp>
            <p:nvGrpSpPr>
              <p:cNvPr id="20" name="Group 19"/>
              <p:cNvGrpSpPr/>
              <p:nvPr/>
            </p:nvGrpSpPr>
            <p:grpSpPr>
              <a:xfrm rot="16200000">
                <a:off x="3477022" y="3055059"/>
                <a:ext cx="228600" cy="128588"/>
                <a:chOff x="3092450" y="2138362"/>
                <a:chExt cx="228600" cy="128588"/>
              </a:xfrm>
            </p:grpSpPr>
            <p:cxnSp>
              <p:nvCxnSpPr>
                <p:cNvPr id="63" name="Straight Connector 62"/>
                <p:cNvCxnSpPr/>
                <p:nvPr/>
              </p:nvCxnSpPr>
              <p:spPr>
                <a:xfrm>
                  <a:off x="3092450" y="213836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/>
                <p:cNvCxnSpPr/>
                <p:nvPr/>
              </p:nvCxnSpPr>
              <p:spPr>
                <a:xfrm flipV="1">
                  <a:off x="3321050" y="213836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>
                  <a:off x="3092450" y="2214562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>
                <a:xfrm>
                  <a:off x="3092450" y="2266950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1" name="Straight Connector 20"/>
              <p:cNvCxnSpPr/>
              <p:nvPr/>
            </p:nvCxnSpPr>
            <p:spPr>
              <a:xfrm>
                <a:off x="3532584" y="2065848"/>
                <a:ext cx="0" cy="93057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>
                <a:off x="4648596" y="2064062"/>
                <a:ext cx="0" cy="94399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>
                <a:off x="3671489" y="3123489"/>
                <a:ext cx="22860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3527028" y="2591974"/>
                <a:ext cx="37306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>
                <a:stCxn id="68" idx="2"/>
                <a:endCxn id="68" idx="2"/>
              </p:cNvCxnSpPr>
              <p:nvPr/>
            </p:nvCxnSpPr>
            <p:spPr>
              <a:xfrm>
                <a:off x="3747690" y="1951549"/>
                <a:ext cx="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Elbow Connector 25"/>
              <p:cNvCxnSpPr>
                <a:stCxn id="68" idx="2"/>
              </p:cNvCxnSpPr>
              <p:nvPr/>
            </p:nvCxnSpPr>
            <p:spPr>
              <a:xfrm>
                <a:off x="3747690" y="1951549"/>
                <a:ext cx="76200" cy="1164758"/>
              </a:xfrm>
              <a:prstGeom prst="bentConnector2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4275138" y="2584336"/>
                <a:ext cx="37306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>
                <a:off x="4281089" y="3120612"/>
                <a:ext cx="22860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H="1">
                <a:off x="3900090" y="2584336"/>
                <a:ext cx="375048" cy="5319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3900090" y="2591974"/>
                <a:ext cx="375048" cy="52433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Elbow Connector 30"/>
              <p:cNvCxnSpPr>
                <a:stCxn id="17" idx="2"/>
              </p:cNvCxnSpPr>
              <p:nvPr/>
            </p:nvCxnSpPr>
            <p:spPr>
              <a:xfrm rot="10800000" flipV="1">
                <a:off x="4357290" y="1949761"/>
                <a:ext cx="76200" cy="1173727"/>
              </a:xfrm>
              <a:prstGeom prst="bentConnector2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flipV="1">
                <a:off x="3527028" y="1697616"/>
                <a:ext cx="0" cy="13784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V="1">
                <a:off x="4641850" y="1697616"/>
                <a:ext cx="0" cy="13784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3527028" y="1697616"/>
                <a:ext cx="112117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5" name="Group 34"/>
              <p:cNvGrpSpPr/>
              <p:nvPr/>
            </p:nvGrpSpPr>
            <p:grpSpPr>
              <a:xfrm rot="10800000">
                <a:off x="3527028" y="3237513"/>
                <a:ext cx="1121172" cy="137846"/>
                <a:chOff x="2217738" y="3638550"/>
                <a:chExt cx="1121172" cy="137846"/>
              </a:xfrm>
            </p:grpSpPr>
            <p:cxnSp>
              <p:nvCxnSpPr>
                <p:cNvPr id="60" name="Straight Connector 59"/>
                <p:cNvCxnSpPr/>
                <p:nvPr/>
              </p:nvCxnSpPr>
              <p:spPr>
                <a:xfrm flipV="1">
                  <a:off x="2217738" y="3638550"/>
                  <a:ext cx="0" cy="1378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/>
                <p:cNvCxnSpPr/>
                <p:nvPr/>
              </p:nvCxnSpPr>
              <p:spPr>
                <a:xfrm flipV="1">
                  <a:off x="3332560" y="3638550"/>
                  <a:ext cx="0" cy="1378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/>
                <p:nvPr/>
              </p:nvCxnSpPr>
              <p:spPr>
                <a:xfrm>
                  <a:off x="2217738" y="3638550"/>
                  <a:ext cx="1121172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6" name="Straight Arrow Connector 35"/>
              <p:cNvCxnSpPr/>
              <p:nvPr/>
            </p:nvCxnSpPr>
            <p:spPr>
              <a:xfrm flipV="1">
                <a:off x="4087613" y="1392816"/>
                <a:ext cx="0" cy="304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" name="Group 36"/>
              <p:cNvGrpSpPr/>
              <p:nvPr/>
            </p:nvGrpSpPr>
            <p:grpSpPr>
              <a:xfrm>
                <a:off x="3998159" y="3365190"/>
                <a:ext cx="190500" cy="341276"/>
                <a:chOff x="5981700" y="1581150"/>
                <a:chExt cx="990600" cy="685800"/>
              </a:xfrm>
            </p:grpSpPr>
            <p:cxnSp>
              <p:nvCxnSpPr>
                <p:cNvPr id="56" name="Straight Connector 55"/>
                <p:cNvCxnSpPr/>
                <p:nvPr/>
              </p:nvCxnSpPr>
              <p:spPr>
                <a:xfrm>
                  <a:off x="5981700" y="2080345"/>
                  <a:ext cx="990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>
                <a:xfrm>
                  <a:off x="6172200" y="2190750"/>
                  <a:ext cx="609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>
                <a:xfrm>
                  <a:off x="6324600" y="2266950"/>
                  <a:ext cx="3048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>
                <a:xfrm>
                  <a:off x="6477000" y="1581150"/>
                  <a:ext cx="0" cy="49919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8" name="Group 37"/>
              <p:cNvGrpSpPr/>
              <p:nvPr/>
            </p:nvGrpSpPr>
            <p:grpSpPr>
              <a:xfrm>
                <a:off x="2761314" y="2573808"/>
                <a:ext cx="533400" cy="152400"/>
                <a:chOff x="1447800" y="2832696"/>
                <a:chExt cx="533400" cy="152400"/>
              </a:xfrm>
            </p:grpSpPr>
            <p:cxnSp>
              <p:nvCxnSpPr>
                <p:cNvPr id="50" name="Straight Connector 49"/>
                <p:cNvCxnSpPr/>
                <p:nvPr/>
              </p:nvCxnSpPr>
              <p:spPr>
                <a:xfrm>
                  <a:off x="1752600" y="2832696"/>
                  <a:ext cx="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Straight Connector 50"/>
                <p:cNvCxnSpPr/>
                <p:nvPr/>
              </p:nvCxnSpPr>
              <p:spPr>
                <a:xfrm>
                  <a:off x="1752600" y="2856508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/>
                <p:cNvCxnSpPr/>
                <p:nvPr/>
              </p:nvCxnSpPr>
              <p:spPr>
                <a:xfrm>
                  <a:off x="1752600" y="2932708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>
                <a:xfrm>
                  <a:off x="1752600" y="2985096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>
                <a:xfrm flipH="1">
                  <a:off x="1447800" y="2856508"/>
                  <a:ext cx="304800" cy="575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>
                <a:xfrm flipV="1">
                  <a:off x="1981200" y="285758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" name="TextBox 38"/>
              <p:cNvSpPr txBox="1"/>
              <p:nvPr/>
            </p:nvSpPr>
            <p:spPr>
              <a:xfrm>
                <a:off x="3179247" y="1666975"/>
                <a:ext cx="380999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i="1" dirty="0">
                    <a:solidFill>
                      <a:srgbClr val="000090"/>
                    </a:solidFill>
                  </a:rPr>
                  <a:t>T</a:t>
                </a:r>
                <a:r>
                  <a:rPr lang="en-IN" sz="2400" b="1" i="1" baseline="-25000" dirty="0">
                    <a:solidFill>
                      <a:srgbClr val="000090"/>
                    </a:solidFill>
                  </a:rPr>
                  <a:t>3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3225423" y="2896659"/>
                <a:ext cx="380999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i="1" dirty="0">
                    <a:solidFill>
                      <a:srgbClr val="000090"/>
                    </a:solidFill>
                  </a:rPr>
                  <a:t>T</a:t>
                </a:r>
                <a:r>
                  <a:rPr lang="en-IN" sz="2400" b="1" i="1" baseline="-25000" dirty="0">
                    <a:solidFill>
                      <a:srgbClr val="000090"/>
                    </a:solidFill>
                  </a:rPr>
                  <a:t>5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4585891" y="1679157"/>
                <a:ext cx="380999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i="1" dirty="0">
                    <a:solidFill>
                      <a:srgbClr val="000090"/>
                    </a:solidFill>
                  </a:rPr>
                  <a:t>T</a:t>
                </a:r>
                <a:r>
                  <a:rPr lang="en-IN" sz="2400" b="1" i="1" baseline="-25000" dirty="0">
                    <a:solidFill>
                      <a:srgbClr val="000090"/>
                    </a:solidFill>
                  </a:rPr>
                  <a:t>4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4572000" y="2896659"/>
                <a:ext cx="380999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i="1" dirty="0">
                    <a:solidFill>
                      <a:srgbClr val="000090"/>
                    </a:solidFill>
                  </a:rPr>
                  <a:t>T</a:t>
                </a:r>
                <a:r>
                  <a:rPr lang="en-IN" sz="2400" b="1" i="1" baseline="-25000" dirty="0">
                    <a:solidFill>
                      <a:srgbClr val="000090"/>
                    </a:solidFill>
                  </a:rPr>
                  <a:t>6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3276600" y="2506194"/>
                <a:ext cx="292100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X</a:t>
                </a:r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3623491" y="742950"/>
                <a:ext cx="903132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>
                    <a:solidFill>
                      <a:srgbClr val="800000"/>
                    </a:solidFill>
                  </a:rPr>
                  <a:t>Bit lines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2455124" y="3774233"/>
                <a:ext cx="301628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b</a:t>
                </a:r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5441674" y="3763252"/>
                <a:ext cx="428543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b’</a:t>
                </a:r>
              </a:p>
            </p:txBody>
          </p:sp>
          <p:cxnSp>
            <p:nvCxnSpPr>
              <p:cNvPr id="47" name="Straight Arrow Connector 46"/>
              <p:cNvCxnSpPr/>
              <p:nvPr/>
            </p:nvCxnSpPr>
            <p:spPr>
              <a:xfrm flipV="1">
                <a:off x="2819400" y="1123950"/>
                <a:ext cx="838200" cy="311150"/>
              </a:xfrm>
              <a:prstGeom prst="straightConnector1">
                <a:avLst/>
              </a:prstGeom>
              <a:ln w="28575">
                <a:solidFill>
                  <a:srgbClr val="80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/>
              <p:cNvCxnSpPr/>
              <p:nvPr/>
            </p:nvCxnSpPr>
            <p:spPr>
              <a:xfrm>
                <a:off x="4495800" y="1123950"/>
                <a:ext cx="858715" cy="381000"/>
              </a:xfrm>
              <a:prstGeom prst="straightConnector1">
                <a:avLst/>
              </a:prstGeom>
              <a:ln w="28575">
                <a:solidFill>
                  <a:srgbClr val="8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TextBox 48"/>
              <p:cNvSpPr txBox="1"/>
              <p:nvPr/>
            </p:nvSpPr>
            <p:spPr>
              <a:xfrm>
                <a:off x="3581400" y="3790950"/>
                <a:ext cx="1212192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rgbClr val="800000"/>
                    </a:solidFill>
                  </a:rPr>
                  <a:t>Word line</a:t>
                </a:r>
              </a:p>
            </p:txBody>
          </p:sp>
        </p:grpSp>
      </p:grpSp>
      <p:sp>
        <p:nvSpPr>
          <p:cNvPr id="93" name="Slide Number Placeholder 9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31727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464" y="365125"/>
            <a:ext cx="10843336" cy="1325563"/>
          </a:xfrm>
        </p:spPr>
        <p:txBody>
          <a:bodyPr>
            <a:normAutofit/>
          </a:bodyPr>
          <a:lstStyle/>
          <a:p>
            <a:r>
              <a:rPr lang="en-IN" b="1" dirty="0"/>
              <a:t>In State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498602"/>
            <a:ext cx="5791200" cy="4165599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IN" sz="2400" dirty="0"/>
              <a:t>In state 1 the voltage at </a:t>
            </a:r>
            <a:r>
              <a:rPr lang="en-IN" sz="2400" i="1" dirty="0">
                <a:solidFill>
                  <a:srgbClr val="C00000"/>
                </a:solidFill>
              </a:rPr>
              <a:t>X</a:t>
            </a:r>
            <a:r>
              <a:rPr lang="en-IN" sz="2400" dirty="0"/>
              <a:t> is high and the voltage at </a:t>
            </a:r>
            <a:r>
              <a:rPr lang="en-IN" sz="2400" i="1" dirty="0">
                <a:solidFill>
                  <a:srgbClr val="C00000"/>
                </a:solidFill>
              </a:rPr>
              <a:t>Y</a:t>
            </a:r>
            <a:r>
              <a:rPr lang="en-IN" sz="2400" dirty="0"/>
              <a:t> is low.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When the voltage at </a:t>
            </a:r>
            <a:r>
              <a:rPr lang="en-IN" sz="2400" i="1" dirty="0">
                <a:solidFill>
                  <a:srgbClr val="C00000"/>
                </a:solidFill>
              </a:rPr>
              <a:t>X</a:t>
            </a:r>
            <a:r>
              <a:rPr lang="en-IN" sz="2400" dirty="0"/>
              <a:t> is high, transistors (</a:t>
            </a:r>
            <a:r>
              <a:rPr lang="en-IN" sz="2400" i="1" dirty="0">
                <a:solidFill>
                  <a:srgbClr val="C00000"/>
                </a:solidFill>
              </a:rPr>
              <a:t>T3</a:t>
            </a:r>
            <a:r>
              <a:rPr lang="en-IN" sz="2400" dirty="0"/>
              <a:t> &amp; </a:t>
            </a:r>
            <a:r>
              <a:rPr lang="en-IN" sz="2400" i="1" dirty="0">
                <a:solidFill>
                  <a:srgbClr val="C00000"/>
                </a:solidFill>
              </a:rPr>
              <a:t>T6</a:t>
            </a:r>
            <a:r>
              <a:rPr lang="en-IN" sz="2400" dirty="0"/>
              <a:t>)  are on while (</a:t>
            </a:r>
            <a:r>
              <a:rPr lang="en-IN" sz="2400" i="1" dirty="0">
                <a:solidFill>
                  <a:srgbClr val="C00000"/>
                </a:solidFill>
              </a:rPr>
              <a:t>T4</a:t>
            </a:r>
            <a:r>
              <a:rPr lang="en-IN" sz="2400" dirty="0"/>
              <a:t> &amp; </a:t>
            </a:r>
            <a:r>
              <a:rPr lang="en-IN" sz="2400" i="1" dirty="0">
                <a:solidFill>
                  <a:srgbClr val="C00000"/>
                </a:solidFill>
              </a:rPr>
              <a:t>T5</a:t>
            </a:r>
            <a:r>
              <a:rPr lang="en-IN" sz="2400" dirty="0"/>
              <a:t>) are off.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When word line is activated, </a:t>
            </a:r>
            <a:r>
              <a:rPr lang="en-IN" sz="2400" i="1" dirty="0">
                <a:solidFill>
                  <a:srgbClr val="C00000"/>
                </a:solidFill>
              </a:rPr>
              <a:t>T1</a:t>
            </a:r>
            <a:r>
              <a:rPr lang="en-IN" sz="2400" dirty="0"/>
              <a:t> and </a:t>
            </a:r>
            <a:r>
              <a:rPr lang="en-IN" sz="2400" i="1" dirty="0">
                <a:solidFill>
                  <a:srgbClr val="C00000"/>
                </a:solidFill>
              </a:rPr>
              <a:t>T2</a:t>
            </a:r>
            <a:r>
              <a:rPr lang="en-IN" sz="2400" dirty="0"/>
              <a:t> are turned on and the bit lines </a:t>
            </a:r>
            <a:r>
              <a:rPr lang="en-IN" sz="2400" i="1" dirty="0">
                <a:solidFill>
                  <a:srgbClr val="C00000"/>
                </a:solidFill>
              </a:rPr>
              <a:t>b</a:t>
            </a:r>
            <a:r>
              <a:rPr lang="en-IN" sz="2400" dirty="0"/>
              <a:t> will have </a:t>
            </a:r>
            <a:r>
              <a:rPr lang="en-IN" sz="2400" i="1" dirty="0">
                <a:solidFill>
                  <a:srgbClr val="C00000"/>
                </a:solidFill>
              </a:rPr>
              <a:t>1</a:t>
            </a:r>
            <a:r>
              <a:rPr lang="en-IN" sz="2400" dirty="0"/>
              <a:t> and </a:t>
            </a:r>
            <a:r>
              <a:rPr lang="en-IN" sz="2400" i="1" dirty="0">
                <a:solidFill>
                  <a:srgbClr val="C00000"/>
                </a:solidFill>
              </a:rPr>
              <a:t>b’</a:t>
            </a:r>
            <a:r>
              <a:rPr lang="en-IN" sz="2400" dirty="0"/>
              <a:t> will have </a:t>
            </a:r>
            <a:r>
              <a:rPr lang="en-IN" sz="2400" i="1" dirty="0">
                <a:solidFill>
                  <a:srgbClr val="C00000"/>
                </a:solidFill>
              </a:rPr>
              <a:t>0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pSp>
        <p:nvGrpSpPr>
          <p:cNvPr id="88" name="Group 87"/>
          <p:cNvGrpSpPr/>
          <p:nvPr/>
        </p:nvGrpSpPr>
        <p:grpSpPr>
          <a:xfrm>
            <a:off x="7435344" y="1209358"/>
            <a:ext cx="4553457" cy="4525665"/>
            <a:chOff x="5576507" y="907018"/>
            <a:chExt cx="3415093" cy="3394249"/>
          </a:xfrm>
        </p:grpSpPr>
        <p:sp>
          <p:nvSpPr>
            <p:cNvPr id="89" name="Oval 88"/>
            <p:cNvSpPr/>
            <p:nvPr/>
          </p:nvSpPr>
          <p:spPr>
            <a:xfrm>
              <a:off x="7467600" y="2952750"/>
              <a:ext cx="609600" cy="685800"/>
            </a:xfrm>
            <a:prstGeom prst="ellipse">
              <a:avLst/>
            </a:prstGeom>
            <a:solidFill>
              <a:srgbClr val="008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0" name="Oval 89"/>
            <p:cNvSpPr/>
            <p:nvPr/>
          </p:nvSpPr>
          <p:spPr>
            <a:xfrm>
              <a:off x="6324600" y="1733550"/>
              <a:ext cx="609600" cy="685800"/>
            </a:xfrm>
            <a:prstGeom prst="ellipse">
              <a:avLst/>
            </a:prstGeom>
            <a:solidFill>
              <a:srgbClr val="008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1" name="Oval 90"/>
            <p:cNvSpPr/>
            <p:nvPr/>
          </p:nvSpPr>
          <p:spPr>
            <a:xfrm>
              <a:off x="6400800" y="2952750"/>
              <a:ext cx="609600" cy="685800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92" name="Oval 91"/>
            <p:cNvSpPr/>
            <p:nvPr/>
          </p:nvSpPr>
          <p:spPr>
            <a:xfrm>
              <a:off x="7467600" y="1733550"/>
              <a:ext cx="609600" cy="685800"/>
            </a:xfrm>
            <a:prstGeom prst="ellipse">
              <a:avLst/>
            </a:prstGeom>
            <a:solidFill>
              <a:srgbClr val="FF66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grpSp>
          <p:nvGrpSpPr>
            <p:cNvPr id="93" name="Group 92"/>
            <p:cNvGrpSpPr/>
            <p:nvPr/>
          </p:nvGrpSpPr>
          <p:grpSpPr>
            <a:xfrm>
              <a:off x="5576507" y="907018"/>
              <a:ext cx="3415093" cy="3394249"/>
              <a:chOff x="2455124" y="742950"/>
              <a:chExt cx="3415093" cy="3394249"/>
            </a:xfrm>
          </p:grpSpPr>
          <p:cxnSp>
            <p:nvCxnSpPr>
              <p:cNvPr id="94" name="Straight Connector 93"/>
              <p:cNvCxnSpPr/>
              <p:nvPr/>
            </p:nvCxnSpPr>
            <p:spPr>
              <a:xfrm>
                <a:off x="2743200" y="1200150"/>
                <a:ext cx="25559" cy="280268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/>
              <p:cNvCxnSpPr/>
              <p:nvPr/>
            </p:nvCxnSpPr>
            <p:spPr>
              <a:xfrm>
                <a:off x="5410200" y="1200150"/>
                <a:ext cx="25559" cy="280268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flipH="1">
                <a:off x="3301063" y="2593415"/>
                <a:ext cx="236538" cy="287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/>
              <p:cNvCxnSpPr/>
              <p:nvPr/>
            </p:nvCxnSpPr>
            <p:spPr>
              <a:xfrm flipV="1">
                <a:off x="2514600" y="3766079"/>
                <a:ext cx="3124200" cy="8154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/>
              <p:cNvCxnSpPr/>
              <p:nvPr/>
            </p:nvCxnSpPr>
            <p:spPr>
              <a:xfrm>
                <a:off x="3187859" y="2707433"/>
                <a:ext cx="0" cy="10668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/>
              <p:cNvCxnSpPr/>
              <p:nvPr/>
            </p:nvCxnSpPr>
            <p:spPr>
              <a:xfrm flipH="1">
                <a:off x="5010309" y="2724150"/>
                <a:ext cx="1625" cy="105008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0" name="Group 99"/>
              <p:cNvGrpSpPr/>
              <p:nvPr/>
            </p:nvGrpSpPr>
            <p:grpSpPr>
              <a:xfrm>
                <a:off x="4648200" y="2571750"/>
                <a:ext cx="782834" cy="152400"/>
                <a:chOff x="3331966" y="2838450"/>
                <a:chExt cx="782834" cy="152400"/>
              </a:xfrm>
            </p:grpSpPr>
            <p:cxnSp>
              <p:nvCxnSpPr>
                <p:cNvPr id="169" name="Straight Connector 168"/>
                <p:cNvCxnSpPr/>
                <p:nvPr/>
              </p:nvCxnSpPr>
              <p:spPr>
                <a:xfrm>
                  <a:off x="3581400" y="2838450"/>
                  <a:ext cx="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/>
                <p:cNvCxnSpPr/>
                <p:nvPr/>
              </p:nvCxnSpPr>
              <p:spPr>
                <a:xfrm>
                  <a:off x="3581400" y="2848870"/>
                  <a:ext cx="0" cy="89592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/>
                <p:cNvCxnSpPr/>
                <p:nvPr/>
              </p:nvCxnSpPr>
              <p:spPr>
                <a:xfrm flipV="1">
                  <a:off x="3810000" y="286226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/>
                <p:cNvCxnSpPr/>
                <p:nvPr/>
              </p:nvCxnSpPr>
              <p:spPr>
                <a:xfrm>
                  <a:off x="3581400" y="2938462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/>
                <p:cNvCxnSpPr/>
                <p:nvPr/>
              </p:nvCxnSpPr>
              <p:spPr>
                <a:xfrm>
                  <a:off x="3581400" y="2990850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/>
                <p:cNvCxnSpPr/>
                <p:nvPr/>
              </p:nvCxnSpPr>
              <p:spPr>
                <a:xfrm flipH="1">
                  <a:off x="3810000" y="2851745"/>
                  <a:ext cx="304800" cy="575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/>
                <p:cNvCxnSpPr/>
                <p:nvPr/>
              </p:nvCxnSpPr>
              <p:spPr>
                <a:xfrm flipH="1">
                  <a:off x="3331966" y="2848870"/>
                  <a:ext cx="249434" cy="287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1" name="TextBox 100"/>
              <p:cNvSpPr txBox="1"/>
              <p:nvPr/>
            </p:nvSpPr>
            <p:spPr>
              <a:xfrm>
                <a:off x="2988582" y="2224076"/>
                <a:ext cx="380999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i="1" dirty="0">
                    <a:solidFill>
                      <a:srgbClr val="000090"/>
                    </a:solidFill>
                  </a:rPr>
                  <a:t>T</a:t>
                </a:r>
                <a:r>
                  <a:rPr lang="en-IN" sz="2400" b="1" i="1" baseline="-25000" dirty="0">
                    <a:solidFill>
                      <a:srgbClr val="000090"/>
                    </a:solidFill>
                  </a:rPr>
                  <a:t>1</a:t>
                </a:r>
              </a:p>
            </p:txBody>
          </p:sp>
          <p:sp>
            <p:nvSpPr>
              <p:cNvPr id="102" name="TextBox 101"/>
              <p:cNvSpPr txBox="1"/>
              <p:nvPr/>
            </p:nvSpPr>
            <p:spPr>
              <a:xfrm>
                <a:off x="4819809" y="2194952"/>
                <a:ext cx="380999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i="1" dirty="0">
                    <a:solidFill>
                      <a:srgbClr val="000090"/>
                    </a:solidFill>
                  </a:rPr>
                  <a:t>T</a:t>
                </a:r>
                <a:r>
                  <a:rPr lang="en-IN" sz="2400" b="1" i="1" baseline="-25000" dirty="0">
                    <a:solidFill>
                      <a:srgbClr val="000090"/>
                    </a:solidFill>
                  </a:rPr>
                  <a:t>2</a:t>
                </a:r>
              </a:p>
            </p:txBody>
          </p:sp>
          <p:sp>
            <p:nvSpPr>
              <p:cNvPr id="103" name="TextBox 102"/>
              <p:cNvSpPr txBox="1"/>
              <p:nvPr/>
            </p:nvSpPr>
            <p:spPr>
              <a:xfrm>
                <a:off x="4609636" y="2517464"/>
                <a:ext cx="292100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Y</a:t>
                </a:r>
              </a:p>
            </p:txBody>
          </p:sp>
          <p:grpSp>
            <p:nvGrpSpPr>
              <p:cNvPr id="104" name="Group 103"/>
              <p:cNvGrpSpPr/>
              <p:nvPr/>
            </p:nvGrpSpPr>
            <p:grpSpPr>
              <a:xfrm rot="5400000">
                <a:off x="4470002" y="1885468"/>
                <a:ext cx="228600" cy="128588"/>
                <a:chOff x="3092450" y="2138362"/>
                <a:chExt cx="228600" cy="128588"/>
              </a:xfrm>
            </p:grpSpPr>
            <p:cxnSp>
              <p:nvCxnSpPr>
                <p:cNvPr id="165" name="Straight Connector 164"/>
                <p:cNvCxnSpPr/>
                <p:nvPr/>
              </p:nvCxnSpPr>
              <p:spPr>
                <a:xfrm>
                  <a:off x="3092450" y="213836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/>
                <p:cNvCxnSpPr/>
                <p:nvPr/>
              </p:nvCxnSpPr>
              <p:spPr>
                <a:xfrm flipV="1">
                  <a:off x="3321050" y="213836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/>
                <p:cNvCxnSpPr/>
                <p:nvPr/>
              </p:nvCxnSpPr>
              <p:spPr>
                <a:xfrm>
                  <a:off x="3092450" y="2214562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/>
                <p:cNvCxnSpPr/>
                <p:nvPr/>
              </p:nvCxnSpPr>
              <p:spPr>
                <a:xfrm>
                  <a:off x="3092450" y="2266950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5" name="Oval 104"/>
              <p:cNvSpPr/>
              <p:nvPr/>
            </p:nvSpPr>
            <p:spPr>
              <a:xfrm>
                <a:off x="4433490" y="1905709"/>
                <a:ext cx="76200" cy="88106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grpSp>
            <p:nvGrpSpPr>
              <p:cNvPr id="106" name="Group 105"/>
              <p:cNvGrpSpPr/>
              <p:nvPr/>
            </p:nvGrpSpPr>
            <p:grpSpPr>
              <a:xfrm rot="5400000">
                <a:off x="4469606" y="3052013"/>
                <a:ext cx="228600" cy="128588"/>
                <a:chOff x="3092450" y="2138362"/>
                <a:chExt cx="228600" cy="128588"/>
              </a:xfrm>
            </p:grpSpPr>
            <p:cxnSp>
              <p:nvCxnSpPr>
                <p:cNvPr id="161" name="Straight Connector 160"/>
                <p:cNvCxnSpPr/>
                <p:nvPr/>
              </p:nvCxnSpPr>
              <p:spPr>
                <a:xfrm>
                  <a:off x="3092450" y="213836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/>
                <p:cNvCxnSpPr/>
                <p:nvPr/>
              </p:nvCxnSpPr>
              <p:spPr>
                <a:xfrm flipV="1">
                  <a:off x="3321050" y="213836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/>
                <p:cNvCxnSpPr/>
                <p:nvPr/>
              </p:nvCxnSpPr>
              <p:spPr>
                <a:xfrm>
                  <a:off x="3092450" y="2214562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/>
                <p:cNvCxnSpPr/>
                <p:nvPr/>
              </p:nvCxnSpPr>
              <p:spPr>
                <a:xfrm>
                  <a:off x="3092450" y="2266950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7" name="Group 106"/>
              <p:cNvGrpSpPr/>
              <p:nvPr/>
            </p:nvGrpSpPr>
            <p:grpSpPr>
              <a:xfrm rot="10800000">
                <a:off x="3532584" y="1837249"/>
                <a:ext cx="215106" cy="228600"/>
                <a:chOff x="2294730" y="2101783"/>
                <a:chExt cx="215106" cy="228600"/>
              </a:xfrm>
            </p:grpSpPr>
            <p:grpSp>
              <p:nvGrpSpPr>
                <p:cNvPr id="155" name="Group 154"/>
                <p:cNvGrpSpPr/>
                <p:nvPr/>
              </p:nvGrpSpPr>
              <p:grpSpPr>
                <a:xfrm rot="5400000">
                  <a:off x="2331242" y="2151789"/>
                  <a:ext cx="228600" cy="128588"/>
                  <a:chOff x="3092450" y="2138362"/>
                  <a:chExt cx="228600" cy="128588"/>
                </a:xfrm>
              </p:grpSpPr>
              <p:cxnSp>
                <p:nvCxnSpPr>
                  <p:cNvPr id="157" name="Straight Connector 156"/>
                  <p:cNvCxnSpPr/>
                  <p:nvPr/>
                </p:nvCxnSpPr>
                <p:spPr>
                  <a:xfrm>
                    <a:off x="3092450" y="2138362"/>
                    <a:ext cx="0" cy="762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8" name="Straight Connector 157"/>
                  <p:cNvCxnSpPr/>
                  <p:nvPr/>
                </p:nvCxnSpPr>
                <p:spPr>
                  <a:xfrm flipV="1">
                    <a:off x="3321050" y="2138362"/>
                    <a:ext cx="0" cy="7620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9" name="Straight Connector 158"/>
                  <p:cNvCxnSpPr/>
                  <p:nvPr/>
                </p:nvCxnSpPr>
                <p:spPr>
                  <a:xfrm>
                    <a:off x="3092450" y="2214562"/>
                    <a:ext cx="2286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0" name="Straight Connector 159"/>
                  <p:cNvCxnSpPr/>
                  <p:nvPr/>
                </p:nvCxnSpPr>
                <p:spPr>
                  <a:xfrm>
                    <a:off x="3092450" y="2266950"/>
                    <a:ext cx="228600" cy="0"/>
                  </a:xfrm>
                  <a:prstGeom prst="line">
                    <a:avLst/>
                  </a:prstGeom>
                  <a:ln w="28575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56" name="Oval 155"/>
                <p:cNvSpPr/>
                <p:nvPr/>
              </p:nvSpPr>
              <p:spPr>
                <a:xfrm>
                  <a:off x="2294730" y="2172030"/>
                  <a:ext cx="76200" cy="88106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sz="2400"/>
                </a:p>
              </p:txBody>
            </p:sp>
          </p:grpSp>
          <p:grpSp>
            <p:nvGrpSpPr>
              <p:cNvPr id="108" name="Group 107"/>
              <p:cNvGrpSpPr/>
              <p:nvPr/>
            </p:nvGrpSpPr>
            <p:grpSpPr>
              <a:xfrm rot="16200000">
                <a:off x="3477022" y="3055059"/>
                <a:ext cx="228600" cy="128588"/>
                <a:chOff x="3092450" y="2138362"/>
                <a:chExt cx="228600" cy="128588"/>
              </a:xfrm>
            </p:grpSpPr>
            <p:cxnSp>
              <p:nvCxnSpPr>
                <p:cNvPr id="151" name="Straight Connector 150"/>
                <p:cNvCxnSpPr/>
                <p:nvPr/>
              </p:nvCxnSpPr>
              <p:spPr>
                <a:xfrm>
                  <a:off x="3092450" y="213836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/>
                <p:cNvCxnSpPr/>
                <p:nvPr/>
              </p:nvCxnSpPr>
              <p:spPr>
                <a:xfrm flipV="1">
                  <a:off x="3321050" y="213836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/>
                <p:cNvCxnSpPr/>
                <p:nvPr/>
              </p:nvCxnSpPr>
              <p:spPr>
                <a:xfrm>
                  <a:off x="3092450" y="2214562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/>
                <p:cNvCxnSpPr/>
                <p:nvPr/>
              </p:nvCxnSpPr>
              <p:spPr>
                <a:xfrm>
                  <a:off x="3092450" y="2266950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9" name="Straight Connector 108"/>
              <p:cNvCxnSpPr/>
              <p:nvPr/>
            </p:nvCxnSpPr>
            <p:spPr>
              <a:xfrm>
                <a:off x="3532584" y="2065848"/>
                <a:ext cx="0" cy="93057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4648596" y="2064062"/>
                <a:ext cx="0" cy="94399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3671489" y="3123489"/>
                <a:ext cx="228601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>
                <a:off x="3527028" y="2591974"/>
                <a:ext cx="37306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/>
              <p:cNvCxnSpPr>
                <a:stCxn id="156" idx="2"/>
                <a:endCxn id="156" idx="2"/>
              </p:cNvCxnSpPr>
              <p:nvPr/>
            </p:nvCxnSpPr>
            <p:spPr>
              <a:xfrm>
                <a:off x="3747690" y="1951549"/>
                <a:ext cx="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Elbow Connector 113"/>
              <p:cNvCxnSpPr>
                <a:stCxn id="156" idx="2"/>
              </p:cNvCxnSpPr>
              <p:nvPr/>
            </p:nvCxnSpPr>
            <p:spPr>
              <a:xfrm>
                <a:off x="3747690" y="1951549"/>
                <a:ext cx="76200" cy="1164758"/>
              </a:xfrm>
              <a:prstGeom prst="bentConnector2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/>
              <p:cNvCxnSpPr/>
              <p:nvPr/>
            </p:nvCxnSpPr>
            <p:spPr>
              <a:xfrm>
                <a:off x="4275138" y="2584336"/>
                <a:ext cx="373062" cy="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>
                <a:off x="4281089" y="3120612"/>
                <a:ext cx="22860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>
              <a:xfrm flipH="1">
                <a:off x="3900090" y="2584336"/>
                <a:ext cx="375048" cy="531971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>
                <a:off x="3900090" y="2591974"/>
                <a:ext cx="375048" cy="52433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Elbow Connector 118"/>
              <p:cNvCxnSpPr>
                <a:stCxn id="105" idx="2"/>
              </p:cNvCxnSpPr>
              <p:nvPr/>
            </p:nvCxnSpPr>
            <p:spPr>
              <a:xfrm rot="10800000" flipV="1">
                <a:off x="4357290" y="1949761"/>
                <a:ext cx="76200" cy="1173727"/>
              </a:xfrm>
              <a:prstGeom prst="bentConnector2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/>
              <p:cNvCxnSpPr/>
              <p:nvPr/>
            </p:nvCxnSpPr>
            <p:spPr>
              <a:xfrm flipV="1">
                <a:off x="3527028" y="1697616"/>
                <a:ext cx="0" cy="13784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/>
              <p:cNvCxnSpPr/>
              <p:nvPr/>
            </p:nvCxnSpPr>
            <p:spPr>
              <a:xfrm flipV="1">
                <a:off x="4641850" y="1697616"/>
                <a:ext cx="0" cy="13784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>
              <a:xfrm>
                <a:off x="3527028" y="1697616"/>
                <a:ext cx="1121172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3" name="Group 122"/>
              <p:cNvGrpSpPr/>
              <p:nvPr/>
            </p:nvGrpSpPr>
            <p:grpSpPr>
              <a:xfrm rot="10800000">
                <a:off x="3527028" y="3237513"/>
                <a:ext cx="1121172" cy="137846"/>
                <a:chOff x="2217738" y="3638550"/>
                <a:chExt cx="1121172" cy="137846"/>
              </a:xfrm>
            </p:grpSpPr>
            <p:cxnSp>
              <p:nvCxnSpPr>
                <p:cNvPr id="148" name="Straight Connector 147"/>
                <p:cNvCxnSpPr/>
                <p:nvPr/>
              </p:nvCxnSpPr>
              <p:spPr>
                <a:xfrm flipV="1">
                  <a:off x="2217738" y="3638550"/>
                  <a:ext cx="0" cy="1378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/>
                <p:cNvCxnSpPr/>
                <p:nvPr/>
              </p:nvCxnSpPr>
              <p:spPr>
                <a:xfrm flipV="1">
                  <a:off x="3332560" y="3638550"/>
                  <a:ext cx="0" cy="13784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/>
                <p:cNvCxnSpPr/>
                <p:nvPr/>
              </p:nvCxnSpPr>
              <p:spPr>
                <a:xfrm>
                  <a:off x="2217738" y="3638550"/>
                  <a:ext cx="1121172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4" name="Straight Arrow Connector 123"/>
              <p:cNvCxnSpPr/>
              <p:nvPr/>
            </p:nvCxnSpPr>
            <p:spPr>
              <a:xfrm flipV="1">
                <a:off x="4087613" y="1392816"/>
                <a:ext cx="0" cy="30480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5" name="Group 124"/>
              <p:cNvGrpSpPr/>
              <p:nvPr/>
            </p:nvGrpSpPr>
            <p:grpSpPr>
              <a:xfrm>
                <a:off x="3998159" y="3365190"/>
                <a:ext cx="190500" cy="341276"/>
                <a:chOff x="5981700" y="1581150"/>
                <a:chExt cx="990600" cy="685800"/>
              </a:xfrm>
            </p:grpSpPr>
            <p:cxnSp>
              <p:nvCxnSpPr>
                <p:cNvPr id="144" name="Straight Connector 143"/>
                <p:cNvCxnSpPr/>
                <p:nvPr/>
              </p:nvCxnSpPr>
              <p:spPr>
                <a:xfrm>
                  <a:off x="5981700" y="2080345"/>
                  <a:ext cx="990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>
                <a:xfrm>
                  <a:off x="6172200" y="2190750"/>
                  <a:ext cx="609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>
                <a:xfrm>
                  <a:off x="6324600" y="2266950"/>
                  <a:ext cx="3048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/>
                <p:cNvCxnSpPr/>
                <p:nvPr/>
              </p:nvCxnSpPr>
              <p:spPr>
                <a:xfrm>
                  <a:off x="6477000" y="1581150"/>
                  <a:ext cx="0" cy="49919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6" name="Group 125"/>
              <p:cNvGrpSpPr/>
              <p:nvPr/>
            </p:nvGrpSpPr>
            <p:grpSpPr>
              <a:xfrm>
                <a:off x="2761314" y="2573808"/>
                <a:ext cx="533400" cy="152400"/>
                <a:chOff x="1447800" y="2832696"/>
                <a:chExt cx="533400" cy="152400"/>
              </a:xfrm>
            </p:grpSpPr>
            <p:cxnSp>
              <p:nvCxnSpPr>
                <p:cNvPr id="138" name="Straight Connector 137"/>
                <p:cNvCxnSpPr/>
                <p:nvPr/>
              </p:nvCxnSpPr>
              <p:spPr>
                <a:xfrm>
                  <a:off x="1752600" y="2832696"/>
                  <a:ext cx="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/>
                <p:cNvCxnSpPr/>
                <p:nvPr/>
              </p:nvCxnSpPr>
              <p:spPr>
                <a:xfrm>
                  <a:off x="1752600" y="2856508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/>
                <p:cNvCxnSpPr/>
                <p:nvPr/>
              </p:nvCxnSpPr>
              <p:spPr>
                <a:xfrm>
                  <a:off x="1752600" y="2932708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/>
                <p:cNvCxnSpPr/>
                <p:nvPr/>
              </p:nvCxnSpPr>
              <p:spPr>
                <a:xfrm>
                  <a:off x="1752600" y="2985096"/>
                  <a:ext cx="228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/>
                <p:cNvCxnSpPr/>
                <p:nvPr/>
              </p:nvCxnSpPr>
              <p:spPr>
                <a:xfrm flipH="1">
                  <a:off x="1447800" y="2856508"/>
                  <a:ext cx="304800" cy="5754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>
                <a:xfrm flipV="1">
                  <a:off x="1981200" y="2857582"/>
                  <a:ext cx="0" cy="762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7" name="TextBox 126"/>
              <p:cNvSpPr txBox="1"/>
              <p:nvPr/>
            </p:nvSpPr>
            <p:spPr>
              <a:xfrm>
                <a:off x="3179247" y="1666975"/>
                <a:ext cx="380999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i="1" dirty="0">
                    <a:solidFill>
                      <a:srgbClr val="000090"/>
                    </a:solidFill>
                  </a:rPr>
                  <a:t>T</a:t>
                </a:r>
                <a:r>
                  <a:rPr lang="en-IN" sz="2400" b="1" i="1" baseline="-25000" dirty="0">
                    <a:solidFill>
                      <a:srgbClr val="000090"/>
                    </a:solidFill>
                  </a:rPr>
                  <a:t>3</a:t>
                </a: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3225423" y="2896659"/>
                <a:ext cx="380999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i="1" dirty="0">
                    <a:solidFill>
                      <a:srgbClr val="000090"/>
                    </a:solidFill>
                  </a:rPr>
                  <a:t>T</a:t>
                </a:r>
                <a:r>
                  <a:rPr lang="en-IN" sz="2400" b="1" i="1" baseline="-25000" dirty="0">
                    <a:solidFill>
                      <a:srgbClr val="000090"/>
                    </a:solidFill>
                  </a:rPr>
                  <a:t>5</a:t>
                </a: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4585891" y="1679157"/>
                <a:ext cx="380999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i="1" dirty="0">
                    <a:solidFill>
                      <a:srgbClr val="000090"/>
                    </a:solidFill>
                  </a:rPr>
                  <a:t>T</a:t>
                </a:r>
                <a:r>
                  <a:rPr lang="en-IN" sz="2400" b="1" i="1" baseline="-25000" dirty="0">
                    <a:solidFill>
                      <a:srgbClr val="000090"/>
                    </a:solidFill>
                  </a:rPr>
                  <a:t>4</a:t>
                </a:r>
              </a:p>
            </p:txBody>
          </p:sp>
          <p:sp>
            <p:nvSpPr>
              <p:cNvPr id="130" name="TextBox 129"/>
              <p:cNvSpPr txBox="1"/>
              <p:nvPr/>
            </p:nvSpPr>
            <p:spPr>
              <a:xfrm>
                <a:off x="4572000" y="2896659"/>
                <a:ext cx="380999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i="1" dirty="0">
                    <a:solidFill>
                      <a:srgbClr val="000090"/>
                    </a:solidFill>
                  </a:rPr>
                  <a:t>T</a:t>
                </a:r>
                <a:r>
                  <a:rPr lang="en-IN" sz="2400" b="1" i="1" baseline="-25000" dirty="0">
                    <a:solidFill>
                      <a:srgbClr val="000090"/>
                    </a:solidFill>
                  </a:rPr>
                  <a:t>6</a:t>
                </a:r>
              </a:p>
            </p:txBody>
          </p:sp>
          <p:sp>
            <p:nvSpPr>
              <p:cNvPr id="131" name="TextBox 130"/>
              <p:cNvSpPr txBox="1"/>
              <p:nvPr/>
            </p:nvSpPr>
            <p:spPr>
              <a:xfrm>
                <a:off x="3276600" y="2506194"/>
                <a:ext cx="292100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X</a:t>
                </a:r>
              </a:p>
            </p:txBody>
          </p:sp>
          <p:sp>
            <p:nvSpPr>
              <p:cNvPr id="132" name="Rectangle 131"/>
              <p:cNvSpPr/>
              <p:nvPr/>
            </p:nvSpPr>
            <p:spPr>
              <a:xfrm>
                <a:off x="3623491" y="742950"/>
                <a:ext cx="903132" cy="3462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IN" sz="2400" b="1" dirty="0">
                    <a:solidFill>
                      <a:srgbClr val="800000"/>
                    </a:solidFill>
                  </a:rPr>
                  <a:t>Bit lines</a:t>
                </a:r>
              </a:p>
            </p:txBody>
          </p:sp>
          <p:sp>
            <p:nvSpPr>
              <p:cNvPr id="133" name="TextBox 132"/>
              <p:cNvSpPr txBox="1"/>
              <p:nvPr/>
            </p:nvSpPr>
            <p:spPr>
              <a:xfrm>
                <a:off x="2455124" y="3774233"/>
                <a:ext cx="301628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b</a:t>
                </a:r>
              </a:p>
            </p:txBody>
          </p:sp>
          <p:sp>
            <p:nvSpPr>
              <p:cNvPr id="134" name="TextBox 133"/>
              <p:cNvSpPr txBox="1"/>
              <p:nvPr/>
            </p:nvSpPr>
            <p:spPr>
              <a:xfrm>
                <a:off x="5441674" y="3763252"/>
                <a:ext cx="428543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/>
                  <a:t>b’</a:t>
                </a:r>
              </a:p>
            </p:txBody>
          </p:sp>
          <p:cxnSp>
            <p:nvCxnSpPr>
              <p:cNvPr id="135" name="Straight Arrow Connector 134"/>
              <p:cNvCxnSpPr/>
              <p:nvPr/>
            </p:nvCxnSpPr>
            <p:spPr>
              <a:xfrm flipV="1">
                <a:off x="2819400" y="1123950"/>
                <a:ext cx="838200" cy="311150"/>
              </a:xfrm>
              <a:prstGeom prst="straightConnector1">
                <a:avLst/>
              </a:prstGeom>
              <a:ln w="28575">
                <a:solidFill>
                  <a:srgbClr val="800000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Arrow Connector 135"/>
              <p:cNvCxnSpPr/>
              <p:nvPr/>
            </p:nvCxnSpPr>
            <p:spPr>
              <a:xfrm>
                <a:off x="4495800" y="1123950"/>
                <a:ext cx="858715" cy="381000"/>
              </a:xfrm>
              <a:prstGeom prst="straightConnector1">
                <a:avLst/>
              </a:prstGeom>
              <a:ln w="28575">
                <a:solidFill>
                  <a:srgbClr val="8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7" name="TextBox 136"/>
              <p:cNvSpPr txBox="1"/>
              <p:nvPr/>
            </p:nvSpPr>
            <p:spPr>
              <a:xfrm>
                <a:off x="3581400" y="3790950"/>
                <a:ext cx="1212192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rgbClr val="800000"/>
                    </a:solidFill>
                  </a:rPr>
                  <a:t>Word line</a:t>
                </a:r>
              </a:p>
            </p:txBody>
          </p:sp>
        </p:grpSp>
      </p:grp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5782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 of SRAM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600" dirty="0"/>
              <a:t>Moderate / High power consumption.</a:t>
            </a:r>
          </a:p>
          <a:p>
            <a:pPr lvl="1"/>
            <a:r>
              <a:rPr lang="en-US" sz="2200" dirty="0"/>
              <a:t>Current flows in the cells only when the cell is accessed.</a:t>
            </a:r>
          </a:p>
          <a:p>
            <a:pPr lvl="1"/>
            <a:r>
              <a:rPr lang="en-US" sz="2200" dirty="0"/>
              <a:t>Because of latch operation, power consumption is higher than DRAM.</a:t>
            </a:r>
          </a:p>
          <a:p>
            <a:r>
              <a:rPr lang="en-US" sz="2600" dirty="0"/>
              <a:t>Simplicity – refresh circuitry is not needed.</a:t>
            </a:r>
          </a:p>
          <a:p>
            <a:pPr lvl="1"/>
            <a:r>
              <a:rPr lang="en-US" sz="2200" dirty="0"/>
              <a:t>Volatile :: continuous power supply is required.</a:t>
            </a:r>
          </a:p>
          <a:p>
            <a:r>
              <a:rPr lang="en-US" sz="2600" dirty="0"/>
              <a:t>Fast operation.</a:t>
            </a:r>
          </a:p>
          <a:p>
            <a:pPr lvl="1"/>
            <a:r>
              <a:rPr lang="en-US" sz="2200" dirty="0"/>
              <a:t>Access time is very fast; fast memories (cache) are built using SRAM.</a:t>
            </a:r>
          </a:p>
          <a:p>
            <a:r>
              <a:rPr lang="en-US" sz="2600" dirty="0"/>
              <a:t>High cost.</a:t>
            </a:r>
          </a:p>
          <a:p>
            <a:pPr lvl="1"/>
            <a:r>
              <a:rPr lang="en-US" sz="2200" dirty="0"/>
              <a:t>6 transistors per cell.</a:t>
            </a:r>
          </a:p>
          <a:p>
            <a:r>
              <a:rPr lang="en-US" sz="2600" dirty="0"/>
              <a:t>Limited capacity.</a:t>
            </a:r>
          </a:p>
          <a:p>
            <a:pPr lvl="1"/>
            <a:r>
              <a:rPr lang="en-US" sz="2200" dirty="0"/>
              <a:t>Not economical to manufacture high-capacity SRAM chips.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025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182D78-39FD-7241-AE22-D8678CBE9A1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F0AB93-AEE6-00BF-AD34-C34B2006947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Which feature best matches SRAM?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5D4F62-06A7-03C0-8E74-8C969A4A61C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646CAE1-0FB1-66FB-66C0-7A28B2DA41D0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ium 6">
            <a:extLst>
              <a:ext uri="{FF2B5EF4-FFF2-40B4-BE49-F238E27FC236}">
                <a16:creationId xmlns:a16="http://schemas.microsoft.com/office/drawing/2014/main" id="{6B6BB7CE-057A-AEB3-2FD3-AFC7A3C474F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88F5E86-CA0E-A183-50C1-3D7A877CA89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2174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0" y="274639"/>
            <a:ext cx="11277600" cy="1143000"/>
          </a:xfrm>
        </p:spPr>
        <p:txBody>
          <a:bodyPr>
            <a:normAutofit/>
          </a:bodyPr>
          <a:lstStyle/>
          <a:p>
            <a:r>
              <a:rPr lang="en-IN" b="1" dirty="0"/>
              <a:t>Dynamic Random Access Memory (DRAM)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7000"/>
            <a:ext cx="6502400" cy="4916219"/>
          </a:xfrm>
        </p:spPr>
        <p:txBody>
          <a:bodyPr>
            <a:noAutofit/>
          </a:bodyPr>
          <a:lstStyle/>
          <a:p>
            <a:r>
              <a:rPr lang="en-IN" sz="2400" dirty="0"/>
              <a:t>Dynamic </a:t>
            </a:r>
            <a:r>
              <a:rPr lang="en-IN" sz="2400"/>
              <a:t>RAM does </a:t>
            </a:r>
            <a:r>
              <a:rPr lang="en-IN" sz="2400" dirty="0"/>
              <a:t>not retain its state even if power supply is on.</a:t>
            </a:r>
          </a:p>
          <a:p>
            <a:pPr lvl="1">
              <a:spcAft>
                <a:spcPts val="1200"/>
              </a:spcAft>
            </a:pPr>
            <a:r>
              <a:rPr lang="en-IN" sz="2000" dirty="0"/>
              <a:t>Data stored in the form of charge stored on a capacitor.</a:t>
            </a:r>
          </a:p>
          <a:p>
            <a:r>
              <a:rPr lang="en-IN" sz="2400" dirty="0"/>
              <a:t>Requires </a:t>
            </a:r>
            <a:r>
              <a:rPr lang="en-IN" sz="2400" i="1" dirty="0">
                <a:solidFill>
                  <a:srgbClr val="C00000"/>
                </a:solidFill>
              </a:rPr>
              <a:t>periodic refresh</a:t>
            </a:r>
            <a:r>
              <a:rPr lang="en-IN" sz="2400" dirty="0"/>
              <a:t>. </a:t>
            </a:r>
          </a:p>
          <a:p>
            <a:pPr lvl="1">
              <a:spcAft>
                <a:spcPts val="1200"/>
              </a:spcAft>
            </a:pPr>
            <a:r>
              <a:rPr lang="en-IN" sz="2000" dirty="0"/>
              <a:t>The charge stored cannot be retained over long time (due to leakage).</a:t>
            </a:r>
          </a:p>
          <a:p>
            <a:r>
              <a:rPr lang="en-IN" sz="2400" dirty="0"/>
              <a:t>Less expensive that SRAM.</a:t>
            </a:r>
          </a:p>
          <a:p>
            <a:pPr lvl="1">
              <a:spcAft>
                <a:spcPts val="1200"/>
              </a:spcAft>
            </a:pPr>
            <a:r>
              <a:rPr lang="en-IN" sz="2000" dirty="0"/>
              <a:t>Requires less hardware (one transistor and one capacitor per cell).</a:t>
            </a:r>
          </a:p>
          <a:p>
            <a:r>
              <a:rPr lang="en-IN" sz="2400" dirty="0"/>
              <a:t>Address lines are multiplexed.</a:t>
            </a:r>
          </a:p>
        </p:txBody>
      </p:sp>
      <p:grpSp>
        <p:nvGrpSpPr>
          <p:cNvPr id="34" name="Group 33"/>
          <p:cNvGrpSpPr/>
          <p:nvPr/>
        </p:nvGrpSpPr>
        <p:grpSpPr>
          <a:xfrm>
            <a:off x="7416801" y="1397000"/>
            <a:ext cx="4529665" cy="3559032"/>
            <a:chOff x="5562600" y="1047750"/>
            <a:chExt cx="3397249" cy="2669274"/>
          </a:xfrm>
        </p:grpSpPr>
        <p:sp>
          <p:nvSpPr>
            <p:cNvPr id="26" name="TextBox 25"/>
            <p:cNvSpPr txBox="1"/>
            <p:nvPr/>
          </p:nvSpPr>
          <p:spPr>
            <a:xfrm>
              <a:off x="7620000" y="1428750"/>
              <a:ext cx="1339849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rgbClr val="800000"/>
                  </a:solidFill>
                </a:rPr>
                <a:t>Word line</a:t>
              </a:r>
            </a:p>
          </p:txBody>
        </p:sp>
        <p:grpSp>
          <p:nvGrpSpPr>
            <p:cNvPr id="32" name="Group 31"/>
            <p:cNvGrpSpPr/>
            <p:nvPr/>
          </p:nvGrpSpPr>
          <p:grpSpPr>
            <a:xfrm>
              <a:off x="5562600" y="1047750"/>
              <a:ext cx="3279776" cy="2669274"/>
              <a:chOff x="5562600" y="1288018"/>
              <a:chExt cx="3279776" cy="2669274"/>
            </a:xfrm>
          </p:grpSpPr>
          <p:cxnSp>
            <p:nvCxnSpPr>
              <p:cNvPr id="5" name="Straight Connector 4"/>
              <p:cNvCxnSpPr/>
              <p:nvPr/>
            </p:nvCxnSpPr>
            <p:spPr>
              <a:xfrm>
                <a:off x="6251575" y="1682217"/>
                <a:ext cx="1" cy="157293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" name="Straight Connector 5"/>
              <p:cNvCxnSpPr/>
              <p:nvPr/>
            </p:nvCxnSpPr>
            <p:spPr>
              <a:xfrm rot="10800000">
                <a:off x="6708776" y="2571670"/>
                <a:ext cx="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/>
              <p:cNvCxnSpPr/>
              <p:nvPr/>
            </p:nvCxnSpPr>
            <p:spPr>
              <a:xfrm rot="10800000">
                <a:off x="6708776" y="2471658"/>
                <a:ext cx="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/>
              <p:cNvCxnSpPr/>
              <p:nvPr/>
            </p:nvCxnSpPr>
            <p:spPr>
              <a:xfrm rot="10800000" flipV="1">
                <a:off x="6480176" y="2471658"/>
                <a:ext cx="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rot="10800000">
                <a:off x="6480176" y="2471658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rot="10800000">
                <a:off x="6480176" y="2419270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rot="10800000" flipH="1">
                <a:off x="6251576" y="2552621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>
                <a:off x="5946776" y="2063611"/>
                <a:ext cx="2895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Box 12"/>
              <p:cNvSpPr txBox="1"/>
              <p:nvPr/>
            </p:nvSpPr>
            <p:spPr>
              <a:xfrm>
                <a:off x="5791200" y="1288018"/>
                <a:ext cx="1028700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rgbClr val="800000"/>
                    </a:solidFill>
                  </a:rPr>
                  <a:t>Bit line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400800" y="2466577"/>
                <a:ext cx="380999" cy="34624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b="1" i="1" dirty="0">
                    <a:solidFill>
                      <a:srgbClr val="000090"/>
                    </a:solidFill>
                  </a:rPr>
                  <a:t>T</a:t>
                </a:r>
                <a:endParaRPr lang="en-IN" sz="2400" b="1" i="1" baseline="-25000" dirty="0">
                  <a:solidFill>
                    <a:srgbClr val="000090"/>
                  </a:solidFill>
                </a:endParaRPr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 flipV="1">
                <a:off x="6594475" y="2063611"/>
                <a:ext cx="0" cy="35565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6708776" y="2547858"/>
                <a:ext cx="12954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/>
              <p:cNvCxnSpPr/>
              <p:nvPr/>
            </p:nvCxnSpPr>
            <p:spPr>
              <a:xfrm>
                <a:off x="8004176" y="2547858"/>
                <a:ext cx="0" cy="27775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rot="10800000">
                <a:off x="7889876" y="2901811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 rot="10800000">
                <a:off x="7889876" y="2825611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" name="Group 19"/>
              <p:cNvGrpSpPr/>
              <p:nvPr/>
            </p:nvGrpSpPr>
            <p:grpSpPr>
              <a:xfrm>
                <a:off x="7908925" y="2913874"/>
                <a:ext cx="190500" cy="341276"/>
                <a:chOff x="5981700" y="1581150"/>
                <a:chExt cx="990600" cy="685800"/>
              </a:xfrm>
            </p:grpSpPr>
            <p:cxnSp>
              <p:nvCxnSpPr>
                <p:cNvPr id="21" name="Straight Connector 20"/>
                <p:cNvCxnSpPr/>
                <p:nvPr/>
              </p:nvCxnSpPr>
              <p:spPr>
                <a:xfrm>
                  <a:off x="5981700" y="2080345"/>
                  <a:ext cx="990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>
                  <a:off x="6172200" y="2190750"/>
                  <a:ext cx="609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6324600" y="2266950"/>
                  <a:ext cx="3048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/>
                <p:cNvCxnSpPr/>
                <p:nvPr/>
              </p:nvCxnSpPr>
              <p:spPr>
                <a:xfrm>
                  <a:off x="6477000" y="1581150"/>
                  <a:ext cx="0" cy="49919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5" name="TextBox 24"/>
              <p:cNvSpPr txBox="1"/>
              <p:nvPr/>
            </p:nvSpPr>
            <p:spPr>
              <a:xfrm>
                <a:off x="8093077" y="2673212"/>
                <a:ext cx="380999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i="1" dirty="0">
                    <a:solidFill>
                      <a:srgbClr val="000090"/>
                    </a:solidFill>
                  </a:rPr>
                  <a:t>C</a:t>
                </a:r>
                <a:endParaRPr lang="en-IN" sz="2400" b="1" i="1" baseline="-25000" dirty="0">
                  <a:solidFill>
                    <a:srgbClr val="000090"/>
                  </a:solidFill>
                </a:endParaRP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5562600" y="3263039"/>
                <a:ext cx="1371600" cy="52791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133" b="1" dirty="0">
                    <a:solidFill>
                      <a:schemeClr val="tx1"/>
                    </a:solidFill>
                  </a:rPr>
                  <a:t>Sense/Write Circuit</a:t>
                </a:r>
              </a:p>
            </p:txBody>
          </p:sp>
          <p:grpSp>
            <p:nvGrpSpPr>
              <p:cNvPr id="28" name="Group 27"/>
              <p:cNvGrpSpPr/>
              <p:nvPr/>
            </p:nvGrpSpPr>
            <p:grpSpPr>
              <a:xfrm>
                <a:off x="6122959" y="3790950"/>
                <a:ext cx="257232" cy="166342"/>
                <a:chOff x="6553195" y="2064165"/>
                <a:chExt cx="378437" cy="267317"/>
              </a:xfrm>
            </p:grpSpPr>
            <p:cxnSp>
              <p:nvCxnSpPr>
                <p:cNvPr id="29" name="Straight Connector 28"/>
                <p:cNvCxnSpPr/>
                <p:nvPr/>
              </p:nvCxnSpPr>
              <p:spPr>
                <a:xfrm>
                  <a:off x="6931630" y="2064165"/>
                  <a:ext cx="2" cy="26362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/>
                <p:cNvCxnSpPr/>
                <p:nvPr/>
              </p:nvCxnSpPr>
              <p:spPr>
                <a:xfrm flipH="1">
                  <a:off x="6553195" y="2327791"/>
                  <a:ext cx="378430" cy="369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/>
                <p:cNvCxnSpPr/>
                <p:nvPr/>
              </p:nvCxnSpPr>
              <p:spPr>
                <a:xfrm flipV="1">
                  <a:off x="6553200" y="2114550"/>
                  <a:ext cx="0" cy="21324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3" name="TextBox 32"/>
          <p:cNvSpPr txBox="1"/>
          <p:nvPr/>
        </p:nvSpPr>
        <p:spPr>
          <a:xfrm>
            <a:off x="7823200" y="5156201"/>
            <a:ext cx="3860800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67" b="1" dirty="0">
                <a:solidFill>
                  <a:srgbClr val="000090"/>
                </a:solidFill>
              </a:rPr>
              <a:t>1-transistor DRAM Cell</a:t>
            </a:r>
          </a:p>
        </p:txBody>
      </p:sp>
      <p:sp>
        <p:nvSpPr>
          <p:cNvPr id="35" name="Slide Number Placeholder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0334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762" y="365125"/>
            <a:ext cx="10918038" cy="1325563"/>
          </a:xfrm>
        </p:spPr>
        <p:txBody>
          <a:bodyPr>
            <a:normAutofit/>
          </a:bodyPr>
          <a:lstStyle/>
          <a:p>
            <a:r>
              <a:rPr lang="en-IN" b="1" dirty="0"/>
              <a:t>(a) READ Operation in DRAM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6322"/>
            <a:ext cx="6502400" cy="4215041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IN" sz="2400" dirty="0"/>
              <a:t>The transistor of the particular cell is turned on by activating the </a:t>
            </a:r>
            <a:r>
              <a:rPr lang="en-IN" sz="2400" i="1" dirty="0">
                <a:solidFill>
                  <a:srgbClr val="C00000"/>
                </a:solidFill>
              </a:rPr>
              <a:t>word line</a:t>
            </a:r>
            <a:r>
              <a:rPr lang="en-IN" sz="2400" dirty="0"/>
              <a:t>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A sense amplifier connected to bit line senses the charge stored in the capacitor. 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If the charge is above threshold, the </a:t>
            </a:r>
            <a:r>
              <a:rPr lang="en-IN" sz="2400" i="1" dirty="0">
                <a:solidFill>
                  <a:srgbClr val="C00000"/>
                </a:solidFill>
              </a:rPr>
              <a:t>bit line </a:t>
            </a:r>
            <a:r>
              <a:rPr lang="en-IN" sz="2400" dirty="0"/>
              <a:t>is maintained at high voltage, which represents logic </a:t>
            </a:r>
            <a:r>
              <a:rPr lang="en-IN" sz="2400" i="1" dirty="0">
                <a:solidFill>
                  <a:srgbClr val="C00000"/>
                </a:solidFill>
              </a:rPr>
              <a:t>1</a:t>
            </a:r>
            <a:r>
              <a:rPr lang="en-IN" sz="2400" dirty="0"/>
              <a:t>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If the charge is below threshold, the </a:t>
            </a:r>
            <a:r>
              <a:rPr lang="en-IN" sz="2400" i="1" dirty="0">
                <a:solidFill>
                  <a:srgbClr val="C00000"/>
                </a:solidFill>
              </a:rPr>
              <a:t>bit line </a:t>
            </a:r>
            <a:r>
              <a:rPr lang="en-IN" sz="2400" dirty="0"/>
              <a:t>is grounded, which represent logic </a:t>
            </a:r>
            <a:r>
              <a:rPr lang="en-IN" sz="2400" i="1" dirty="0">
                <a:solidFill>
                  <a:srgbClr val="C00000"/>
                </a:solidFill>
              </a:rPr>
              <a:t>0</a:t>
            </a:r>
            <a:r>
              <a:rPr lang="en-IN" sz="2400" dirty="0"/>
              <a:t>.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7416801" y="1397000"/>
            <a:ext cx="4529665" cy="3559032"/>
            <a:chOff x="5562600" y="1047750"/>
            <a:chExt cx="3397249" cy="2669274"/>
          </a:xfrm>
        </p:grpSpPr>
        <p:sp>
          <p:nvSpPr>
            <p:cNvPr id="6" name="TextBox 5"/>
            <p:cNvSpPr txBox="1"/>
            <p:nvPr/>
          </p:nvSpPr>
          <p:spPr>
            <a:xfrm>
              <a:off x="7620000" y="1428750"/>
              <a:ext cx="1339849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rgbClr val="800000"/>
                  </a:solidFill>
                </a:rPr>
                <a:t>Word line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5562600" y="1047750"/>
              <a:ext cx="3279776" cy="2669274"/>
              <a:chOff x="5562600" y="1288018"/>
              <a:chExt cx="3279776" cy="2669274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6251575" y="1682217"/>
                <a:ext cx="1" cy="157293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rot="10800000">
                <a:off x="6708776" y="2571670"/>
                <a:ext cx="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rot="10800000">
                <a:off x="6708776" y="2471658"/>
                <a:ext cx="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rot="10800000" flipV="1">
                <a:off x="6480176" y="2471658"/>
                <a:ext cx="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rot="10800000">
                <a:off x="6480176" y="2471658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 rot="10800000">
                <a:off x="6480176" y="2419270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 rot="10800000" flipH="1">
                <a:off x="6251576" y="2552621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946776" y="2063611"/>
                <a:ext cx="2895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5791200" y="1288018"/>
                <a:ext cx="1028700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rgbClr val="800000"/>
                    </a:solidFill>
                  </a:rPr>
                  <a:t>Bit line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6400800" y="2466577"/>
                <a:ext cx="380999" cy="34624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b="1" i="1" dirty="0">
                    <a:solidFill>
                      <a:srgbClr val="000090"/>
                    </a:solidFill>
                  </a:rPr>
                  <a:t>T</a:t>
                </a:r>
                <a:endParaRPr lang="en-IN" sz="2400" b="1" i="1" baseline="-25000" dirty="0">
                  <a:solidFill>
                    <a:srgbClr val="000090"/>
                  </a:solidFill>
                </a:endParaRPr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 flipV="1">
                <a:off x="6594475" y="2063611"/>
                <a:ext cx="0" cy="35565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6708776" y="2547858"/>
                <a:ext cx="12954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8004176" y="2547858"/>
                <a:ext cx="0" cy="27775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rot="10800000">
                <a:off x="7889876" y="2901811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rot="10800000">
                <a:off x="7889876" y="2825611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Group 22"/>
              <p:cNvGrpSpPr/>
              <p:nvPr/>
            </p:nvGrpSpPr>
            <p:grpSpPr>
              <a:xfrm>
                <a:off x="7908925" y="2913874"/>
                <a:ext cx="190500" cy="341276"/>
                <a:chOff x="5981700" y="1581150"/>
                <a:chExt cx="990600" cy="685800"/>
              </a:xfrm>
            </p:grpSpPr>
            <p:cxnSp>
              <p:nvCxnSpPr>
                <p:cNvPr id="30" name="Straight Connector 29"/>
                <p:cNvCxnSpPr/>
                <p:nvPr/>
              </p:nvCxnSpPr>
              <p:spPr>
                <a:xfrm>
                  <a:off x="5981700" y="2080345"/>
                  <a:ext cx="990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>
                  <a:off x="6172200" y="2190750"/>
                  <a:ext cx="609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>
                  <a:off x="6324600" y="2266950"/>
                  <a:ext cx="3048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>
                  <a:off x="6477000" y="1581150"/>
                  <a:ext cx="0" cy="49919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TextBox 23"/>
              <p:cNvSpPr txBox="1"/>
              <p:nvPr/>
            </p:nvSpPr>
            <p:spPr>
              <a:xfrm>
                <a:off x="8093077" y="2673212"/>
                <a:ext cx="380999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i="1" dirty="0">
                    <a:solidFill>
                      <a:srgbClr val="000090"/>
                    </a:solidFill>
                  </a:rPr>
                  <a:t>C</a:t>
                </a:r>
                <a:endParaRPr lang="en-IN" sz="2400" b="1" i="1" baseline="-25000" dirty="0">
                  <a:solidFill>
                    <a:srgbClr val="000090"/>
                  </a:solidFill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5562600" y="3263039"/>
                <a:ext cx="1371600" cy="52791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133" b="1" dirty="0">
                    <a:solidFill>
                      <a:schemeClr val="tx1"/>
                    </a:solidFill>
                  </a:rPr>
                  <a:t>Sense/Write Circuit</a:t>
                </a:r>
              </a:p>
            </p:txBody>
          </p:sp>
          <p:grpSp>
            <p:nvGrpSpPr>
              <p:cNvPr id="26" name="Group 25"/>
              <p:cNvGrpSpPr/>
              <p:nvPr/>
            </p:nvGrpSpPr>
            <p:grpSpPr>
              <a:xfrm>
                <a:off x="6122959" y="3790950"/>
                <a:ext cx="257232" cy="166342"/>
                <a:chOff x="6553195" y="2064165"/>
                <a:chExt cx="378437" cy="267317"/>
              </a:xfrm>
            </p:grpSpPr>
            <p:cxnSp>
              <p:nvCxnSpPr>
                <p:cNvPr id="27" name="Straight Connector 26"/>
                <p:cNvCxnSpPr/>
                <p:nvPr/>
              </p:nvCxnSpPr>
              <p:spPr>
                <a:xfrm>
                  <a:off x="6931630" y="2064165"/>
                  <a:ext cx="2" cy="26362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 flipH="1">
                  <a:off x="6553195" y="2327791"/>
                  <a:ext cx="378430" cy="369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/>
                <p:cNvCxnSpPr/>
                <p:nvPr/>
              </p:nvCxnSpPr>
              <p:spPr>
                <a:xfrm flipV="1">
                  <a:off x="6553200" y="2114550"/>
                  <a:ext cx="0" cy="21324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038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159" y="365125"/>
            <a:ext cx="11017641" cy="1325563"/>
          </a:xfrm>
        </p:spPr>
        <p:txBody>
          <a:bodyPr>
            <a:normAutofit/>
          </a:bodyPr>
          <a:lstStyle/>
          <a:p>
            <a:r>
              <a:rPr lang="en-IN" b="1" dirty="0"/>
              <a:t>(b) WRITE Operation in DRAM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799" y="1618774"/>
            <a:ext cx="6455737" cy="4248626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IN" sz="2400" dirty="0"/>
              <a:t>The transistor of the particular cell is turned on by activating the </a:t>
            </a:r>
            <a:r>
              <a:rPr lang="en-IN" sz="2400" i="1" dirty="0">
                <a:solidFill>
                  <a:srgbClr val="C00000"/>
                </a:solidFill>
              </a:rPr>
              <a:t>word line</a:t>
            </a:r>
            <a:r>
              <a:rPr lang="en-IN" sz="2400" dirty="0"/>
              <a:t>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Depending on the value to be written (</a:t>
            </a:r>
            <a:r>
              <a:rPr lang="en-IN" sz="2400" i="1" dirty="0">
                <a:solidFill>
                  <a:srgbClr val="C00000"/>
                </a:solidFill>
              </a:rPr>
              <a:t>0</a:t>
            </a:r>
            <a:r>
              <a:rPr lang="en-IN" sz="2400" dirty="0"/>
              <a:t> or </a:t>
            </a:r>
            <a:r>
              <a:rPr lang="en-IN" sz="2400" i="1" dirty="0">
                <a:solidFill>
                  <a:srgbClr val="C00000"/>
                </a:solidFill>
              </a:rPr>
              <a:t>1</a:t>
            </a:r>
            <a:r>
              <a:rPr lang="en-IN" sz="2400" dirty="0"/>
              <a:t>), an appropriate voltage is applied to the </a:t>
            </a:r>
            <a:r>
              <a:rPr lang="en-IN" sz="2400" i="1" dirty="0">
                <a:solidFill>
                  <a:srgbClr val="C00000"/>
                </a:solidFill>
              </a:rPr>
              <a:t>bit line</a:t>
            </a:r>
            <a:r>
              <a:rPr lang="en-IN" sz="2400" dirty="0"/>
              <a:t>. 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The capacitor gets charged to the required voltage state.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Refreshing of the capacitor requires periodic </a:t>
            </a:r>
            <a:r>
              <a:rPr lang="en-IN" sz="2400" i="1" dirty="0">
                <a:solidFill>
                  <a:srgbClr val="C00000"/>
                </a:solidFill>
              </a:rPr>
              <a:t>READ-WRITE cycles </a:t>
            </a:r>
            <a:r>
              <a:rPr lang="en-IN" sz="2400" dirty="0"/>
              <a:t>(every few msec).</a:t>
            </a:r>
          </a:p>
          <a:p>
            <a:pPr>
              <a:spcAft>
                <a:spcPts val="1200"/>
              </a:spcAft>
            </a:pPr>
            <a:endParaRPr lang="en-IN" sz="2400" dirty="0"/>
          </a:p>
        </p:txBody>
      </p:sp>
      <p:grpSp>
        <p:nvGrpSpPr>
          <p:cNvPr id="5" name="Group 4"/>
          <p:cNvGrpSpPr/>
          <p:nvPr/>
        </p:nvGrpSpPr>
        <p:grpSpPr>
          <a:xfrm>
            <a:off x="7416801" y="1397000"/>
            <a:ext cx="4529665" cy="3559032"/>
            <a:chOff x="5562600" y="1047750"/>
            <a:chExt cx="3397249" cy="2669274"/>
          </a:xfrm>
        </p:grpSpPr>
        <p:sp>
          <p:nvSpPr>
            <p:cNvPr id="6" name="TextBox 5"/>
            <p:cNvSpPr txBox="1"/>
            <p:nvPr/>
          </p:nvSpPr>
          <p:spPr>
            <a:xfrm>
              <a:off x="7620000" y="1428750"/>
              <a:ext cx="1339849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>
                  <a:solidFill>
                    <a:srgbClr val="800000"/>
                  </a:solidFill>
                </a:rPr>
                <a:t>Word line</a:t>
              </a:r>
            </a:p>
          </p:txBody>
        </p:sp>
        <p:grpSp>
          <p:nvGrpSpPr>
            <p:cNvPr id="7" name="Group 6"/>
            <p:cNvGrpSpPr/>
            <p:nvPr/>
          </p:nvGrpSpPr>
          <p:grpSpPr>
            <a:xfrm>
              <a:off x="5562600" y="1047750"/>
              <a:ext cx="3279776" cy="2669274"/>
              <a:chOff x="5562600" y="1288018"/>
              <a:chExt cx="3279776" cy="2669274"/>
            </a:xfrm>
          </p:grpSpPr>
          <p:cxnSp>
            <p:nvCxnSpPr>
              <p:cNvPr id="8" name="Straight Connector 7"/>
              <p:cNvCxnSpPr/>
              <p:nvPr/>
            </p:nvCxnSpPr>
            <p:spPr>
              <a:xfrm>
                <a:off x="6251575" y="1682217"/>
                <a:ext cx="1" cy="157293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rot="10800000">
                <a:off x="6708776" y="2571670"/>
                <a:ext cx="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rot="10800000">
                <a:off x="6708776" y="2471658"/>
                <a:ext cx="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 rot="10800000" flipV="1">
                <a:off x="6480176" y="2471658"/>
                <a:ext cx="0" cy="762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/>
              <p:cNvCxnSpPr/>
              <p:nvPr/>
            </p:nvCxnSpPr>
            <p:spPr>
              <a:xfrm rot="10800000">
                <a:off x="6480176" y="2471658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 rot="10800000">
                <a:off x="6480176" y="2419270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/>
              <p:cNvCxnSpPr/>
              <p:nvPr/>
            </p:nvCxnSpPr>
            <p:spPr>
              <a:xfrm rot="10800000" flipH="1">
                <a:off x="6251576" y="2552621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946776" y="2063611"/>
                <a:ext cx="2895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>
              <a:xfrm>
                <a:off x="5791200" y="1288018"/>
                <a:ext cx="1028700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rgbClr val="800000"/>
                    </a:solidFill>
                  </a:rPr>
                  <a:t>Bit line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6400800" y="2466577"/>
                <a:ext cx="380999" cy="34624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2400" b="1" i="1" dirty="0">
                    <a:solidFill>
                      <a:srgbClr val="000090"/>
                    </a:solidFill>
                  </a:rPr>
                  <a:t>T</a:t>
                </a:r>
                <a:endParaRPr lang="en-IN" sz="2400" b="1" i="1" baseline="-25000" dirty="0">
                  <a:solidFill>
                    <a:srgbClr val="000090"/>
                  </a:solidFill>
                </a:endParaRPr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 flipV="1">
                <a:off x="6594475" y="2063611"/>
                <a:ext cx="0" cy="355659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/>
              <p:cNvCxnSpPr/>
              <p:nvPr/>
            </p:nvCxnSpPr>
            <p:spPr>
              <a:xfrm>
                <a:off x="6708776" y="2547858"/>
                <a:ext cx="12954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/>
              <p:cNvCxnSpPr/>
              <p:nvPr/>
            </p:nvCxnSpPr>
            <p:spPr>
              <a:xfrm>
                <a:off x="8004176" y="2547858"/>
                <a:ext cx="0" cy="277753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 rot="10800000">
                <a:off x="7889876" y="2901811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rot="10800000">
                <a:off x="7889876" y="2825611"/>
                <a:ext cx="2286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Group 22"/>
              <p:cNvGrpSpPr/>
              <p:nvPr/>
            </p:nvGrpSpPr>
            <p:grpSpPr>
              <a:xfrm>
                <a:off x="7908925" y="2913874"/>
                <a:ext cx="190500" cy="341276"/>
                <a:chOff x="5981700" y="1581150"/>
                <a:chExt cx="990600" cy="685800"/>
              </a:xfrm>
            </p:grpSpPr>
            <p:cxnSp>
              <p:nvCxnSpPr>
                <p:cNvPr id="30" name="Straight Connector 29"/>
                <p:cNvCxnSpPr/>
                <p:nvPr/>
              </p:nvCxnSpPr>
              <p:spPr>
                <a:xfrm>
                  <a:off x="5981700" y="2080345"/>
                  <a:ext cx="990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>
                  <a:off x="6172200" y="2190750"/>
                  <a:ext cx="6096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>
                  <a:off x="6324600" y="2266950"/>
                  <a:ext cx="3048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/>
                <p:nvPr/>
              </p:nvCxnSpPr>
              <p:spPr>
                <a:xfrm>
                  <a:off x="6477000" y="1581150"/>
                  <a:ext cx="0" cy="49919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" name="TextBox 23"/>
              <p:cNvSpPr txBox="1"/>
              <p:nvPr/>
            </p:nvSpPr>
            <p:spPr>
              <a:xfrm>
                <a:off x="8093077" y="2673212"/>
                <a:ext cx="380999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i="1" dirty="0">
                    <a:solidFill>
                      <a:srgbClr val="000090"/>
                    </a:solidFill>
                  </a:rPr>
                  <a:t>C</a:t>
                </a:r>
                <a:endParaRPr lang="en-IN" sz="2400" b="1" i="1" baseline="-25000" dirty="0">
                  <a:solidFill>
                    <a:srgbClr val="000090"/>
                  </a:solidFill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5562600" y="3263039"/>
                <a:ext cx="1371600" cy="52791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2133" b="1" dirty="0">
                    <a:solidFill>
                      <a:schemeClr val="tx1"/>
                    </a:solidFill>
                  </a:rPr>
                  <a:t>Sense/Write Circuit</a:t>
                </a:r>
              </a:p>
            </p:txBody>
          </p:sp>
          <p:grpSp>
            <p:nvGrpSpPr>
              <p:cNvPr id="26" name="Group 25"/>
              <p:cNvGrpSpPr/>
              <p:nvPr/>
            </p:nvGrpSpPr>
            <p:grpSpPr>
              <a:xfrm>
                <a:off x="6122959" y="3790950"/>
                <a:ext cx="257232" cy="166342"/>
                <a:chOff x="6553195" y="2064165"/>
                <a:chExt cx="378437" cy="267317"/>
              </a:xfrm>
            </p:grpSpPr>
            <p:cxnSp>
              <p:nvCxnSpPr>
                <p:cNvPr id="27" name="Straight Connector 26"/>
                <p:cNvCxnSpPr/>
                <p:nvPr/>
              </p:nvCxnSpPr>
              <p:spPr>
                <a:xfrm>
                  <a:off x="6931630" y="2064165"/>
                  <a:ext cx="2" cy="263627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 flipH="1">
                  <a:off x="6553195" y="2327791"/>
                  <a:ext cx="378430" cy="3691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/>
                <p:cNvCxnSpPr/>
                <p:nvPr/>
              </p:nvCxnSpPr>
              <p:spPr>
                <a:xfrm flipV="1">
                  <a:off x="6553200" y="2114550"/>
                  <a:ext cx="0" cy="213241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960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919161"/>
          </a:xfrm>
        </p:spPr>
        <p:txBody>
          <a:bodyPr>
            <a:normAutofit/>
          </a:bodyPr>
          <a:lstStyle/>
          <a:p>
            <a:r>
              <a:rPr lang="en-IN" b="1" dirty="0"/>
              <a:t>Types of DRAM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2648"/>
            <a:ext cx="5080000" cy="4525963"/>
          </a:xfrm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>
            <a:normAutofit/>
          </a:bodyPr>
          <a:lstStyle/>
          <a:p>
            <a:pPr marL="482588" indent="-482588">
              <a:buFont typeface="+mj-lt"/>
              <a:buAutoNum type="alphaLcParenR"/>
            </a:pPr>
            <a:r>
              <a:rPr lang="en-IN" sz="2667" b="1" dirty="0">
                <a:solidFill>
                  <a:srgbClr val="000090"/>
                </a:solidFill>
              </a:rPr>
              <a:t>Asynchronous DRAM (ADRAM)</a:t>
            </a:r>
          </a:p>
          <a:p>
            <a:pPr marL="833946" lvl="1" indent="-351358"/>
            <a:r>
              <a:rPr lang="en-IN" dirty="0"/>
              <a:t>Timing of the memory device is handled asynchronously.</a:t>
            </a:r>
          </a:p>
          <a:p>
            <a:pPr marL="833946" lvl="1" indent="-351358"/>
            <a:r>
              <a:rPr lang="en-IN" dirty="0"/>
              <a:t>A special memory controller circuit generates the signals asynchronously.</a:t>
            </a:r>
          </a:p>
          <a:p>
            <a:pPr marL="833946" lvl="1" indent="-351358"/>
            <a:r>
              <a:rPr lang="en-IN" dirty="0"/>
              <a:t>DRAM chips produced between the early 1970s to mid-1990s used </a:t>
            </a:r>
            <a:r>
              <a:rPr lang="en-IN" i="1" dirty="0">
                <a:solidFill>
                  <a:srgbClr val="800000"/>
                </a:solidFill>
              </a:rPr>
              <a:t>asynchronous</a:t>
            </a:r>
            <a:r>
              <a:rPr lang="en-IN" dirty="0">
                <a:solidFill>
                  <a:srgbClr val="800000"/>
                </a:solidFill>
              </a:rPr>
              <a:t> </a:t>
            </a:r>
            <a:r>
              <a:rPr lang="en-IN" dirty="0"/>
              <a:t>DRAM.</a:t>
            </a:r>
          </a:p>
          <a:p>
            <a:pPr lvl="1"/>
            <a:endParaRPr lang="en-IN" sz="2133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486400" y="1492648"/>
            <a:ext cx="6502400" cy="4470400"/>
          </a:xfrm>
          <a:prstGeom prst="rect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vert="horz" lIns="121920" tIns="60960" rIns="121920" bIns="6096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82588" indent="-482588">
              <a:buFont typeface="+mj-lt"/>
              <a:buAutoNum type="alphaLcParenR" startAt="2"/>
            </a:pPr>
            <a:r>
              <a:rPr lang="en-IN" sz="2667" b="1" dirty="0">
                <a:solidFill>
                  <a:srgbClr val="000090"/>
                </a:solidFill>
              </a:rPr>
              <a:t>Synchronous DRAM (SDRAM)</a:t>
            </a:r>
          </a:p>
          <a:p>
            <a:pPr marL="833946" lvl="1" indent="-351358">
              <a:lnSpc>
                <a:spcPct val="110000"/>
              </a:lnSpc>
              <a:spcBef>
                <a:spcPts val="544"/>
              </a:spcBef>
              <a:buFont typeface="Arial"/>
              <a:buChar char="•"/>
            </a:pPr>
            <a:r>
              <a:rPr lang="en-IN" sz="2400" dirty="0"/>
              <a:t>Memory operations are synchronized by a clock.</a:t>
            </a:r>
          </a:p>
          <a:p>
            <a:pPr marL="833946" lvl="1" indent="-351358">
              <a:lnSpc>
                <a:spcPct val="110000"/>
              </a:lnSpc>
              <a:spcBef>
                <a:spcPts val="544"/>
              </a:spcBef>
              <a:buFont typeface="Arial"/>
              <a:buChar char="•"/>
            </a:pPr>
            <a:r>
              <a:rPr lang="en-IN" sz="2400" dirty="0"/>
              <a:t>Concept of SDRAM came in the 1970s.</a:t>
            </a:r>
          </a:p>
          <a:p>
            <a:pPr marL="833946" lvl="1" indent="-351358">
              <a:lnSpc>
                <a:spcPct val="110000"/>
              </a:lnSpc>
              <a:spcBef>
                <a:spcPts val="544"/>
              </a:spcBef>
              <a:buFont typeface="Arial"/>
              <a:buChar char="•"/>
            </a:pPr>
            <a:r>
              <a:rPr lang="en-IN" sz="2400" dirty="0"/>
              <a:t>Commercially made available only in 1993 by Samsung.</a:t>
            </a:r>
          </a:p>
          <a:p>
            <a:pPr marL="833946" lvl="1" indent="-351358">
              <a:lnSpc>
                <a:spcPct val="110000"/>
              </a:lnSpc>
              <a:spcBef>
                <a:spcPts val="544"/>
              </a:spcBef>
              <a:buFont typeface="Arial"/>
              <a:buChar char="•"/>
            </a:pPr>
            <a:r>
              <a:rPr lang="en-IN" sz="2400" dirty="0"/>
              <a:t>By 2000 SDRAM replaced almost all types of DRAMs in the market.</a:t>
            </a:r>
          </a:p>
          <a:p>
            <a:pPr marL="833946" lvl="1" indent="-351358">
              <a:lnSpc>
                <a:spcPct val="110000"/>
              </a:lnSpc>
              <a:spcBef>
                <a:spcPts val="544"/>
              </a:spcBef>
              <a:buFont typeface="Arial"/>
              <a:buChar char="•"/>
            </a:pPr>
            <a:r>
              <a:rPr lang="en-IN" sz="2400" dirty="0"/>
              <a:t>Performance of SDRAM is much higher compared to all other existing DRAM.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34682-54F0-4659-AAA6-5C8D9EC89E6E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5833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Asynchronous DRAM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8859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Asynchronous DRAM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IN" sz="2400" dirty="0"/>
              <a:t>The timing of the memory device is controlled asynchronously.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The device connected to this memory is responsible for the delay.</a:t>
            </a:r>
          </a:p>
          <a:p>
            <a:r>
              <a:rPr lang="en-US" altLang="en-US" sz="2400" dirty="0"/>
              <a:t>Address lines are divided into two parts and multiplexed.</a:t>
            </a:r>
          </a:p>
          <a:p>
            <a:pPr lvl="1"/>
            <a:r>
              <a:rPr lang="en-US" altLang="en-US" sz="2000" dirty="0"/>
              <a:t>Upper half of address:  </a:t>
            </a:r>
          </a:p>
          <a:p>
            <a:pPr lvl="2"/>
            <a:r>
              <a:rPr lang="en-US" altLang="en-US" dirty="0"/>
              <a:t>Loaded into </a:t>
            </a:r>
            <a:r>
              <a:rPr lang="en-US" altLang="en-US" i="1" dirty="0">
                <a:solidFill>
                  <a:srgbClr val="C00000"/>
                </a:solidFill>
              </a:rPr>
              <a:t>Row Address Latch </a:t>
            </a:r>
            <a:r>
              <a:rPr lang="en-US" altLang="en-US" dirty="0"/>
              <a:t>using </a:t>
            </a:r>
            <a:r>
              <a:rPr lang="en-US" altLang="en-US" i="1" dirty="0">
                <a:solidFill>
                  <a:srgbClr val="C00000"/>
                </a:solidFill>
              </a:rPr>
              <a:t>Row Address Strobe </a:t>
            </a:r>
            <a:r>
              <a:rPr lang="en-US" altLang="en-US" dirty="0"/>
              <a:t>(RAS).</a:t>
            </a:r>
          </a:p>
          <a:p>
            <a:pPr lvl="1"/>
            <a:r>
              <a:rPr lang="en-US" altLang="en-US" sz="2000" dirty="0"/>
              <a:t>Lower half of address:  </a:t>
            </a:r>
          </a:p>
          <a:p>
            <a:pPr lvl="2"/>
            <a:r>
              <a:rPr lang="en-US" altLang="en-US" dirty="0"/>
              <a:t>Loaded into </a:t>
            </a:r>
            <a:r>
              <a:rPr lang="en-US" altLang="en-US" i="1" dirty="0">
                <a:solidFill>
                  <a:srgbClr val="C00000"/>
                </a:solidFill>
              </a:rPr>
              <a:t>Column Address Latch </a:t>
            </a:r>
            <a:r>
              <a:rPr lang="en-US" altLang="en-US" dirty="0"/>
              <a:t>using </a:t>
            </a:r>
            <a:r>
              <a:rPr lang="en-US" altLang="en-US" i="1" dirty="0">
                <a:solidFill>
                  <a:srgbClr val="C00000"/>
                </a:solidFill>
              </a:rPr>
              <a:t>Column Address Strobe </a:t>
            </a:r>
            <a:r>
              <a:rPr lang="en-US" altLang="en-US" dirty="0"/>
              <a:t>(CAS).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1681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086" y="178343"/>
            <a:ext cx="10515600" cy="979703"/>
          </a:xfrm>
        </p:spPr>
        <p:txBody>
          <a:bodyPr>
            <a:normAutofit/>
          </a:bodyPr>
          <a:lstStyle/>
          <a:p>
            <a:r>
              <a:rPr lang="en-US" b="1" dirty="0"/>
              <a:t>Internal Organization of a DRAM Chip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38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99602" y="1295401"/>
            <a:ext cx="2541997" cy="2570704"/>
          </a:xfrm>
          <a:prstGeom prst="rect">
            <a:avLst/>
          </a:prstGeom>
          <a:noFill/>
          <a:ln w="190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32828" indent="-232828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lang="en-US" dirty="0"/>
              <a:t>Cells are organized in the form of an array, in rows and columns.</a:t>
            </a:r>
          </a:p>
          <a:p>
            <a:pPr marL="232828" indent="-232828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lang="en-US" dirty="0"/>
              <a:t>Cells of each row are divided into fixed number of columns, </a:t>
            </a:r>
            <a:r>
              <a:rPr lang="en-US" i="1" dirty="0">
                <a:solidFill>
                  <a:srgbClr val="800000"/>
                </a:solidFill>
              </a:rPr>
              <a:t>m</a:t>
            </a:r>
            <a:r>
              <a:rPr lang="en-US" dirty="0"/>
              <a:t> bits each.</a:t>
            </a:r>
          </a:p>
          <a:p>
            <a:pPr marL="232828" indent="-232828">
              <a:lnSpc>
                <a:spcPct val="105000"/>
              </a:lnSpc>
              <a:spcAft>
                <a:spcPts val="600"/>
              </a:spcAft>
              <a:buClr>
                <a:schemeClr val="tx1">
                  <a:lumMod val="95000"/>
                  <a:lumOff val="5000"/>
                </a:schemeClr>
              </a:buClr>
              <a:buFont typeface="Arial"/>
              <a:buChar char="•"/>
            </a:pPr>
            <a:r>
              <a:rPr lang="en-US" i="1" dirty="0">
                <a:solidFill>
                  <a:srgbClr val="C00000"/>
                </a:solidFill>
              </a:rPr>
              <a:t>m</a:t>
            </a:r>
            <a:r>
              <a:rPr lang="en-US" dirty="0"/>
              <a:t> is 8, 16, 32 or 64.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2583973" y="1351995"/>
            <a:ext cx="9912827" cy="4413806"/>
            <a:chOff x="1937980" y="1013996"/>
            <a:chExt cx="7434620" cy="3310354"/>
          </a:xfrm>
        </p:grpSpPr>
        <p:grpSp>
          <p:nvGrpSpPr>
            <p:cNvPr id="51" name="Group 50"/>
            <p:cNvGrpSpPr/>
            <p:nvPr/>
          </p:nvGrpSpPr>
          <p:grpSpPr>
            <a:xfrm>
              <a:off x="1937980" y="1013996"/>
              <a:ext cx="7434620" cy="3310354"/>
              <a:chOff x="490180" y="861596"/>
              <a:chExt cx="7434620" cy="3310354"/>
            </a:xfrm>
          </p:grpSpPr>
          <p:sp>
            <p:nvSpPr>
              <p:cNvPr id="46" name="Right Arrow 45"/>
              <p:cNvSpPr/>
              <p:nvPr/>
            </p:nvSpPr>
            <p:spPr>
              <a:xfrm>
                <a:off x="1511300" y="3181350"/>
                <a:ext cx="647698" cy="304800"/>
              </a:xfrm>
              <a:prstGeom prst="rightArrow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676900" y="2565476"/>
                <a:ext cx="1257300" cy="3048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867" b="1" dirty="0">
                    <a:solidFill>
                      <a:schemeClr val="tx1"/>
                    </a:solidFill>
                  </a:rPr>
                  <a:t>Sense/Write</a:t>
                </a:r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>
                <a:off x="4495800" y="1962150"/>
                <a:ext cx="1295400" cy="101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37"/>
              <p:cNvSpPr txBox="1"/>
              <p:nvPr/>
            </p:nvSpPr>
            <p:spPr>
              <a:xfrm>
                <a:off x="4953000" y="1559808"/>
                <a:ext cx="304800" cy="460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25000"/>
                  </a:lnSpc>
                </a:pPr>
                <a:r>
                  <a:rPr lang="en-IN" sz="3733" b="1" dirty="0"/>
                  <a:t>.</a:t>
                </a:r>
              </a:p>
              <a:p>
                <a:pPr>
                  <a:lnSpc>
                    <a:spcPct val="25000"/>
                  </a:lnSpc>
                </a:pPr>
                <a:r>
                  <a:rPr lang="en-IN" sz="3733" b="1" dirty="0"/>
                  <a:t>.</a:t>
                </a:r>
              </a:p>
              <a:p>
                <a:pPr>
                  <a:lnSpc>
                    <a:spcPct val="25000"/>
                  </a:lnSpc>
                </a:pPr>
                <a:r>
                  <a:rPr lang="en-IN" sz="3733" b="1" dirty="0"/>
                  <a:t>.</a:t>
                </a:r>
              </a:p>
            </p:txBody>
          </p:sp>
          <p:cxnSp>
            <p:nvCxnSpPr>
              <p:cNvPr id="22" name="Straight Connector 21"/>
              <p:cNvCxnSpPr/>
              <p:nvPr/>
            </p:nvCxnSpPr>
            <p:spPr>
              <a:xfrm>
                <a:off x="6515100" y="2134470"/>
                <a:ext cx="0" cy="4310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/>
              <p:cNvCxnSpPr/>
              <p:nvPr/>
            </p:nvCxnSpPr>
            <p:spPr>
              <a:xfrm>
                <a:off x="6515100" y="2870276"/>
                <a:ext cx="0" cy="304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Elbow Connector 26"/>
              <p:cNvCxnSpPr>
                <a:endCxn id="7" idx="0"/>
              </p:cNvCxnSpPr>
              <p:nvPr/>
            </p:nvCxnSpPr>
            <p:spPr>
              <a:xfrm>
                <a:off x="2057400" y="1047750"/>
                <a:ext cx="628650" cy="222326"/>
              </a:xfrm>
              <a:prstGeom prst="bentConnector2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Elbow Connector 27"/>
              <p:cNvCxnSpPr>
                <a:stCxn id="43" idx="3"/>
                <a:endCxn id="8" idx="2"/>
              </p:cNvCxnSpPr>
              <p:nvPr/>
            </p:nvCxnSpPr>
            <p:spPr>
              <a:xfrm flipV="1">
                <a:off x="2057400" y="3632276"/>
                <a:ext cx="628650" cy="240186"/>
              </a:xfrm>
              <a:prstGeom prst="bentConnector2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/>
              <p:cNvCxnSpPr/>
              <p:nvPr/>
            </p:nvCxnSpPr>
            <p:spPr>
              <a:xfrm flipH="1">
                <a:off x="6934200" y="2647950"/>
                <a:ext cx="457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/>
              <p:nvPr/>
            </p:nvCxnSpPr>
            <p:spPr>
              <a:xfrm flipH="1">
                <a:off x="6934200" y="2794076"/>
                <a:ext cx="457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63"/>
              <p:cNvSpPr txBox="1"/>
              <p:nvPr/>
            </p:nvSpPr>
            <p:spPr>
              <a:xfrm>
                <a:off x="7086600" y="2324126"/>
                <a:ext cx="495300" cy="315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133" dirty="0"/>
                  <a:t>CS’</a:t>
                </a:r>
              </a:p>
            </p:txBody>
          </p:sp>
          <p:sp>
            <p:nvSpPr>
              <p:cNvPr id="34" name="TextBox 65"/>
              <p:cNvSpPr txBox="1"/>
              <p:nvPr/>
            </p:nvSpPr>
            <p:spPr>
              <a:xfrm>
                <a:off x="6477000" y="3714750"/>
                <a:ext cx="1143000" cy="315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133" dirty="0"/>
                  <a:t>D</a:t>
                </a:r>
                <a:r>
                  <a:rPr lang="en-IN" sz="2133" baseline="-25000" dirty="0"/>
                  <a:t>m-1</a:t>
                </a:r>
                <a:r>
                  <a:rPr lang="en-IN" sz="2133" dirty="0"/>
                  <a:t> – D</a:t>
                </a:r>
                <a:r>
                  <a:rPr lang="en-IN" sz="2133" baseline="-25000" dirty="0"/>
                  <a:t>0</a:t>
                </a:r>
              </a:p>
            </p:txBody>
          </p:sp>
          <p:sp>
            <p:nvSpPr>
              <p:cNvPr id="43" name="TextBox 59"/>
              <p:cNvSpPr txBox="1"/>
              <p:nvPr/>
            </p:nvSpPr>
            <p:spPr>
              <a:xfrm>
                <a:off x="1447800" y="3714750"/>
                <a:ext cx="609600" cy="315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133" dirty="0"/>
                  <a:t>CAS’</a:t>
                </a:r>
              </a:p>
            </p:txBody>
          </p:sp>
          <p:sp>
            <p:nvSpPr>
              <p:cNvPr id="41" name="TextBox 73"/>
              <p:cNvSpPr txBox="1"/>
              <p:nvPr/>
            </p:nvSpPr>
            <p:spPr>
              <a:xfrm>
                <a:off x="1447800" y="861596"/>
                <a:ext cx="609600" cy="315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133" dirty="0"/>
                  <a:t>RAS’</a:t>
                </a:r>
              </a:p>
            </p:txBody>
          </p:sp>
          <p:sp>
            <p:nvSpPr>
              <p:cNvPr id="39" name="TextBox 64"/>
              <p:cNvSpPr txBox="1"/>
              <p:nvPr/>
            </p:nvSpPr>
            <p:spPr>
              <a:xfrm>
                <a:off x="7086600" y="2735818"/>
                <a:ext cx="838200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133" dirty="0"/>
                  <a:t>R / W</a:t>
                </a:r>
                <a:r>
                  <a:rPr lang="en-IN" sz="2400" dirty="0"/>
                  <a:t>’</a:t>
                </a:r>
              </a:p>
            </p:txBody>
          </p:sp>
          <p:sp>
            <p:nvSpPr>
              <p:cNvPr id="47" name="Right Arrow 46"/>
              <p:cNvSpPr/>
              <p:nvPr/>
            </p:nvSpPr>
            <p:spPr>
              <a:xfrm>
                <a:off x="1497863" y="1428750"/>
                <a:ext cx="647698" cy="304800"/>
              </a:xfrm>
              <a:prstGeom prst="rightArrow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49" name="Right Arrow 48"/>
              <p:cNvSpPr/>
              <p:nvPr/>
            </p:nvSpPr>
            <p:spPr>
              <a:xfrm>
                <a:off x="645631" y="2190750"/>
                <a:ext cx="649769" cy="420487"/>
              </a:xfrm>
              <a:prstGeom prst="rightArrow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50" name="TextBox 66"/>
              <p:cNvSpPr txBox="1"/>
              <p:nvPr/>
            </p:nvSpPr>
            <p:spPr>
              <a:xfrm>
                <a:off x="490180" y="2495550"/>
                <a:ext cx="957620" cy="315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133" dirty="0"/>
                  <a:t>A</a:t>
                </a:r>
                <a:r>
                  <a:rPr lang="en-IN" sz="2133" baseline="-25000" dirty="0"/>
                  <a:t>n-1</a:t>
                </a:r>
                <a:r>
                  <a:rPr lang="en-IN" sz="2133" dirty="0"/>
                  <a:t> – A</a:t>
                </a:r>
                <a:r>
                  <a:rPr lang="en-IN" sz="2133" baseline="-25000" dirty="0"/>
                  <a:t>0</a:t>
                </a:r>
              </a:p>
            </p:txBody>
          </p:sp>
          <p:cxnSp>
            <p:nvCxnSpPr>
              <p:cNvPr id="58" name="Straight Connector 57"/>
              <p:cNvCxnSpPr/>
              <p:nvPr/>
            </p:nvCxnSpPr>
            <p:spPr>
              <a:xfrm>
                <a:off x="4457700" y="1322136"/>
                <a:ext cx="1295400" cy="101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4457700" y="1547322"/>
                <a:ext cx="1295400" cy="101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5943600" y="2140744"/>
                <a:ext cx="0" cy="4310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>
                <a:off x="6096000" y="2134470"/>
                <a:ext cx="0" cy="4310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>
              <a:xfrm>
                <a:off x="5943600" y="2870276"/>
                <a:ext cx="0" cy="304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>
              <a:xfrm>
                <a:off x="6096000" y="2876550"/>
                <a:ext cx="0" cy="304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44"/>
              <p:cNvSpPr txBox="1"/>
              <p:nvPr/>
            </p:nvSpPr>
            <p:spPr>
              <a:xfrm>
                <a:off x="6083300" y="1962150"/>
                <a:ext cx="622300" cy="500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3733" dirty="0"/>
                  <a:t>... </a:t>
                </a: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3657600" y="1241500"/>
                <a:ext cx="914400" cy="8667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2133" b="1" dirty="0">
                    <a:solidFill>
                      <a:srgbClr val="000090"/>
                    </a:solidFill>
                  </a:rPr>
                  <a:t>Row</a:t>
                </a:r>
              </a:p>
              <a:p>
                <a:pPr algn="ctr"/>
                <a:r>
                  <a:rPr lang="en-IN" sz="2133" b="1" dirty="0">
                    <a:solidFill>
                      <a:srgbClr val="000090"/>
                    </a:solidFill>
                  </a:rPr>
                  <a:t>Decoder</a:t>
                </a: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753100" y="3105150"/>
                <a:ext cx="1066800" cy="52712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2133" b="1" dirty="0">
                    <a:solidFill>
                      <a:srgbClr val="000090"/>
                    </a:solidFill>
                  </a:rPr>
                  <a:t>Column</a:t>
                </a:r>
              </a:p>
              <a:p>
                <a:pPr algn="ctr"/>
                <a:r>
                  <a:rPr lang="en-IN" sz="2133" b="1" dirty="0">
                    <a:solidFill>
                      <a:srgbClr val="000090"/>
                    </a:solidFill>
                  </a:rPr>
                  <a:t>Decoder</a:t>
                </a:r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171700" y="1270076"/>
                <a:ext cx="1028700" cy="6096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867" b="1" dirty="0">
                    <a:solidFill>
                      <a:srgbClr val="000090"/>
                    </a:solidFill>
                  </a:rPr>
                  <a:t>Row</a:t>
                </a:r>
              </a:p>
              <a:p>
                <a:pPr algn="ctr"/>
                <a:r>
                  <a:rPr lang="en-IN" sz="1867" b="1" dirty="0">
                    <a:solidFill>
                      <a:srgbClr val="000090"/>
                    </a:solidFill>
                  </a:rPr>
                  <a:t>Address</a:t>
                </a:r>
              </a:p>
              <a:p>
                <a:pPr algn="ctr"/>
                <a:r>
                  <a:rPr lang="en-IN" sz="1867" b="1" dirty="0">
                    <a:solidFill>
                      <a:srgbClr val="000090"/>
                    </a:solidFill>
                  </a:rPr>
                  <a:t>Latch</a:t>
                </a: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171700" y="3022676"/>
                <a:ext cx="1028700" cy="6096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/>
                <a:r>
                  <a:rPr lang="en-IN" sz="1867" b="1" dirty="0">
                    <a:solidFill>
                      <a:srgbClr val="000090"/>
                    </a:solidFill>
                  </a:rPr>
                  <a:t>Column</a:t>
                </a:r>
              </a:p>
              <a:p>
                <a:pPr lvl="0" algn="ctr"/>
                <a:r>
                  <a:rPr lang="en-IN" sz="1867" b="1" dirty="0">
                    <a:solidFill>
                      <a:srgbClr val="000090"/>
                    </a:solidFill>
                  </a:rPr>
                  <a:t>Address</a:t>
                </a:r>
              </a:p>
              <a:p>
                <a:pPr lvl="0" algn="ctr"/>
                <a:r>
                  <a:rPr lang="en-IN" sz="1867" b="1" dirty="0">
                    <a:solidFill>
                      <a:srgbClr val="000090"/>
                    </a:solidFill>
                  </a:rPr>
                  <a:t>Latch</a:t>
                </a:r>
              </a:p>
            </p:txBody>
          </p:sp>
          <p:sp>
            <p:nvSpPr>
              <p:cNvPr id="21" name="Up-Down Arrow 20"/>
              <p:cNvSpPr/>
              <p:nvPr/>
            </p:nvSpPr>
            <p:spPr>
              <a:xfrm>
                <a:off x="6172200" y="3638550"/>
                <a:ext cx="304800" cy="533400"/>
              </a:xfrm>
              <a:prstGeom prst="upDownArrow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1295400" y="1504950"/>
                <a:ext cx="228600" cy="19050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63" name="Right Arrow 62"/>
              <p:cNvSpPr/>
              <p:nvPr/>
            </p:nvSpPr>
            <p:spPr>
              <a:xfrm>
                <a:off x="3200400" y="1428750"/>
                <a:ext cx="457200" cy="304800"/>
              </a:xfrm>
              <a:prstGeom prst="rightArrow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66" name="Right Arrow 65"/>
              <p:cNvSpPr/>
              <p:nvPr/>
            </p:nvSpPr>
            <p:spPr>
              <a:xfrm>
                <a:off x="3200400" y="3181350"/>
                <a:ext cx="2514600" cy="304800"/>
              </a:xfrm>
              <a:prstGeom prst="rightArrow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67" name="TextBox 44"/>
              <p:cNvSpPr txBox="1"/>
              <p:nvPr/>
            </p:nvSpPr>
            <p:spPr>
              <a:xfrm>
                <a:off x="6096000" y="2581930"/>
                <a:ext cx="622300" cy="500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3733" dirty="0"/>
                  <a:t>... 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5753100" y="1015282"/>
                <a:ext cx="1066800" cy="111918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2400" b="1" dirty="0">
                    <a:solidFill>
                      <a:srgbClr val="000090"/>
                    </a:solidFill>
                  </a:rPr>
                  <a:t>Memory</a:t>
                </a:r>
              </a:p>
              <a:p>
                <a:pPr algn="ctr"/>
                <a:r>
                  <a:rPr lang="en-IN" sz="2400" b="1" dirty="0">
                    <a:solidFill>
                      <a:srgbClr val="000090"/>
                    </a:solidFill>
                  </a:rPr>
                  <a:t>Cell Array</a:t>
                </a:r>
              </a:p>
            </p:txBody>
          </p:sp>
        </p:grpSp>
        <p:sp>
          <p:nvSpPr>
            <p:cNvPr id="53" name="TextBox 52"/>
            <p:cNvSpPr txBox="1"/>
            <p:nvPr/>
          </p:nvSpPr>
          <p:spPr>
            <a:xfrm>
              <a:off x="4648200" y="1276350"/>
              <a:ext cx="4572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x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715000" y="3028950"/>
              <a:ext cx="4572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y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048000" y="1276350"/>
              <a:ext cx="4572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x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124200" y="3028950"/>
              <a:ext cx="4572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17457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4570" y="1818008"/>
            <a:ext cx="10847830" cy="4049393"/>
          </a:xfrm>
        </p:spPr>
        <p:txBody>
          <a:bodyPr>
            <a:normAutofit/>
          </a:bodyPr>
          <a:lstStyle/>
          <a:p>
            <a:r>
              <a:rPr lang="en-US" sz="2400" dirty="0"/>
              <a:t>Suppose that the memory cell array is organized as </a:t>
            </a:r>
            <a:r>
              <a:rPr lang="en-US" sz="2400" i="1" dirty="0">
                <a:solidFill>
                  <a:srgbClr val="C00000"/>
                </a:solidFill>
              </a:rPr>
              <a:t>r x c</a:t>
            </a:r>
            <a:r>
              <a:rPr lang="en-US" sz="2400" dirty="0"/>
              <a:t>.</a:t>
            </a:r>
          </a:p>
          <a:p>
            <a:pPr lvl="1">
              <a:spcAft>
                <a:spcPts val="1200"/>
              </a:spcAft>
            </a:pPr>
            <a:r>
              <a:rPr lang="en-US" i="1" dirty="0">
                <a:solidFill>
                  <a:srgbClr val="C00000"/>
                </a:solidFill>
              </a:rPr>
              <a:t>r</a:t>
            </a:r>
            <a:r>
              <a:rPr lang="en-US" dirty="0"/>
              <a:t> rows and </a:t>
            </a:r>
            <a:r>
              <a:rPr lang="en-US" i="1" dirty="0">
                <a:solidFill>
                  <a:srgbClr val="C00000"/>
                </a:solidFill>
              </a:rPr>
              <a:t>c</a:t>
            </a:r>
            <a:r>
              <a:rPr lang="en-US" i="1" dirty="0">
                <a:solidFill>
                  <a:srgbClr val="800000"/>
                </a:solidFill>
              </a:rPr>
              <a:t> </a:t>
            </a:r>
            <a:r>
              <a:rPr lang="en-US" dirty="0"/>
              <a:t>columns.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An </a:t>
            </a:r>
            <a:r>
              <a:rPr lang="en-IN" sz="2400" i="1" dirty="0">
                <a:solidFill>
                  <a:srgbClr val="C00000"/>
                </a:solidFill>
              </a:rPr>
              <a:t>x</a:t>
            </a:r>
            <a:r>
              <a:rPr lang="en-IN" sz="2400" dirty="0"/>
              <a:t>-bit address is required to select a row </a:t>
            </a:r>
            <a:r>
              <a:rPr lang="en-IN" sz="2400" i="1" dirty="0">
                <a:solidFill>
                  <a:srgbClr val="C00000"/>
                </a:solidFill>
              </a:rPr>
              <a:t>r</a:t>
            </a:r>
            <a:r>
              <a:rPr lang="en-IN" sz="2400" dirty="0"/>
              <a:t>, where </a:t>
            </a:r>
            <a:r>
              <a:rPr lang="en-IN" sz="2400" i="1" dirty="0">
                <a:solidFill>
                  <a:srgbClr val="C00000"/>
                </a:solidFill>
              </a:rPr>
              <a:t>x = log</a:t>
            </a:r>
            <a:r>
              <a:rPr lang="en-IN" sz="2400" i="1" baseline="-25000" dirty="0">
                <a:solidFill>
                  <a:srgbClr val="C00000"/>
                </a:solidFill>
              </a:rPr>
              <a:t>2</a:t>
            </a:r>
            <a:r>
              <a:rPr lang="en-IN" sz="2400" i="1" dirty="0">
                <a:solidFill>
                  <a:srgbClr val="C00000"/>
                </a:solidFill>
              </a:rPr>
              <a:t>r</a:t>
            </a:r>
            <a:r>
              <a:rPr lang="en-IN" sz="2400" dirty="0"/>
              <a:t>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An </a:t>
            </a:r>
            <a:r>
              <a:rPr lang="en-IN" sz="2400" i="1" dirty="0">
                <a:solidFill>
                  <a:srgbClr val="C00000"/>
                </a:solidFill>
              </a:rPr>
              <a:t>y</a:t>
            </a:r>
            <a:r>
              <a:rPr lang="en-IN" sz="2400" dirty="0"/>
              <a:t>-bit address is required to select a column </a:t>
            </a:r>
            <a:r>
              <a:rPr lang="en-IN" sz="2400" i="1" dirty="0">
                <a:solidFill>
                  <a:srgbClr val="C00000"/>
                </a:solidFill>
              </a:rPr>
              <a:t>c</a:t>
            </a:r>
            <a:r>
              <a:rPr lang="en-IN" sz="2400" dirty="0"/>
              <a:t>, where </a:t>
            </a:r>
            <a:r>
              <a:rPr lang="en-IN" sz="2400" i="1" dirty="0">
                <a:solidFill>
                  <a:srgbClr val="C00000"/>
                </a:solidFill>
              </a:rPr>
              <a:t>y = log</a:t>
            </a:r>
            <a:r>
              <a:rPr lang="en-IN" sz="2400" i="1" baseline="-25000" dirty="0">
                <a:solidFill>
                  <a:srgbClr val="C00000"/>
                </a:solidFill>
              </a:rPr>
              <a:t>2</a:t>
            </a:r>
            <a:r>
              <a:rPr lang="en-IN" sz="2400" i="1" dirty="0">
                <a:solidFill>
                  <a:srgbClr val="C00000"/>
                </a:solidFill>
              </a:rPr>
              <a:t>c</a:t>
            </a:r>
            <a:r>
              <a:rPr lang="en-IN" sz="2400" dirty="0"/>
              <a:t>.</a:t>
            </a:r>
          </a:p>
          <a:p>
            <a:r>
              <a:rPr lang="en-IN" sz="2400" dirty="0"/>
              <a:t>Total address bits:   </a:t>
            </a:r>
            <a:r>
              <a:rPr lang="en-IN" sz="2400" i="1" dirty="0">
                <a:solidFill>
                  <a:srgbClr val="C00000"/>
                </a:solidFill>
              </a:rPr>
              <a:t>n = x (high order) + y (low order) 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7178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7736" y="265508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READ or WRITE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397000"/>
            <a:ext cx="5283200" cy="4525963"/>
          </a:xfrm>
        </p:spPr>
        <p:txBody>
          <a:bodyPr>
            <a:normAutofit/>
          </a:bodyPr>
          <a:lstStyle/>
          <a:p>
            <a:pPr marL="232828" indent="-232828"/>
            <a:r>
              <a:rPr lang="en-IN" sz="2400" dirty="0"/>
              <a:t>For a read operation, the </a:t>
            </a:r>
            <a:r>
              <a:rPr lang="en-IN" sz="2400" i="1" dirty="0">
                <a:solidFill>
                  <a:srgbClr val="C00000"/>
                </a:solidFill>
              </a:rPr>
              <a:t>x</a:t>
            </a:r>
            <a:r>
              <a:rPr lang="en-IN" sz="2400" dirty="0"/>
              <a:t>-bit row address is applied first. </a:t>
            </a:r>
          </a:p>
          <a:p>
            <a:pPr marL="840296" lvl="1" indent="-361942"/>
            <a:r>
              <a:rPr lang="en-IN" sz="2000" dirty="0"/>
              <a:t>It is loaded into </a:t>
            </a:r>
            <a:r>
              <a:rPr lang="en-IN" sz="2000" i="1" dirty="0">
                <a:solidFill>
                  <a:srgbClr val="C00000"/>
                </a:solidFill>
              </a:rPr>
              <a:t>Row Address Latch</a:t>
            </a:r>
            <a:r>
              <a:rPr lang="en-IN" sz="2000" dirty="0">
                <a:solidFill>
                  <a:srgbClr val="C00000"/>
                </a:solidFill>
              </a:rPr>
              <a:t> </a:t>
            </a:r>
            <a:r>
              <a:rPr lang="en-IN" sz="2000" dirty="0"/>
              <a:t>in response to the signal </a:t>
            </a:r>
            <a:r>
              <a:rPr lang="en-IN" sz="2000" i="1" dirty="0">
                <a:solidFill>
                  <a:srgbClr val="C00000"/>
                </a:solidFill>
              </a:rPr>
              <a:t>RAS’</a:t>
            </a:r>
            <a:r>
              <a:rPr lang="en-IN" sz="2000" dirty="0"/>
              <a:t>.</a:t>
            </a:r>
          </a:p>
          <a:p>
            <a:pPr marL="840296" lvl="1" indent="-361942"/>
            <a:r>
              <a:rPr lang="en-IN" sz="2000" dirty="0"/>
              <a:t>The read operation is performed in which all the cells of the selected row are read and refreshed.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40</a:t>
            </a:fld>
            <a:endParaRPr lang="en-US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5283200" y="1544637"/>
            <a:ext cx="6502400" cy="4221163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Font typeface="Arial"/>
              <a:buChar char="•"/>
            </a:pPr>
            <a:r>
              <a:rPr lang="en-IN" sz="2000" dirty="0"/>
              <a:t>After loading of row address, the column address is selected. </a:t>
            </a:r>
          </a:p>
          <a:p>
            <a:pPr lvl="1">
              <a:buFont typeface="Arial"/>
              <a:buChar char="•"/>
            </a:pPr>
            <a:r>
              <a:rPr lang="en-IN" sz="2000" dirty="0"/>
              <a:t>In response to </a:t>
            </a:r>
            <a:r>
              <a:rPr lang="en-IN" sz="2000" i="1" dirty="0">
                <a:solidFill>
                  <a:srgbClr val="C00000"/>
                </a:solidFill>
              </a:rPr>
              <a:t>CAS’</a:t>
            </a:r>
            <a:r>
              <a:rPr lang="en-IN" sz="2000" dirty="0"/>
              <a:t> the column address is loaded into </a:t>
            </a:r>
            <a:r>
              <a:rPr lang="en-IN" sz="2000" i="1" dirty="0">
                <a:solidFill>
                  <a:srgbClr val="C00000"/>
                </a:solidFill>
              </a:rPr>
              <a:t>Column Address La</a:t>
            </a:r>
            <a:r>
              <a:rPr lang="en-IN" sz="2000" i="1" dirty="0">
                <a:solidFill>
                  <a:srgbClr val="800000"/>
                </a:solidFill>
              </a:rPr>
              <a:t>tch</a:t>
            </a:r>
            <a:r>
              <a:rPr lang="en-IN" sz="2000" dirty="0"/>
              <a:t>.</a:t>
            </a:r>
          </a:p>
          <a:p>
            <a:pPr lvl="1">
              <a:buFont typeface="Arial"/>
              <a:buChar char="•"/>
            </a:pPr>
            <a:r>
              <a:rPr lang="en-IN" sz="2000" dirty="0"/>
              <a:t>Then the column decoder selects a particular column from </a:t>
            </a:r>
            <a:r>
              <a:rPr lang="en-IN" sz="2000" i="1" dirty="0">
                <a:solidFill>
                  <a:srgbClr val="800000"/>
                </a:solidFill>
              </a:rPr>
              <a:t>c</a:t>
            </a:r>
            <a:r>
              <a:rPr lang="en-IN" sz="2000" dirty="0"/>
              <a:t> columns and an appropriate group of </a:t>
            </a:r>
            <a:r>
              <a:rPr lang="en-IN" sz="2000" i="1" dirty="0">
                <a:solidFill>
                  <a:srgbClr val="800000"/>
                </a:solidFill>
              </a:rPr>
              <a:t>m</a:t>
            </a:r>
            <a:r>
              <a:rPr lang="en-IN" sz="2000" dirty="0"/>
              <a:t> sense/write circuits are selected.</a:t>
            </a:r>
          </a:p>
        </p:txBody>
      </p:sp>
    </p:spTree>
    <p:extLst>
      <p:ext uri="{BB962C8B-B14F-4D97-AF65-F5344CB8AC3E}">
        <p14:creationId xmlns:p14="http://schemas.microsoft.com/office/powerpoint/2010/main" val="29013894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89001"/>
            <a:ext cx="5892800" cy="4876800"/>
          </a:xfrm>
        </p:spPr>
        <p:txBody>
          <a:bodyPr>
            <a:normAutofit/>
          </a:bodyPr>
          <a:lstStyle/>
          <a:p>
            <a:r>
              <a:rPr lang="en-IN" sz="2400" dirty="0"/>
              <a:t>For a </a:t>
            </a:r>
            <a:r>
              <a:rPr lang="en-IN" sz="2400" i="1" dirty="0">
                <a:solidFill>
                  <a:srgbClr val="C00000"/>
                </a:solidFill>
              </a:rPr>
              <a:t>READ</a:t>
            </a:r>
            <a:r>
              <a:rPr lang="en-IN" sz="2400" dirty="0"/>
              <a:t> operation, the output values of the selected circuits are transferred to data lines </a:t>
            </a:r>
            <a:r>
              <a:rPr lang="en-IN" sz="2400" i="1" dirty="0">
                <a:solidFill>
                  <a:srgbClr val="C00000"/>
                </a:solidFill>
              </a:rPr>
              <a:t>D</a:t>
            </a:r>
            <a:r>
              <a:rPr lang="en-IN" sz="2400" i="1" baseline="-25000" dirty="0">
                <a:solidFill>
                  <a:srgbClr val="C00000"/>
                </a:solidFill>
              </a:rPr>
              <a:t>m-1</a:t>
            </a:r>
            <a:r>
              <a:rPr lang="en-IN" sz="2400" dirty="0"/>
              <a:t> to  </a:t>
            </a:r>
            <a:r>
              <a:rPr lang="en-IN" sz="2400" i="1" dirty="0">
                <a:solidFill>
                  <a:srgbClr val="C00000"/>
                </a:solidFill>
              </a:rPr>
              <a:t>D</a:t>
            </a:r>
            <a:r>
              <a:rPr lang="en-IN" sz="2400" i="1" baseline="-25000" dirty="0">
                <a:solidFill>
                  <a:srgbClr val="C00000"/>
                </a:solidFill>
              </a:rPr>
              <a:t>0</a:t>
            </a:r>
            <a:r>
              <a:rPr lang="en-IN" sz="2400" baseline="-25000" dirty="0"/>
              <a:t>.</a:t>
            </a:r>
          </a:p>
          <a:p>
            <a:r>
              <a:rPr lang="en-IN" sz="2400" dirty="0"/>
              <a:t>For a </a:t>
            </a:r>
            <a:r>
              <a:rPr lang="en-IN" sz="2400" i="1" dirty="0">
                <a:solidFill>
                  <a:srgbClr val="C00000"/>
                </a:solidFill>
              </a:rPr>
              <a:t>WRITE</a:t>
            </a:r>
            <a:r>
              <a:rPr lang="en-IN" sz="2400" dirty="0"/>
              <a:t> operation, the data available on the data lines </a:t>
            </a:r>
            <a:r>
              <a:rPr lang="en-IN" sz="2400" i="1" dirty="0">
                <a:solidFill>
                  <a:srgbClr val="C00000"/>
                </a:solidFill>
              </a:rPr>
              <a:t>D</a:t>
            </a:r>
            <a:r>
              <a:rPr lang="en-IN" sz="2400" i="1" baseline="-25000" dirty="0">
                <a:solidFill>
                  <a:srgbClr val="C00000"/>
                </a:solidFill>
              </a:rPr>
              <a:t>m-1</a:t>
            </a:r>
            <a:r>
              <a:rPr lang="en-IN" sz="2400" dirty="0"/>
              <a:t> to  </a:t>
            </a:r>
            <a:r>
              <a:rPr lang="en-IN" sz="2400" i="1" dirty="0">
                <a:solidFill>
                  <a:srgbClr val="C00000"/>
                </a:solidFill>
              </a:rPr>
              <a:t>D</a:t>
            </a:r>
            <a:r>
              <a:rPr lang="en-IN" sz="2400" i="1" baseline="-25000" dirty="0">
                <a:solidFill>
                  <a:srgbClr val="C00000"/>
                </a:solidFill>
              </a:rPr>
              <a:t>0</a:t>
            </a:r>
            <a:r>
              <a:rPr lang="en-IN" sz="2400" dirty="0"/>
              <a:t>  is transferred to the selected circuits.</a:t>
            </a:r>
          </a:p>
          <a:p>
            <a:pPr lvl="1"/>
            <a:r>
              <a:rPr lang="en-IN" sz="2000" dirty="0"/>
              <a:t>This information is stored in the selected cell.</a:t>
            </a:r>
          </a:p>
          <a:p>
            <a:r>
              <a:rPr lang="en-IN" sz="2400" dirty="0"/>
              <a:t>Both </a:t>
            </a:r>
            <a:r>
              <a:rPr lang="en-IN" sz="2400" i="1" dirty="0">
                <a:solidFill>
                  <a:srgbClr val="C00000"/>
                </a:solidFill>
              </a:rPr>
              <a:t>RAS’</a:t>
            </a:r>
            <a:r>
              <a:rPr lang="en-IN" sz="2400" dirty="0"/>
              <a:t> and </a:t>
            </a:r>
            <a:r>
              <a:rPr lang="en-IN" sz="2400" i="1" dirty="0">
                <a:solidFill>
                  <a:srgbClr val="C00000"/>
                </a:solidFill>
              </a:rPr>
              <a:t>CAS’</a:t>
            </a:r>
            <a:r>
              <a:rPr lang="en-IN" sz="2400" dirty="0"/>
              <a:t> are active low signals. That is they cause latching the addresses when they move from high to 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41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299200" y="889000"/>
            <a:ext cx="5791200" cy="4525963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/>
              <a:t>Each row of the cell array must be periodically refreshed to prevent data loss.</a:t>
            </a:r>
          </a:p>
          <a:p>
            <a:r>
              <a:rPr lang="en-IN" sz="2400" dirty="0"/>
              <a:t>Cost is low but access time is high compared to SRAM.</a:t>
            </a:r>
          </a:p>
          <a:p>
            <a:r>
              <a:rPr lang="en-IN" sz="2400" dirty="0"/>
              <a:t>Very high packing density (few billion cells per chip). </a:t>
            </a:r>
          </a:p>
          <a:p>
            <a:r>
              <a:rPr lang="en-IN" sz="2400" dirty="0"/>
              <a:t>Widely used in the main memory of modern computer systems.</a:t>
            </a:r>
          </a:p>
        </p:txBody>
      </p:sp>
    </p:spTree>
    <p:extLst>
      <p:ext uri="{BB962C8B-B14F-4D97-AF65-F5344CB8AC3E}">
        <p14:creationId xmlns:p14="http://schemas.microsoft.com/office/powerpoint/2010/main" val="24304166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An Example: 1 Gbit  ADRAM Chip</a:t>
            </a:r>
            <a:endParaRPr lang="en-IN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81286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200"/>
              </a:spcAft>
            </a:pPr>
            <a:r>
              <a:rPr lang="en-IN" sz="2600" dirty="0"/>
              <a:t>We assume that the 1 Gbit memory cells are organized as 32768 (2</a:t>
            </a:r>
            <a:r>
              <a:rPr lang="en-IN" sz="2600" baseline="30000" dirty="0"/>
              <a:t>15</a:t>
            </a:r>
            <a:r>
              <a:rPr lang="en-IN" sz="2600" dirty="0"/>
              <a:t>) rows and 32768 (2</a:t>
            </a:r>
            <a:r>
              <a:rPr lang="en-IN" sz="2600" baseline="30000" dirty="0"/>
              <a:t>15</a:t>
            </a:r>
            <a:r>
              <a:rPr lang="en-IN" sz="2600" dirty="0"/>
              <a:t>) columns. </a:t>
            </a:r>
          </a:p>
          <a:p>
            <a:pPr>
              <a:spcAft>
                <a:spcPts val="1200"/>
              </a:spcAft>
            </a:pPr>
            <a:r>
              <a:rPr lang="en-IN" sz="2600" dirty="0"/>
              <a:t>Let us assume that data bus is 32-bit long.</a:t>
            </a:r>
          </a:p>
          <a:p>
            <a:r>
              <a:rPr lang="en-IN" sz="2600" dirty="0"/>
              <a:t>So, the memory can be organized as (2</a:t>
            </a:r>
            <a:r>
              <a:rPr lang="en-IN" sz="2600" baseline="30000" dirty="0"/>
              <a:t>15</a:t>
            </a:r>
            <a:r>
              <a:rPr lang="en-IN" sz="2600" dirty="0"/>
              <a:t>) x (2</a:t>
            </a:r>
            <a:r>
              <a:rPr lang="en-IN" sz="2600" baseline="30000" dirty="0"/>
              <a:t>10</a:t>
            </a:r>
            <a:r>
              <a:rPr lang="en-IN" sz="2600" dirty="0"/>
              <a:t> x 2</a:t>
            </a:r>
            <a:r>
              <a:rPr lang="en-IN" sz="2600" baseline="30000" dirty="0"/>
              <a:t>5</a:t>
            </a:r>
            <a:r>
              <a:rPr lang="en-IN" sz="2600" dirty="0"/>
              <a:t>).</a:t>
            </a:r>
          </a:p>
          <a:p>
            <a:pPr lvl="1">
              <a:spcAft>
                <a:spcPts val="1200"/>
              </a:spcAft>
            </a:pPr>
            <a:r>
              <a:rPr lang="en-IN" sz="2200" dirty="0"/>
              <a:t>Total number of address lines is 25 bits.</a:t>
            </a:r>
          </a:p>
          <a:p>
            <a:r>
              <a:rPr lang="en-IN" sz="2600" dirty="0"/>
              <a:t>High order 15 bits of the address is used to select a row.</a:t>
            </a:r>
          </a:p>
          <a:p>
            <a:pPr lvl="1">
              <a:spcAft>
                <a:spcPts val="1200"/>
              </a:spcAft>
            </a:pPr>
            <a:r>
              <a:rPr lang="en-IN" sz="2200" dirty="0"/>
              <a:t>Requires a 15 x 32768 row-address decoder.</a:t>
            </a:r>
          </a:p>
          <a:p>
            <a:r>
              <a:rPr lang="en-IN" sz="2600" dirty="0"/>
              <a:t>Low order 10 bits of the address is used to select a column. </a:t>
            </a:r>
          </a:p>
          <a:p>
            <a:pPr lvl="1"/>
            <a:r>
              <a:rPr lang="en-IN" sz="2000" dirty="0"/>
              <a:t>Requires a 10 x 1024 column decoder.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6021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43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914400" y="990601"/>
            <a:ext cx="10116027" cy="4470400"/>
            <a:chOff x="1785580" y="971550"/>
            <a:chExt cx="7587020" cy="3352800"/>
          </a:xfrm>
        </p:grpSpPr>
        <p:grpSp>
          <p:nvGrpSpPr>
            <p:cNvPr id="6" name="Group 5"/>
            <p:cNvGrpSpPr/>
            <p:nvPr/>
          </p:nvGrpSpPr>
          <p:grpSpPr>
            <a:xfrm>
              <a:off x="1785580" y="971550"/>
              <a:ext cx="7587020" cy="3352800"/>
              <a:chOff x="337780" y="819150"/>
              <a:chExt cx="7587020" cy="3352800"/>
            </a:xfrm>
          </p:grpSpPr>
          <p:sp>
            <p:nvSpPr>
              <p:cNvPr id="11" name="Right Arrow 10"/>
              <p:cNvSpPr/>
              <p:nvPr/>
            </p:nvSpPr>
            <p:spPr>
              <a:xfrm>
                <a:off x="1511300" y="3181350"/>
                <a:ext cx="647698" cy="304800"/>
              </a:xfrm>
              <a:prstGeom prst="rightArrow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676900" y="2565476"/>
                <a:ext cx="1257300" cy="3048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867" b="1" dirty="0">
                    <a:solidFill>
                      <a:schemeClr val="tx1"/>
                    </a:solidFill>
                  </a:rPr>
                  <a:t>Sense/Write</a:t>
                </a:r>
              </a:p>
            </p:txBody>
          </p:sp>
          <p:cxnSp>
            <p:nvCxnSpPr>
              <p:cNvPr id="13" name="Straight Connector 12"/>
              <p:cNvCxnSpPr/>
              <p:nvPr/>
            </p:nvCxnSpPr>
            <p:spPr>
              <a:xfrm>
                <a:off x="4495800" y="1962150"/>
                <a:ext cx="1295400" cy="101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37"/>
              <p:cNvSpPr txBox="1"/>
              <p:nvPr/>
            </p:nvSpPr>
            <p:spPr>
              <a:xfrm>
                <a:off x="4953000" y="1559808"/>
                <a:ext cx="304800" cy="4602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25000"/>
                  </a:lnSpc>
                </a:pPr>
                <a:r>
                  <a:rPr lang="en-IN" sz="3733" b="1" dirty="0"/>
                  <a:t>.</a:t>
                </a:r>
              </a:p>
              <a:p>
                <a:pPr>
                  <a:lnSpc>
                    <a:spcPct val="25000"/>
                  </a:lnSpc>
                </a:pPr>
                <a:r>
                  <a:rPr lang="en-IN" sz="3733" b="1" dirty="0"/>
                  <a:t>.</a:t>
                </a:r>
              </a:p>
              <a:p>
                <a:pPr>
                  <a:lnSpc>
                    <a:spcPct val="25000"/>
                  </a:lnSpc>
                </a:pPr>
                <a:r>
                  <a:rPr lang="en-IN" sz="3733" b="1" dirty="0"/>
                  <a:t>.</a:t>
                </a:r>
              </a:p>
            </p:txBody>
          </p:sp>
          <p:cxnSp>
            <p:nvCxnSpPr>
              <p:cNvPr id="15" name="Straight Connector 14"/>
              <p:cNvCxnSpPr/>
              <p:nvPr/>
            </p:nvCxnSpPr>
            <p:spPr>
              <a:xfrm>
                <a:off x="6515100" y="2134470"/>
                <a:ext cx="0" cy="4310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/>
              <p:cNvCxnSpPr/>
              <p:nvPr/>
            </p:nvCxnSpPr>
            <p:spPr>
              <a:xfrm>
                <a:off x="6515100" y="2870276"/>
                <a:ext cx="0" cy="304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Elbow Connector 16"/>
              <p:cNvCxnSpPr>
                <a:endCxn id="38" idx="0"/>
              </p:cNvCxnSpPr>
              <p:nvPr/>
            </p:nvCxnSpPr>
            <p:spPr>
              <a:xfrm>
                <a:off x="2057400" y="1047750"/>
                <a:ext cx="628650" cy="222326"/>
              </a:xfrm>
              <a:prstGeom prst="bentConnector2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Elbow Connector 17"/>
              <p:cNvCxnSpPr>
                <a:stCxn id="23" idx="3"/>
                <a:endCxn id="39" idx="2"/>
              </p:cNvCxnSpPr>
              <p:nvPr/>
            </p:nvCxnSpPr>
            <p:spPr>
              <a:xfrm flipV="1">
                <a:off x="2057400" y="3632276"/>
                <a:ext cx="628650" cy="240185"/>
              </a:xfrm>
              <a:prstGeom prst="bentConnector2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/>
              <p:nvPr/>
            </p:nvCxnSpPr>
            <p:spPr>
              <a:xfrm flipH="1">
                <a:off x="6934200" y="2647950"/>
                <a:ext cx="457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Arrow Connector 19"/>
              <p:cNvCxnSpPr/>
              <p:nvPr/>
            </p:nvCxnSpPr>
            <p:spPr>
              <a:xfrm flipH="1">
                <a:off x="6934200" y="2794076"/>
                <a:ext cx="45720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63"/>
              <p:cNvSpPr txBox="1"/>
              <p:nvPr/>
            </p:nvSpPr>
            <p:spPr>
              <a:xfrm>
                <a:off x="7086600" y="2324126"/>
                <a:ext cx="495300" cy="315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133" dirty="0"/>
                  <a:t>CS’</a:t>
                </a:r>
              </a:p>
            </p:txBody>
          </p:sp>
          <p:sp>
            <p:nvSpPr>
              <p:cNvPr id="22" name="TextBox 65"/>
              <p:cNvSpPr txBox="1"/>
              <p:nvPr/>
            </p:nvSpPr>
            <p:spPr>
              <a:xfrm>
                <a:off x="6477000" y="3714750"/>
                <a:ext cx="1143000" cy="315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133" b="1" dirty="0">
                    <a:solidFill>
                      <a:srgbClr val="0000FF"/>
                    </a:solidFill>
                  </a:rPr>
                  <a:t>D</a:t>
                </a:r>
                <a:r>
                  <a:rPr lang="en-IN" sz="2133" b="1" baseline="-25000" dirty="0">
                    <a:solidFill>
                      <a:srgbClr val="0000FF"/>
                    </a:solidFill>
                  </a:rPr>
                  <a:t>31</a:t>
                </a:r>
                <a:r>
                  <a:rPr lang="en-IN" sz="2133" b="1" dirty="0">
                    <a:solidFill>
                      <a:srgbClr val="0000FF"/>
                    </a:solidFill>
                  </a:rPr>
                  <a:t> – D</a:t>
                </a:r>
                <a:r>
                  <a:rPr lang="en-IN" sz="2133" b="1" baseline="-25000" dirty="0">
                    <a:solidFill>
                      <a:srgbClr val="0000FF"/>
                    </a:solidFill>
                  </a:rPr>
                  <a:t>0</a:t>
                </a:r>
              </a:p>
            </p:txBody>
          </p:sp>
          <p:sp>
            <p:nvSpPr>
              <p:cNvPr id="23" name="TextBox 59"/>
              <p:cNvSpPr txBox="1"/>
              <p:nvPr/>
            </p:nvSpPr>
            <p:spPr>
              <a:xfrm>
                <a:off x="1447800" y="3714750"/>
                <a:ext cx="609600" cy="315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133" dirty="0"/>
                  <a:t>CAS’</a:t>
                </a:r>
              </a:p>
            </p:txBody>
          </p:sp>
          <p:sp>
            <p:nvSpPr>
              <p:cNvPr id="24" name="TextBox 73"/>
              <p:cNvSpPr txBox="1"/>
              <p:nvPr/>
            </p:nvSpPr>
            <p:spPr>
              <a:xfrm>
                <a:off x="1447800" y="819150"/>
                <a:ext cx="609600" cy="315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133" dirty="0"/>
                  <a:t>RAS’</a:t>
                </a:r>
              </a:p>
            </p:txBody>
          </p:sp>
          <p:sp>
            <p:nvSpPr>
              <p:cNvPr id="25" name="TextBox 64"/>
              <p:cNvSpPr txBox="1"/>
              <p:nvPr/>
            </p:nvSpPr>
            <p:spPr>
              <a:xfrm>
                <a:off x="7086600" y="2735818"/>
                <a:ext cx="838200" cy="346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133" dirty="0"/>
                  <a:t>R / W</a:t>
                </a:r>
                <a:r>
                  <a:rPr lang="en-IN" sz="2400" dirty="0"/>
                  <a:t>’</a:t>
                </a:r>
              </a:p>
            </p:txBody>
          </p:sp>
          <p:sp>
            <p:nvSpPr>
              <p:cNvPr id="26" name="Right Arrow 25"/>
              <p:cNvSpPr/>
              <p:nvPr/>
            </p:nvSpPr>
            <p:spPr>
              <a:xfrm>
                <a:off x="1497863" y="1428750"/>
                <a:ext cx="647698" cy="304800"/>
              </a:xfrm>
              <a:prstGeom prst="rightArrow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27" name="Right Arrow 26"/>
              <p:cNvSpPr/>
              <p:nvPr/>
            </p:nvSpPr>
            <p:spPr>
              <a:xfrm>
                <a:off x="645631" y="2190750"/>
                <a:ext cx="649769" cy="420487"/>
              </a:xfrm>
              <a:prstGeom prst="rightArrow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28" name="TextBox 66"/>
              <p:cNvSpPr txBox="1"/>
              <p:nvPr/>
            </p:nvSpPr>
            <p:spPr>
              <a:xfrm>
                <a:off x="337780" y="2537996"/>
                <a:ext cx="957620" cy="3154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2133" b="1" dirty="0">
                    <a:solidFill>
                      <a:srgbClr val="0000FF"/>
                    </a:solidFill>
                  </a:rPr>
                  <a:t>A</a:t>
                </a:r>
                <a:r>
                  <a:rPr lang="en-IN" sz="2133" b="1" baseline="-25000" dirty="0">
                    <a:solidFill>
                      <a:srgbClr val="0000FF"/>
                    </a:solidFill>
                  </a:rPr>
                  <a:t>24</a:t>
                </a:r>
                <a:r>
                  <a:rPr lang="en-IN" sz="2133" b="1" dirty="0">
                    <a:solidFill>
                      <a:srgbClr val="0000FF"/>
                    </a:solidFill>
                  </a:rPr>
                  <a:t> – A</a:t>
                </a:r>
                <a:r>
                  <a:rPr lang="en-IN" sz="2133" b="1" baseline="-25000" dirty="0">
                    <a:solidFill>
                      <a:srgbClr val="0000FF"/>
                    </a:solidFill>
                  </a:rPr>
                  <a:t>0</a:t>
                </a:r>
              </a:p>
            </p:txBody>
          </p:sp>
          <p:cxnSp>
            <p:nvCxnSpPr>
              <p:cNvPr id="29" name="Straight Connector 28"/>
              <p:cNvCxnSpPr/>
              <p:nvPr/>
            </p:nvCxnSpPr>
            <p:spPr>
              <a:xfrm>
                <a:off x="4457700" y="1322136"/>
                <a:ext cx="1295400" cy="101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4457700" y="1547322"/>
                <a:ext cx="1295400" cy="1018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>
                <a:off x="5943600" y="2140744"/>
                <a:ext cx="0" cy="4310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>
                <a:off x="6096000" y="2134470"/>
                <a:ext cx="0" cy="431006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>
                <a:off x="5943600" y="2870276"/>
                <a:ext cx="0" cy="304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>
                <a:off x="6096000" y="2876550"/>
                <a:ext cx="0" cy="304800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TextBox 44"/>
              <p:cNvSpPr txBox="1"/>
              <p:nvPr/>
            </p:nvSpPr>
            <p:spPr>
              <a:xfrm>
                <a:off x="6083300" y="1962150"/>
                <a:ext cx="622300" cy="5000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3733" dirty="0"/>
                  <a:t>... </a:t>
                </a: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3657600" y="1241500"/>
                <a:ext cx="914400" cy="866775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2133" b="1" dirty="0">
                    <a:solidFill>
                      <a:srgbClr val="000090"/>
                    </a:solidFill>
                  </a:rPr>
                  <a:t>Row</a:t>
                </a:r>
              </a:p>
              <a:p>
                <a:pPr algn="ctr"/>
                <a:r>
                  <a:rPr lang="en-IN" sz="2133" b="1" dirty="0">
                    <a:solidFill>
                      <a:srgbClr val="000090"/>
                    </a:solidFill>
                  </a:rPr>
                  <a:t>Decoder</a:t>
                </a: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5753100" y="3105150"/>
                <a:ext cx="1066800" cy="527126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2133" b="1" dirty="0">
                    <a:solidFill>
                      <a:srgbClr val="000090"/>
                    </a:solidFill>
                  </a:rPr>
                  <a:t>Column</a:t>
                </a:r>
              </a:p>
              <a:p>
                <a:pPr algn="ctr"/>
                <a:r>
                  <a:rPr lang="en-IN" sz="2133" b="1" dirty="0">
                    <a:solidFill>
                      <a:srgbClr val="000090"/>
                    </a:solidFill>
                  </a:rPr>
                  <a:t>Decoder</a:t>
                </a:r>
              </a:p>
            </p:txBody>
          </p:sp>
          <p:sp>
            <p:nvSpPr>
              <p:cNvPr id="38" name="Rectangle 37"/>
              <p:cNvSpPr/>
              <p:nvPr/>
            </p:nvSpPr>
            <p:spPr>
              <a:xfrm>
                <a:off x="2171700" y="1270076"/>
                <a:ext cx="1028700" cy="6096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1867" b="1" dirty="0">
                    <a:solidFill>
                      <a:srgbClr val="000090"/>
                    </a:solidFill>
                  </a:rPr>
                  <a:t>Row</a:t>
                </a:r>
              </a:p>
              <a:p>
                <a:pPr algn="ctr"/>
                <a:r>
                  <a:rPr lang="en-IN" sz="1867" b="1" dirty="0">
                    <a:solidFill>
                      <a:srgbClr val="000090"/>
                    </a:solidFill>
                  </a:rPr>
                  <a:t>Address</a:t>
                </a:r>
              </a:p>
              <a:p>
                <a:pPr algn="ctr"/>
                <a:r>
                  <a:rPr lang="en-IN" sz="1867" b="1" dirty="0">
                    <a:solidFill>
                      <a:srgbClr val="000090"/>
                    </a:solidFill>
                  </a:rPr>
                  <a:t>Latch</a:t>
                </a: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2171700" y="3022676"/>
                <a:ext cx="1028700" cy="6096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ctr"/>
                <a:r>
                  <a:rPr lang="en-IN" sz="1867" b="1" dirty="0">
                    <a:solidFill>
                      <a:srgbClr val="000090"/>
                    </a:solidFill>
                  </a:rPr>
                  <a:t>Column</a:t>
                </a:r>
              </a:p>
              <a:p>
                <a:pPr lvl="0" algn="ctr"/>
                <a:r>
                  <a:rPr lang="en-IN" sz="1867" b="1" dirty="0">
                    <a:solidFill>
                      <a:srgbClr val="000090"/>
                    </a:solidFill>
                  </a:rPr>
                  <a:t>Address</a:t>
                </a:r>
              </a:p>
              <a:p>
                <a:pPr lvl="0" algn="ctr"/>
                <a:r>
                  <a:rPr lang="en-IN" sz="1867" b="1" dirty="0">
                    <a:solidFill>
                      <a:srgbClr val="000090"/>
                    </a:solidFill>
                  </a:rPr>
                  <a:t>Latch</a:t>
                </a:r>
              </a:p>
            </p:txBody>
          </p:sp>
          <p:sp>
            <p:nvSpPr>
              <p:cNvPr id="40" name="Up-Down Arrow 39"/>
              <p:cNvSpPr/>
              <p:nvPr/>
            </p:nvSpPr>
            <p:spPr>
              <a:xfrm>
                <a:off x="6172200" y="3638550"/>
                <a:ext cx="304800" cy="533400"/>
              </a:xfrm>
              <a:prstGeom prst="upDownArrow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chemeClr val="tx1">
                    <a:lumMod val="95000"/>
                    <a:lumOff val="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1295400" y="1504950"/>
                <a:ext cx="228600" cy="19050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42" name="Right Arrow 41"/>
              <p:cNvSpPr/>
              <p:nvPr/>
            </p:nvSpPr>
            <p:spPr>
              <a:xfrm>
                <a:off x="3200400" y="1428750"/>
                <a:ext cx="457200" cy="304800"/>
              </a:xfrm>
              <a:prstGeom prst="rightArrow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43" name="Right Arrow 42"/>
              <p:cNvSpPr/>
              <p:nvPr/>
            </p:nvSpPr>
            <p:spPr>
              <a:xfrm>
                <a:off x="3200400" y="3181350"/>
                <a:ext cx="2514600" cy="304800"/>
              </a:xfrm>
              <a:prstGeom prst="rightArrow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sz="2400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096000" y="2581930"/>
                <a:ext cx="622300" cy="5000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IN" sz="3733" dirty="0"/>
                  <a:t>... </a:t>
                </a:r>
              </a:p>
            </p:txBody>
          </p:sp>
          <p:sp>
            <p:nvSpPr>
              <p:cNvPr id="45" name="Rectangle 44"/>
              <p:cNvSpPr/>
              <p:nvPr/>
            </p:nvSpPr>
            <p:spPr>
              <a:xfrm>
                <a:off x="5753100" y="1015282"/>
                <a:ext cx="1066800" cy="111918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>
                <a:solidFill>
                  <a:srgbClr val="8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IN" sz="2400" b="1" dirty="0">
                    <a:solidFill>
                      <a:srgbClr val="000090"/>
                    </a:solidFill>
                  </a:rPr>
                  <a:t>Memory</a:t>
                </a:r>
              </a:p>
              <a:p>
                <a:pPr algn="ctr"/>
                <a:r>
                  <a:rPr lang="en-IN" sz="2400" b="1" dirty="0">
                    <a:solidFill>
                      <a:srgbClr val="000090"/>
                    </a:solidFill>
                  </a:rPr>
                  <a:t>Cell Array</a:t>
                </a:r>
              </a:p>
            </p:txBody>
          </p:sp>
        </p:grpSp>
        <p:sp>
          <p:nvSpPr>
            <p:cNvPr id="7" name="TextBox 6"/>
            <p:cNvSpPr txBox="1"/>
            <p:nvPr/>
          </p:nvSpPr>
          <p:spPr>
            <a:xfrm>
              <a:off x="4648200" y="1276350"/>
              <a:ext cx="4572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x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715000" y="3028950"/>
              <a:ext cx="4572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y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699980" y="1276350"/>
              <a:ext cx="80522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x = 15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928580" y="2952750"/>
              <a:ext cx="762000" cy="3462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y = 10</a:t>
              </a:r>
            </a:p>
          </p:txBody>
        </p:sp>
      </p:grpSp>
      <p:sp>
        <p:nvSpPr>
          <p:cNvPr id="46" name="TextBox 66"/>
          <p:cNvSpPr txBox="1"/>
          <p:nvPr/>
        </p:nvSpPr>
        <p:spPr>
          <a:xfrm>
            <a:off x="2540000" y="2311401"/>
            <a:ext cx="1276827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133" b="1" dirty="0">
                <a:solidFill>
                  <a:srgbClr val="0000FF"/>
                </a:solidFill>
              </a:rPr>
              <a:t>A</a:t>
            </a:r>
            <a:r>
              <a:rPr lang="en-IN" sz="2133" b="1" baseline="-25000" dirty="0">
                <a:solidFill>
                  <a:srgbClr val="0000FF"/>
                </a:solidFill>
              </a:rPr>
              <a:t>24</a:t>
            </a:r>
            <a:r>
              <a:rPr lang="en-IN" sz="2133" b="1" dirty="0">
                <a:solidFill>
                  <a:srgbClr val="0000FF"/>
                </a:solidFill>
              </a:rPr>
              <a:t> – A</a:t>
            </a:r>
            <a:r>
              <a:rPr lang="en-IN" sz="2133" b="1" baseline="-25000" dirty="0">
                <a:solidFill>
                  <a:srgbClr val="0000FF"/>
                </a:solidFill>
              </a:rPr>
              <a:t>10</a:t>
            </a:r>
          </a:p>
        </p:txBody>
      </p:sp>
      <p:sp>
        <p:nvSpPr>
          <p:cNvPr id="47" name="TextBox 66"/>
          <p:cNvSpPr txBox="1"/>
          <p:nvPr/>
        </p:nvSpPr>
        <p:spPr>
          <a:xfrm>
            <a:off x="2279173" y="4399995"/>
            <a:ext cx="1276827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133" b="1" dirty="0">
                <a:solidFill>
                  <a:srgbClr val="0000FF"/>
                </a:solidFill>
              </a:rPr>
              <a:t>A</a:t>
            </a:r>
            <a:r>
              <a:rPr lang="en-IN" sz="2133" b="1" baseline="-25000" dirty="0">
                <a:solidFill>
                  <a:srgbClr val="0000FF"/>
                </a:solidFill>
              </a:rPr>
              <a:t>9</a:t>
            </a:r>
            <a:r>
              <a:rPr lang="en-IN" sz="2133" b="1" dirty="0">
                <a:solidFill>
                  <a:srgbClr val="0000FF"/>
                </a:solidFill>
              </a:rPr>
              <a:t> – A</a:t>
            </a:r>
            <a:r>
              <a:rPr lang="en-IN" sz="2133" b="1" baseline="-25000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81600" y="1092201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15 x 32768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0000" y="685801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32768 x (1024 x 32)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8800" y="4968558"/>
            <a:ext cx="1828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32 data lines</a:t>
            </a:r>
          </a:p>
        </p:txBody>
      </p:sp>
    </p:spTree>
    <p:extLst>
      <p:ext uri="{BB962C8B-B14F-4D97-AF65-F5344CB8AC3E}">
        <p14:creationId xmlns:p14="http://schemas.microsoft.com/office/powerpoint/2010/main" val="411890106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41437"/>
            <a:ext cx="10972800" cy="4525963"/>
          </a:xfrm>
        </p:spPr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IN" sz="2667" b="1" dirty="0">
                <a:solidFill>
                  <a:srgbClr val="C00000"/>
                </a:solidFill>
              </a:rPr>
              <a:t>Operation:</a:t>
            </a:r>
          </a:p>
          <a:p>
            <a:pPr lvl="1">
              <a:spcAft>
                <a:spcPts val="1200"/>
              </a:spcAft>
            </a:pPr>
            <a:r>
              <a:rPr lang="en-IN" dirty="0"/>
              <a:t>15-bit row address is selected (i.e., x = 15).</a:t>
            </a:r>
          </a:p>
          <a:p>
            <a:pPr lvl="1">
              <a:spcAft>
                <a:spcPts val="1200"/>
              </a:spcAft>
            </a:pPr>
            <a:r>
              <a:rPr lang="en-IN" dirty="0"/>
              <a:t>With the help of RAS control signal the row address is latched. The 15 x 32768 Row Decoder selects a particular row.</a:t>
            </a:r>
          </a:p>
          <a:p>
            <a:pPr lvl="1">
              <a:spcAft>
                <a:spcPts val="1200"/>
              </a:spcAft>
            </a:pPr>
            <a:r>
              <a:rPr lang="en-IN" dirty="0"/>
              <a:t>Then the 10-bit column address is applied and with the help of CAS the address is latched. The 10 x 1024 column decoder selects a particular column.</a:t>
            </a:r>
          </a:p>
          <a:p>
            <a:pPr lvl="1"/>
            <a:r>
              <a:rPr lang="en-IN" dirty="0"/>
              <a:t>A group of 32 bits are selected as the 32-bit word to be accessed.</a:t>
            </a:r>
          </a:p>
          <a:p>
            <a:endParaRPr lang="en-IN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005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000" y="132773"/>
            <a:ext cx="10972800" cy="975465"/>
          </a:xfrm>
        </p:spPr>
        <p:txBody>
          <a:bodyPr>
            <a:normAutofit/>
          </a:bodyPr>
          <a:lstStyle/>
          <a:p>
            <a:r>
              <a:rPr lang="en-US" b="1" dirty="0"/>
              <a:t>Fast Page Mode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45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95600" y="1693435"/>
            <a:ext cx="1270000" cy="9227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67" b="1" dirty="0">
                <a:solidFill>
                  <a:schemeClr val="tx1"/>
                </a:solidFill>
              </a:rPr>
              <a:t>Row</a:t>
            </a:r>
          </a:p>
          <a:p>
            <a:pPr algn="ctr"/>
            <a:r>
              <a:rPr lang="en-IN" sz="1867" b="1" dirty="0">
                <a:solidFill>
                  <a:schemeClr val="tx1"/>
                </a:solidFill>
              </a:rPr>
              <a:t>Address</a:t>
            </a:r>
          </a:p>
          <a:p>
            <a:pPr algn="ctr"/>
            <a:r>
              <a:rPr lang="en-IN" sz="1867" b="1" dirty="0">
                <a:solidFill>
                  <a:schemeClr val="tx1"/>
                </a:solidFill>
              </a:rPr>
              <a:t>Latch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895600" y="4140200"/>
            <a:ext cx="1270000" cy="8981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/>
            <a:r>
              <a:rPr lang="en-IN" sz="1867" b="1" dirty="0">
                <a:solidFill>
                  <a:prstClr val="black"/>
                </a:solidFill>
              </a:rPr>
              <a:t>Column</a:t>
            </a:r>
          </a:p>
          <a:p>
            <a:pPr lvl="0" algn="ctr"/>
            <a:r>
              <a:rPr lang="en-IN" sz="1867" b="1" dirty="0">
                <a:solidFill>
                  <a:prstClr val="black"/>
                </a:solidFill>
              </a:rPr>
              <a:t>Address</a:t>
            </a:r>
          </a:p>
          <a:p>
            <a:pPr lvl="0" algn="ctr"/>
            <a:r>
              <a:rPr lang="en-IN" sz="1867" b="1" dirty="0">
                <a:solidFill>
                  <a:prstClr val="black"/>
                </a:solidFill>
              </a:rPr>
              <a:t>Latch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70800" y="1353709"/>
            <a:ext cx="2387600" cy="149225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867" b="1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670800" y="3420635"/>
            <a:ext cx="2387600" cy="406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67" b="1" dirty="0">
                <a:solidFill>
                  <a:schemeClr val="tx1"/>
                </a:solidFill>
              </a:rPr>
              <a:t>Sense/Write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70800" y="4454039"/>
            <a:ext cx="2425077" cy="609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1867" b="1" dirty="0">
                <a:solidFill>
                  <a:schemeClr val="tx1"/>
                </a:solidFill>
              </a:rPr>
              <a:t>Column Decoder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5943600" y="2594262"/>
            <a:ext cx="1727200" cy="135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9670903" y="2845960"/>
            <a:ext cx="0" cy="5746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endCxn id="7" idx="0"/>
          </p:cNvCxnSpPr>
          <p:nvPr/>
        </p:nvCxnSpPr>
        <p:spPr>
          <a:xfrm>
            <a:off x="2184400" y="1353710"/>
            <a:ext cx="1346200" cy="33972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endCxn id="8" idx="2"/>
          </p:cNvCxnSpPr>
          <p:nvPr/>
        </p:nvCxnSpPr>
        <p:spPr>
          <a:xfrm flipV="1">
            <a:off x="2288760" y="5038371"/>
            <a:ext cx="1241841" cy="42262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 flipH="1">
            <a:off x="10058400" y="3447648"/>
            <a:ext cx="6096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flipH="1">
            <a:off x="10058400" y="3725435"/>
            <a:ext cx="6096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63"/>
          <p:cNvSpPr txBox="1"/>
          <p:nvPr/>
        </p:nvSpPr>
        <p:spPr>
          <a:xfrm>
            <a:off x="10668000" y="3098835"/>
            <a:ext cx="10160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133" dirty="0"/>
              <a:t>CS’</a:t>
            </a:r>
          </a:p>
        </p:txBody>
      </p:sp>
      <p:sp>
        <p:nvSpPr>
          <p:cNvPr id="43" name="TextBox 59"/>
          <p:cNvSpPr txBox="1"/>
          <p:nvPr/>
        </p:nvSpPr>
        <p:spPr>
          <a:xfrm>
            <a:off x="1828800" y="5374958"/>
            <a:ext cx="81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/>
              <a:t>CAS’</a:t>
            </a:r>
          </a:p>
        </p:txBody>
      </p:sp>
      <p:sp>
        <p:nvSpPr>
          <p:cNvPr id="41" name="TextBox 73"/>
          <p:cNvSpPr txBox="1"/>
          <p:nvPr/>
        </p:nvSpPr>
        <p:spPr>
          <a:xfrm>
            <a:off x="1828800" y="889001"/>
            <a:ext cx="812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/>
              <a:t>RAS’</a:t>
            </a:r>
          </a:p>
        </p:txBody>
      </p:sp>
      <p:sp>
        <p:nvSpPr>
          <p:cNvPr id="39" name="TextBox 64"/>
          <p:cNvSpPr txBox="1"/>
          <p:nvPr/>
        </p:nvSpPr>
        <p:spPr>
          <a:xfrm>
            <a:off x="10668000" y="3530600"/>
            <a:ext cx="11176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133" dirty="0"/>
              <a:t>R/W’</a:t>
            </a:r>
          </a:p>
        </p:txBody>
      </p:sp>
      <p:sp>
        <p:nvSpPr>
          <p:cNvPr id="50" name="TextBox 66"/>
          <p:cNvSpPr txBox="1"/>
          <p:nvPr/>
        </p:nvSpPr>
        <p:spPr>
          <a:xfrm>
            <a:off x="341426" y="3327400"/>
            <a:ext cx="12841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/>
              <a:t>A</a:t>
            </a:r>
            <a:r>
              <a:rPr lang="en-IN" sz="2400" baseline="-25000" dirty="0"/>
              <a:t>n-1 </a:t>
            </a:r>
            <a:r>
              <a:rPr lang="en-IN" sz="2400" dirty="0"/>
              <a:t>–</a:t>
            </a:r>
            <a:r>
              <a:rPr lang="en-IN" sz="2400" baseline="-25000" dirty="0"/>
              <a:t> </a:t>
            </a:r>
            <a:r>
              <a:rPr lang="en-IN" sz="2400" dirty="0"/>
              <a:t>A</a:t>
            </a:r>
            <a:r>
              <a:rPr lang="en-IN" sz="2400" baseline="-25000" dirty="0"/>
              <a:t>0</a:t>
            </a:r>
          </a:p>
          <a:p>
            <a:endParaRPr lang="en-IN" sz="2400" baseline="-25000" dirty="0"/>
          </a:p>
        </p:txBody>
      </p:sp>
      <p:cxnSp>
        <p:nvCxnSpPr>
          <p:cNvPr id="58" name="Straight Connector 57"/>
          <p:cNvCxnSpPr/>
          <p:nvPr/>
        </p:nvCxnSpPr>
        <p:spPr>
          <a:xfrm>
            <a:off x="5943600" y="1762848"/>
            <a:ext cx="1727200" cy="135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5943600" y="2063096"/>
            <a:ext cx="1727200" cy="135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>
            <a:off x="7975600" y="2845960"/>
            <a:ext cx="0" cy="5746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8229600" y="2845960"/>
            <a:ext cx="0" cy="5746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/>
          <p:cNvCxnSpPr>
            <a:endCxn id="3" idx="0"/>
          </p:cNvCxnSpPr>
          <p:nvPr/>
        </p:nvCxnSpPr>
        <p:spPr>
          <a:xfrm>
            <a:off x="7869076" y="3827035"/>
            <a:ext cx="1" cy="275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7721601" y="4102304"/>
            <a:ext cx="294951" cy="2340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51" name="Rectangle 50"/>
          <p:cNvSpPr/>
          <p:nvPr/>
        </p:nvSpPr>
        <p:spPr>
          <a:xfrm>
            <a:off x="8087050" y="4095896"/>
            <a:ext cx="294951" cy="2340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52" name="Rectangle 51"/>
          <p:cNvSpPr/>
          <p:nvPr/>
        </p:nvSpPr>
        <p:spPr>
          <a:xfrm>
            <a:off x="9661850" y="4109320"/>
            <a:ext cx="294951" cy="2340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cxnSp>
        <p:nvCxnSpPr>
          <p:cNvPr id="57" name="Straight Connector 56"/>
          <p:cNvCxnSpPr/>
          <p:nvPr/>
        </p:nvCxnSpPr>
        <p:spPr>
          <a:xfrm>
            <a:off x="8198681" y="3827080"/>
            <a:ext cx="1" cy="275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9753602" y="3847259"/>
            <a:ext cx="1" cy="275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7869075" y="4340064"/>
            <a:ext cx="0" cy="1376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>
            <a:off x="8234524" y="4336384"/>
            <a:ext cx="0" cy="1376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>
            <a:off x="9753600" y="4343400"/>
            <a:ext cx="0" cy="1376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 flipH="1" flipV="1">
            <a:off x="9987616" y="4197421"/>
            <a:ext cx="1137584" cy="45078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3"/>
          <p:cNvSpPr txBox="1"/>
          <p:nvPr/>
        </p:nvSpPr>
        <p:spPr>
          <a:xfrm>
            <a:off x="10769600" y="4544903"/>
            <a:ext cx="101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>
                <a:solidFill>
                  <a:srgbClr val="800000"/>
                </a:solidFill>
              </a:rPr>
              <a:t>Latch</a:t>
            </a:r>
          </a:p>
        </p:txBody>
      </p:sp>
      <p:cxnSp>
        <p:nvCxnSpPr>
          <p:cNvPr id="56" name="Straight Connector 55"/>
          <p:cNvCxnSpPr/>
          <p:nvPr/>
        </p:nvCxnSpPr>
        <p:spPr>
          <a:xfrm>
            <a:off x="8077200" y="1346115"/>
            <a:ext cx="0" cy="14998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8383181" y="1358278"/>
            <a:ext cx="0" cy="14998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8686800" y="1346115"/>
            <a:ext cx="0" cy="14998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9702800" y="1346115"/>
            <a:ext cx="0" cy="14998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7670800" y="1776421"/>
            <a:ext cx="2387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7670800" y="2008489"/>
            <a:ext cx="2387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>
            <a:off x="7670800" y="1551353"/>
            <a:ext cx="2387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36"/>
          <p:cNvSpPr txBox="1"/>
          <p:nvPr/>
        </p:nvSpPr>
        <p:spPr>
          <a:xfrm>
            <a:off x="7716675" y="1829545"/>
            <a:ext cx="3048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733" b="1" dirty="0"/>
              <a:t>:</a:t>
            </a:r>
          </a:p>
        </p:txBody>
      </p:sp>
      <p:sp>
        <p:nvSpPr>
          <p:cNvPr id="86" name="TextBox 37"/>
          <p:cNvSpPr txBox="1"/>
          <p:nvPr/>
        </p:nvSpPr>
        <p:spPr>
          <a:xfrm>
            <a:off x="7716675" y="1981945"/>
            <a:ext cx="406400" cy="6667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733" b="1" dirty="0"/>
              <a:t>.</a:t>
            </a:r>
          </a:p>
        </p:txBody>
      </p:sp>
      <p:cxnSp>
        <p:nvCxnSpPr>
          <p:cNvPr id="87" name="Straight Connector 86"/>
          <p:cNvCxnSpPr/>
          <p:nvPr/>
        </p:nvCxnSpPr>
        <p:spPr>
          <a:xfrm>
            <a:off x="7673361" y="2607952"/>
            <a:ext cx="23876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 flipH="1" flipV="1">
            <a:off x="7438659" y="1136981"/>
            <a:ext cx="232141" cy="2129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63"/>
          <p:cNvSpPr txBox="1"/>
          <p:nvPr/>
        </p:nvSpPr>
        <p:spPr>
          <a:xfrm>
            <a:off x="7165560" y="1107758"/>
            <a:ext cx="4544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i="1" dirty="0"/>
              <a:t>r</a:t>
            </a:r>
          </a:p>
        </p:txBody>
      </p:sp>
      <p:sp>
        <p:nvSpPr>
          <p:cNvPr id="91" name="TextBox 63"/>
          <p:cNvSpPr txBox="1"/>
          <p:nvPr/>
        </p:nvSpPr>
        <p:spPr>
          <a:xfrm>
            <a:off x="7633095" y="802958"/>
            <a:ext cx="101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i="1" dirty="0"/>
              <a:t>c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4165600" y="4445000"/>
            <a:ext cx="3454400" cy="406400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76" name="Right Arrow 75"/>
          <p:cNvSpPr/>
          <p:nvPr/>
        </p:nvSpPr>
        <p:spPr>
          <a:xfrm>
            <a:off x="4165600" y="1905000"/>
            <a:ext cx="609600" cy="406400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9" name="Rectangle 8"/>
          <p:cNvSpPr/>
          <p:nvPr/>
        </p:nvSpPr>
        <p:spPr>
          <a:xfrm>
            <a:off x="4775200" y="1655334"/>
            <a:ext cx="1320800" cy="11557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133" b="1" dirty="0">
                <a:solidFill>
                  <a:schemeClr val="tx1"/>
                </a:solidFill>
              </a:rPr>
              <a:t>Row</a:t>
            </a:r>
          </a:p>
          <a:p>
            <a:pPr algn="ctr"/>
            <a:r>
              <a:rPr lang="en-IN" sz="2133" b="1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77" name="Right Arrow 76"/>
          <p:cNvSpPr/>
          <p:nvPr/>
        </p:nvSpPr>
        <p:spPr>
          <a:xfrm>
            <a:off x="1967025" y="4445000"/>
            <a:ext cx="877776" cy="406400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78" name="Right Arrow 77"/>
          <p:cNvSpPr/>
          <p:nvPr/>
        </p:nvSpPr>
        <p:spPr>
          <a:xfrm>
            <a:off x="1949109" y="1905000"/>
            <a:ext cx="895691" cy="406400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79" name="Right Arrow 78"/>
          <p:cNvSpPr/>
          <p:nvPr/>
        </p:nvSpPr>
        <p:spPr>
          <a:xfrm>
            <a:off x="812801" y="2921001"/>
            <a:ext cx="866359" cy="560649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83" name="Rectangle 82"/>
          <p:cNvSpPr/>
          <p:nvPr/>
        </p:nvSpPr>
        <p:spPr>
          <a:xfrm>
            <a:off x="1679159" y="2006600"/>
            <a:ext cx="304800" cy="27432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rgbClr val="8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84" name="Up-Down Arrow 83"/>
          <p:cNvSpPr/>
          <p:nvPr/>
        </p:nvSpPr>
        <p:spPr>
          <a:xfrm>
            <a:off x="8693627" y="5054600"/>
            <a:ext cx="406400" cy="711200"/>
          </a:xfrm>
          <a:prstGeom prst="upDownArrow">
            <a:avLst/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>
                <a:lumMod val="95000"/>
                <a:lumOff val="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8" name="TextBox 65"/>
          <p:cNvSpPr txBox="1"/>
          <p:nvPr/>
        </p:nvSpPr>
        <p:spPr>
          <a:xfrm>
            <a:off x="9042400" y="5156201"/>
            <a:ext cx="1524000" cy="420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133" dirty="0"/>
              <a:t>D</a:t>
            </a:r>
            <a:r>
              <a:rPr lang="en-IN" sz="2133" baseline="-25000" dirty="0"/>
              <a:t>m-1</a:t>
            </a:r>
            <a:r>
              <a:rPr lang="en-IN" sz="2133" dirty="0"/>
              <a:t> – D</a:t>
            </a:r>
            <a:r>
              <a:rPr lang="en-IN" sz="2133" baseline="-25000" dirty="0"/>
              <a:t>0</a:t>
            </a:r>
          </a:p>
        </p:txBody>
      </p:sp>
      <p:sp>
        <p:nvSpPr>
          <p:cNvPr id="92" name="TextBox 37"/>
          <p:cNvSpPr txBox="1"/>
          <p:nvPr/>
        </p:nvSpPr>
        <p:spPr>
          <a:xfrm>
            <a:off x="6604000" y="2079744"/>
            <a:ext cx="406400" cy="613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"/>
              </a:lnSpc>
            </a:pPr>
            <a:r>
              <a:rPr lang="en-IN" sz="3733" b="1" dirty="0"/>
              <a:t>.</a:t>
            </a:r>
          </a:p>
          <a:p>
            <a:pPr>
              <a:lnSpc>
                <a:spcPct val="25000"/>
              </a:lnSpc>
            </a:pPr>
            <a:r>
              <a:rPr lang="en-IN" sz="3733" b="1" dirty="0"/>
              <a:t>.</a:t>
            </a:r>
          </a:p>
          <a:p>
            <a:pPr>
              <a:lnSpc>
                <a:spcPct val="25000"/>
              </a:lnSpc>
            </a:pPr>
            <a:r>
              <a:rPr lang="en-IN" sz="3733" b="1" dirty="0"/>
              <a:t>.</a:t>
            </a:r>
          </a:p>
        </p:txBody>
      </p:sp>
      <p:sp>
        <p:nvSpPr>
          <p:cNvPr id="93" name="TextBox 44"/>
          <p:cNvSpPr txBox="1"/>
          <p:nvPr/>
        </p:nvSpPr>
        <p:spPr>
          <a:xfrm>
            <a:off x="8575094" y="2629773"/>
            <a:ext cx="829733" cy="6667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733" dirty="0"/>
              <a:t>... </a:t>
            </a:r>
          </a:p>
        </p:txBody>
      </p:sp>
      <p:sp>
        <p:nvSpPr>
          <p:cNvPr id="94" name="TextBox 44"/>
          <p:cNvSpPr txBox="1"/>
          <p:nvPr/>
        </p:nvSpPr>
        <p:spPr>
          <a:xfrm>
            <a:off x="8575094" y="3645773"/>
            <a:ext cx="829733" cy="6667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733" dirty="0"/>
              <a:t>... </a:t>
            </a:r>
          </a:p>
        </p:txBody>
      </p:sp>
      <p:sp>
        <p:nvSpPr>
          <p:cNvPr id="95" name="TextBox 44"/>
          <p:cNvSpPr txBox="1"/>
          <p:nvPr/>
        </p:nvSpPr>
        <p:spPr>
          <a:xfrm>
            <a:off x="8923867" y="1803400"/>
            <a:ext cx="829733" cy="6667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733" dirty="0"/>
              <a:t>... </a:t>
            </a:r>
          </a:p>
        </p:txBody>
      </p:sp>
    </p:spTree>
    <p:extLst>
      <p:ext uri="{BB962C8B-B14F-4D97-AF65-F5344CB8AC3E}">
        <p14:creationId xmlns:p14="http://schemas.microsoft.com/office/powerpoint/2010/main" val="41410925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482600"/>
            <a:ext cx="11480800" cy="5588000"/>
          </a:xfrm>
        </p:spPr>
        <p:txBody>
          <a:bodyPr>
            <a:normAutofit/>
          </a:bodyPr>
          <a:lstStyle/>
          <a:p>
            <a:pPr marL="232828" indent="-232828">
              <a:lnSpc>
                <a:spcPct val="110000"/>
              </a:lnSpc>
            </a:pPr>
            <a:r>
              <a:rPr lang="en-IN" sz="2667" b="1" dirty="0">
                <a:solidFill>
                  <a:srgbClr val="C00000"/>
                </a:solidFill>
              </a:rPr>
              <a:t>Operation:</a:t>
            </a:r>
          </a:p>
          <a:p>
            <a:pPr marL="713300" lvl="1" indent="-351358">
              <a:lnSpc>
                <a:spcPct val="110000"/>
              </a:lnSpc>
            </a:pPr>
            <a:r>
              <a:rPr lang="en-IN" dirty="0"/>
              <a:t>When the DRAM cell is accessed only an m-bit word (data bus width) is transferred.</a:t>
            </a:r>
          </a:p>
          <a:p>
            <a:pPr marL="713300" lvl="1" indent="-351358">
              <a:lnSpc>
                <a:spcPct val="110000"/>
              </a:lnSpc>
            </a:pPr>
            <a:r>
              <a:rPr lang="en-IN" dirty="0"/>
              <a:t>But when we select a row, we can select not only the data of a single column but multiple columns as well. </a:t>
            </a:r>
          </a:p>
          <a:p>
            <a:pPr marL="713300" lvl="1" indent="-351358">
              <a:lnSpc>
                <a:spcPct val="110000"/>
              </a:lnSpc>
            </a:pPr>
            <a:r>
              <a:rPr lang="en-IN" dirty="0"/>
              <a:t>A latch can be connected at the output of the sense amplifier in each column.</a:t>
            </a:r>
          </a:p>
          <a:p>
            <a:pPr marL="713300" lvl="1" indent="-351358">
              <a:lnSpc>
                <a:spcPct val="110000"/>
              </a:lnSpc>
            </a:pPr>
            <a:r>
              <a:rPr lang="en-IN" dirty="0"/>
              <a:t>Once we apply a row address, the row get selected. </a:t>
            </a:r>
          </a:p>
          <a:p>
            <a:pPr marL="956709" lvl="3" indent="-245527">
              <a:lnSpc>
                <a:spcPct val="110000"/>
              </a:lnSpc>
              <a:buFont typeface="Arial"/>
              <a:buChar char="•"/>
            </a:pPr>
            <a:r>
              <a:rPr lang="en-IN" sz="2000" dirty="0"/>
              <a:t>Different column addresses are required to place different bytes on the data lines.</a:t>
            </a:r>
          </a:p>
          <a:p>
            <a:pPr marL="713300" lvl="1" indent="-351358">
              <a:lnSpc>
                <a:spcPct val="110000"/>
              </a:lnSpc>
            </a:pPr>
            <a:r>
              <a:rPr lang="en-IN" dirty="0"/>
              <a:t>Hence consecutive bytes can be transferred by applying consecutive column addresses under the control of successive CAS signals.</a:t>
            </a:r>
          </a:p>
          <a:p>
            <a:pPr marL="713300" lvl="1" indent="-351358">
              <a:lnSpc>
                <a:spcPct val="110000"/>
              </a:lnSpc>
            </a:pPr>
            <a:r>
              <a:rPr lang="en-IN" dirty="0"/>
              <a:t>This also helps in faster transfer of blocks of data.</a:t>
            </a:r>
          </a:p>
          <a:p>
            <a:pPr marL="713300" lvl="1" indent="-351358">
              <a:lnSpc>
                <a:spcPct val="110000"/>
              </a:lnSpc>
            </a:pPr>
            <a:r>
              <a:rPr lang="en-IN" sz="2533" dirty="0"/>
              <a:t>This block transfer capability is termed as </a:t>
            </a:r>
            <a:r>
              <a:rPr lang="en-IN" sz="2533" i="1" dirty="0">
                <a:solidFill>
                  <a:srgbClr val="C00000"/>
                </a:solidFill>
              </a:rPr>
              <a:t>Fast Page Mode</a:t>
            </a:r>
            <a:r>
              <a:rPr lang="en-IN" sz="2533" dirty="0">
                <a:solidFill>
                  <a:srgbClr val="C00000"/>
                </a:solidFill>
              </a:rPr>
              <a:t> </a:t>
            </a:r>
            <a:r>
              <a:rPr lang="en-IN" sz="2533" dirty="0"/>
              <a:t>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512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Synchronous DRAM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17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Synchronous DRAM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IN" sz="2400" dirty="0"/>
              <a:t>SDRAM is the commonly used name for various kinds of dynamic RAM that are synchronized with clock.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The structure of this memory is same as asynchronous DRAM.</a:t>
            </a:r>
          </a:p>
          <a:p>
            <a:r>
              <a:rPr lang="en-IN" sz="2400" dirty="0"/>
              <a:t>The concept of SDRAM were known from 70’s but it is first developed by Samsung in the year 1993 (KM48SL2000). </a:t>
            </a:r>
          </a:p>
          <a:p>
            <a:pPr lvl="1"/>
            <a:r>
              <a:rPr lang="en-IN" sz="2000" dirty="0"/>
              <a:t>By 2000 all kinds of DRAM were replaced by SDRAM.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5539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z="1467" b="1"/>
              <a:t>49</a:t>
            </a:fld>
            <a:endParaRPr lang="en-US" sz="1467" b="1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275749" y="28477"/>
            <a:ext cx="10972800" cy="1143000"/>
          </a:xfrm>
        </p:spPr>
        <p:txBody>
          <a:bodyPr>
            <a:noAutofit/>
          </a:bodyPr>
          <a:lstStyle/>
          <a:p>
            <a:r>
              <a:rPr lang="en-US" b="1" dirty="0"/>
              <a:t>Internal Organization of a SDRAM Chip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3818312" y="1289448"/>
            <a:ext cx="1118288" cy="50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67" b="1" dirty="0">
                <a:solidFill>
                  <a:schemeClr val="tx1"/>
                </a:solidFill>
              </a:rPr>
              <a:t>Refresh</a:t>
            </a:r>
          </a:p>
          <a:p>
            <a:pPr algn="ctr"/>
            <a:r>
              <a:rPr lang="en-IN" sz="1867" b="1" dirty="0">
                <a:solidFill>
                  <a:schemeClr val="tx1"/>
                </a:solidFill>
              </a:rPr>
              <a:t>Counter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60640" y="4159567"/>
            <a:ext cx="1825397" cy="16876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33" b="1" dirty="0">
                <a:solidFill>
                  <a:schemeClr val="tx1"/>
                </a:solidFill>
              </a:rPr>
              <a:t>Mode register and Timing control</a:t>
            </a:r>
          </a:p>
        </p:txBody>
      </p:sp>
      <p:sp>
        <p:nvSpPr>
          <p:cNvPr id="9" name="Rectangle 8"/>
          <p:cNvSpPr/>
          <p:nvPr/>
        </p:nvSpPr>
        <p:spPr>
          <a:xfrm>
            <a:off x="7391457" y="1797449"/>
            <a:ext cx="1930400" cy="91379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133" b="1" dirty="0">
                <a:solidFill>
                  <a:schemeClr val="tx1"/>
                </a:solidFill>
              </a:rPr>
              <a:t>Cell array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91457" y="2773933"/>
            <a:ext cx="1930400" cy="8523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67" b="1" dirty="0">
                <a:solidFill>
                  <a:schemeClr val="tx1"/>
                </a:solidFill>
              </a:rPr>
              <a:t>Read/Write circuits and latches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5199" y="4684112"/>
            <a:ext cx="1820333" cy="5379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67" b="1" dirty="0">
                <a:solidFill>
                  <a:schemeClr val="tx1"/>
                </a:solidFill>
              </a:rPr>
              <a:t>Data input register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8340437" y="5566731"/>
            <a:ext cx="8467" cy="50800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313867" y="4679012"/>
            <a:ext cx="1820333" cy="5379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67" b="1" dirty="0">
                <a:solidFill>
                  <a:schemeClr val="tx1"/>
                </a:solidFill>
              </a:rPr>
              <a:t>Data output register</a:t>
            </a:r>
          </a:p>
        </p:txBody>
      </p:sp>
      <p:cxnSp>
        <p:nvCxnSpPr>
          <p:cNvPr id="14" name="Elbow Connector 13"/>
          <p:cNvCxnSpPr/>
          <p:nvPr/>
        </p:nvCxnSpPr>
        <p:spPr>
          <a:xfrm rot="5400000" flipH="1" flipV="1">
            <a:off x="8361486" y="2830031"/>
            <a:ext cx="16933" cy="3708163"/>
          </a:xfrm>
          <a:prstGeom prst="bentConnector3">
            <a:avLst>
              <a:gd name="adj1" fmla="val 2285394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/>
          <p:nvPr/>
        </p:nvCxnSpPr>
        <p:spPr>
          <a:xfrm rot="5400000">
            <a:off x="8376326" y="3351057"/>
            <a:ext cx="16933" cy="3708163"/>
          </a:xfrm>
          <a:prstGeom prst="bentConnector3">
            <a:avLst>
              <a:gd name="adj1" fmla="val 2366291"/>
            </a:avLst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348905" y="3581924"/>
            <a:ext cx="809" cy="679077"/>
          </a:xfrm>
          <a:prstGeom prst="straightConnector1">
            <a:avLst/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822640" y="2041990"/>
            <a:ext cx="1016000" cy="6905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Row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address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latch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18312" y="2891364"/>
            <a:ext cx="1016000" cy="6905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address</a:t>
            </a:r>
          </a:p>
          <a:p>
            <a:pPr algn="ctr"/>
            <a:r>
              <a:rPr lang="en-IN" sz="1600" b="1" dirty="0">
                <a:solidFill>
                  <a:schemeClr val="tx1"/>
                </a:solidFill>
              </a:rPr>
              <a:t>counter</a:t>
            </a:r>
          </a:p>
        </p:txBody>
      </p:sp>
      <p:cxnSp>
        <p:nvCxnSpPr>
          <p:cNvPr id="22" name="Straight Arrow Connector 21"/>
          <p:cNvCxnSpPr>
            <a:stCxn id="19" idx="3"/>
            <a:endCxn id="17" idx="1"/>
          </p:cNvCxnSpPr>
          <p:nvPr/>
        </p:nvCxnSpPr>
        <p:spPr>
          <a:xfrm>
            <a:off x="4838640" y="2387271"/>
            <a:ext cx="944507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  <a:endCxn id="18" idx="1"/>
          </p:cNvCxnSpPr>
          <p:nvPr/>
        </p:nvCxnSpPr>
        <p:spPr>
          <a:xfrm>
            <a:off x="4834312" y="3236644"/>
            <a:ext cx="944507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794819" y="2189609"/>
            <a:ext cx="59663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V="1">
            <a:off x="6794819" y="3002409"/>
            <a:ext cx="596639" cy="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/>
          <p:nvPr/>
        </p:nvCxnSpPr>
        <p:spPr>
          <a:xfrm rot="10800000" flipV="1">
            <a:off x="3811297" y="2387270"/>
            <a:ext cx="4328" cy="849373"/>
          </a:xfrm>
          <a:prstGeom prst="bentConnector3">
            <a:avLst>
              <a:gd name="adj1" fmla="val 13839649"/>
            </a:avLst>
          </a:prstGeom>
          <a:ln w="508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2600037" y="2827831"/>
            <a:ext cx="60960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2447637" y="4323209"/>
            <a:ext cx="61300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2447637" y="4662945"/>
            <a:ext cx="61300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447637" y="5034409"/>
            <a:ext cx="61300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>
            <a:off x="2447637" y="5339209"/>
            <a:ext cx="61300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2447637" y="5644009"/>
            <a:ext cx="613003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71968" y="2305448"/>
            <a:ext cx="1529432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33" b="1" dirty="0"/>
              <a:t>Row/Column address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85400" y="4032649"/>
            <a:ext cx="812800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67" b="1" dirty="0"/>
              <a:t>clock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87000" y="4841479"/>
            <a:ext cx="812800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67" b="1" dirty="0"/>
              <a:t>CAS’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787000" y="4439049"/>
            <a:ext cx="812800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67" b="1" dirty="0"/>
              <a:t>RAS’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83800" y="5158875"/>
            <a:ext cx="867229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67" b="1" dirty="0"/>
              <a:t>R / W’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618837" y="5213605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88600" y="5455048"/>
            <a:ext cx="812800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67" b="1" dirty="0"/>
              <a:t>CS’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2089951" y="598987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37"/>
          <p:cNvSpPr txBox="1"/>
          <p:nvPr/>
        </p:nvSpPr>
        <p:spPr>
          <a:xfrm>
            <a:off x="6867000" y="3016917"/>
            <a:ext cx="40640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"/>
              </a:lnSpc>
            </a:pPr>
            <a:r>
              <a:rPr lang="en-IN" sz="3733" b="1" dirty="0"/>
              <a:t>...</a:t>
            </a:r>
          </a:p>
        </p:txBody>
      </p:sp>
      <p:cxnSp>
        <p:nvCxnSpPr>
          <p:cNvPr id="65" name="Straight Connector 64"/>
          <p:cNvCxnSpPr/>
          <p:nvPr/>
        </p:nvCxnSpPr>
        <p:spPr>
          <a:xfrm>
            <a:off x="6794819" y="2610248"/>
            <a:ext cx="59663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>
            <a:off x="6765401" y="3524648"/>
            <a:ext cx="59663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783147" y="2041990"/>
            <a:ext cx="1083853" cy="6905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67" b="1" dirty="0">
                <a:solidFill>
                  <a:schemeClr val="tx1"/>
                </a:solidFill>
              </a:rPr>
              <a:t>Row</a:t>
            </a:r>
          </a:p>
          <a:p>
            <a:pPr algn="ctr"/>
            <a:r>
              <a:rPr lang="en-IN" sz="1867" b="1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78819" y="2891364"/>
            <a:ext cx="1088181" cy="6905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867" b="1" dirty="0">
                <a:solidFill>
                  <a:schemeClr val="tx1"/>
                </a:solidFill>
              </a:rPr>
              <a:t>Column</a:t>
            </a:r>
          </a:p>
          <a:p>
            <a:pPr algn="ctr"/>
            <a:r>
              <a:rPr lang="en-IN" sz="1867" b="1" dirty="0">
                <a:solidFill>
                  <a:schemeClr val="tx1"/>
                </a:solidFill>
              </a:rPr>
              <a:t>Decoder</a:t>
            </a:r>
          </a:p>
        </p:txBody>
      </p:sp>
      <p:sp>
        <p:nvSpPr>
          <p:cNvPr id="54" name="TextBox 37"/>
          <p:cNvSpPr txBox="1"/>
          <p:nvPr/>
        </p:nvSpPr>
        <p:spPr>
          <a:xfrm>
            <a:off x="6867000" y="2204117"/>
            <a:ext cx="406400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"/>
              </a:lnSpc>
            </a:pPr>
            <a:r>
              <a:rPr lang="en-IN" sz="3733" b="1" dirty="0"/>
              <a:t>...</a:t>
            </a:r>
          </a:p>
        </p:txBody>
      </p:sp>
      <p:cxnSp>
        <p:nvCxnSpPr>
          <p:cNvPr id="55" name="Straight Arrow Connector 54"/>
          <p:cNvCxnSpPr>
            <a:endCxn id="19" idx="0"/>
          </p:cNvCxnSpPr>
          <p:nvPr/>
        </p:nvCxnSpPr>
        <p:spPr>
          <a:xfrm>
            <a:off x="4327000" y="1797448"/>
            <a:ext cx="3640" cy="244541"/>
          </a:xfrm>
          <a:prstGeom prst="straightConnector1">
            <a:avLst/>
          </a:prstGeom>
          <a:ln w="25400">
            <a:solidFill>
              <a:schemeClr val="tx1"/>
            </a:solidFill>
            <a:tailEnd type="arrow" w="sm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4922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IN" sz="2400" dirty="0"/>
              <a:t>In SDRAM address and data connections are buffered by registers.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The output of individual sense amplifier is connected to a latch. 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Mode register is present which can be set to operate the memory chip in different modes.</a:t>
            </a:r>
          </a:p>
          <a:p>
            <a:pPr>
              <a:spcAft>
                <a:spcPts val="1200"/>
              </a:spcAft>
            </a:pPr>
            <a:r>
              <a:rPr lang="en-IN" sz="2400" dirty="0"/>
              <a:t>To select successive columns it is not required to provide externally generated pulses on CAS line.</a:t>
            </a:r>
          </a:p>
          <a:p>
            <a:r>
              <a:rPr lang="en-IN" sz="2400" dirty="0"/>
              <a:t>A column counter is used internally to generate the required signals.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2215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READ and WRITE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For </a:t>
            </a:r>
            <a:r>
              <a:rPr lang="en-IN" sz="2400" i="1" dirty="0">
                <a:solidFill>
                  <a:srgbClr val="C00000"/>
                </a:solidFill>
              </a:rPr>
              <a:t>READ</a:t>
            </a:r>
            <a:r>
              <a:rPr lang="en-IN" sz="2400" dirty="0"/>
              <a:t> operation, the row address is applied first, and in response to the column address, the data present in the latches for the selected columns are transferred to the data output register. </a:t>
            </a:r>
          </a:p>
          <a:p>
            <a:pPr lvl="1">
              <a:spcAft>
                <a:spcPts val="2400"/>
              </a:spcAft>
            </a:pPr>
            <a:r>
              <a:rPr lang="en-IN" sz="2000" dirty="0"/>
              <a:t>Then the data is available on the data bus. </a:t>
            </a:r>
          </a:p>
          <a:p>
            <a:r>
              <a:rPr lang="en-IN" sz="2400" dirty="0"/>
              <a:t>For </a:t>
            </a:r>
            <a:r>
              <a:rPr lang="en-IN" sz="2400" i="1" dirty="0">
                <a:solidFill>
                  <a:srgbClr val="C00000"/>
                </a:solidFill>
              </a:rPr>
              <a:t>WRITE</a:t>
            </a:r>
            <a:r>
              <a:rPr lang="en-IN" sz="2400" dirty="0"/>
              <a:t> operation, the row address is applied first, and in response to the column address, the data present in the data bus is made available to the latches through data input register. </a:t>
            </a:r>
          </a:p>
          <a:p>
            <a:pPr lvl="1"/>
            <a:r>
              <a:rPr lang="en-IN" sz="2000" dirty="0"/>
              <a:t>The data is then written to the particular cell.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4918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Burst mode transfer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74377"/>
          </a:xfrm>
        </p:spPr>
        <p:txBody>
          <a:bodyPr>
            <a:normAutofit fontScale="92500" lnSpcReduction="10000"/>
          </a:bodyPr>
          <a:lstStyle/>
          <a:p>
            <a:pPr>
              <a:spcAft>
                <a:spcPts val="1200"/>
              </a:spcAft>
            </a:pPr>
            <a:r>
              <a:rPr lang="en-IN" dirty="0"/>
              <a:t>As in fast page mode, after the column address is applied the data from successive column addresses are read out or written into. </a:t>
            </a:r>
          </a:p>
          <a:p>
            <a:pPr>
              <a:spcAft>
                <a:spcPts val="1200"/>
              </a:spcAft>
            </a:pPr>
            <a:r>
              <a:rPr lang="en-IN" dirty="0"/>
              <a:t>In same way burst operation of different lengths can be specified.</a:t>
            </a:r>
          </a:p>
          <a:p>
            <a:pPr>
              <a:spcAft>
                <a:spcPts val="1200"/>
              </a:spcAft>
            </a:pPr>
            <a:r>
              <a:rPr lang="en-IN" dirty="0"/>
              <a:t>This uses the same block transfer capability of fast page mode.</a:t>
            </a:r>
          </a:p>
          <a:p>
            <a:pPr>
              <a:spcAft>
                <a:spcPts val="1200"/>
              </a:spcAft>
            </a:pPr>
            <a:r>
              <a:rPr lang="en-IN" dirty="0"/>
              <a:t>Here the control signals required are provided internally by column counter and clock signals.</a:t>
            </a:r>
          </a:p>
          <a:p>
            <a:pPr>
              <a:spcAft>
                <a:spcPts val="1200"/>
              </a:spcAft>
            </a:pPr>
            <a:r>
              <a:rPr lang="en-IN" dirty="0"/>
              <a:t>New set of data are available in the data lines after every clock cycle.</a:t>
            </a:r>
          </a:p>
          <a:p>
            <a:pPr>
              <a:spcAft>
                <a:spcPts val="1200"/>
              </a:spcAft>
            </a:pPr>
            <a:r>
              <a:rPr lang="en-IN" dirty="0"/>
              <a:t>All the operations are triggered at the rising edge of the clock.</a:t>
            </a:r>
          </a:p>
          <a:p>
            <a:r>
              <a:rPr lang="en-IN" dirty="0"/>
              <a:t>It has built-in refresh circuitry, and refresh counter is part of it.</a:t>
            </a:r>
          </a:p>
          <a:p>
            <a:endParaRPr lang="en-IN" dirty="0"/>
          </a:p>
          <a:p>
            <a:pPr lvl="1"/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449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Standardization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SDRAM families are standardized by </a:t>
            </a:r>
            <a:r>
              <a:rPr lang="en-IN" sz="2400" i="1" dirty="0">
                <a:solidFill>
                  <a:srgbClr val="C00000"/>
                </a:solidFill>
              </a:rPr>
              <a:t>Joint Electron Device Engineering Council </a:t>
            </a:r>
            <a:r>
              <a:rPr lang="en-IN" sz="2400" dirty="0"/>
              <a:t>(JEDEC).</a:t>
            </a:r>
          </a:p>
          <a:p>
            <a:pPr lvl="1"/>
            <a:r>
              <a:rPr lang="en-IN" sz="2000" dirty="0"/>
              <a:t>Various DDRx standards have been formulated and published by JEDEC.</a:t>
            </a:r>
          </a:p>
          <a:p>
            <a:pPr lvl="1"/>
            <a:r>
              <a:rPr lang="en-IN" sz="2000" dirty="0"/>
              <a:t>Board manufacturers comply by the standards.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057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7934" y="352673"/>
            <a:ext cx="10515600" cy="1017059"/>
          </a:xfrm>
        </p:spPr>
        <p:txBody>
          <a:bodyPr>
            <a:normAutofit/>
          </a:bodyPr>
          <a:lstStyle/>
          <a:p>
            <a:r>
              <a:rPr lang="en-US" b="1" dirty="0"/>
              <a:t>Types of SDRAM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97001"/>
            <a:ext cx="11379200" cy="4470400"/>
          </a:xfrm>
        </p:spPr>
        <p:txBody>
          <a:bodyPr>
            <a:normAutofit/>
          </a:bodyPr>
          <a:lstStyle/>
          <a:p>
            <a:r>
              <a:rPr lang="en-US" sz="2400" dirty="0"/>
              <a:t>Single data rate SDRAM (called SDR) can accept one command and transfer one word of data per clock cycle.</a:t>
            </a:r>
          </a:p>
          <a:p>
            <a:pPr lvl="1">
              <a:spcAft>
                <a:spcPts val="1200"/>
              </a:spcAft>
            </a:pPr>
            <a:r>
              <a:rPr lang="en-US" sz="2000" dirty="0"/>
              <a:t>Data transferred typically on the rising edge of the clock.</a:t>
            </a:r>
          </a:p>
          <a:p>
            <a:r>
              <a:rPr lang="en-US" sz="2400" dirty="0"/>
              <a:t>Double data rate SDRAM (called DDR) transfers data on both the rising and falling edges of the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54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8400" y="3397355"/>
            <a:ext cx="7027333" cy="2419245"/>
          </a:xfrm>
          <a:prstGeom prst="rect">
            <a:avLst/>
          </a:prstGeom>
          <a:ln w="19050">
            <a:solidFill>
              <a:srgbClr val="80000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07603" y="3679473"/>
            <a:ext cx="3962400" cy="1794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lnSpc>
                <a:spcPct val="105000"/>
              </a:lnSpc>
              <a:spcAft>
                <a:spcPts val="1200"/>
              </a:spcAft>
              <a:buFont typeface="Arial"/>
              <a:buChar char="•"/>
            </a:pPr>
            <a:r>
              <a:rPr lang="en-US" sz="2400" dirty="0"/>
              <a:t>DDR SDRAM was launched in 2000.</a:t>
            </a:r>
          </a:p>
          <a:p>
            <a:pPr marL="380990" indent="-380990">
              <a:lnSpc>
                <a:spcPct val="105000"/>
              </a:lnSpc>
              <a:spcAft>
                <a:spcPts val="600"/>
              </a:spcAft>
              <a:buFont typeface="Arial"/>
              <a:buChar char="•"/>
            </a:pPr>
            <a:r>
              <a:rPr lang="en-US" sz="2400" dirty="0"/>
              <a:t>DDR2 (2003), DDR3 (2007), DDR4 (2014).</a:t>
            </a:r>
          </a:p>
        </p:txBody>
      </p:sp>
    </p:spTree>
    <p:extLst>
      <p:ext uri="{BB962C8B-B14F-4D97-AF65-F5344CB8AC3E}">
        <p14:creationId xmlns:p14="http://schemas.microsoft.com/office/powerpoint/2010/main" val="37813623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17E90D-F3F3-FF37-1F42-6D1A1BACFFC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39089-BD51-3207-3715-C1B29C556D7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is the key difference between SDR and DDR SDRAM?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AF15BE-C28B-C097-A788-A2650143AD2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925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CB34382-CF50-E8D4-FB1E-DBF86A4CE3F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ium 6">
            <a:extLst>
              <a:ext uri="{FF2B5EF4-FFF2-40B4-BE49-F238E27FC236}">
                <a16:creationId xmlns:a16="http://schemas.microsoft.com/office/drawing/2014/main" id="{0479FD99-9400-1533-EDA8-A4304829D0E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E91B0F-8C96-DA3D-D1B5-3625A240C44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9479892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143" y="274640"/>
            <a:ext cx="1828800" cy="919161"/>
          </a:xfrm>
        </p:spPr>
        <p:txBody>
          <a:bodyPr>
            <a:normAutofit/>
          </a:bodyPr>
          <a:lstStyle/>
          <a:p>
            <a:r>
              <a:rPr lang="en-US" b="1" dirty="0"/>
              <a:t>DDR2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rcRect t="11029" b="11029"/>
          <a:stretch>
            <a:fillRect/>
          </a:stretch>
        </p:blipFill>
        <p:spPr>
          <a:xfrm>
            <a:off x="3461196" y="573488"/>
            <a:ext cx="8627206" cy="3355025"/>
          </a:xfrm>
          <a:ln w="19050">
            <a:solidFill>
              <a:srgbClr val="800000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56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85961" y="1172862"/>
            <a:ext cx="2851129" cy="2028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4945" indent="-234945">
              <a:lnSpc>
                <a:spcPct val="105000"/>
              </a:lnSpc>
              <a:buFont typeface="Arial"/>
              <a:buChar char="•"/>
            </a:pPr>
            <a:r>
              <a:rPr lang="en-US" sz="2400" dirty="0"/>
              <a:t>The internal bus width also grows with newer generations of DDR SDRAM.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127" y="4395192"/>
            <a:ext cx="7924800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spcAft>
                <a:spcPts val="600"/>
              </a:spcAft>
              <a:buFont typeface="Arial"/>
              <a:buChar char="•"/>
            </a:pPr>
            <a:r>
              <a:rPr lang="en-US" sz="2400" dirty="0"/>
              <a:t>Internal clock:	133 MHz</a:t>
            </a:r>
          </a:p>
          <a:p>
            <a:pPr marL="380990" indent="-380990">
              <a:spcAft>
                <a:spcPts val="600"/>
              </a:spcAft>
              <a:buFont typeface="Arial"/>
              <a:buChar char="•"/>
            </a:pPr>
            <a:r>
              <a:rPr lang="en-US" sz="2400" dirty="0"/>
              <a:t>Bus clock:		266 MHz</a:t>
            </a:r>
          </a:p>
          <a:p>
            <a:pPr marL="380990" indent="-380990">
              <a:buFont typeface="Arial"/>
              <a:buChar char="•"/>
            </a:pPr>
            <a:r>
              <a:rPr lang="en-US" sz="2400" dirty="0"/>
              <a:t>Transfer rate:	4.26 GB/s</a:t>
            </a:r>
          </a:p>
        </p:txBody>
      </p:sp>
    </p:spTree>
    <p:extLst>
      <p:ext uri="{BB962C8B-B14F-4D97-AF65-F5344CB8AC3E}">
        <p14:creationId xmlns:p14="http://schemas.microsoft.com/office/powerpoint/2010/main" val="2959183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242" y="287092"/>
            <a:ext cx="1727200" cy="919161"/>
          </a:xfrm>
        </p:spPr>
        <p:txBody>
          <a:bodyPr>
            <a:normAutofit/>
          </a:bodyPr>
          <a:lstStyle/>
          <a:p>
            <a:r>
              <a:rPr lang="en-US" b="1" dirty="0"/>
              <a:t>DDR3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690" y="685800"/>
            <a:ext cx="7459596" cy="4978400"/>
          </a:xfrm>
          <a:prstGeom prst="rect">
            <a:avLst/>
          </a:prstGeom>
          <a:ln w="19050">
            <a:solidFill>
              <a:srgbClr val="80000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203200" y="1600200"/>
            <a:ext cx="41656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4945" indent="-234945">
              <a:spcAft>
                <a:spcPts val="600"/>
              </a:spcAft>
              <a:buFont typeface="Arial"/>
              <a:buChar char="•"/>
            </a:pPr>
            <a:r>
              <a:rPr lang="en-US" sz="2400" dirty="0"/>
              <a:t>Internal clock:  	133 MHz</a:t>
            </a:r>
          </a:p>
          <a:p>
            <a:pPr marL="234945" indent="-234945">
              <a:spcAft>
                <a:spcPts val="600"/>
              </a:spcAft>
              <a:buFont typeface="Arial"/>
              <a:buChar char="•"/>
            </a:pPr>
            <a:r>
              <a:rPr lang="en-US" sz="2400" dirty="0"/>
              <a:t>Bus clock:		533 MHz</a:t>
            </a:r>
          </a:p>
          <a:p>
            <a:pPr marL="234945" indent="-234945">
              <a:spcAft>
                <a:spcPts val="600"/>
              </a:spcAft>
              <a:buFont typeface="Arial"/>
              <a:buChar char="•"/>
            </a:pPr>
            <a:r>
              <a:rPr lang="en-US" sz="2400" dirty="0"/>
              <a:t>Transfer rate:	8.53 GB/s	</a:t>
            </a:r>
          </a:p>
        </p:txBody>
      </p:sp>
    </p:spTree>
    <p:extLst>
      <p:ext uri="{BB962C8B-B14F-4D97-AF65-F5344CB8AC3E}">
        <p14:creationId xmlns:p14="http://schemas.microsoft.com/office/powerpoint/2010/main" val="7809823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92" y="287092"/>
            <a:ext cx="2641600" cy="817561"/>
          </a:xfrm>
        </p:spPr>
        <p:txBody>
          <a:bodyPr>
            <a:normAutofit/>
          </a:bodyPr>
          <a:lstStyle/>
          <a:p>
            <a:r>
              <a:rPr lang="en-US" b="1" dirty="0"/>
              <a:t>DDR4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58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3653" y="167804"/>
            <a:ext cx="6649472" cy="5597996"/>
          </a:xfrm>
          <a:prstGeom prst="rect">
            <a:avLst/>
          </a:prstGeom>
          <a:ln w="19050">
            <a:solidFill>
              <a:srgbClr val="800000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203199" y="1600200"/>
            <a:ext cx="4515481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4945" indent="-234945">
              <a:spcAft>
                <a:spcPts val="600"/>
              </a:spcAft>
              <a:buFont typeface="Arial"/>
              <a:buChar char="•"/>
            </a:pPr>
            <a:r>
              <a:rPr lang="en-US" sz="2400" dirty="0"/>
              <a:t>Internal clock:  	133 MHz</a:t>
            </a:r>
          </a:p>
          <a:p>
            <a:pPr marL="234945" indent="-234945">
              <a:spcAft>
                <a:spcPts val="600"/>
              </a:spcAft>
              <a:buFont typeface="Arial"/>
              <a:buChar char="•"/>
            </a:pPr>
            <a:r>
              <a:rPr lang="en-US" sz="2400" dirty="0"/>
              <a:t>Bus clock:		1067 MHz</a:t>
            </a:r>
          </a:p>
          <a:p>
            <a:pPr marL="234945" indent="-234945">
              <a:spcAft>
                <a:spcPts val="600"/>
              </a:spcAft>
              <a:buFont typeface="Arial"/>
              <a:buChar char="•"/>
            </a:pPr>
            <a:r>
              <a:rPr lang="en-US" sz="2400" dirty="0"/>
              <a:t>Transfer rate:	17.06 GB/s</a:t>
            </a:r>
          </a:p>
        </p:txBody>
      </p:sp>
    </p:spTree>
    <p:extLst>
      <p:ext uri="{BB962C8B-B14F-4D97-AF65-F5344CB8AC3E}">
        <p14:creationId xmlns:p14="http://schemas.microsoft.com/office/powerpoint/2010/main" val="197626239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59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0" y="453952"/>
          <a:ext cx="8128000" cy="52390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lang="en-US" sz="2400" dirty="0"/>
                        <a:t>Name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Internal Clock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Bus Clock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Transfer Rate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94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2400" dirty="0"/>
                        <a:t>DDR2-400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400" dirty="0"/>
                        <a:t>100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200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3.20 GB/s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94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2400" dirty="0"/>
                        <a:t>DDR2-400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400" dirty="0"/>
                        <a:t>133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266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4.26 GB/s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94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2400" dirty="0"/>
                        <a:t>DDR2-667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400" dirty="0"/>
                        <a:t>166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333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5.33 GB/s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94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2400" dirty="0"/>
                        <a:t>DDR2-800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400" dirty="0"/>
                        <a:t>200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400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6.40 GB/s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94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2400" dirty="0"/>
                        <a:t>DDR3-800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400" dirty="0"/>
                        <a:t>100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400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6.40 GB/s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94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2400" dirty="0"/>
                        <a:t>DDR3-1066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400" dirty="0"/>
                        <a:t>133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533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8.53 GB/s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94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2400" dirty="0"/>
                        <a:t>DDR3-1333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400" dirty="0"/>
                        <a:t>166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667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10.67 GB/s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94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2400" dirty="0"/>
                        <a:t>DDR3-1600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400" dirty="0"/>
                        <a:t>200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800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12.80 GB/s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194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2400" dirty="0"/>
                        <a:t>DDR4-1600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400" dirty="0"/>
                        <a:t>100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800</a:t>
                      </a:r>
                      <a:r>
                        <a:rPr lang="en-US" sz="2400" baseline="0" dirty="0"/>
                        <a:t> MHz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12.80 GB/s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194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2400" dirty="0"/>
                        <a:t>DDR4-2133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400" dirty="0"/>
                        <a:t>133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1066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17.06 GB/s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1941">
                <a:tc>
                  <a:txBody>
                    <a:bodyPr/>
                    <a:lstStyle/>
                    <a:p>
                      <a:pPr>
                        <a:lnSpc>
                          <a:spcPct val="80000"/>
                        </a:lnSpc>
                      </a:pPr>
                      <a:r>
                        <a:rPr lang="en-US" sz="2400" dirty="0"/>
                        <a:t>DDR4-3200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sz="2400" dirty="0"/>
                        <a:t>200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1600 MHz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80000"/>
                        </a:lnSpc>
                      </a:pPr>
                      <a:r>
                        <a:rPr lang="en-US" sz="2400" dirty="0"/>
                        <a:t>25.60</a:t>
                      </a:r>
                      <a:r>
                        <a:rPr lang="en-US" sz="2400" baseline="0" dirty="0"/>
                        <a:t> GB/s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03200" y="990600"/>
            <a:ext cx="325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Generations of </a:t>
            </a:r>
            <a:r>
              <a:rPr lang="en-US" sz="3200" b="1" dirty="0" err="1"/>
              <a:t>DDRx</a:t>
            </a:r>
            <a:r>
              <a:rPr lang="en-US" sz="3200" b="1" dirty="0"/>
              <a:t> SDRAM</a:t>
            </a:r>
          </a:p>
        </p:txBody>
      </p:sp>
    </p:spTree>
    <p:extLst>
      <p:ext uri="{BB962C8B-B14F-4D97-AF65-F5344CB8AC3E}">
        <p14:creationId xmlns:p14="http://schemas.microsoft.com/office/powerpoint/2010/main" val="20791112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200" y="733625"/>
            <a:ext cx="5283200" cy="3973272"/>
          </a:xfrm>
        </p:spPr>
        <p:txBody>
          <a:bodyPr>
            <a:normAutofit/>
          </a:bodyPr>
          <a:lstStyle/>
          <a:p>
            <a:pPr marL="234945" indent="-234945">
              <a:spcAft>
                <a:spcPts val="1200"/>
              </a:spcAft>
            </a:pPr>
            <a:r>
              <a:rPr lang="en-US" sz="2400" dirty="0"/>
              <a:t>A dual in-line memory module (DIMM)  consists of a number of DRAM ICs.</a:t>
            </a:r>
          </a:p>
          <a:p>
            <a:pPr marL="234945" indent="-234945">
              <a:spcAft>
                <a:spcPts val="1200"/>
              </a:spcAft>
            </a:pPr>
            <a:r>
              <a:rPr lang="en-US" sz="2400" dirty="0"/>
              <a:t>These modules are mounted on a printed-circuit board and designed for use in PCs, workstations and servers.</a:t>
            </a:r>
          </a:p>
          <a:p>
            <a:pPr marL="234945" indent="-234945">
              <a:spcAft>
                <a:spcPts val="1200"/>
              </a:spcAft>
            </a:pPr>
            <a:r>
              <a:rPr lang="en-US" sz="2400" dirty="0"/>
              <a:t>DIMMs have separate electrical contacts on each side of the module, and has a 64-bit data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60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000" y="685800"/>
            <a:ext cx="6485467" cy="15107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88000" y="2311401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00FF"/>
                </a:solidFill>
              </a:rPr>
              <a:t>Three SRDAM DIMM slots on a PC motherboard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600" y="3308367"/>
            <a:ext cx="6502400" cy="17296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88000" y="5156201"/>
            <a:ext cx="640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00FF"/>
                </a:solidFill>
              </a:rPr>
              <a:t>Two 8 GB DDR4-2133 ECC 1.2V modules</a:t>
            </a:r>
          </a:p>
        </p:txBody>
      </p:sp>
    </p:spTree>
    <p:extLst>
      <p:ext uri="{BB962C8B-B14F-4D97-AF65-F5344CB8AC3E}">
        <p14:creationId xmlns:p14="http://schemas.microsoft.com/office/powerpoint/2010/main" val="33424685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61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000" y="1054829"/>
            <a:ext cx="7823200" cy="4406171"/>
          </a:xfrm>
          <a:prstGeom prst="rect">
            <a:avLst/>
          </a:prstGeom>
          <a:ln w="25400">
            <a:solidFill>
              <a:srgbClr val="800000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04800" y="1600200"/>
            <a:ext cx="3556000" cy="2410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34945" indent="-234945">
              <a:spcAft>
                <a:spcPts val="800"/>
              </a:spcAft>
              <a:buFont typeface="Arial"/>
              <a:buChar char="•"/>
            </a:pPr>
            <a:r>
              <a:rPr lang="en-US" sz="2400" dirty="0"/>
              <a:t>The DDR memory modules across generations may not be compatible.</a:t>
            </a:r>
          </a:p>
          <a:p>
            <a:pPr marL="234945" indent="-234945">
              <a:buFont typeface="Arial"/>
              <a:buChar char="•"/>
            </a:pPr>
            <a:r>
              <a:rPr lang="en-US" sz="2400" dirty="0"/>
              <a:t>They may have notches in different positions.</a:t>
            </a:r>
          </a:p>
        </p:txBody>
      </p:sp>
    </p:spTree>
    <p:extLst>
      <p:ext uri="{BB962C8B-B14F-4D97-AF65-F5344CB8AC3E}">
        <p14:creationId xmlns:p14="http://schemas.microsoft.com/office/powerpoint/2010/main" val="40086983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DDR Generations: To Summarize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SDR SDRAMs can transfer one word of data per clock cycle.</a:t>
            </a:r>
          </a:p>
          <a:p>
            <a:r>
              <a:rPr lang="en-US"/>
              <a:t>DDR (or DDR1) SDRAMs can transfer two words per clock cycle.</a:t>
            </a:r>
          </a:p>
          <a:p>
            <a:r>
              <a:rPr lang="en-IN"/>
              <a:t>DDR2 SDRAM doubles the minimum read or write unit again, to 4 consecutive words per clock cycle.</a:t>
            </a:r>
          </a:p>
          <a:p>
            <a:r>
              <a:rPr lang="en-IN"/>
              <a:t>DDR3 continues the trend, doubling the minimum read or write unit to 8 consecutive words per clock cycle.</a:t>
            </a:r>
          </a:p>
          <a:p>
            <a:r>
              <a:rPr lang="en-IN"/>
              <a:t>DDR4 extends the trend again to 16 consecutive words per clock cycle.</a:t>
            </a:r>
          </a:p>
          <a:p>
            <a:r>
              <a:rPr lang="en-IN"/>
              <a:t>In March 2017, a DDR5 standard under development has been announced.</a:t>
            </a:r>
          </a:p>
          <a:p>
            <a:endParaRPr lang="en-IN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2821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239" y="352673"/>
            <a:ext cx="10515600" cy="1029511"/>
          </a:xfrm>
        </p:spPr>
        <p:txBody>
          <a:bodyPr>
            <a:normAutofit/>
          </a:bodyPr>
          <a:lstStyle/>
          <a:p>
            <a:r>
              <a:rPr lang="en-US" b="1" dirty="0"/>
              <a:t>Speed of DDR Memories Across Generations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5AC96-4A5A-4699-9DBD-ACAB251D8CBA}" type="slidenum">
              <a:rPr lang="en-US" smtClean="0"/>
              <a:t>63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397001"/>
          <a:ext cx="10668000" cy="418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Year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Chip size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Type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Slowest DRAM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Fastest DRAM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CAS transfer time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Cycle time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2000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256 Mb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DDR1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65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45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7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90 ns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2002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512</a:t>
                      </a:r>
                      <a:r>
                        <a:rPr lang="en-US" sz="2400" baseline="0" dirty="0"/>
                        <a:t> Mb</a:t>
                      </a:r>
                      <a:endParaRPr lang="en-US" sz="2400" dirty="0"/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DDR1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60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40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5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80 ns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2004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1 Gb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DDR2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55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35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5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70 ns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2006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2 Gb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DDR2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50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30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2.5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60 ns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2010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4 Gb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DDR3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36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28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1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37 ns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445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2012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8 Gb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DDR3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30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24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/>
                        <a:t>0.5 ns</a:t>
                      </a: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31 ns</a:t>
                      </a: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5088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ada29ac1-ab92-4fcc-beac-f23e5d6659a2"/>
  <p:tag name="SLIDO_EVENT_UUID" val="51de6e0c-8170-4668-92a9-45901f0a3f49"/>
  <p:tag name="SLIDO_EVENT_SECTION_UUID" val="0f732474-5a2f-4a7b-b720-f1c4b806765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d52c78b1-78fe-48e0-a2cc-6d2a21fd548e"/>
  <p:tag name="SLIDO_TIMELINE" val="W3sicG9sbFF1ZXN0aW9uVXVpZCI6IjNmMDkzMjZiLTY2YmUtNGE4MS05MzJlLTliYWVjYWY1ODEyYSIsInNob3dSZXN1bHRzIjp0cnVlfV0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48d4934a-72db-4ae2-a2d6-d50b83398ff4"/>
  <p:tag name="SLIDO_TIMELINE" val="W3sic2hvd1Jlc3VsdHMiOnRydWUsInBvbGxRdWVzdGlvblV1aWQiOiI4MjM5NzcyOS1lNzFkLTQ5ZWYtYTZlOC1hOTlhNDk5ODk3NzAifV0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f610faeb-b791-4750-9e57-24088575c18b"/>
  <p:tag name="SLIDO_TIMELINE" val="W3sic2hvd1Jlc3VsdHMiOnRydWUsInBvbGxRdWVzdGlvblV1aWQiOiJmYWZmNjg3OS05ZDYxLTRmMTEtYTIyYS04YWEyYzQ2ZTE2OWIifV0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6535</TotalTime>
  <Words>4462</Words>
  <Application>Microsoft Macintosh PowerPoint</Application>
  <PresentationFormat>Widescreen</PresentationFormat>
  <Paragraphs>716</Paragraphs>
  <Slides>63</Slides>
  <Notes>0</Notes>
  <HiddenSlides>11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Arial</vt:lpstr>
      <vt:lpstr>Calibri</vt:lpstr>
      <vt:lpstr>Century Gothic</vt:lpstr>
      <vt:lpstr>Times New Roman</vt:lpstr>
      <vt:lpstr>Wingdings</vt:lpstr>
      <vt:lpstr>Office Theme</vt:lpstr>
      <vt:lpstr>PowerPoint Presentation</vt:lpstr>
      <vt:lpstr>PROCESSOR MEMORY INTERACTION </vt:lpstr>
      <vt:lpstr>Introduction</vt:lpstr>
      <vt:lpstr>Connection between Processor and Memory</vt:lpstr>
      <vt:lpstr>PowerPoint Presentation</vt:lpstr>
      <vt:lpstr>Classification of Memory Systems</vt:lpstr>
      <vt:lpstr>PowerPoint Presentation</vt:lpstr>
      <vt:lpstr>PowerPoint Presentation</vt:lpstr>
      <vt:lpstr>PowerPoint Presentation</vt:lpstr>
      <vt:lpstr>Access Time, Latency and Bandwidth</vt:lpstr>
      <vt:lpstr>Design Issue of Memory System</vt:lpstr>
      <vt:lpstr>PowerPoint Presentation</vt:lpstr>
      <vt:lpstr>What is Cache Memory?</vt:lpstr>
      <vt:lpstr>What is Virtual Memory?</vt:lpstr>
      <vt:lpstr>How does a Memory Chip look like?</vt:lpstr>
      <vt:lpstr>Organization of Cells in an 8 x 4 Memory Chip</vt:lpstr>
      <vt:lpstr>PowerPoint Presentation</vt:lpstr>
      <vt:lpstr>External Connection Requirements</vt:lpstr>
      <vt:lpstr>What About a 256 x 16 Memory? </vt:lpstr>
      <vt:lpstr>STATIC AND DYNAMIC RAM</vt:lpstr>
      <vt:lpstr>Introduction</vt:lpstr>
      <vt:lpstr>Static Random Access Memory (SRAM) </vt:lpstr>
      <vt:lpstr>PowerPoint Presentation</vt:lpstr>
      <vt:lpstr>A 1-bit SRAM Cell</vt:lpstr>
      <vt:lpstr>(a) READ Operation in SRAM</vt:lpstr>
      <vt:lpstr>(b) WRITE Operation in SRAM</vt:lpstr>
      <vt:lpstr>6-Transistor Static Memory cell</vt:lpstr>
      <vt:lpstr>In State 0</vt:lpstr>
      <vt:lpstr>In State 1</vt:lpstr>
      <vt:lpstr>Features of SRAM</vt:lpstr>
      <vt:lpstr>PowerPoint Presentation</vt:lpstr>
      <vt:lpstr>Dynamic Random Access Memory (DRAM)</vt:lpstr>
      <vt:lpstr>(a) READ Operation in DRAM</vt:lpstr>
      <vt:lpstr>(b) WRITE Operation in DRAM</vt:lpstr>
      <vt:lpstr>Types of DRAM</vt:lpstr>
      <vt:lpstr>Asynchronous DRAM</vt:lpstr>
      <vt:lpstr>Asynchronous DRAM</vt:lpstr>
      <vt:lpstr>Internal Organization of a DRAM Chip</vt:lpstr>
      <vt:lpstr>PowerPoint Presentation</vt:lpstr>
      <vt:lpstr>READ or WRITE Operation</vt:lpstr>
      <vt:lpstr>PowerPoint Presentation</vt:lpstr>
      <vt:lpstr>An Example: 1 Gbit  ADRAM Chip</vt:lpstr>
      <vt:lpstr>PowerPoint Presentation</vt:lpstr>
      <vt:lpstr>PowerPoint Presentation</vt:lpstr>
      <vt:lpstr>Fast Page Mode</vt:lpstr>
      <vt:lpstr>PowerPoint Presentation</vt:lpstr>
      <vt:lpstr>Synchronous DRAM</vt:lpstr>
      <vt:lpstr>Synchronous DRAM</vt:lpstr>
      <vt:lpstr>Internal Organization of a SDRAM Chip</vt:lpstr>
      <vt:lpstr>PowerPoint Presentation</vt:lpstr>
      <vt:lpstr>READ and WRITE Operations</vt:lpstr>
      <vt:lpstr>Burst mode transfer</vt:lpstr>
      <vt:lpstr>Standardization</vt:lpstr>
      <vt:lpstr>Types of SDRAM</vt:lpstr>
      <vt:lpstr>PowerPoint Presentation</vt:lpstr>
      <vt:lpstr>DDR2</vt:lpstr>
      <vt:lpstr>DDR3</vt:lpstr>
      <vt:lpstr>DDR4</vt:lpstr>
      <vt:lpstr>PowerPoint Presentation</vt:lpstr>
      <vt:lpstr>PowerPoint Presentation</vt:lpstr>
      <vt:lpstr>PowerPoint Presentation</vt:lpstr>
      <vt:lpstr>DDR Generations: To Summarize</vt:lpstr>
      <vt:lpstr>Speed of DDR Memories Across Generations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debdeep</cp:lastModifiedBy>
  <cp:revision>151</cp:revision>
  <cp:lastPrinted>2023-08-31T01:20:12Z</cp:lastPrinted>
  <dcterms:created xsi:type="dcterms:W3CDTF">2023-07-29T11:53:22Z</dcterms:created>
  <dcterms:modified xsi:type="dcterms:W3CDTF">2026-09-09T02:27:37Z</dcterms:modified>
</cp:coreProperties>
</file>