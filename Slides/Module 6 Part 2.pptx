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20"/>
  </p:notesMasterIdLst>
  <p:sldIdLst>
    <p:sldId id="561" r:id="rId2"/>
    <p:sldId id="550" r:id="rId3"/>
    <p:sldId id="373" r:id="rId4"/>
    <p:sldId id="374" r:id="rId5"/>
    <p:sldId id="375" r:id="rId6"/>
    <p:sldId id="376" r:id="rId7"/>
    <p:sldId id="377" r:id="rId8"/>
    <p:sldId id="378" r:id="rId9"/>
    <p:sldId id="379" r:id="rId10"/>
    <p:sldId id="380" r:id="rId11"/>
    <p:sldId id="551" r:id="rId12"/>
    <p:sldId id="382" r:id="rId13"/>
    <p:sldId id="384" r:id="rId14"/>
    <p:sldId id="385" r:id="rId15"/>
    <p:sldId id="383" r:id="rId16"/>
    <p:sldId id="381" r:id="rId17"/>
    <p:sldId id="386" r:id="rId18"/>
    <p:sldId id="3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53"/>
    <p:restoredTop sz="96327" autoAdjust="0"/>
  </p:normalViewPr>
  <p:slideViewPr>
    <p:cSldViewPr snapToGrid="0">
      <p:cViewPr varScale="1">
        <p:scale>
          <a:sx n="128" d="100"/>
          <a:sy n="128" d="100"/>
        </p:scale>
        <p:origin x="38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460DF-EB7B-469A-88A6-9D448ABB3F4B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67892-E758-4CE4-92A4-618DD948D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38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2742-209D-4AD4-BCC0-D744EEC86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BB40C-C336-43B4-8A87-78E91DEAD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0F9BE-7EE4-41AE-9D36-3030AC04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EB7A5-46F8-40A4-82B6-04878333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BF08A-4E85-47CB-AC56-053203DA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31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F563-41BA-4934-90FA-D44B0D71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FCB-BB80-461A-A0EE-DD05B5FB0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45495-1438-4935-AB17-84E4DE45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61712-21CA-45C1-A1F8-91E2DCED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E83C-34D9-4B18-B1C1-D4E4528C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69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1A64-4DE2-4354-B466-643C1977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B15BD-C661-487C-AC09-B37A3ACFF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BA56-EF52-4182-9AC3-535F07D4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3EF1A-4522-49B8-B173-4807441D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E32FA-87C4-4EBB-AE76-4BF91ADA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48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AE21-13C6-446B-AF3F-F96FDE605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AE339-3E49-4D2B-BE53-095BA5E2A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C131F-A559-4A6F-B802-6B8194664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A92EA-FC68-47AF-B8A5-3B1E4152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835A4-E7E9-4AEA-89C8-72D28D50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0B176-30BA-4D43-AAE7-FCE3D1EE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8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0AA8-73EC-440F-ADFF-EA50D5D6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91440-45FF-4488-87BC-F35B827C0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37B83-4BF8-4951-9574-A1CD18DC0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8ABF3-3772-4234-89E3-589093FE5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8A3C9-D222-460F-9343-56E79B62E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E556A-A164-4F04-8ECD-A8B2A689DF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F38F5-8E0A-41CB-B48A-80E2AEA1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DAA36-931C-4CC3-BCCF-9D41F670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00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0315B-58AB-473A-AAB2-6ABE409C0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9CD0F-8B29-4F0A-848C-8F8A7376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6270E-ABF7-4C57-88B0-D4A5E33B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1A6B7-0207-49EE-BBDE-A82A2598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21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E1CFB-D2AF-4959-9D69-11EC0195D6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A2CEA-7878-4D20-AC9F-2CB3B513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AC79B-4BBE-4EC1-936F-F2AA565F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095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BCAD-58E5-4E36-8B51-1D7C442C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476C6-3C83-4B22-AB72-ED185CC9D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3AC60-2D0C-4ECD-ACFC-C8038D150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48922-2E5A-4FF6-9EBB-7F869BDA79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0A630-E119-4E0B-B7DC-8C7CCF36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7E74E-13CD-4FE7-9281-ECA69C79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48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0500-7D46-4FE1-BFA8-267D29BF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489865-DC41-4C9A-8FC0-8AC3A422C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7AD87-D6BE-455A-A128-345AA8F6F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2FBD1-7164-4773-82B5-39478DB3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5760A-5271-4174-A87B-587A1059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B756A-85CD-4B73-ACD9-C849994C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40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A5CF-B6CD-4C88-93D7-3ABF7A66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5C0FC-B2B0-4148-A1BD-38A8D67F9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40223-CCC8-489F-BDB1-24CBC0ED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880D4-F616-4B97-9A14-3C343470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A3D93-E61C-4206-A227-C476ACB5C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84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2BEB68-62B8-470C-AE19-868FBB2E3E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300CD-54A0-406F-BA0E-61417F4C3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21733-86FF-42C7-BE02-C36308FD05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12/09/26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91238-A565-492B-AE8D-5740E31D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C2359-3D1A-44AB-B11A-FFDC86CC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05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DD19B-906E-495E-B8BB-00BF7DF0A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D0EEB-380A-4F51-A933-D1276FE83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3EE9C-9259-433C-8C3A-B3F770A1D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F8E49-7C34-491A-B133-778D3DDBC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6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406400" y="889000"/>
            <a:ext cx="11379200" cy="1727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189" indent="-457189" algn="ctr">
              <a:lnSpc>
                <a:spcPct val="140000"/>
              </a:lnSpc>
              <a:spcAft>
                <a:spcPts val="800"/>
              </a:spcAft>
              <a:defRPr/>
            </a:pPr>
            <a:r>
              <a:rPr lang="en-US" sz="5067" b="1" dirty="0">
                <a:solidFill>
                  <a:srgbClr val="800000"/>
                </a:solidFill>
                <a:cs typeface="Times New Roman" pitchFamily="18" charset="0"/>
              </a:rPr>
              <a:t>Computer Organization and Architecture</a:t>
            </a:r>
          </a:p>
          <a:p>
            <a:pPr marL="457189" indent="-457189" algn="ctr" defTabSz="1219170">
              <a:spcBef>
                <a:spcPct val="20000"/>
              </a:spcBef>
              <a:defRPr/>
            </a:pPr>
            <a:endParaRPr lang="en-US" sz="2667" b="1" dirty="0">
              <a:solidFill>
                <a:schemeClr val="accent2"/>
              </a:solidFill>
              <a:latin typeface="Century Gothic" pitchFamily="34" charset="0"/>
              <a:cs typeface="Arial" pitchFamily="34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727200" y="4221223"/>
            <a:ext cx="8534400" cy="235908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algn="ctr" defTabSz="1219170">
              <a:spcBef>
                <a:spcPct val="20000"/>
              </a:spcBef>
              <a:spcAft>
                <a:spcPts val="800"/>
              </a:spcAft>
              <a:defRPr/>
            </a:pPr>
            <a:r>
              <a:rPr lang="en-US" sz="2667" b="1" dirty="0">
                <a:solidFill>
                  <a:srgbClr val="000090"/>
                </a:solidFill>
                <a:cs typeface="Arial" pitchFamily="34" charset="0"/>
              </a:rPr>
              <a:t>Department of Computer Science and Engineering </a:t>
            </a:r>
          </a:p>
          <a:p>
            <a:pPr algn="ctr" defTabSz="1219170">
              <a:spcBef>
                <a:spcPct val="20000"/>
              </a:spcBef>
              <a:spcAft>
                <a:spcPts val="800"/>
              </a:spcAft>
              <a:defRPr/>
            </a:pPr>
            <a:r>
              <a:rPr lang="en-US" sz="2667" b="1" dirty="0">
                <a:solidFill>
                  <a:srgbClr val="000090"/>
                </a:solidFill>
                <a:cs typeface="Arial" pitchFamily="34" charset="0"/>
              </a:rPr>
              <a:t>IIT </a:t>
            </a:r>
            <a:r>
              <a:rPr lang="en-US" sz="2667" b="1" dirty="0" err="1">
                <a:solidFill>
                  <a:srgbClr val="000090"/>
                </a:solidFill>
                <a:cs typeface="Arial" pitchFamily="34" charset="0"/>
              </a:rPr>
              <a:t>Kharagpur</a:t>
            </a:r>
            <a:endParaRPr lang="en-US" sz="2667" b="1" dirty="0">
              <a:solidFill>
                <a:srgbClr val="000090"/>
              </a:solidFill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B2AAA-FBF9-9F47-D9BA-D5CCDCAECF8B}"/>
              </a:ext>
            </a:extLst>
          </p:cNvPr>
          <p:cNvSpPr txBox="1"/>
          <p:nvPr/>
        </p:nvSpPr>
        <p:spPr>
          <a:xfrm>
            <a:off x="859316" y="2302524"/>
            <a:ext cx="10432973" cy="123110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3200" b="1">
                <a:solidFill>
                  <a:srgbClr val="7030A0"/>
                </a:solidFill>
              </a:rPr>
              <a:t>Module 6 </a:t>
            </a:r>
            <a:r>
              <a:rPr lang="en-US" sz="3200" b="1" dirty="0">
                <a:solidFill>
                  <a:srgbClr val="7030A0"/>
                </a:solidFill>
              </a:rPr>
              <a:t>(Part 2)</a:t>
            </a:r>
          </a:p>
          <a:p>
            <a:pPr algn="ctr"/>
            <a:r>
              <a:rPr lang="en-US" sz="3200" b="1" dirty="0">
                <a:solidFill>
                  <a:srgbClr val="7030A0"/>
                </a:solidFill>
              </a:rPr>
              <a:t>Design of Memory Subsystems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Memory Interfacing and Addressing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2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Interfacing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problem:</a:t>
            </a:r>
          </a:p>
          <a:p>
            <a:pPr lvl="1"/>
            <a:r>
              <a:rPr lang="en-US" sz="2000" dirty="0"/>
              <a:t>Interfacing one of more memory modules to the processor.</a:t>
            </a:r>
          </a:p>
          <a:p>
            <a:pPr lvl="1">
              <a:spcAft>
                <a:spcPts val="1200"/>
              </a:spcAft>
            </a:pPr>
            <a:r>
              <a:rPr lang="en-US" sz="2000" dirty="0"/>
              <a:t>We assume a single level memory at present (i.e. no cache memory).</a:t>
            </a:r>
          </a:p>
          <a:p>
            <a:r>
              <a:rPr lang="en-US" sz="2400" dirty="0"/>
              <a:t>Questions to be answered:</a:t>
            </a:r>
          </a:p>
          <a:p>
            <a:pPr lvl="1"/>
            <a:r>
              <a:rPr lang="en-US" sz="2000" dirty="0"/>
              <a:t>How the processor address and data lines are connected to memory modules?</a:t>
            </a:r>
          </a:p>
          <a:p>
            <a:pPr lvl="1"/>
            <a:r>
              <a:rPr lang="en-US" sz="2000" dirty="0"/>
              <a:t>How are the addresses decoded?</a:t>
            </a:r>
          </a:p>
          <a:p>
            <a:pPr lvl="1"/>
            <a:r>
              <a:rPr lang="en-US" sz="2000" dirty="0"/>
              <a:t>How are the memory addresses distributed among the memory modules?</a:t>
            </a:r>
          </a:p>
          <a:p>
            <a:pPr lvl="1"/>
            <a:r>
              <a:rPr lang="en-US" sz="2000" dirty="0"/>
              <a:t>How to speed up data transfer rate between processor and memory?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443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1600" y="482600"/>
            <a:ext cx="6502400" cy="3027064"/>
            <a:chOff x="2667000" y="1200150"/>
            <a:chExt cx="6019800" cy="3027065"/>
          </a:xfrm>
        </p:grpSpPr>
        <p:sp>
          <p:nvSpPr>
            <p:cNvPr id="6" name="Rectangle 5"/>
            <p:cNvSpPr/>
            <p:nvPr/>
          </p:nvSpPr>
          <p:spPr>
            <a:xfrm>
              <a:off x="6858000" y="1657350"/>
              <a:ext cx="1828800" cy="1905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PRIMARY</a:t>
              </a:r>
            </a:p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667000" y="1200150"/>
              <a:ext cx="2209800" cy="2895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rgbClr val="0D0D0D"/>
                  </a:solidFill>
                </a:rPr>
                <a:t> PROCESSOR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19600" y="1504950"/>
              <a:ext cx="457200" cy="990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33" dirty="0">
                  <a:solidFill>
                    <a:srgbClr val="0D0D0D"/>
                  </a:solidFill>
                </a:rPr>
                <a:t>MA R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19600" y="2647950"/>
              <a:ext cx="457200" cy="990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33" dirty="0">
                  <a:solidFill>
                    <a:srgbClr val="0D0D0D"/>
                  </a:solidFill>
                </a:rPr>
                <a:t>MD R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4876800" y="1885950"/>
              <a:ext cx="1981200" cy="381000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Left-Right Arrow 10"/>
            <p:cNvSpPr/>
            <p:nvPr/>
          </p:nvSpPr>
          <p:spPr>
            <a:xfrm>
              <a:off x="4876800" y="2952750"/>
              <a:ext cx="1981200" cy="381000"/>
            </a:xfrm>
            <a:prstGeom prst="left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Bent-Up Arrow 11"/>
            <p:cNvSpPr/>
            <p:nvPr/>
          </p:nvSpPr>
          <p:spPr>
            <a:xfrm>
              <a:off x="4876800" y="3562350"/>
              <a:ext cx="3124200" cy="304800"/>
            </a:xfrm>
            <a:prstGeom prst="bentUp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05400" y="1504950"/>
              <a:ext cx="1447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Address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334001" y="2558018"/>
              <a:ext cx="914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Data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57800" y="3765550"/>
              <a:ext cx="2362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Control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807200" y="1295400"/>
            <a:ext cx="2946400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7" dirty="0">
                <a:solidFill>
                  <a:srgbClr val="800000"/>
                </a:solidFill>
              </a:rPr>
              <a:t>The processor’s view of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729" y="4046352"/>
            <a:ext cx="4064000" cy="16722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80990" indent="-380990"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solidFill>
                  <a:srgbClr val="000090"/>
                </a:solidFill>
              </a:rPr>
              <a:t>Typical interface of a memory module.</a:t>
            </a:r>
          </a:p>
          <a:p>
            <a:pPr marL="380990" indent="-380990">
              <a:buFont typeface="Arial"/>
              <a:buChar char="•"/>
            </a:pPr>
            <a:r>
              <a:rPr lang="en-US" sz="2400" dirty="0">
                <a:solidFill>
                  <a:srgbClr val="000090"/>
                </a:solidFill>
              </a:rPr>
              <a:t>Real chip may contain more signal lines (e.g. DRAM).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616895" y="3820746"/>
            <a:ext cx="6197600" cy="2300227"/>
            <a:chOff x="1813560" y="1657350"/>
            <a:chExt cx="5577840" cy="2625259"/>
          </a:xfrm>
        </p:grpSpPr>
        <p:sp>
          <p:nvSpPr>
            <p:cNvPr id="17" name="TextBox 16"/>
            <p:cNvSpPr txBox="1"/>
            <p:nvPr/>
          </p:nvSpPr>
          <p:spPr>
            <a:xfrm>
              <a:off x="3429000" y="3790950"/>
              <a:ext cx="1257300" cy="479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33" b="1" dirty="0"/>
                <a:t>RD/WR’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1813560" y="1657350"/>
              <a:ext cx="5577840" cy="2118121"/>
              <a:chOff x="1813560" y="1657350"/>
              <a:chExt cx="5577840" cy="2118121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3429000" y="1657350"/>
                <a:ext cx="2514600" cy="1524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rgbClr val="8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MEMORY</a:t>
                </a:r>
              </a:p>
              <a:p>
                <a:pPr algn="ctr"/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(2</a:t>
                </a:r>
                <a:r>
                  <a:rPr lang="en-US" sz="2400" baseline="30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n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x m memory module)</a:t>
                </a:r>
              </a:p>
            </p:txBody>
          </p:sp>
          <p:sp>
            <p:nvSpPr>
              <p:cNvPr id="21" name="Right Arrow 20"/>
              <p:cNvSpPr/>
              <p:nvPr/>
            </p:nvSpPr>
            <p:spPr>
              <a:xfrm>
                <a:off x="1981200" y="2114550"/>
                <a:ext cx="1447800" cy="571500"/>
              </a:xfrm>
              <a:prstGeom prst="rightArrow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813560" y="2470380"/>
                <a:ext cx="1463040" cy="854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133" b="1" dirty="0"/>
                  <a:t>n-bit address bus </a:t>
                </a:r>
              </a:p>
            </p:txBody>
          </p:sp>
          <p:sp>
            <p:nvSpPr>
              <p:cNvPr id="23" name="Left-Right Arrow 22"/>
              <p:cNvSpPr/>
              <p:nvPr/>
            </p:nvSpPr>
            <p:spPr>
              <a:xfrm>
                <a:off x="5943600" y="2147188"/>
                <a:ext cx="1447800" cy="538861"/>
              </a:xfrm>
              <a:prstGeom prst="leftRightArrow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096000" y="2470379"/>
                <a:ext cx="1143000" cy="854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133" b="1" dirty="0"/>
                  <a:t>m-bit data bus</a:t>
                </a:r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 flipV="1">
                <a:off x="4191000" y="3181350"/>
                <a:ext cx="0" cy="594121"/>
              </a:xfrm>
              <a:prstGeom prst="straightConnector1">
                <a:avLst/>
              </a:prstGeom>
              <a:ln w="254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 flipV="1">
                <a:off x="4876800" y="3181350"/>
                <a:ext cx="0" cy="594121"/>
              </a:xfrm>
              <a:prstGeom prst="straightConnector1">
                <a:avLst/>
              </a:prstGeom>
              <a:ln w="254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4419600" y="3802618"/>
              <a:ext cx="845050" cy="479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33" b="1" dirty="0"/>
                <a:t>CS’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04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Note About the Memory Interface Signals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data signals of a memory module (RAM) are typically bidirectional.</a:t>
            </a:r>
          </a:p>
          <a:p>
            <a:pPr lvl="1">
              <a:spcAft>
                <a:spcPts val="1200"/>
              </a:spcAft>
            </a:pPr>
            <a:r>
              <a:rPr lang="en-US" sz="2000" dirty="0"/>
              <a:t>Some memory chips may have separate data in and data out lines.</a:t>
            </a:r>
          </a:p>
          <a:p>
            <a:r>
              <a:rPr lang="en-US" sz="2400" dirty="0"/>
              <a:t>For memory </a:t>
            </a:r>
            <a:r>
              <a:rPr lang="en-US" sz="2400" i="1" dirty="0">
                <a:solidFill>
                  <a:srgbClr val="C00000"/>
                </a:solidFill>
              </a:rPr>
              <a:t>READ</a:t>
            </a:r>
            <a:r>
              <a:rPr lang="en-US" sz="2400" dirty="0"/>
              <a:t> operation:</a:t>
            </a:r>
          </a:p>
          <a:p>
            <a:pPr lvl="1"/>
            <a:r>
              <a:rPr lang="en-US" sz="2000" dirty="0"/>
              <a:t>Address of memory location is applied to </a:t>
            </a:r>
            <a:r>
              <a:rPr lang="en-US" sz="2000" i="1" dirty="0">
                <a:solidFill>
                  <a:srgbClr val="C00000"/>
                </a:solidFill>
              </a:rPr>
              <a:t>address lines</a:t>
            </a:r>
            <a:r>
              <a:rPr lang="en-US" sz="2000" dirty="0"/>
              <a:t>.</a:t>
            </a:r>
          </a:p>
          <a:p>
            <a:pPr lvl="1">
              <a:buClr>
                <a:schemeClr val="tx1"/>
              </a:buClr>
            </a:pPr>
            <a:r>
              <a:rPr lang="en-US" sz="2000" i="1" dirty="0">
                <a:solidFill>
                  <a:srgbClr val="C00000"/>
                </a:solidFill>
              </a:rPr>
              <a:t>RD/WR’</a:t>
            </a:r>
            <a:r>
              <a:rPr lang="en-US" sz="2000" dirty="0"/>
              <a:t> control signal is set to 1, and </a:t>
            </a:r>
            <a:r>
              <a:rPr lang="en-US" sz="2000" i="1" dirty="0">
                <a:solidFill>
                  <a:srgbClr val="C00000"/>
                </a:solidFill>
              </a:rPr>
              <a:t>CS’</a:t>
            </a:r>
            <a:r>
              <a:rPr lang="en-US" sz="2000" dirty="0"/>
              <a:t> is set to 0.</a:t>
            </a:r>
          </a:p>
          <a:p>
            <a:pPr lvl="1">
              <a:spcAft>
                <a:spcPts val="1200"/>
              </a:spcAft>
            </a:pPr>
            <a:r>
              <a:rPr lang="en-US" sz="2000" dirty="0"/>
              <a:t>Data is read out through the </a:t>
            </a:r>
            <a:r>
              <a:rPr lang="en-US" sz="2000" i="1" dirty="0">
                <a:solidFill>
                  <a:srgbClr val="C00000"/>
                </a:solidFill>
              </a:rPr>
              <a:t>data lines </a:t>
            </a:r>
            <a:r>
              <a:rPr lang="en-US" sz="2000" dirty="0"/>
              <a:t>after memory access time delay.</a:t>
            </a:r>
          </a:p>
          <a:p>
            <a:r>
              <a:rPr lang="en-US" sz="2400" dirty="0"/>
              <a:t>For memory </a:t>
            </a:r>
            <a:r>
              <a:rPr lang="en-US" sz="2400" i="1" dirty="0">
                <a:solidFill>
                  <a:srgbClr val="C00000"/>
                </a:solidFill>
              </a:rPr>
              <a:t>WRITE</a:t>
            </a:r>
            <a:r>
              <a:rPr lang="en-US" sz="2400" dirty="0"/>
              <a:t> operation:</a:t>
            </a:r>
          </a:p>
          <a:p>
            <a:pPr lvl="1"/>
            <a:r>
              <a:rPr lang="en-US" sz="2000" dirty="0"/>
              <a:t>Address of memory location is applied to </a:t>
            </a:r>
            <a:r>
              <a:rPr lang="en-US" sz="2000" i="1" dirty="0">
                <a:solidFill>
                  <a:srgbClr val="C00000"/>
                </a:solidFill>
              </a:rPr>
              <a:t>address lines</a:t>
            </a:r>
            <a:r>
              <a:rPr lang="en-US" sz="2000" dirty="0"/>
              <a:t>, and the data to be written to </a:t>
            </a:r>
            <a:r>
              <a:rPr lang="en-US" sz="2000" i="1" dirty="0">
                <a:solidFill>
                  <a:srgbClr val="C00000"/>
                </a:solidFill>
              </a:rPr>
              <a:t>data lines</a:t>
            </a:r>
            <a:r>
              <a:rPr lang="en-US" sz="2000" dirty="0"/>
              <a:t>.</a:t>
            </a:r>
          </a:p>
          <a:p>
            <a:pPr lvl="1">
              <a:buClr>
                <a:schemeClr val="tx1"/>
              </a:buClr>
            </a:pPr>
            <a:r>
              <a:rPr lang="en-US" sz="2000" i="1" dirty="0">
                <a:solidFill>
                  <a:srgbClr val="C00000"/>
                </a:solidFill>
              </a:rPr>
              <a:t>RD/WR’ </a:t>
            </a:r>
            <a:r>
              <a:rPr lang="en-US" sz="2000" dirty="0"/>
              <a:t>control signal is set to 0, and </a:t>
            </a:r>
            <a:r>
              <a:rPr lang="en-US" sz="2000" i="1" dirty="0">
                <a:solidFill>
                  <a:srgbClr val="C00000"/>
                </a:solidFill>
              </a:rPr>
              <a:t>CS’</a:t>
            </a:r>
            <a:r>
              <a:rPr lang="en-US" sz="2000" dirty="0"/>
              <a:t> is set to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58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584200"/>
            <a:ext cx="5791200" cy="5181600"/>
          </a:xfrm>
        </p:spPr>
        <p:txBody>
          <a:bodyPr>
            <a:normAutofit/>
          </a:bodyPr>
          <a:lstStyle/>
          <a:p>
            <a:r>
              <a:rPr lang="en-US" sz="2400" dirty="0"/>
              <a:t>Why is </a:t>
            </a:r>
            <a:r>
              <a:rPr lang="en-US" sz="2400" i="1" dirty="0">
                <a:solidFill>
                  <a:srgbClr val="C00000"/>
                </a:solidFill>
              </a:rPr>
              <a:t>CS’</a:t>
            </a:r>
            <a:r>
              <a:rPr lang="en-US" sz="2400" dirty="0"/>
              <a:t> signal required?</a:t>
            </a:r>
          </a:p>
          <a:p>
            <a:pPr lvl="1"/>
            <a:r>
              <a:rPr lang="en-US" sz="2000" dirty="0"/>
              <a:t>To handle multiple memory modules interfacing problem.</a:t>
            </a:r>
          </a:p>
          <a:p>
            <a:pPr lvl="1">
              <a:spcAft>
                <a:spcPts val="1200"/>
              </a:spcAft>
            </a:pPr>
            <a:r>
              <a:rPr lang="en-US" sz="2000" dirty="0"/>
              <a:t>We typically select only one out of several memory modules at a time.</a:t>
            </a:r>
          </a:p>
          <a:p>
            <a:r>
              <a:rPr lang="en-US" sz="2400" dirty="0"/>
              <a:t>What happens when </a:t>
            </a:r>
            <a:r>
              <a:rPr lang="en-US" sz="2400" i="1" dirty="0">
                <a:solidFill>
                  <a:srgbClr val="C00000"/>
                </a:solidFill>
              </a:rPr>
              <a:t>CS’ = 1</a:t>
            </a:r>
            <a:r>
              <a:rPr lang="en-US" sz="2400" dirty="0"/>
              <a:t>?</a:t>
            </a:r>
          </a:p>
          <a:p>
            <a:pPr lvl="1"/>
            <a:r>
              <a:rPr lang="en-US" sz="2000" dirty="0"/>
              <a:t>When a memory module is </a:t>
            </a:r>
            <a:r>
              <a:rPr lang="en-US" sz="2000" i="1" dirty="0">
                <a:solidFill>
                  <a:srgbClr val="C00000"/>
                </a:solidFill>
              </a:rPr>
              <a:t>not selected</a:t>
            </a:r>
            <a:r>
              <a:rPr lang="en-US" sz="2000" dirty="0"/>
              <a:t>, the data lines are set to the </a:t>
            </a:r>
            <a:r>
              <a:rPr lang="en-US" sz="2000" i="1" dirty="0">
                <a:solidFill>
                  <a:srgbClr val="C00000"/>
                </a:solidFill>
              </a:rPr>
              <a:t>high impedance state </a:t>
            </a:r>
            <a:r>
              <a:rPr lang="en-US" sz="2000" dirty="0"/>
              <a:t>(i.e. electrically disconnected).</a:t>
            </a:r>
          </a:p>
          <a:p>
            <a:pPr lvl="1"/>
            <a:r>
              <a:rPr lang="en-US" sz="2000" dirty="0"/>
              <a:t>An example scenario is shown.</a:t>
            </a:r>
          </a:p>
          <a:p>
            <a:pPr lvl="2"/>
            <a:endParaRPr lang="en-US" sz="1600" dirty="0"/>
          </a:p>
        </p:txBody>
      </p:sp>
      <p:grpSp>
        <p:nvGrpSpPr>
          <p:cNvPr id="35" name="Group 34"/>
          <p:cNvGrpSpPr/>
          <p:nvPr/>
        </p:nvGrpSpPr>
        <p:grpSpPr>
          <a:xfrm>
            <a:off x="5791200" y="990601"/>
            <a:ext cx="6197600" cy="4744359"/>
            <a:chOff x="4343400" y="742950"/>
            <a:chExt cx="4648200" cy="3558269"/>
          </a:xfrm>
        </p:grpSpPr>
        <p:grpSp>
          <p:nvGrpSpPr>
            <p:cNvPr id="6" name="Group 5"/>
            <p:cNvGrpSpPr/>
            <p:nvPr/>
          </p:nvGrpSpPr>
          <p:grpSpPr>
            <a:xfrm>
              <a:off x="4343400" y="742950"/>
              <a:ext cx="4648200" cy="1725171"/>
              <a:chOff x="1813560" y="1657350"/>
              <a:chExt cx="5577840" cy="2625259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3429000" y="3790951"/>
                <a:ext cx="1257300" cy="479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133" b="1" dirty="0"/>
                  <a:t>RD/WR’</a:t>
                </a: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1813560" y="1657350"/>
                <a:ext cx="5577840" cy="2118121"/>
                <a:chOff x="1813560" y="1657350"/>
                <a:chExt cx="5577840" cy="2118121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3429000" y="1657350"/>
                  <a:ext cx="2514600" cy="15240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25400">
                  <a:solidFill>
                    <a:srgbClr val="8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MEMORY</a:t>
                  </a:r>
                </a:p>
                <a:p>
                  <a:pPr algn="ctr"/>
                  <a:r>
                    <a:rPr lang="en-US" sz="24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(2</a:t>
                  </a:r>
                  <a:r>
                    <a:rPr lang="en-US" sz="2400" baseline="30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n</a:t>
                  </a:r>
                  <a:r>
                    <a:rPr lang="en-US" sz="24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x m)</a:t>
                  </a:r>
                </a:p>
              </p:txBody>
            </p:sp>
            <p:sp>
              <p:nvSpPr>
                <p:cNvPr id="12" name="Right Arrow 11"/>
                <p:cNvSpPr/>
                <p:nvPr/>
              </p:nvSpPr>
              <p:spPr>
                <a:xfrm>
                  <a:off x="1981200" y="2114550"/>
                  <a:ext cx="1447800" cy="571500"/>
                </a:xfrm>
                <a:prstGeom prst="rightArrow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1813560" y="2470378"/>
                  <a:ext cx="1463040" cy="479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133" b="1" dirty="0"/>
                    <a:t>Address </a:t>
                  </a:r>
                </a:p>
              </p:txBody>
            </p:sp>
            <p:sp>
              <p:nvSpPr>
                <p:cNvPr id="14" name="Left-Right Arrow 13"/>
                <p:cNvSpPr/>
                <p:nvPr/>
              </p:nvSpPr>
              <p:spPr>
                <a:xfrm>
                  <a:off x="5943600" y="2147188"/>
                  <a:ext cx="1447800" cy="538861"/>
                </a:xfrm>
                <a:prstGeom prst="leftRightArrow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cxnSp>
              <p:nvCxnSpPr>
                <p:cNvPr id="16" name="Straight Arrow Connector 15"/>
                <p:cNvCxnSpPr/>
                <p:nvPr/>
              </p:nvCxnSpPr>
              <p:spPr>
                <a:xfrm flipV="1">
                  <a:off x="4191000" y="3181350"/>
                  <a:ext cx="0" cy="594121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95000"/>
                      <a:lumOff val="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/>
                <p:nvPr/>
              </p:nvCxnSpPr>
              <p:spPr>
                <a:xfrm flipV="1">
                  <a:off x="4876800" y="3181350"/>
                  <a:ext cx="0" cy="594121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95000"/>
                      <a:lumOff val="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/>
              <p:cNvSpPr txBox="1"/>
              <p:nvPr/>
            </p:nvSpPr>
            <p:spPr>
              <a:xfrm>
                <a:off x="4602480" y="3802618"/>
                <a:ext cx="1051560" cy="479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33" b="1" dirty="0"/>
                  <a:t>CS’   = 0</a:t>
                </a: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4343400" y="2576048"/>
              <a:ext cx="4521200" cy="1725171"/>
              <a:chOff x="1813560" y="1657350"/>
              <a:chExt cx="5425440" cy="2625259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3429000" y="3790951"/>
                <a:ext cx="1257300" cy="479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133" b="1" dirty="0"/>
                  <a:t>RD/WR’</a:t>
                </a:r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>
                <a:off x="1813560" y="1657350"/>
                <a:ext cx="5425440" cy="2118121"/>
                <a:chOff x="1813560" y="1657350"/>
                <a:chExt cx="5425440" cy="2118121"/>
              </a:xfrm>
            </p:grpSpPr>
            <p:sp>
              <p:nvSpPr>
                <p:cNvPr id="25" name="Rectangle 24"/>
                <p:cNvSpPr/>
                <p:nvPr/>
              </p:nvSpPr>
              <p:spPr>
                <a:xfrm>
                  <a:off x="3429000" y="1657350"/>
                  <a:ext cx="2514600" cy="15240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25400">
                  <a:solidFill>
                    <a:srgbClr val="8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MEMORY</a:t>
                  </a:r>
                </a:p>
                <a:p>
                  <a:pPr algn="ctr"/>
                  <a:r>
                    <a:rPr lang="en-US" sz="24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(2</a:t>
                  </a:r>
                  <a:r>
                    <a:rPr lang="en-US" sz="2400" baseline="30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n</a:t>
                  </a:r>
                  <a:r>
                    <a:rPr lang="en-US" sz="24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 x m)</a:t>
                  </a:r>
                </a:p>
              </p:txBody>
            </p:sp>
            <p:sp>
              <p:nvSpPr>
                <p:cNvPr id="26" name="Right Arrow 25"/>
                <p:cNvSpPr/>
                <p:nvPr/>
              </p:nvSpPr>
              <p:spPr>
                <a:xfrm>
                  <a:off x="1981200" y="2114550"/>
                  <a:ext cx="1447800" cy="571500"/>
                </a:xfrm>
                <a:prstGeom prst="rightArrow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1813560" y="2470380"/>
                  <a:ext cx="1463040" cy="479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133" b="1" dirty="0"/>
                    <a:t>Address </a:t>
                  </a: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6096000" y="2470380"/>
                  <a:ext cx="1143000" cy="8546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133" b="1" dirty="0"/>
                    <a:t>m-bit data bus</a:t>
                  </a:r>
                </a:p>
              </p:txBody>
            </p:sp>
            <p:cxnSp>
              <p:nvCxnSpPr>
                <p:cNvPr id="30" name="Straight Arrow Connector 29"/>
                <p:cNvCxnSpPr/>
                <p:nvPr/>
              </p:nvCxnSpPr>
              <p:spPr>
                <a:xfrm flipV="1">
                  <a:off x="4191000" y="3181350"/>
                  <a:ext cx="0" cy="594121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95000"/>
                      <a:lumOff val="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/>
                <p:cNvCxnSpPr/>
                <p:nvPr/>
              </p:nvCxnSpPr>
              <p:spPr>
                <a:xfrm flipV="1">
                  <a:off x="4876800" y="3181350"/>
                  <a:ext cx="0" cy="594121"/>
                </a:xfrm>
                <a:prstGeom prst="straightConnector1">
                  <a:avLst/>
                </a:prstGeom>
                <a:ln w="25400">
                  <a:solidFill>
                    <a:schemeClr val="tx1">
                      <a:lumMod val="95000"/>
                      <a:lumOff val="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TextBox 23"/>
              <p:cNvSpPr txBox="1"/>
              <p:nvPr/>
            </p:nvSpPr>
            <p:spPr>
              <a:xfrm>
                <a:off x="4626110" y="3802618"/>
                <a:ext cx="1027930" cy="479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33" b="1" dirty="0"/>
                  <a:t>CS’  = 1</a:t>
                </a:r>
              </a:p>
            </p:txBody>
          </p:sp>
        </p:grpSp>
        <p:sp>
          <p:nvSpPr>
            <p:cNvPr id="33" name="Left-Up Arrow 32"/>
            <p:cNvSpPr/>
            <p:nvPr/>
          </p:nvSpPr>
          <p:spPr>
            <a:xfrm>
              <a:off x="7772400" y="1352550"/>
              <a:ext cx="609600" cy="1828800"/>
            </a:xfrm>
            <a:prstGeom prst="leftUp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7823200" y="482600"/>
            <a:ext cx="22352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7" b="1" dirty="0">
                <a:solidFill>
                  <a:srgbClr val="FF0000"/>
                </a:solidFill>
              </a:rPr>
              <a:t>SELECTED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8331200" y="3632200"/>
            <a:ext cx="1219200" cy="1016000"/>
            <a:chOff x="4114800" y="3486150"/>
            <a:chExt cx="914400" cy="762000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4114800" y="3486150"/>
              <a:ext cx="914400" cy="762000"/>
            </a:xfrm>
            <a:prstGeom prst="line">
              <a:avLst/>
            </a:prstGeom>
            <a:ln w="762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4114800" y="3486150"/>
              <a:ext cx="914400" cy="762000"/>
            </a:xfrm>
            <a:prstGeom prst="line">
              <a:avLst/>
            </a:prstGeom>
            <a:ln w="762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392" y="31531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An Example Memory Interfacing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00202"/>
            <a:ext cx="11684000" cy="4267199"/>
          </a:xfrm>
        </p:spPr>
        <p:txBody>
          <a:bodyPr>
            <a:noAutofit/>
          </a:bodyPr>
          <a:lstStyle/>
          <a:p>
            <a:r>
              <a:rPr lang="en-US" sz="2400" dirty="0"/>
              <a:t>Consider a MIPS32 like processor with a 32-bit address.</a:t>
            </a:r>
          </a:p>
          <a:p>
            <a:pPr lvl="1"/>
            <a:r>
              <a:rPr lang="en-US" sz="2000" dirty="0"/>
              <a:t>Maximum memory that can be connected is 2</a:t>
            </a:r>
            <a:r>
              <a:rPr lang="en-US" sz="2000" baseline="30000" dirty="0"/>
              <a:t>32</a:t>
            </a:r>
            <a:r>
              <a:rPr lang="en-US" sz="2000" dirty="0"/>
              <a:t> = 4 </a:t>
            </a:r>
            <a:r>
              <a:rPr lang="en-US" sz="2000" dirty="0" err="1"/>
              <a:t>Gbytes</a:t>
            </a:r>
            <a:r>
              <a:rPr lang="en-US" sz="2000" dirty="0"/>
              <a:t>.</a:t>
            </a:r>
          </a:p>
          <a:p>
            <a:pPr lvl="1">
              <a:spcAft>
                <a:spcPts val="1200"/>
              </a:spcAft>
            </a:pPr>
            <a:r>
              <a:rPr lang="en-US" sz="2000" dirty="0"/>
              <a:t>Assume that the processor data lines are 8 bits.</a:t>
            </a:r>
          </a:p>
          <a:p>
            <a:r>
              <a:rPr lang="en-US" sz="2400" dirty="0"/>
              <a:t>Assume that memory chips (RAM) are available with </a:t>
            </a:r>
            <a:r>
              <a:rPr lang="en-US" sz="2400" i="1" dirty="0">
                <a:solidFill>
                  <a:srgbClr val="C00000"/>
                </a:solidFill>
              </a:rPr>
              <a:t>size 1 </a:t>
            </a:r>
            <a:r>
              <a:rPr lang="en-US" sz="2400" i="1" dirty="0" err="1">
                <a:solidFill>
                  <a:srgbClr val="C00000"/>
                </a:solidFill>
              </a:rPr>
              <a:t>Gbyte</a:t>
            </a:r>
            <a:r>
              <a:rPr lang="en-US" sz="2400" dirty="0"/>
              <a:t>.</a:t>
            </a:r>
          </a:p>
          <a:p>
            <a:pPr lvl="1"/>
            <a:r>
              <a:rPr lang="en-US" sz="2000" dirty="0"/>
              <a:t>30 address lines and 8 data lines.</a:t>
            </a:r>
          </a:p>
          <a:p>
            <a:pPr lvl="1">
              <a:spcAft>
                <a:spcPts val="1200"/>
              </a:spcAft>
            </a:pPr>
            <a:r>
              <a:rPr lang="en-US" sz="2000" dirty="0"/>
              <a:t>Low-order 30 address lines (A</a:t>
            </a:r>
            <a:r>
              <a:rPr lang="en-US" sz="2000" baseline="-25000" dirty="0"/>
              <a:t>29</a:t>
            </a:r>
            <a:r>
              <a:rPr lang="en-US" sz="2000" dirty="0"/>
              <a:t>-A</a:t>
            </a:r>
            <a:r>
              <a:rPr lang="en-US" sz="2000" baseline="-25000" dirty="0"/>
              <a:t>0</a:t>
            </a:r>
            <a:r>
              <a:rPr lang="en-US" sz="2000" dirty="0"/>
              <a:t>) are connected to the memory modules.</a:t>
            </a:r>
          </a:p>
          <a:p>
            <a:r>
              <a:rPr lang="en-US" sz="2400" dirty="0"/>
              <a:t>We want to interface </a:t>
            </a:r>
            <a:r>
              <a:rPr lang="en-US" sz="2400" i="1" dirty="0">
                <a:solidFill>
                  <a:srgbClr val="C00000"/>
                </a:solidFill>
              </a:rPr>
              <a:t>4 such chips </a:t>
            </a:r>
            <a:r>
              <a:rPr lang="en-US" sz="2400" dirty="0"/>
              <a:t>to the processor.</a:t>
            </a:r>
          </a:p>
          <a:p>
            <a:pPr lvl="1"/>
            <a:r>
              <a:rPr lang="en-US" sz="2000" dirty="0"/>
              <a:t>Total memory of 4 </a:t>
            </a:r>
            <a:r>
              <a:rPr lang="en-US" sz="2000" dirty="0" err="1"/>
              <a:t>Gbytes</a:t>
            </a:r>
            <a:r>
              <a:rPr lang="en-US" sz="2000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878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203200" y="685801"/>
            <a:ext cx="11785600" cy="4978400"/>
            <a:chOff x="152400" y="514350"/>
            <a:chExt cx="8839200" cy="3733800"/>
          </a:xfrm>
        </p:grpSpPr>
        <p:sp>
          <p:nvSpPr>
            <p:cNvPr id="5" name="Rectangle 4"/>
            <p:cNvSpPr/>
            <p:nvPr/>
          </p:nvSpPr>
          <p:spPr>
            <a:xfrm>
              <a:off x="5867400" y="5143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M0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67400" y="15049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M1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400" y="24955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M2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867400" y="34099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M3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52400" y="666750"/>
              <a:ext cx="1600200" cy="3352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PROCESSOR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5029200" y="514350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029200" y="1510393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029200" y="2500993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5029200" y="3415393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00600" y="590550"/>
              <a:ext cx="228600" cy="3124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1752600" y="2500993"/>
              <a:ext cx="30480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" name="Left-Right Arrow 15"/>
            <p:cNvSpPr/>
            <p:nvPr/>
          </p:nvSpPr>
          <p:spPr>
            <a:xfrm>
              <a:off x="4419600" y="9715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" name="Left-Right Arrow 16"/>
            <p:cNvSpPr/>
            <p:nvPr/>
          </p:nvSpPr>
          <p:spPr>
            <a:xfrm>
              <a:off x="4419600" y="19621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" name="Left-Right Arrow 17"/>
            <p:cNvSpPr/>
            <p:nvPr/>
          </p:nvSpPr>
          <p:spPr>
            <a:xfrm>
              <a:off x="4419600" y="29527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" name="Left-Right Arrow 18"/>
            <p:cNvSpPr/>
            <p:nvPr/>
          </p:nvSpPr>
          <p:spPr>
            <a:xfrm>
              <a:off x="4419600" y="38671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91000" y="971550"/>
              <a:ext cx="228600" cy="3276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1" name="Left-Right Arrow 20"/>
            <p:cNvSpPr/>
            <p:nvPr/>
          </p:nvSpPr>
          <p:spPr>
            <a:xfrm>
              <a:off x="1752600" y="3284441"/>
              <a:ext cx="24384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590800" y="2190750"/>
              <a:ext cx="1219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r>
                <a:rPr lang="en-US" sz="2400" baseline="-25000" dirty="0"/>
                <a:t>29</a:t>
              </a:r>
              <a:r>
                <a:rPr lang="en-US" sz="2400" dirty="0"/>
                <a:t> – A</a:t>
              </a:r>
              <a:r>
                <a:rPr lang="en-US" sz="2400" baseline="-25000" dirty="0"/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90800" y="2964418"/>
              <a:ext cx="1219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</a:t>
              </a:r>
              <a:r>
                <a:rPr lang="en-US" sz="2400" baseline="-25000" dirty="0"/>
                <a:t>7</a:t>
              </a:r>
              <a:r>
                <a:rPr lang="en-US" sz="2400" dirty="0"/>
                <a:t> – D</a:t>
              </a:r>
              <a:r>
                <a:rPr lang="en-US" sz="2400" baseline="-25000" dirty="0"/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209800" y="895350"/>
              <a:ext cx="838200" cy="1143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133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2 x 4</a:t>
              </a:r>
            </a:p>
            <a:p>
              <a:pPr algn="ctr"/>
              <a:r>
                <a:rPr lang="en-US" sz="2133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Decoder</a:t>
              </a:r>
              <a:endParaRPr lang="en-US" sz="2133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1752600" y="1276350"/>
              <a:ext cx="4572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1752600" y="1581150"/>
              <a:ext cx="4572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3048000" y="10477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048000" y="18859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048000" y="13525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3048000" y="1629333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752600" y="1504950"/>
              <a:ext cx="5334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r>
                <a:rPr lang="en-US" sz="2400" baseline="-25000" dirty="0"/>
                <a:t>30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752600" y="819150"/>
              <a:ext cx="5334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r>
                <a:rPr lang="en-US" sz="2400" baseline="-25000" dirty="0"/>
                <a:t>31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352800" y="8615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CS0’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52800" y="11663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CS1’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52800" y="14711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CS2’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352800" y="16997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CS3’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flipH="1">
              <a:off x="7620000" y="7429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7620000" y="10477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8001000" y="5567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CS0’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001000" y="861596"/>
              <a:ext cx="9144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H="1">
              <a:off x="7620000" y="17335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>
              <a:off x="7620000" y="20383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8001000" y="15473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CS1’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001000" y="1852196"/>
              <a:ext cx="9144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 flipH="1">
              <a:off x="7620000" y="27241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7620000" y="30289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8001000" y="25379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CS2’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001000" y="2842796"/>
              <a:ext cx="990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 flipH="1">
              <a:off x="7620000" y="36385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7620000" y="39433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001000" y="34523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CS2’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001000" y="3757196"/>
              <a:ext cx="990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739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81001"/>
            <a:ext cx="11277600" cy="5745164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800"/>
              </a:spcAft>
            </a:pPr>
            <a:r>
              <a:rPr lang="en-US" sz="2667" dirty="0"/>
              <a:t>High order address lines (A</a:t>
            </a:r>
            <a:r>
              <a:rPr lang="en-US" sz="2667" baseline="-25000" dirty="0"/>
              <a:t>31</a:t>
            </a:r>
            <a:r>
              <a:rPr lang="en-US" sz="2667" dirty="0"/>
              <a:t> and A</a:t>
            </a:r>
            <a:r>
              <a:rPr lang="en-US" sz="2667" baseline="-25000" dirty="0"/>
              <a:t>30</a:t>
            </a:r>
            <a:r>
              <a:rPr lang="en-US" sz="2667" dirty="0"/>
              <a:t>) select one of the memory modules.</a:t>
            </a:r>
          </a:p>
          <a:p>
            <a:r>
              <a:rPr lang="en-US" sz="2667" b="1" dirty="0">
                <a:solidFill>
                  <a:srgbClr val="800000"/>
                </a:solidFill>
              </a:rPr>
              <a:t>When is M0 selected?</a:t>
            </a:r>
          </a:p>
          <a:p>
            <a:pPr lvl="1"/>
            <a:r>
              <a:rPr lang="en-US" dirty="0"/>
              <a:t>Address is:  </a:t>
            </a:r>
            <a:r>
              <a:rPr lang="en-US" dirty="0">
                <a:solidFill>
                  <a:srgbClr val="FF0000"/>
                </a:solidFill>
              </a:rPr>
              <a:t>0 0</a:t>
            </a:r>
            <a:r>
              <a:rPr lang="en-US" dirty="0"/>
              <a:t> x x x x x x x x x x x x x x x x x x x x x x x x x x x x x x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Range of addresses is:  0x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0000000 to 0x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FFFFFFF</a:t>
            </a:r>
          </a:p>
          <a:p>
            <a:r>
              <a:rPr lang="en-US" sz="2667" b="1" dirty="0">
                <a:solidFill>
                  <a:srgbClr val="800000"/>
                </a:solidFill>
              </a:rPr>
              <a:t>When is M1 selected?</a:t>
            </a:r>
          </a:p>
          <a:p>
            <a:pPr lvl="1"/>
            <a:r>
              <a:rPr lang="en-US" dirty="0"/>
              <a:t>Address is:  </a:t>
            </a:r>
            <a:r>
              <a:rPr lang="en-US" dirty="0">
                <a:solidFill>
                  <a:srgbClr val="FF0000"/>
                </a:solidFill>
              </a:rPr>
              <a:t>0 1</a:t>
            </a:r>
            <a:r>
              <a:rPr lang="en-US" dirty="0"/>
              <a:t> x x x x x x x x x x x x x x x x x x x x x x x x x x x x x x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Range of addresses is:  0x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0000000 to 0x</a:t>
            </a:r>
            <a:r>
              <a:rPr lang="en-US" dirty="0">
                <a:solidFill>
                  <a:srgbClr val="FF0000"/>
                </a:solidFill>
              </a:rPr>
              <a:t>7</a:t>
            </a:r>
            <a:r>
              <a:rPr lang="en-US" dirty="0"/>
              <a:t>FFFFFFF</a:t>
            </a:r>
          </a:p>
          <a:p>
            <a:r>
              <a:rPr lang="en-US" sz="2667" b="1" dirty="0">
                <a:solidFill>
                  <a:srgbClr val="800000"/>
                </a:solidFill>
              </a:rPr>
              <a:t>When is M2 selected?</a:t>
            </a:r>
          </a:p>
          <a:p>
            <a:pPr lvl="1"/>
            <a:r>
              <a:rPr lang="en-US" dirty="0"/>
              <a:t>Address is:  </a:t>
            </a:r>
            <a:r>
              <a:rPr lang="en-US" dirty="0">
                <a:solidFill>
                  <a:srgbClr val="FF0000"/>
                </a:solidFill>
              </a:rPr>
              <a:t>1 0</a:t>
            </a:r>
            <a:r>
              <a:rPr lang="en-US" dirty="0"/>
              <a:t> x x x x x x x x x x x x x x x x x x x x x x x x x x x x x x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Range of addresses is:  0x</a:t>
            </a:r>
            <a:r>
              <a:rPr lang="en-US" dirty="0">
                <a:solidFill>
                  <a:srgbClr val="FF0000"/>
                </a:solidFill>
              </a:rPr>
              <a:t>8</a:t>
            </a:r>
            <a:r>
              <a:rPr lang="en-US" dirty="0"/>
              <a:t>0000000 to 0x</a:t>
            </a: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dirty="0"/>
              <a:t>FFFFFFF</a:t>
            </a:r>
          </a:p>
          <a:p>
            <a:r>
              <a:rPr lang="en-US" sz="2667" b="1" dirty="0">
                <a:solidFill>
                  <a:srgbClr val="800000"/>
                </a:solidFill>
              </a:rPr>
              <a:t>When is M3 selected?</a:t>
            </a:r>
          </a:p>
          <a:p>
            <a:pPr lvl="1"/>
            <a:r>
              <a:rPr lang="en-US" dirty="0"/>
              <a:t>Address is:  </a:t>
            </a:r>
            <a:r>
              <a:rPr lang="en-US" dirty="0">
                <a:solidFill>
                  <a:srgbClr val="FF0000"/>
                </a:solidFill>
              </a:rPr>
              <a:t>1 1</a:t>
            </a:r>
            <a:r>
              <a:rPr lang="en-US" dirty="0"/>
              <a:t> x x x x x x x x x x x x x x x x x x x x x x x x x x x x x x</a:t>
            </a:r>
          </a:p>
          <a:p>
            <a:pPr lvl="1"/>
            <a:r>
              <a:rPr lang="en-US" dirty="0"/>
              <a:t>Range of addresses is:  0x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0000000 to 0x</a:t>
            </a:r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en-US" dirty="0"/>
              <a:t>FFFFFFF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90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An observation:</a:t>
            </a:r>
          </a:p>
          <a:p>
            <a:pPr lvl="1"/>
            <a:r>
              <a:rPr lang="en-US" dirty="0"/>
              <a:t>Consecutive block of bytes are mapped to the same memory module.</a:t>
            </a:r>
          </a:p>
          <a:p>
            <a:pPr lvl="1"/>
            <a:r>
              <a:rPr lang="en-US" dirty="0"/>
              <a:t>For MIPS32, we have to access 32 bits (4 bytes) of data in parallel, which requires four sequential memory accesses here.</a:t>
            </a:r>
          </a:p>
          <a:p>
            <a:pPr lvl="1"/>
            <a:r>
              <a:rPr lang="en-US" dirty="0"/>
              <a:t>We shall look at an alternate memory organization later that would make this possible.</a:t>
            </a:r>
          </a:p>
          <a:p>
            <a:pPr lvl="2"/>
            <a:r>
              <a:rPr lang="en-US" dirty="0"/>
              <a:t>Called </a:t>
            </a:r>
            <a:r>
              <a:rPr lang="en-US" i="1" dirty="0">
                <a:solidFill>
                  <a:srgbClr val="C00000"/>
                </a:solidFill>
              </a:rPr>
              <a:t>memory interleaving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16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1K x 4 memory modules to build a 8K x 8 memory system.</a:t>
            </a:r>
          </a:p>
        </p:txBody>
      </p:sp>
    </p:spTree>
    <p:extLst>
      <p:ext uri="{BB962C8B-B14F-4D97-AF65-F5344CB8AC3E}">
        <p14:creationId xmlns:p14="http://schemas.microsoft.com/office/powerpoint/2010/main" val="2696870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Improved Memory Interface for MIPS32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make small changes in the organization so that 32-bits of data can be fetched in a single memory access cycle.</a:t>
            </a:r>
          </a:p>
          <a:p>
            <a:pPr lvl="1"/>
            <a:r>
              <a:rPr lang="en-US" sz="2000" dirty="0"/>
              <a:t>Exploit the concept of </a:t>
            </a:r>
            <a:r>
              <a:rPr lang="en-US" sz="2000" i="1" dirty="0">
                <a:solidFill>
                  <a:srgbClr val="C00000"/>
                </a:solidFill>
              </a:rPr>
              <a:t>memory interleaving</a:t>
            </a:r>
            <a:r>
              <a:rPr lang="en-US" sz="2000" dirty="0"/>
              <a:t>.</a:t>
            </a:r>
          </a:p>
          <a:p>
            <a:pPr lvl="1">
              <a:spcAft>
                <a:spcPts val="1200"/>
              </a:spcAft>
            </a:pPr>
            <a:r>
              <a:rPr lang="en-US" sz="2000" dirty="0"/>
              <a:t>Consecutive bytes are mapped to different memory modules.</a:t>
            </a:r>
          </a:p>
          <a:p>
            <a:r>
              <a:rPr lang="en-US" sz="2400" dirty="0"/>
              <a:t>The main changes:</a:t>
            </a:r>
          </a:p>
          <a:p>
            <a:pPr lvl="1"/>
            <a:r>
              <a:rPr lang="en-US" sz="2000" dirty="0"/>
              <a:t>High order 30 address lines (A</a:t>
            </a:r>
            <a:r>
              <a:rPr lang="en-US" sz="2000" baseline="-25000" dirty="0"/>
              <a:t>31</a:t>
            </a:r>
            <a:r>
              <a:rPr lang="en-US" sz="2000" dirty="0"/>
              <a:t>-A</a:t>
            </a:r>
            <a:r>
              <a:rPr lang="en-US" sz="2000" baseline="-25000" dirty="0"/>
              <a:t>2</a:t>
            </a:r>
            <a:r>
              <a:rPr lang="en-US" sz="2000" dirty="0"/>
              <a:t>) are connected to memory modules.</a:t>
            </a:r>
          </a:p>
          <a:p>
            <a:pPr lvl="1"/>
            <a:r>
              <a:rPr lang="en-US" sz="2000" dirty="0"/>
              <a:t>Low order two address lines (A</a:t>
            </a:r>
            <a:r>
              <a:rPr lang="en-US" sz="2000" baseline="-25000" dirty="0"/>
              <a:t>1</a:t>
            </a:r>
            <a:r>
              <a:rPr lang="en-US" sz="2000" dirty="0"/>
              <a:t> and A</a:t>
            </a:r>
            <a:r>
              <a:rPr lang="en-US" sz="2000" baseline="-25000" dirty="0"/>
              <a:t>0</a:t>
            </a:r>
            <a:r>
              <a:rPr lang="en-US" sz="2000" dirty="0"/>
              <a:t>) are used to select one of the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395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5801"/>
            <a:ext cx="11277600" cy="5181600"/>
          </a:xfrm>
        </p:spPr>
        <p:txBody>
          <a:bodyPr>
            <a:normAutofit/>
          </a:bodyPr>
          <a:lstStyle/>
          <a:p>
            <a:r>
              <a:rPr lang="en-US" sz="2400" dirty="0"/>
              <a:t>How are the addresses mapped to memory modules?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000" b="1" i="1" dirty="0">
                <a:solidFill>
                  <a:srgbClr val="000090"/>
                </a:solidFill>
              </a:rPr>
              <a:t>Module M0</a:t>
            </a:r>
            <a:r>
              <a:rPr lang="en-US" sz="2000" dirty="0"/>
              <a:t>:  0, 4, 8, 12, 16, 20, 24, …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000" b="1" i="1" dirty="0">
                <a:solidFill>
                  <a:srgbClr val="000090"/>
                </a:solidFill>
              </a:rPr>
              <a:t>Module M1</a:t>
            </a:r>
            <a:r>
              <a:rPr lang="en-US" sz="2000" dirty="0"/>
              <a:t>:  1, 5, 9, 13, 17, 21, 25, …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000" b="1" i="1" dirty="0">
                <a:solidFill>
                  <a:srgbClr val="000090"/>
                </a:solidFill>
              </a:rPr>
              <a:t>Module M2</a:t>
            </a:r>
            <a:r>
              <a:rPr lang="en-US" sz="2000" dirty="0"/>
              <a:t>:  2, 6, 10, 14, 18, 22, 26, …</a:t>
            </a:r>
          </a:p>
          <a:p>
            <a:pPr lvl="1"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000" b="1" i="1" dirty="0">
                <a:solidFill>
                  <a:srgbClr val="000090"/>
                </a:solidFill>
              </a:rPr>
              <a:t>Module M3</a:t>
            </a:r>
            <a:r>
              <a:rPr lang="en-US" sz="2000" dirty="0"/>
              <a:t>:  3, 7, 11, 15, 19, 23, 27, …</a:t>
            </a:r>
          </a:p>
          <a:p>
            <a:pPr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Memory addresses are </a:t>
            </a:r>
            <a:r>
              <a:rPr lang="en-US" sz="2400" i="1" dirty="0">
                <a:solidFill>
                  <a:srgbClr val="C00000"/>
                </a:solidFill>
              </a:rPr>
              <a:t>interleaved</a:t>
            </a:r>
            <a:r>
              <a:rPr lang="en-US" sz="2400" dirty="0"/>
              <a:t> across memory modules.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What we can gain from this mapping?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000" dirty="0"/>
              <a:t>Consecutive addresses are mapped to consecutive modules.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000" dirty="0"/>
              <a:t>Possible to access four consecutive words in the same cycle, if all four modules are enabled simultaneously.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15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1"/>
            <a:ext cx="10464800" cy="4876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Motivation for word alignment in MIPS32 data words.</a:t>
            </a:r>
          </a:p>
          <a:p>
            <a:pPr lvl="1"/>
            <a:r>
              <a:rPr lang="en-US" dirty="0"/>
              <a:t>32-bit words start from a memory address that is divisible by 4.</a:t>
            </a:r>
          </a:p>
          <a:p>
            <a:pPr lvl="2"/>
            <a:r>
              <a:rPr lang="en-US" dirty="0"/>
              <a:t>Corresponding byte addresses are (0, 1, 2, 3), (4, 5, 6, 7), (8, 9, 10, 11), (12, 13, 14, 15), etc.</a:t>
            </a:r>
          </a:p>
          <a:p>
            <a:pPr lvl="2">
              <a:spcAft>
                <a:spcPts val="1200"/>
              </a:spcAft>
            </a:pPr>
            <a:r>
              <a:rPr lang="en-US" dirty="0"/>
              <a:t>Possible to transfer all the four bytes of a word in a </a:t>
            </a:r>
            <a:r>
              <a:rPr lang="en-US" i="1" dirty="0">
                <a:solidFill>
                  <a:srgbClr val="C00000"/>
                </a:solidFill>
              </a:rPr>
              <a:t>single memory cycle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What happens if a word is not aligned?</a:t>
            </a:r>
          </a:p>
          <a:p>
            <a:pPr lvl="2"/>
            <a:r>
              <a:rPr lang="en-US" dirty="0"/>
              <a:t>Say: (1, 2, 3, 4) or (2, 3, 4, 5) or (3, 4, 5, 6).</a:t>
            </a:r>
          </a:p>
          <a:p>
            <a:pPr lvl="2"/>
            <a:r>
              <a:rPr lang="en-US" dirty="0"/>
              <a:t>Two of the bytes will be mapped to the same memory module.</a:t>
            </a:r>
          </a:p>
          <a:p>
            <a:pPr lvl="2"/>
            <a:r>
              <a:rPr lang="en-US" dirty="0"/>
              <a:t>Hence the word cannot be transferred in a single memory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6537" y="3639027"/>
            <a:ext cx="38608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90"/>
                </a:solidFill>
              </a:rPr>
              <a:t>2 memory cycles required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77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03200" y="482601"/>
            <a:ext cx="11684000" cy="4978400"/>
            <a:chOff x="152400" y="514350"/>
            <a:chExt cx="8763000" cy="3733800"/>
          </a:xfrm>
        </p:grpSpPr>
        <p:sp>
          <p:nvSpPr>
            <p:cNvPr id="5" name="Rectangle 4"/>
            <p:cNvSpPr/>
            <p:nvPr/>
          </p:nvSpPr>
          <p:spPr>
            <a:xfrm>
              <a:off x="5867400" y="5143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M0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67400" y="15049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M1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400" y="24955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M2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867400" y="34099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M3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52400" y="590550"/>
              <a:ext cx="1600200" cy="3352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MIPS32</a:t>
              </a:r>
            </a:p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PROCESSOR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5029200" y="514350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029200" y="1510393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029200" y="2500993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5029200" y="3415393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00600" y="590550"/>
              <a:ext cx="228600" cy="3124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1752600" y="1428750"/>
              <a:ext cx="30480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" name="Left-Right Arrow 15"/>
            <p:cNvSpPr/>
            <p:nvPr/>
          </p:nvSpPr>
          <p:spPr>
            <a:xfrm>
              <a:off x="4419600" y="9715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" name="Left-Right Arrow 16"/>
            <p:cNvSpPr/>
            <p:nvPr/>
          </p:nvSpPr>
          <p:spPr>
            <a:xfrm>
              <a:off x="4419600" y="19621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" name="Left-Right Arrow 17"/>
            <p:cNvSpPr/>
            <p:nvPr/>
          </p:nvSpPr>
          <p:spPr>
            <a:xfrm>
              <a:off x="4419600" y="29527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" name="Left-Right Arrow 18"/>
            <p:cNvSpPr/>
            <p:nvPr/>
          </p:nvSpPr>
          <p:spPr>
            <a:xfrm>
              <a:off x="4419600" y="38671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91000" y="971550"/>
              <a:ext cx="228600" cy="3276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1" name="Left-Right Arrow 20"/>
            <p:cNvSpPr/>
            <p:nvPr/>
          </p:nvSpPr>
          <p:spPr>
            <a:xfrm>
              <a:off x="1752600" y="3409950"/>
              <a:ext cx="2438400" cy="381000"/>
            </a:xfrm>
            <a:prstGeom prst="left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590800" y="1123950"/>
              <a:ext cx="1219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r>
                <a:rPr lang="en-US" sz="2400" baseline="-25000" dirty="0"/>
                <a:t>31</a:t>
              </a:r>
              <a:r>
                <a:rPr lang="en-US" sz="2400" dirty="0"/>
                <a:t> – A</a:t>
              </a:r>
              <a:r>
                <a:rPr lang="en-US" sz="2400" baseline="-25000" dirty="0"/>
                <a:t>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90800" y="3116818"/>
              <a:ext cx="1219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</a:t>
              </a:r>
              <a:r>
                <a:rPr lang="en-US" sz="2400" baseline="-25000" dirty="0"/>
                <a:t>7</a:t>
              </a:r>
              <a:r>
                <a:rPr lang="en-US" sz="2400" dirty="0"/>
                <a:t> – D</a:t>
              </a:r>
              <a:r>
                <a:rPr lang="en-US" sz="2400" baseline="-25000" dirty="0"/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209800" y="1885950"/>
              <a:ext cx="838200" cy="1143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133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2 x 4</a:t>
              </a:r>
            </a:p>
            <a:p>
              <a:pPr algn="ctr"/>
              <a:r>
                <a:rPr lang="en-US" sz="2133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Decoder</a:t>
              </a:r>
              <a:endParaRPr lang="en-US" sz="2133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1752600" y="2266950"/>
              <a:ext cx="4572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1752600" y="2571750"/>
              <a:ext cx="4572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3048000" y="20383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048000" y="28765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048000" y="23431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3048000" y="2647950"/>
              <a:ext cx="3048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752600" y="2495550"/>
              <a:ext cx="5334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r>
                <a:rPr lang="en-US" sz="2400" baseline="-25000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752600" y="1809750"/>
              <a:ext cx="5334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352800" y="1852196"/>
              <a:ext cx="6858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CS0’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52800" y="21569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CS1’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52800" y="24617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CS2’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352800" y="26903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CS3’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flipH="1">
              <a:off x="7620000" y="7429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7620000" y="10477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8001000" y="556796"/>
              <a:ext cx="6858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CS0’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001000" y="861596"/>
              <a:ext cx="9144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H="1">
              <a:off x="7620000" y="17335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>
              <a:off x="7620000" y="20383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8001000" y="1547396"/>
              <a:ext cx="6858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CS1’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001000" y="1852196"/>
              <a:ext cx="9144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 flipH="1">
              <a:off x="7620000" y="27241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7620000" y="30289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8001000" y="25379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CS2’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001000" y="2842796"/>
              <a:ext cx="9144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 flipH="1">
              <a:off x="7620000" y="36385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7620000" y="39433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001000" y="34523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CS2’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001000" y="3757196"/>
              <a:ext cx="9144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04800" y="5054601"/>
            <a:ext cx="497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800000"/>
                </a:solidFill>
              </a:rPr>
              <a:t>Still one module is selected at a time :: 8 bits data transfer per cycle.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22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03200" y="482601"/>
            <a:ext cx="11785600" cy="4978400"/>
            <a:chOff x="152400" y="514350"/>
            <a:chExt cx="8839200" cy="3733800"/>
          </a:xfrm>
        </p:grpSpPr>
        <p:sp>
          <p:nvSpPr>
            <p:cNvPr id="5" name="Rectangle 4"/>
            <p:cNvSpPr/>
            <p:nvPr/>
          </p:nvSpPr>
          <p:spPr>
            <a:xfrm>
              <a:off x="5867400" y="5143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M0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67400" y="15049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M1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400" y="24955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M2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867400" y="3409950"/>
              <a:ext cx="17526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 M3</a:t>
              </a:r>
            </a:p>
            <a:p>
              <a:pPr algn="ctr"/>
              <a:r>
                <a: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(1G x 8)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52400" y="666750"/>
              <a:ext cx="1600200" cy="3200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MIPS32</a:t>
              </a:r>
            </a:p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PROCESSOR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5029200" y="514350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029200" y="1510393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029200" y="2500993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5029200" y="3415393"/>
              <a:ext cx="8255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00600" y="590550"/>
              <a:ext cx="228600" cy="3124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1752600" y="1428750"/>
              <a:ext cx="3048000" cy="375557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" name="Left-Right Arrow 15"/>
            <p:cNvSpPr/>
            <p:nvPr/>
          </p:nvSpPr>
          <p:spPr>
            <a:xfrm>
              <a:off x="4419600" y="9715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" name="Left-Right Arrow 16"/>
            <p:cNvSpPr/>
            <p:nvPr/>
          </p:nvSpPr>
          <p:spPr>
            <a:xfrm>
              <a:off x="4419600" y="19621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" name="Left-Right Arrow 17"/>
            <p:cNvSpPr/>
            <p:nvPr/>
          </p:nvSpPr>
          <p:spPr>
            <a:xfrm>
              <a:off x="4419600" y="29527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" name="Left-Right Arrow 18"/>
            <p:cNvSpPr/>
            <p:nvPr/>
          </p:nvSpPr>
          <p:spPr>
            <a:xfrm>
              <a:off x="4419600" y="3867150"/>
              <a:ext cx="1435100" cy="354109"/>
            </a:xfrm>
            <a:prstGeom prst="leftRight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91000" y="971550"/>
              <a:ext cx="228600" cy="3276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1" name="Left-Right Arrow 20"/>
            <p:cNvSpPr/>
            <p:nvPr/>
          </p:nvSpPr>
          <p:spPr>
            <a:xfrm>
              <a:off x="1752600" y="3333750"/>
              <a:ext cx="2438400" cy="609601"/>
            </a:xfrm>
            <a:prstGeom prst="left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590800" y="1123950"/>
              <a:ext cx="1219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r>
                <a:rPr lang="en-US" sz="2400" baseline="-25000" dirty="0"/>
                <a:t>31</a:t>
              </a:r>
              <a:r>
                <a:rPr lang="en-US" sz="2400" dirty="0"/>
                <a:t> – A</a:t>
              </a:r>
              <a:r>
                <a:rPr lang="en-US" sz="2400" baseline="-25000" dirty="0"/>
                <a:t>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90800" y="3116818"/>
              <a:ext cx="1219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</a:t>
              </a:r>
              <a:r>
                <a:rPr lang="en-US" sz="2400" baseline="-25000" dirty="0"/>
                <a:t>31</a:t>
              </a:r>
              <a:r>
                <a:rPr lang="en-US" sz="2400" dirty="0"/>
                <a:t> – D</a:t>
              </a:r>
              <a:r>
                <a:rPr lang="en-US" sz="2400" baseline="-25000" dirty="0"/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209800" y="1885950"/>
              <a:ext cx="838200" cy="1143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133" b="1" dirty="0">
                  <a:solidFill>
                    <a:schemeClr val="bg1">
                      <a:lumMod val="75000"/>
                    </a:schemeClr>
                  </a:solidFill>
                </a:rPr>
                <a:t>2 x 4</a:t>
              </a:r>
            </a:p>
            <a:p>
              <a:pPr algn="ctr"/>
              <a:r>
                <a:rPr lang="en-US" sz="2133" b="1" dirty="0">
                  <a:solidFill>
                    <a:schemeClr val="bg1">
                      <a:lumMod val="75000"/>
                    </a:schemeClr>
                  </a:solidFill>
                </a:rPr>
                <a:t>Decoder</a:t>
              </a:r>
              <a:endParaRPr lang="en-US" sz="2133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1752600" y="2266950"/>
              <a:ext cx="4572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1752600" y="2571750"/>
              <a:ext cx="4572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3048000" y="2038350"/>
              <a:ext cx="3048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048000" y="2876550"/>
              <a:ext cx="3048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048000" y="2343150"/>
              <a:ext cx="3048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3048000" y="2647950"/>
              <a:ext cx="3048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752600" y="2495550"/>
              <a:ext cx="5334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75000"/>
                    </a:schemeClr>
                  </a:solidFill>
                </a:rPr>
                <a:t>A</a:t>
              </a:r>
              <a:r>
                <a:rPr lang="en-US" sz="2400" baseline="-25000" dirty="0">
                  <a:solidFill>
                    <a:schemeClr val="bg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752600" y="1809750"/>
              <a:ext cx="5334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75000"/>
                    </a:schemeClr>
                  </a:solidFill>
                </a:rPr>
                <a:t>A</a:t>
              </a:r>
              <a:r>
                <a:rPr lang="en-US" sz="2400" baseline="-25000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352800" y="18521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>
                  <a:solidFill>
                    <a:schemeClr val="bg1">
                      <a:lumMod val="75000"/>
                    </a:schemeClr>
                  </a:solidFill>
                </a:rPr>
                <a:t>CS0’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52800" y="21569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>
                  <a:solidFill>
                    <a:schemeClr val="bg1">
                      <a:lumMod val="75000"/>
                    </a:schemeClr>
                  </a:solidFill>
                </a:rPr>
                <a:t>CS1’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52800" y="24617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>
                  <a:solidFill>
                    <a:schemeClr val="bg1">
                      <a:lumMod val="75000"/>
                    </a:schemeClr>
                  </a:solidFill>
                </a:rPr>
                <a:t>CS2’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352800" y="2690396"/>
              <a:ext cx="609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>
                  <a:solidFill>
                    <a:schemeClr val="bg1">
                      <a:lumMod val="75000"/>
                    </a:schemeClr>
                  </a:solidFill>
                </a:rPr>
                <a:t>CS3’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flipH="1">
              <a:off x="7620000" y="7429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7620000" y="10477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8001000" y="556796"/>
              <a:ext cx="5334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001000" y="861596"/>
              <a:ext cx="990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H="1">
              <a:off x="7620000" y="17335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>
              <a:off x="7620000" y="20383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8001000" y="1547396"/>
              <a:ext cx="5334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001000" y="1852196"/>
              <a:ext cx="990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 flipH="1">
              <a:off x="7620000" y="27241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7620000" y="30289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8001000" y="2537996"/>
              <a:ext cx="5334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001000" y="2842796"/>
              <a:ext cx="9144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 flipH="1">
              <a:off x="7620000" y="36385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7620000" y="3943350"/>
              <a:ext cx="38100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001000" y="3452396"/>
              <a:ext cx="5334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b="1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001000" y="3757196"/>
              <a:ext cx="99060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RD/WR’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01600" y="5054601"/>
            <a:ext cx="538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800000"/>
                </a:solidFill>
              </a:rPr>
              <a:t>Enable all the four modules together.</a:t>
            </a:r>
          </a:p>
          <a:p>
            <a:r>
              <a:rPr lang="en-US" sz="2400" b="1" dirty="0">
                <a:solidFill>
                  <a:srgbClr val="800000"/>
                </a:solidFill>
              </a:rPr>
              <a:t>32-bit parallel data transfer.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54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Latency and Bandwidth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Memory Latency:</a:t>
            </a:r>
          </a:p>
          <a:p>
            <a:pPr lvl="1"/>
            <a:r>
              <a:rPr lang="en-US" dirty="0"/>
              <a:t>The delay from the issue of a memory read request to the first byte of data becoming available.</a:t>
            </a:r>
          </a:p>
          <a:p>
            <a:r>
              <a:rPr lang="en-US" b="1" dirty="0">
                <a:solidFill>
                  <a:srgbClr val="C00000"/>
                </a:solidFill>
              </a:rPr>
              <a:t>Memory Bandwidth:</a:t>
            </a:r>
          </a:p>
          <a:p>
            <a:pPr lvl="1"/>
            <a:r>
              <a:rPr lang="en-US" dirty="0"/>
              <a:t>The maximum number of bytes that can be transferred between the processor and the memory system per unit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442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5801"/>
            <a:ext cx="10972800" cy="5181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Example 1:</a:t>
            </a:r>
          </a:p>
          <a:p>
            <a:pPr marL="609585" lvl="1" indent="0">
              <a:buNone/>
            </a:pPr>
            <a:r>
              <a:rPr lang="en-US" dirty="0"/>
              <a:t>Consider a memory system that takes 20 ns to service the access of a single 32-bit word. </a:t>
            </a:r>
          </a:p>
          <a:p>
            <a:pPr marL="914400" lvl="2" indent="0">
              <a:buNone/>
            </a:pPr>
            <a:r>
              <a:rPr lang="en-US" sz="2400" dirty="0"/>
              <a:t>Latency L = 20 ns per 32-bit word.</a:t>
            </a:r>
          </a:p>
          <a:p>
            <a:pPr marL="914400" lvl="2" indent="0">
              <a:spcAft>
                <a:spcPts val="1400"/>
              </a:spcAft>
              <a:buNone/>
            </a:pPr>
            <a:r>
              <a:rPr lang="en-US" sz="2400" dirty="0"/>
              <a:t>Bandwidth BW = 32 / (20 x 10</a:t>
            </a:r>
            <a:r>
              <a:rPr lang="en-US" sz="2400" baseline="30000" dirty="0"/>
              <a:t>-9</a:t>
            </a:r>
            <a:r>
              <a:rPr lang="en-US" sz="2400" dirty="0"/>
              <a:t>) = 200 Mbytes per second.</a:t>
            </a:r>
          </a:p>
          <a:p>
            <a:r>
              <a:rPr lang="en-US" b="1" dirty="0">
                <a:solidFill>
                  <a:srgbClr val="C00000"/>
                </a:solidFill>
              </a:rPr>
              <a:t>Example 2:</a:t>
            </a:r>
          </a:p>
          <a:p>
            <a:pPr marL="457200" lvl="1" indent="0">
              <a:buNone/>
            </a:pPr>
            <a:r>
              <a:rPr lang="en-US" dirty="0"/>
              <a:t>The memory system is modified to accept a new (still 20ns) request for a 32-bit word every 5 ns by overlapping requests.</a:t>
            </a:r>
          </a:p>
          <a:p>
            <a:pPr marL="914400" lvl="2" indent="0">
              <a:buNone/>
            </a:pPr>
            <a:r>
              <a:rPr lang="en-US" sz="2400" dirty="0"/>
              <a:t>Latency L = 20 ns per 32-bit word  (</a:t>
            </a:r>
            <a:r>
              <a:rPr lang="en-US" sz="2400" i="1" dirty="0">
                <a:solidFill>
                  <a:srgbClr val="C00000"/>
                </a:solidFill>
              </a:rPr>
              <a:t>no change</a:t>
            </a:r>
            <a:r>
              <a:rPr lang="en-US" sz="2400" dirty="0"/>
              <a:t>).</a:t>
            </a:r>
          </a:p>
          <a:p>
            <a:pPr marL="914400" lvl="2" indent="0">
              <a:buNone/>
            </a:pPr>
            <a:r>
              <a:rPr lang="en-US" sz="2400" dirty="0"/>
              <a:t>Bandwidth BW = 32 / (5 x 10</a:t>
            </a:r>
            <a:r>
              <a:rPr lang="en-US" sz="2400" baseline="30000" dirty="0"/>
              <a:t>-9</a:t>
            </a:r>
            <a:r>
              <a:rPr lang="en-US" sz="2400" dirty="0"/>
              <a:t>) = 800 </a:t>
            </a:r>
            <a:r>
              <a:rPr lang="en-US" sz="2400" dirty="0" err="1"/>
              <a:t>Mbits</a:t>
            </a:r>
            <a:r>
              <a:rPr lang="en-US" sz="2400" dirty="0"/>
              <a:t> per second.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60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1314</TotalTime>
  <Words>1530</Words>
  <Application>Microsoft Macintosh PowerPoint</Application>
  <PresentationFormat>Widescreen</PresentationFormat>
  <Paragraphs>228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Times New Roman</vt:lpstr>
      <vt:lpstr>Office Theme</vt:lpstr>
      <vt:lpstr>PowerPoint Presentation</vt:lpstr>
      <vt:lpstr>Memory Interfacing and Addressing</vt:lpstr>
      <vt:lpstr>Memory Interfacing</vt:lpstr>
      <vt:lpstr>PowerPoint Presentation</vt:lpstr>
      <vt:lpstr>A Note About the Memory Interface Signals</vt:lpstr>
      <vt:lpstr>PowerPoint Presentation</vt:lpstr>
      <vt:lpstr>An Example Memory Interfacing Problem</vt:lpstr>
      <vt:lpstr>PowerPoint Presentation</vt:lpstr>
      <vt:lpstr>PowerPoint Presentation</vt:lpstr>
      <vt:lpstr>PowerPoint Presentation</vt:lpstr>
      <vt:lpstr>Another Example</vt:lpstr>
      <vt:lpstr>Improved Memory Interface for MIPS32</vt:lpstr>
      <vt:lpstr>PowerPoint Presentation</vt:lpstr>
      <vt:lpstr>PowerPoint Presentation</vt:lpstr>
      <vt:lpstr>PowerPoint Presentation</vt:lpstr>
      <vt:lpstr>PowerPoint Presentation</vt:lpstr>
      <vt:lpstr>Memory Latency and Bandwidth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Microsoft Office User</cp:lastModifiedBy>
  <cp:revision>149</cp:revision>
  <cp:lastPrinted>2023-08-31T01:20:12Z</cp:lastPrinted>
  <dcterms:created xsi:type="dcterms:W3CDTF">2023-07-29T11:53:22Z</dcterms:created>
  <dcterms:modified xsi:type="dcterms:W3CDTF">2026-09-12T05:03:43Z</dcterms:modified>
</cp:coreProperties>
</file>